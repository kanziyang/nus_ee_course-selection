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37"/>
  </p:handoutMasterIdLst>
  <p:sldIdLst>
    <p:sldId id="256" r:id="rId3"/>
    <p:sldId id="259" r:id="rId5"/>
    <p:sldId id="296" r:id="rId6"/>
    <p:sldId id="289" r:id="rId7"/>
    <p:sldId id="297" r:id="rId8"/>
    <p:sldId id="300" r:id="rId9"/>
    <p:sldId id="301" r:id="rId10"/>
    <p:sldId id="302" r:id="rId11"/>
    <p:sldId id="303" r:id="rId12"/>
    <p:sldId id="304" r:id="rId13"/>
    <p:sldId id="305" r:id="rId14"/>
    <p:sldId id="284" r:id="rId15"/>
    <p:sldId id="315" r:id="rId16"/>
    <p:sldId id="316" r:id="rId17"/>
    <p:sldId id="317" r:id="rId18"/>
    <p:sldId id="318" r:id="rId19"/>
    <p:sldId id="319" r:id="rId20"/>
    <p:sldId id="320" r:id="rId21"/>
    <p:sldId id="306" r:id="rId22"/>
    <p:sldId id="307" r:id="rId23"/>
    <p:sldId id="351" r:id="rId24"/>
    <p:sldId id="310" r:id="rId25"/>
    <p:sldId id="311" r:id="rId26"/>
    <p:sldId id="340" r:id="rId27"/>
    <p:sldId id="312" r:id="rId28"/>
    <p:sldId id="313" r:id="rId29"/>
    <p:sldId id="308" r:id="rId30"/>
    <p:sldId id="334" r:id="rId31"/>
    <p:sldId id="331" r:id="rId32"/>
    <p:sldId id="332" r:id="rId33"/>
    <p:sldId id="333" r:id="rId34"/>
    <p:sldId id="321" r:id="rId35"/>
    <p:sldId id="314" r:id="rId36"/>
  </p:sldIdLst>
  <p:sldSz cx="9144000" cy="5143500" type="screen16x9"/>
  <p:notesSz cx="6858000" cy="9144000"/>
  <p:custDataLst>
    <p:tags r:id="rId41"/>
  </p:custDataLst>
  <p:defaultTextStyle>
    <a:defPPr>
      <a:defRPr lang="zh-CN"/>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93"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clrMru>
    <a:srgbClr val="1B4367"/>
    <a:srgbClr val="1D4865"/>
    <a:srgbClr val="1D4971"/>
    <a:srgbClr val="51B3CD"/>
    <a:srgbClr val="83C2DB"/>
    <a:srgbClr val="2980B4"/>
    <a:srgbClr val="4287C6"/>
    <a:srgbClr val="2780A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062" autoAdjust="0"/>
    <p:restoredTop sz="63441" autoAdjust="0"/>
  </p:normalViewPr>
  <p:slideViewPr>
    <p:cSldViewPr snapToGrid="0" showGuides="1">
      <p:cViewPr varScale="1">
        <p:scale>
          <a:sx n="95" d="100"/>
          <a:sy n="95" d="100"/>
        </p:scale>
        <p:origin x="2382" y="90"/>
      </p:cViewPr>
      <p:guideLst>
        <p:guide orient="horz" pos="1593"/>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1" Type="http://schemas.openxmlformats.org/officeDocument/2006/relationships/tags" Target="tags/tag30.xml"/><Relationship Id="rId40" Type="http://schemas.openxmlformats.org/officeDocument/2006/relationships/tableStyles" Target="tableStyles.xml"/><Relationship Id="rId4" Type="http://schemas.openxmlformats.org/officeDocument/2006/relationships/notesMaster" Target="notesMasters/notesMaster1.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handoutMaster" Target="handoutMasters/handoutMaster1.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www.sciencedirect.com/topics/engineering/genetic-algorithm" TargetMode="External"/><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 1995, inspired by the regularity of the foraging </a:t>
            </a:r>
            <a:r>
              <a:rPr lang="en-US" altLang="zh-CN" dirty="0" err="1"/>
              <a:t>behaviour</a:t>
            </a:r>
            <a:r>
              <a:rPr lang="en-US" altLang="zh-CN" dirty="0"/>
              <a:t> of flocks of birds, James Kennedy and Russell Eberhart developed a simplified algorithmic model, which was improved over the years culminating in the Particle Swarm Optimization(PSO).</a:t>
            </a:r>
            <a:endParaRPr lang="en-US" altLang="zh-CN" dirty="0"/>
          </a:p>
          <a:p>
            <a:endParaRPr lang="en-US" altLang="zh-CN" dirty="0"/>
          </a:p>
          <a:p>
            <a:r>
              <a:rPr lang="en-US" altLang="zh-CN" dirty="0"/>
              <a:t>The term fuzzy refers to things that are not clear or are vague. In the real world many times we encounter a situation when we can’t determine whether the state is true or false, their fuzzy logic provides very valuable flexibility for reasoning. In this way, we can consider the inaccuracies and uncertainties of any situation.</a:t>
            </a:r>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r>
              <a:rPr lang="en-US" altLang="zh-CN" b="1" i="0" dirty="0">
                <a:solidFill>
                  <a:srgbClr val="273239"/>
                </a:solidFill>
                <a:effectLst/>
                <a:latin typeface="Nunito" pitchFamily="2" charset="0"/>
              </a:rPr>
              <a:t>Limitations: The optimal solution found by the flock of birds is the best solution in space.</a:t>
            </a:r>
            <a:endParaRPr lang="en-US" altLang="zh-CN" b="1" i="0" dirty="0">
              <a:solidFill>
                <a:srgbClr val="273239"/>
              </a:solidFill>
              <a:effectLst/>
              <a:latin typeface="Nunito" pitchFamily="2" charset="0"/>
            </a:endParaRPr>
          </a:p>
          <a:p>
            <a:pPr algn="l" fontAlgn="base"/>
            <a:r>
              <a:rPr lang="zh-CN" altLang="en-US" b="1" i="0" dirty="0">
                <a:solidFill>
                  <a:srgbClr val="273239"/>
                </a:solidFill>
                <a:effectLst/>
                <a:latin typeface="Nunito" pitchFamily="2" charset="0"/>
              </a:rPr>
              <a:t>与 </a:t>
            </a:r>
            <a:r>
              <a:rPr lang="en-US" altLang="zh-CN" b="1" i="0" dirty="0">
                <a:solidFill>
                  <a:srgbClr val="273239"/>
                </a:solidFill>
                <a:effectLst/>
                <a:latin typeface="Nunito" pitchFamily="2" charset="0"/>
              </a:rPr>
              <a:t>GA </a:t>
            </a:r>
            <a:r>
              <a:rPr lang="zh-CN" altLang="en-US" b="1" i="0" dirty="0">
                <a:solidFill>
                  <a:srgbClr val="273239"/>
                </a:solidFill>
                <a:effectLst/>
                <a:latin typeface="Nunito" pitchFamily="2" charset="0"/>
              </a:rPr>
              <a:t>不同，</a:t>
            </a:r>
            <a:r>
              <a:rPr lang="en-US" altLang="zh-CN" b="1" i="0" dirty="0">
                <a:solidFill>
                  <a:srgbClr val="273239"/>
                </a:solidFill>
                <a:effectLst/>
                <a:latin typeface="Nunito" pitchFamily="2" charset="0"/>
              </a:rPr>
              <a:t>PSO </a:t>
            </a:r>
            <a:r>
              <a:rPr lang="zh-CN" altLang="en-US" b="1" i="0" dirty="0">
                <a:solidFill>
                  <a:srgbClr val="273239"/>
                </a:solidFill>
                <a:effectLst/>
                <a:latin typeface="Nunito" pitchFamily="2" charset="0"/>
              </a:rPr>
              <a:t>没有进化算子，如交叉和突变。不可否认，</a:t>
            </a:r>
            <a:r>
              <a:rPr lang="en-US" altLang="zh-CN" b="1" i="0" dirty="0">
                <a:solidFill>
                  <a:srgbClr val="273239"/>
                </a:solidFill>
                <a:effectLst/>
                <a:latin typeface="Nunito" pitchFamily="2" charset="0"/>
              </a:rPr>
              <a:t>PSO </a:t>
            </a:r>
            <a:r>
              <a:rPr lang="zh-CN" altLang="en-US" b="1" i="0" dirty="0">
                <a:solidFill>
                  <a:srgbClr val="273239"/>
                </a:solidFill>
                <a:effectLst/>
                <a:latin typeface="Nunito" pitchFamily="2" charset="0"/>
              </a:rPr>
              <a:t>的缺点包括实用性和准确性都不如 </a:t>
            </a:r>
            <a:r>
              <a:rPr lang="en-US" altLang="zh-CN" b="1" i="0" dirty="0">
                <a:solidFill>
                  <a:srgbClr val="273239"/>
                </a:solidFill>
                <a:effectLst/>
                <a:latin typeface="Nunito" pitchFamily="2" charset="0"/>
              </a:rPr>
              <a:t>GA</a:t>
            </a:r>
            <a:endParaRPr lang="en-US" altLang="zh-CN" b="1" i="0" dirty="0">
              <a:solidFill>
                <a:srgbClr val="273239"/>
              </a:solidFill>
              <a:effectLst/>
              <a:latin typeface="Nunito" pitchFamily="2" charset="0"/>
            </a:endParaRPr>
          </a:p>
          <a:p>
            <a:pPr algn="l" fontAlgn="base"/>
            <a:endParaRPr lang="en-US" altLang="zh-CN" b="0" i="0" dirty="0">
              <a:solidFill>
                <a:srgbClr val="555555"/>
              </a:solidFill>
              <a:effectLst/>
              <a:latin typeface="Helvetica Neue"/>
            </a:endParaRPr>
          </a:p>
          <a:p>
            <a:r>
              <a:rPr lang="zh-CN" altLang="en-US" b="0" i="0" dirty="0">
                <a:solidFill>
                  <a:srgbClr val="555555"/>
                </a:solidFill>
                <a:effectLst/>
                <a:latin typeface="Helvetica Neue"/>
              </a:rPr>
              <a:t>虽然我们可以模拟一群鸟的运动，但我们也可以想象每只鸟都在帮助我们在高维解空间中找到最优解，而鸟群找到的最优解就是空间中的最佳解。这是一个</a:t>
            </a:r>
            <a:r>
              <a:rPr lang="zh-CN" altLang="en-US" b="1" i="0" dirty="0">
                <a:solidFill>
                  <a:srgbClr val="555555"/>
                </a:solidFill>
                <a:effectLst/>
                <a:latin typeface="Helvetica Neue"/>
              </a:rPr>
              <a:t>启发式</a:t>
            </a:r>
            <a:r>
              <a:rPr lang="zh-CN" altLang="en-US" b="0" i="0" dirty="0">
                <a:solidFill>
                  <a:srgbClr val="555555"/>
                </a:solidFill>
                <a:effectLst/>
                <a:latin typeface="Helvetica Neue"/>
              </a:rPr>
              <a:t>解决方案，因为我们永远无法证明可以找到真正的</a:t>
            </a:r>
            <a:r>
              <a:rPr lang="zh-CN" altLang="en-US" b="1" i="0" dirty="0">
                <a:solidFill>
                  <a:srgbClr val="555555"/>
                </a:solidFill>
                <a:effectLst/>
                <a:latin typeface="Helvetica Neue"/>
              </a:rPr>
              <a:t>全局最优</a:t>
            </a:r>
            <a:r>
              <a:rPr lang="zh-CN" altLang="en-US" b="0" i="0" dirty="0">
                <a:solidFill>
                  <a:srgbClr val="555555"/>
                </a:solidFill>
                <a:effectLst/>
                <a:latin typeface="Helvetica Neue"/>
              </a:rPr>
              <a:t>解决方案，而且通常不是。然而，我们经常发现</a:t>
            </a:r>
            <a:r>
              <a:rPr lang="en-US" altLang="zh-CN" b="0" i="0" dirty="0">
                <a:solidFill>
                  <a:srgbClr val="555555"/>
                </a:solidFill>
                <a:effectLst/>
                <a:latin typeface="Helvetica Neue"/>
              </a:rPr>
              <a:t>PSO</a:t>
            </a:r>
            <a:r>
              <a:rPr lang="zh-CN" altLang="en-US" b="0" i="0" dirty="0">
                <a:solidFill>
                  <a:srgbClr val="555555"/>
                </a:solidFill>
                <a:effectLst/>
                <a:latin typeface="Helvetica Neue"/>
              </a:rPr>
              <a:t>找到的解非常接近全局最优。</a:t>
            </a:r>
            <a:endParaRPr lang="en-US" altLang="zh-CN" b="0" i="0" dirty="0">
              <a:solidFill>
                <a:srgbClr val="555555"/>
              </a:solidFill>
              <a:effectLst/>
              <a:latin typeface="Helvetica Neue"/>
            </a:endParaRPr>
          </a:p>
          <a:p>
            <a:r>
              <a:rPr lang="zh-CN" altLang="en-US" b="0" i="0" dirty="0">
                <a:solidFill>
                  <a:srgbClr val="1F1F1F"/>
                </a:solidFill>
                <a:effectLst/>
                <a:latin typeface="ElsevierGulliver"/>
              </a:rPr>
              <a:t>与 </a:t>
            </a:r>
            <a:r>
              <a:rPr lang="en-US" altLang="zh-CN" b="0" i="0" dirty="0">
                <a:solidFill>
                  <a:srgbClr val="1F1F1F"/>
                </a:solidFill>
                <a:effectLst/>
                <a:latin typeface="ElsevierGulliver"/>
                <a:hlinkClick r:id="rId3" tooltip="Learn more about GA from ScienceDirect's AI-generated Topic Pages"/>
              </a:rPr>
              <a:t>GA</a:t>
            </a:r>
            <a:r>
              <a:rPr lang="zh-CN" altLang="en-US" b="0" i="0" dirty="0">
                <a:solidFill>
                  <a:srgbClr val="1F1F1F"/>
                </a:solidFill>
                <a:effectLst/>
                <a:latin typeface="ElsevierGulliver"/>
              </a:rPr>
              <a:t> 不同，</a:t>
            </a:r>
            <a:r>
              <a:rPr lang="en-US" altLang="zh-CN" b="0" i="0" dirty="0">
                <a:solidFill>
                  <a:srgbClr val="1F1F1F"/>
                </a:solidFill>
                <a:effectLst/>
                <a:latin typeface="ElsevierGulliver"/>
              </a:rPr>
              <a:t>PSO </a:t>
            </a:r>
            <a:r>
              <a:rPr lang="zh-CN" altLang="en-US" b="0" i="0" dirty="0">
                <a:solidFill>
                  <a:srgbClr val="1F1F1F"/>
                </a:solidFill>
                <a:effectLst/>
                <a:latin typeface="ElsevierGulliver"/>
              </a:rPr>
              <a:t>没有进化算子，例如交叉和突变。在 </a:t>
            </a:r>
            <a:r>
              <a:rPr lang="en-US" altLang="zh-CN" b="0" i="0" dirty="0">
                <a:solidFill>
                  <a:srgbClr val="1F1F1F"/>
                </a:solidFill>
                <a:effectLst/>
                <a:latin typeface="ElsevierGulliver"/>
              </a:rPr>
              <a:t>PSO </a:t>
            </a:r>
            <a:r>
              <a:rPr lang="zh-CN" altLang="en-US" b="0" i="0" dirty="0">
                <a:solidFill>
                  <a:srgbClr val="1F1F1F"/>
                </a:solidFill>
                <a:effectLst/>
                <a:latin typeface="ElsevierGulliver"/>
              </a:rPr>
              <a:t>中，潜在的解（称为粒子）通过遵循当前最优粒子在问题空间中移动。</a:t>
            </a:r>
            <a:r>
              <a:rPr lang="en-US" altLang="zh-CN" b="0" i="0" dirty="0">
                <a:solidFill>
                  <a:srgbClr val="1F1F1F"/>
                </a:solidFill>
                <a:effectLst/>
                <a:latin typeface="ElsevierGulliver"/>
              </a:rPr>
              <a:t>PSO</a:t>
            </a:r>
            <a:r>
              <a:rPr lang="zh-CN" altLang="en-US" b="0" i="0" dirty="0">
                <a:solidFill>
                  <a:srgbClr val="1F1F1F"/>
                </a:solidFill>
                <a:effectLst/>
                <a:latin typeface="ElsevierGulliver"/>
              </a:rPr>
              <a:t>在速度和内存要求方面都具有更高的计算效率。</a:t>
            </a:r>
            <a:r>
              <a:rPr lang="en-US" altLang="zh-CN" b="0" i="0" dirty="0">
                <a:solidFill>
                  <a:srgbClr val="1F1F1F"/>
                </a:solidFill>
                <a:effectLst/>
                <a:latin typeface="ElsevierGulliver"/>
              </a:rPr>
              <a:t>PSO</a:t>
            </a:r>
            <a:r>
              <a:rPr lang="zh-CN" altLang="en-US" b="0" i="0" dirty="0">
                <a:solidFill>
                  <a:srgbClr val="1F1F1F"/>
                </a:solidFill>
                <a:effectLst/>
                <a:latin typeface="ElsevierGulliver"/>
              </a:rPr>
              <a:t>不可否认的缺点包括它比</a:t>
            </a:r>
            <a:r>
              <a:rPr lang="en-US" altLang="zh-CN" b="0" i="0" dirty="0">
                <a:solidFill>
                  <a:srgbClr val="1F1F1F"/>
                </a:solidFill>
                <a:effectLst/>
                <a:latin typeface="ElsevierGulliver"/>
              </a:rPr>
              <a:t>GA</a:t>
            </a:r>
            <a:r>
              <a:rPr lang="zh-CN" altLang="en-US" b="0" i="0" dirty="0">
                <a:solidFill>
                  <a:srgbClr val="1F1F1F"/>
                </a:solidFill>
                <a:effectLst/>
                <a:latin typeface="ElsevierGulliver"/>
              </a:rPr>
              <a:t>更不实用和不准确。</a:t>
            </a:r>
            <a:endParaRPr lang="zh-CN" altLang="en-US" dirty="0"/>
          </a:p>
          <a:p>
            <a:pPr algn="l" fontAlgn="base">
              <a:buFont typeface="+mj-lt"/>
              <a:buNone/>
            </a:pPr>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b="0" i="0" dirty="0">
                <a:solidFill>
                  <a:srgbClr val="000000"/>
                </a:solidFill>
                <a:effectLst/>
                <a:latin typeface="微软雅黑" panose="020B0503020204020204" charset="-122"/>
                <a:ea typeface="微软雅黑" panose="020B0503020204020204" charset="-122"/>
              </a:rPr>
              <a:t>PSO 27</a:t>
            </a:r>
            <a:endParaRPr lang="en-US" altLang="zh-CN" b="0" i="0" dirty="0">
              <a:solidFill>
                <a:srgbClr val="000000"/>
              </a:solidFill>
              <a:effectLst/>
              <a:latin typeface="微软雅黑" panose="020B0503020204020204" charset="-122"/>
              <a:ea typeface="微软雅黑" panose="020B0503020204020204" charset="-122"/>
            </a:endParaRPr>
          </a:p>
          <a:p>
            <a:pPr algn="just"/>
            <a:r>
              <a:rPr lang="zh-CN" altLang="en-US" b="0" i="0" dirty="0">
                <a:solidFill>
                  <a:srgbClr val="000000"/>
                </a:solidFill>
                <a:effectLst/>
                <a:latin typeface="微软雅黑" panose="020B0503020204020204" charset="-122"/>
                <a:ea typeface="微软雅黑" panose="020B0503020204020204" charset="-122"/>
              </a:rPr>
              <a:t>目前的优化问题不能用精确的优化方法来解决，因为</a:t>
            </a:r>
            <a:r>
              <a:rPr lang="en-US" altLang="zh-CN" b="0" i="0" dirty="0">
                <a:solidFill>
                  <a:srgbClr val="000000"/>
                </a:solidFill>
                <a:effectLst/>
                <a:latin typeface="微软雅黑" panose="020B0503020204020204" charset="-122"/>
                <a:ea typeface="微软雅黑" panose="020B0503020204020204" charset="-122"/>
              </a:rPr>
              <a:t>:1</a:t>
            </a:r>
            <a:r>
              <a:rPr lang="zh-CN" altLang="en-US" b="0" i="0" dirty="0">
                <a:solidFill>
                  <a:srgbClr val="000000"/>
                </a:solidFill>
                <a:effectLst/>
                <a:latin typeface="微软雅黑" panose="020B0503020204020204" charset="-122"/>
                <a:ea typeface="微软雅黑" panose="020B0503020204020204" charset="-122"/>
              </a:rPr>
              <a:t>。为了估计节点电压，需要进行潮流分析</a:t>
            </a:r>
            <a:r>
              <a:rPr lang="en-US" altLang="zh-CN" b="0" i="0" dirty="0">
                <a:solidFill>
                  <a:srgbClr val="000000"/>
                </a:solidFill>
                <a:effectLst/>
                <a:latin typeface="微软雅黑" panose="020B0503020204020204" charset="-122"/>
                <a:ea typeface="微软雅黑" panose="020B0503020204020204" charset="-122"/>
              </a:rPr>
              <a:t>(</a:t>
            </a:r>
            <a:r>
              <a:rPr lang="zh-CN" altLang="en-US" b="0" i="0" dirty="0">
                <a:solidFill>
                  <a:srgbClr val="000000"/>
                </a:solidFill>
                <a:effectLst/>
                <a:latin typeface="微软雅黑" panose="020B0503020204020204" charset="-122"/>
                <a:ea typeface="微软雅黑" panose="020B0503020204020204" charset="-122"/>
              </a:rPr>
              <a:t>一种基于迭代的方法</a:t>
            </a:r>
            <a:r>
              <a:rPr lang="en-US" altLang="zh-CN" b="0" i="0" dirty="0">
                <a:solidFill>
                  <a:srgbClr val="000000"/>
                </a:solidFill>
                <a:effectLst/>
                <a:latin typeface="微软雅黑" panose="020B0503020204020204" charset="-122"/>
                <a:ea typeface="微软雅黑" panose="020B0503020204020204" charset="-122"/>
              </a:rPr>
              <a:t>);2. diesel generators(</a:t>
            </a:r>
            <a:r>
              <a:rPr lang="en-US" altLang="zh-CN" dirty="0">
                <a:solidFill>
                  <a:srgbClr val="000000"/>
                </a:solidFill>
                <a:latin typeface="微软雅黑" panose="020B0503020204020204" charset="-122"/>
                <a:ea typeface="微软雅黑" panose="020B0503020204020204" charset="-122"/>
              </a:rPr>
              <a:t>DGs)</a:t>
            </a:r>
            <a:r>
              <a:rPr lang="zh-CN" altLang="en-US" b="0" i="0" dirty="0">
                <a:solidFill>
                  <a:srgbClr val="000000"/>
                </a:solidFill>
                <a:effectLst/>
                <a:latin typeface="微软雅黑" panose="020B0503020204020204" charset="-122"/>
                <a:ea typeface="微软雅黑" panose="020B0503020204020204" charset="-122"/>
              </a:rPr>
              <a:t>有两种非连续的操作状态</a:t>
            </a:r>
            <a:r>
              <a:rPr lang="en-US" altLang="zh-CN" b="0" i="0" dirty="0">
                <a:solidFill>
                  <a:srgbClr val="000000"/>
                </a:solidFill>
                <a:effectLst/>
                <a:latin typeface="微软雅黑" panose="020B0503020204020204" charset="-122"/>
                <a:ea typeface="微软雅黑" panose="020B0503020204020204" charset="-122"/>
              </a:rPr>
              <a:t>(</a:t>
            </a:r>
            <a:r>
              <a:rPr lang="zh-CN" altLang="en-US" b="0" i="0" dirty="0">
                <a:solidFill>
                  <a:srgbClr val="000000"/>
                </a:solidFill>
                <a:effectLst/>
                <a:latin typeface="微软雅黑" panose="020B0503020204020204" charset="-122"/>
                <a:ea typeface="微软雅黑" panose="020B0503020204020204" charset="-122"/>
              </a:rPr>
              <a:t>开</a:t>
            </a:r>
            <a:r>
              <a:rPr lang="en-US" altLang="zh-CN" b="0" i="0" dirty="0">
                <a:solidFill>
                  <a:srgbClr val="000000"/>
                </a:solidFill>
                <a:effectLst/>
                <a:latin typeface="微软雅黑" panose="020B0503020204020204" charset="-122"/>
                <a:ea typeface="微软雅黑" panose="020B0503020204020204" charset="-122"/>
              </a:rPr>
              <a:t>/</a:t>
            </a:r>
            <a:r>
              <a:rPr lang="zh-CN" altLang="en-US" b="0" i="0" dirty="0">
                <a:solidFill>
                  <a:srgbClr val="000000"/>
                </a:solidFill>
                <a:effectLst/>
                <a:latin typeface="微软雅黑" panose="020B0503020204020204" charset="-122"/>
                <a:ea typeface="微软雅黑" panose="020B0503020204020204" charset="-122"/>
              </a:rPr>
              <a:t>关</a:t>
            </a:r>
            <a:r>
              <a:rPr lang="en-US" altLang="zh-CN" b="0" i="0" dirty="0">
                <a:solidFill>
                  <a:srgbClr val="000000"/>
                </a:solidFill>
                <a:effectLst/>
                <a:latin typeface="微软雅黑" panose="020B0503020204020204" charset="-122"/>
                <a:ea typeface="微软雅黑" panose="020B0503020204020204" charset="-122"/>
              </a:rPr>
              <a:t>)</a:t>
            </a:r>
            <a:r>
              <a:rPr lang="zh-CN" altLang="en-US" b="0" i="0" dirty="0">
                <a:solidFill>
                  <a:srgbClr val="000000"/>
                </a:solidFill>
                <a:effectLst/>
                <a:latin typeface="微软雅黑" panose="020B0503020204020204" charset="-122"/>
                <a:ea typeface="微软雅黑" panose="020B0503020204020204" charset="-122"/>
              </a:rPr>
              <a:t>。</a:t>
            </a:r>
            <a:endParaRPr lang="zh-CN" altLang="en-US" b="0" i="0" dirty="0">
              <a:solidFill>
                <a:srgbClr val="000000"/>
              </a:solidFill>
              <a:effectLst/>
              <a:latin typeface="微软雅黑" panose="020B0503020204020204" charset="-122"/>
              <a:ea typeface="微软雅黑" panose="020B0503020204020204" charset="-122"/>
            </a:endParaRPr>
          </a:p>
          <a:p>
            <a:pPr algn="just"/>
            <a:r>
              <a:rPr lang="zh-CN" altLang="en-US" b="0" i="0" dirty="0">
                <a:solidFill>
                  <a:srgbClr val="000000"/>
                </a:solidFill>
                <a:effectLst/>
                <a:latin typeface="微软雅黑" panose="020B0503020204020204" charset="-122"/>
                <a:ea typeface="微软雅黑" panose="020B0503020204020204" charset="-122"/>
              </a:rPr>
              <a:t>因此，不能使用凸优化方法。因此，采用了一种元启发式算法，即粒子群算法。这是一种广泛使用的算法，具有以下特点</a:t>
            </a:r>
            <a:r>
              <a:rPr lang="en-US" altLang="zh-CN" b="0" i="0" dirty="0">
                <a:solidFill>
                  <a:srgbClr val="000000"/>
                </a:solidFill>
                <a:effectLst/>
                <a:latin typeface="微软雅黑" panose="020B0503020204020204" charset="-122"/>
                <a:ea typeface="微软雅黑" panose="020B0503020204020204" charset="-122"/>
              </a:rPr>
              <a:t>:</a:t>
            </a:r>
            <a:r>
              <a:rPr lang="zh-CN" altLang="en-US" b="0" i="0" dirty="0">
                <a:solidFill>
                  <a:srgbClr val="000000"/>
                </a:solidFill>
                <a:effectLst/>
                <a:latin typeface="微软雅黑" panose="020B0503020204020204" charset="-122"/>
                <a:ea typeface="微软雅黑" panose="020B0503020204020204" charset="-122"/>
              </a:rPr>
              <a:t>易于实现，所有候选解具有平等的进化机会，计算机内存需求低等</a:t>
            </a:r>
            <a:r>
              <a:rPr lang="en-US" altLang="zh-CN" b="0" i="0" dirty="0">
                <a:solidFill>
                  <a:srgbClr val="000000"/>
                </a:solidFill>
                <a:effectLst/>
                <a:latin typeface="微软雅黑" panose="020B0503020204020204" charset="-122"/>
                <a:ea typeface="微软雅黑" panose="020B0503020204020204" charset="-122"/>
              </a:rPr>
              <a:t>[26]</a:t>
            </a:r>
            <a:r>
              <a:rPr lang="zh-CN" altLang="en-US" b="0" i="0" dirty="0">
                <a:solidFill>
                  <a:srgbClr val="000000"/>
                </a:solidFill>
                <a:effectLst/>
                <a:latin typeface="微软雅黑" panose="020B0503020204020204" charset="-122"/>
                <a:ea typeface="微软雅黑" panose="020B0503020204020204" charset="-122"/>
              </a:rPr>
              <a:t>。尽管元启发式算法不能保证得到全局解，但如果设计得好，可以得到一个足够好的解。</a:t>
            </a:r>
            <a:endParaRPr lang="zh-CN" altLang="en-US" b="0" i="0" dirty="0">
              <a:solidFill>
                <a:srgbClr val="000000"/>
              </a:solidFill>
              <a:effectLst/>
              <a:latin typeface="微软雅黑" panose="020B0503020204020204" charset="-122"/>
              <a:ea typeface="微软雅黑" panose="020B0503020204020204" charset="-122"/>
            </a:endParaRPr>
          </a:p>
          <a:p>
            <a:pPr algn="just"/>
            <a:r>
              <a:rPr lang="zh-CN" altLang="en-US" b="0" i="0" dirty="0">
                <a:solidFill>
                  <a:srgbClr val="000000"/>
                </a:solidFill>
                <a:effectLst/>
                <a:latin typeface="微软雅黑" panose="020B0503020204020204" charset="-122"/>
                <a:ea typeface="微软雅黑" panose="020B0503020204020204" charset="-122"/>
              </a:rPr>
              <a:t>采用两阶段粒子群算法求解优化问题。首先，外部的</a:t>
            </a:r>
            <a:r>
              <a:rPr lang="en-US" altLang="zh-CN" b="0" i="0" dirty="0" err="1">
                <a:solidFill>
                  <a:srgbClr val="000000"/>
                </a:solidFill>
                <a:effectLst/>
                <a:latin typeface="微软雅黑" panose="020B0503020204020204" charset="-122"/>
                <a:ea typeface="微软雅黑" panose="020B0503020204020204" charset="-122"/>
              </a:rPr>
              <a:t>psosi</a:t>
            </a:r>
            <a:r>
              <a:rPr lang="zh-CN" altLang="en-US" b="0" i="0" dirty="0">
                <a:solidFill>
                  <a:srgbClr val="000000"/>
                </a:solidFill>
                <a:effectLst/>
                <a:latin typeface="微软雅黑" panose="020B0503020204020204" charset="-122"/>
                <a:ea typeface="微软雅黑" panose="020B0503020204020204" charset="-122"/>
              </a:rPr>
              <a:t>优化</a:t>
            </a:r>
            <a:r>
              <a:rPr lang="en-US" altLang="zh-CN" b="0" i="0" dirty="0">
                <a:solidFill>
                  <a:srgbClr val="000000"/>
                </a:solidFill>
                <a:effectLst/>
                <a:latin typeface="微软雅黑" panose="020B0503020204020204" charset="-122"/>
                <a:ea typeface="微软雅黑" panose="020B0503020204020204" charset="-122"/>
              </a:rPr>
              <a:t>dg</a:t>
            </a:r>
            <a:r>
              <a:rPr lang="zh-CN" altLang="en-US" b="0" i="0" dirty="0">
                <a:solidFill>
                  <a:srgbClr val="000000"/>
                </a:solidFill>
                <a:effectLst/>
                <a:latin typeface="微软雅黑" panose="020B0503020204020204" charset="-122"/>
                <a:ea typeface="微软雅黑" panose="020B0503020204020204" charset="-122"/>
              </a:rPr>
              <a:t>、</a:t>
            </a:r>
            <a:r>
              <a:rPr lang="en-US" altLang="zh-CN" b="0" i="0" dirty="0">
                <a:solidFill>
                  <a:srgbClr val="000000"/>
                </a:solidFill>
                <a:effectLst/>
                <a:latin typeface="微软雅黑" panose="020B0503020204020204" charset="-122"/>
                <a:ea typeface="微软雅黑" panose="020B0503020204020204" charset="-122"/>
              </a:rPr>
              <a:t>PV</a:t>
            </a:r>
            <a:r>
              <a:rPr lang="zh-CN" altLang="en-US" b="0" i="0" dirty="0">
                <a:solidFill>
                  <a:srgbClr val="000000"/>
                </a:solidFill>
                <a:effectLst/>
                <a:latin typeface="微软雅黑" panose="020B0503020204020204" charset="-122"/>
                <a:ea typeface="微软雅黑" panose="020B0503020204020204" charset="-122"/>
              </a:rPr>
              <a:t>和电池的选址和尺寸，而内部的</a:t>
            </a:r>
            <a:r>
              <a:rPr lang="en-US" altLang="zh-CN" b="0" i="0" dirty="0" err="1">
                <a:solidFill>
                  <a:srgbClr val="000000"/>
                </a:solidFill>
                <a:effectLst/>
                <a:latin typeface="微软雅黑" panose="020B0503020204020204" charset="-122"/>
                <a:ea typeface="微软雅黑" panose="020B0503020204020204" charset="-122"/>
              </a:rPr>
              <a:t>psosch</a:t>
            </a:r>
            <a:r>
              <a:rPr lang="zh-CN" altLang="en-US" b="0" i="0" dirty="0">
                <a:solidFill>
                  <a:srgbClr val="000000"/>
                </a:solidFill>
                <a:effectLst/>
                <a:latin typeface="微软雅黑" panose="020B0503020204020204" charset="-122"/>
                <a:ea typeface="微软雅黑" panose="020B0503020204020204" charset="-122"/>
              </a:rPr>
              <a:t>优化它们的调度。</a:t>
            </a:r>
            <a:endParaRPr lang="zh-CN" altLang="en-US" b="0" i="0" dirty="0">
              <a:solidFill>
                <a:srgbClr val="000000"/>
              </a:solidFill>
              <a:effectLst/>
              <a:latin typeface="微软雅黑" panose="020B0503020204020204" charset="-122"/>
              <a:ea typeface="微软雅黑" panose="020B0503020204020204" charset="-122"/>
            </a:endParaRP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r>
              <a:rPr lang="zh-CN" altLang="en-US" dirty="0">
                <a:solidFill>
                  <a:srgbClr val="273239"/>
                </a:solidFill>
                <a:latin typeface="Nunito" pitchFamily="2" charset="0"/>
              </a:rPr>
              <a:t>模</a:t>
            </a:r>
            <a:r>
              <a:rPr lang="zh-CN" altLang="en-US" b="0" i="0" dirty="0">
                <a:solidFill>
                  <a:srgbClr val="273239"/>
                </a:solidFill>
                <a:effectLst/>
                <a:latin typeface="Nunito" pitchFamily="2" charset="0"/>
              </a:rPr>
              <a:t>糊逻辑是多值逻辑的一种形式，其中变量的真值可以是 </a:t>
            </a:r>
            <a:r>
              <a:rPr lang="en-US" altLang="zh-CN" b="0" i="0" dirty="0">
                <a:solidFill>
                  <a:srgbClr val="273239"/>
                </a:solidFill>
                <a:effectLst/>
                <a:latin typeface="Nunito" pitchFamily="2" charset="0"/>
              </a:rPr>
              <a:t>0 </a:t>
            </a:r>
            <a:r>
              <a:rPr lang="zh-CN" altLang="en-US" b="0" i="0" dirty="0">
                <a:solidFill>
                  <a:srgbClr val="273239"/>
                </a:solidFill>
                <a:effectLst/>
                <a:latin typeface="Nunito" pitchFamily="2" charset="0"/>
              </a:rPr>
              <a:t>到 </a:t>
            </a:r>
            <a:r>
              <a:rPr lang="en-US" altLang="zh-CN" b="0" i="0" dirty="0">
                <a:solidFill>
                  <a:srgbClr val="273239"/>
                </a:solidFill>
                <a:effectLst/>
                <a:latin typeface="Nunito" pitchFamily="2" charset="0"/>
              </a:rPr>
              <a:t>1 </a:t>
            </a:r>
            <a:r>
              <a:rPr lang="zh-CN" altLang="en-US" b="0" i="0" dirty="0">
                <a:solidFill>
                  <a:srgbClr val="273239"/>
                </a:solidFill>
                <a:effectLst/>
                <a:latin typeface="Nunito" pitchFamily="2" charset="0"/>
              </a:rPr>
              <a:t>之间的任何实数，而不仅仅是传统的 </a:t>
            </a:r>
            <a:r>
              <a:rPr lang="en-US" altLang="zh-CN" b="0" i="0" dirty="0">
                <a:solidFill>
                  <a:srgbClr val="273239"/>
                </a:solidFill>
                <a:effectLst/>
                <a:latin typeface="Nunito" pitchFamily="2" charset="0"/>
              </a:rPr>
              <a:t>true </a:t>
            </a:r>
            <a:r>
              <a:rPr lang="zh-CN" altLang="en-US" b="0" i="0" dirty="0">
                <a:solidFill>
                  <a:srgbClr val="273239"/>
                </a:solidFill>
                <a:effectLst/>
                <a:latin typeface="Nunito" pitchFamily="2" charset="0"/>
              </a:rPr>
              <a:t>或 </a:t>
            </a:r>
            <a:r>
              <a:rPr lang="en-US" altLang="zh-CN" b="0" i="0" dirty="0">
                <a:solidFill>
                  <a:srgbClr val="273239"/>
                </a:solidFill>
                <a:effectLst/>
                <a:latin typeface="Nunito" pitchFamily="2" charset="0"/>
              </a:rPr>
              <a:t>false </a:t>
            </a:r>
            <a:r>
              <a:rPr lang="zh-CN" altLang="en-US" b="0" i="0" dirty="0">
                <a:solidFill>
                  <a:srgbClr val="273239"/>
                </a:solidFill>
                <a:effectLst/>
                <a:latin typeface="Nunito" pitchFamily="2" charset="0"/>
              </a:rPr>
              <a:t>值。它用于处理不精确或不确定的信息，是一种表示决策中的模糊性和不确定性的数学方法。</a:t>
            </a:r>
            <a:endParaRPr lang="zh-CN" altLang="en-US" b="0" i="0" dirty="0">
              <a:solidFill>
                <a:srgbClr val="273239"/>
              </a:solidFill>
              <a:effectLst/>
              <a:latin typeface="Nunito" pitchFamily="2" charset="0"/>
            </a:endParaRPr>
          </a:p>
          <a:p>
            <a:pPr algn="l" fontAlgn="base"/>
            <a:r>
              <a:rPr lang="zh-CN" altLang="en-US" b="0" i="0" dirty="0">
                <a:solidFill>
                  <a:srgbClr val="273239"/>
                </a:solidFill>
                <a:effectLst/>
                <a:latin typeface="Nunito" pitchFamily="2" charset="0"/>
              </a:rPr>
              <a:t>模糊逻辑基于这样一种观点，即在许多情况下，真或假的概念过于严格，并且介于两者之间有许多灰色阴影。它允许部分真理，其中陈述可以部分正确或错误，而不是完全正确或错误。</a:t>
            </a:r>
            <a:endParaRPr lang="zh-CN" altLang="en-US" b="0" i="0" dirty="0">
              <a:solidFill>
                <a:srgbClr val="273239"/>
              </a:solidFill>
              <a:effectLst/>
              <a:latin typeface="Nunito" pitchFamily="2" charset="0"/>
            </a:endParaRPr>
          </a:p>
          <a:p>
            <a:pPr algn="l" fontAlgn="base"/>
            <a:r>
              <a:rPr lang="zh-CN" altLang="en-US" b="0" i="0" dirty="0">
                <a:solidFill>
                  <a:srgbClr val="273239"/>
                </a:solidFill>
                <a:effectLst/>
                <a:latin typeface="Nunito" pitchFamily="2" charset="0"/>
              </a:rPr>
              <a:t>模糊逻辑应用广泛，如控制系统、图像处理、自然语言处理、医疗诊断和人工智能</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the proposed fuzzy EMS-FC strategy</a:t>
            </a:r>
            <a:endParaRPr lang="zh-CN" altLang="en-US" dirty="0"/>
          </a:p>
          <a:p>
            <a:r>
              <a:rPr lang="zh-CN" altLang="en-US" dirty="0"/>
              <a:t>is performed in the real MG installed at UPNa</a:t>
            </a:r>
            <a:r>
              <a:rPr lang="en-US" altLang="zh-CN" dirty="0"/>
              <a:t>. </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772"/>
            <a:ext cx="6858000" cy="1790700"/>
          </a:xfrm>
        </p:spPr>
        <p:txBody>
          <a:bodyPr anchor="b"/>
          <a:lstStyle>
            <a:lvl1pPr algn="ctr">
              <a:defRPr sz="45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40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7" y="1282304"/>
            <a:ext cx="7886700" cy="2139553"/>
          </a:xfrm>
        </p:spPr>
        <p:txBody>
          <a:bodyPr anchor="b"/>
          <a:lstStyle>
            <a:lvl1pPr>
              <a:defRPr sz="45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23887"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40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28650" y="1369218"/>
            <a:ext cx="3886200" cy="3263504"/>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29150" y="1369218"/>
            <a:ext cx="3886200" cy="3263504"/>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44"/>
            <a:ext cx="7886700" cy="994172"/>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90080" y="1333829"/>
            <a:ext cx="3655181" cy="617934"/>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400"/>
            </a:lvl4pPr>
            <a:lvl5pPr marL="1371600" indent="0">
              <a:buNone/>
              <a:defRPr sz="1400"/>
            </a:lvl5pPr>
            <a:lvl6pPr marL="1714500" indent="0">
              <a:buNone/>
              <a:defRPr sz="1400"/>
            </a:lvl6pPr>
            <a:lvl7pPr marL="2057400" indent="0">
              <a:buNone/>
              <a:defRPr sz="1400"/>
            </a:lvl7pPr>
            <a:lvl8pPr marL="2400300" indent="0">
              <a:buNone/>
              <a:defRPr sz="1400"/>
            </a:lvl8pPr>
            <a:lvl9pPr marL="2743200" indent="0">
              <a:buNone/>
              <a:defRPr sz="1400"/>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90080" y="1999034"/>
            <a:ext cx="3655181" cy="264321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92704" y="1333829"/>
            <a:ext cx="3673182" cy="617934"/>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400"/>
            </a:lvl4pPr>
            <a:lvl5pPr marL="1371600" indent="0">
              <a:buNone/>
              <a:defRPr sz="1400"/>
            </a:lvl5pPr>
            <a:lvl6pPr marL="1714500" indent="0">
              <a:buNone/>
              <a:defRPr sz="1400"/>
            </a:lvl6pPr>
            <a:lvl7pPr marL="2057400" indent="0">
              <a:buNone/>
              <a:defRPr sz="1400"/>
            </a:lvl7pPr>
            <a:lvl8pPr marL="2400300" indent="0">
              <a:buNone/>
              <a:defRPr sz="1400"/>
            </a:lvl8pPr>
            <a:lvl9pPr marL="2743200" indent="0">
              <a:buNone/>
              <a:defRPr sz="1400"/>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92704" y="1999034"/>
            <a:ext cx="3673182" cy="264321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00"/>
            <a:ext cx="3124012" cy="1200150"/>
          </a:xfrm>
        </p:spPr>
        <p:txBody>
          <a:bodyPr anchor="b"/>
          <a:lstStyle>
            <a:lvl1pPr>
              <a:defRPr sz="24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391" y="342900"/>
            <a:ext cx="4629150" cy="4052888"/>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1543050"/>
            <a:ext cx="3124012" cy="2858691"/>
          </a:xfrm>
        </p:spPr>
        <p:txBody>
          <a:bodyPr/>
          <a:lstStyle>
            <a:lvl1pPr marL="0" indent="0">
              <a:buNone/>
              <a:defRPr sz="1500"/>
            </a:lvl1pPr>
            <a:lvl2pPr marL="342900" indent="0">
              <a:buNone/>
              <a:defRPr sz="1400"/>
            </a:lvl2pPr>
            <a:lvl3pPr marL="685800" indent="0">
              <a:buNone/>
              <a:defRPr sz="1200"/>
            </a:lvl3pPr>
            <a:lvl4pPr marL="1028700" indent="0">
              <a:buNone/>
              <a:defRPr sz="1100"/>
            </a:lvl4pPr>
            <a:lvl5pPr marL="1371600" indent="0">
              <a:buNone/>
              <a:defRPr sz="1100"/>
            </a:lvl5pPr>
            <a:lvl6pPr marL="1714500" indent="0">
              <a:buNone/>
              <a:defRPr sz="1100"/>
            </a:lvl6pPr>
            <a:lvl7pPr marL="2057400" indent="0">
              <a:buNone/>
              <a:defRPr sz="1100"/>
            </a:lvl7pPr>
            <a:lvl8pPr marL="2400300" indent="0">
              <a:buNone/>
              <a:defRPr sz="1100"/>
            </a:lvl8pPr>
            <a:lvl9pPr marL="2743200" indent="0">
              <a:buNone/>
              <a:defRPr sz="11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3843"/>
            <a:ext cx="1971675" cy="4358879"/>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28650" y="273843"/>
            <a:ext cx="5800725" cy="4358879"/>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28650" y="273843"/>
            <a:ext cx="7886700" cy="4358879"/>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273844"/>
            <a:ext cx="7886700" cy="994172"/>
          </a:xfrm>
          <a:prstGeom prst="rect">
            <a:avLst/>
          </a:prstGeom>
        </p:spPr>
        <p:txBody>
          <a:bodyPr vert="horz" lIns="68580" tIns="34290" rIns="68580" bIns="3429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28650" y="1369218"/>
            <a:ext cx="7886700" cy="3263504"/>
          </a:xfrm>
          <a:prstGeom prst="rect">
            <a:avLst/>
          </a:prstGeom>
        </p:spPr>
        <p:txBody>
          <a:bodyPr vert="horz" lIns="68580" tIns="34290" rIns="68580" bIns="3429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28650" y="4767263"/>
            <a:ext cx="2057400" cy="273844"/>
          </a:xfrm>
          <a:prstGeom prst="rect">
            <a:avLst/>
          </a:prstGeom>
        </p:spPr>
        <p:txBody>
          <a:bodyPr vert="horz" lIns="68580" tIns="34290" rIns="68580" bIns="34290" rtlCol="0" anchor="ctr"/>
          <a:lstStyle>
            <a:lvl1pPr algn="l">
              <a:defRPr sz="900">
                <a:solidFill>
                  <a:schemeClr val="tx1">
                    <a:tint val="75000"/>
                  </a:schemeClr>
                </a:solidFill>
              </a:defRPr>
            </a:lvl1pPr>
          </a:lstStyle>
          <a:p>
            <a:fld id="{82F288E0-7875-42C4-84C8-98DBBD3BF4D2}" type="datetimeFigureOut">
              <a:rPr lang="zh-CN" altLang="en-US" smtClean="0"/>
            </a:fld>
            <a:endParaRPr lang="zh-CN" altLang="en-US"/>
          </a:p>
        </p:txBody>
      </p:sp>
      <p:sp>
        <p:nvSpPr>
          <p:cNvPr id="5" name="页脚占位符 4"/>
          <p:cNvSpPr>
            <a:spLocks noGrp="1"/>
          </p:cNvSpPr>
          <p:nvPr>
            <p:ph type="ftr" sz="quarter" idx="3"/>
          </p:nvPr>
        </p:nvSpPr>
        <p:spPr>
          <a:xfrm>
            <a:off x="3028950" y="4767263"/>
            <a:ext cx="3086100" cy="273844"/>
          </a:xfrm>
          <a:prstGeom prst="rect">
            <a:avLst/>
          </a:prstGeom>
        </p:spPr>
        <p:txBody>
          <a:bodyPr vert="horz" lIns="68580" tIns="34290" rIns="68580" bIns="34290" rtlCol="0" anchor="ctr"/>
          <a:lstStyle>
            <a:lvl1pPr algn="ctr">
              <a:defRPr sz="9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4767263"/>
            <a:ext cx="2057400" cy="273844"/>
          </a:xfrm>
          <a:prstGeom prst="rect">
            <a:avLst/>
          </a:prstGeom>
        </p:spPr>
        <p:txBody>
          <a:bodyPr vert="horz" lIns="68580" tIns="34290" rIns="68580" bIns="34290" rtlCol="0" anchor="ctr"/>
          <a:lstStyle>
            <a:lvl1pPr algn="r">
              <a:defRPr sz="900">
                <a:solidFill>
                  <a:schemeClr val="tx1">
                    <a:tint val="75000"/>
                  </a:schemeClr>
                </a:solidFill>
              </a:defRPr>
            </a:lvl1pPr>
          </a:lstStyle>
          <a:p>
            <a:fld id="{7D9BB5D0-35E4-459D-AEF3-FE4D7C45CC19}"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9pPr>
    </p:bodyStyle>
    <p:otherStyle>
      <a:defPPr>
        <a:defRPr lang="zh-CN"/>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1.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2.xml"/><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11.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12.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2.xml"/><Relationship Id="rId2" Type="http://schemas.microsoft.com/office/2007/relationships/hdphoto" Target="../media/image14.wdp"/><Relationship Id="rId1" Type="http://schemas.openxmlformats.org/officeDocument/2006/relationships/image" Target="../media/image13.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image" Target="../media/image15.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2.xml"/><Relationship Id="rId2" Type="http://schemas.openxmlformats.org/officeDocument/2006/relationships/tags" Target="../tags/tag5.xml"/><Relationship Id="rId1" Type="http://schemas.openxmlformats.org/officeDocument/2006/relationships/tags" Target="../tags/tag4.xml"/></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20.xml"/><Relationship Id="rId4" Type="http://schemas.openxmlformats.org/officeDocument/2006/relationships/slideLayout" Target="../slideLayouts/slideLayout2.xml"/><Relationship Id="rId3" Type="http://schemas.openxmlformats.org/officeDocument/2006/relationships/image" Target="../media/image17.png"/><Relationship Id="rId2" Type="http://schemas.openxmlformats.org/officeDocument/2006/relationships/tags" Target="../tags/tag7.xml"/><Relationship Id="rId1" Type="http://schemas.openxmlformats.org/officeDocument/2006/relationships/tags" Target="../tags/tag6.xml"/></Relationships>
</file>

<file path=ppt/slides/_rels/slide22.xml.rels><?xml version="1.0" encoding="UTF-8" standalone="yes"?>
<Relationships xmlns="http://schemas.openxmlformats.org/package/2006/relationships"><Relationship Id="rId9" Type="http://schemas.openxmlformats.org/officeDocument/2006/relationships/tags" Target="../tags/tag16.xml"/><Relationship Id="rId8" Type="http://schemas.openxmlformats.org/officeDocument/2006/relationships/tags" Target="../tags/tag15.xml"/><Relationship Id="rId7" Type="http://schemas.openxmlformats.org/officeDocument/2006/relationships/tags" Target="../tags/tag14.xml"/><Relationship Id="rId6" Type="http://schemas.openxmlformats.org/officeDocument/2006/relationships/tags" Target="../tags/tag13.xml"/><Relationship Id="rId5" Type="http://schemas.openxmlformats.org/officeDocument/2006/relationships/tags" Target="../tags/tag12.xml"/><Relationship Id="rId4" Type="http://schemas.openxmlformats.org/officeDocument/2006/relationships/tags" Target="../tags/tag11.xml"/><Relationship Id="rId3" Type="http://schemas.openxmlformats.org/officeDocument/2006/relationships/tags" Target="../tags/tag10.xml"/><Relationship Id="rId2" Type="http://schemas.openxmlformats.org/officeDocument/2006/relationships/tags" Target="../tags/tag9.xml"/><Relationship Id="rId12" Type="http://schemas.openxmlformats.org/officeDocument/2006/relationships/notesSlide" Target="../notesSlides/notesSlide21.xml"/><Relationship Id="rId11" Type="http://schemas.openxmlformats.org/officeDocument/2006/relationships/slideLayout" Target="../slideLayouts/slideLayout2.xml"/><Relationship Id="rId10" Type="http://schemas.openxmlformats.org/officeDocument/2006/relationships/tags" Target="../tags/tag17.xml"/><Relationship Id="rId1" Type="http://schemas.openxmlformats.org/officeDocument/2006/relationships/tags" Target="../tags/tag8.xml"/></Relationships>
</file>

<file path=ppt/slides/_rels/slide23.xml.rels><?xml version="1.0" encoding="UTF-8" standalone="yes"?>
<Relationships xmlns="http://schemas.openxmlformats.org/package/2006/relationships"><Relationship Id="rId5" Type="http://schemas.openxmlformats.org/officeDocument/2006/relationships/notesSlide" Target="../notesSlides/notesSlide22.xml"/><Relationship Id="rId4" Type="http://schemas.openxmlformats.org/officeDocument/2006/relationships/slideLayout" Target="../slideLayouts/slideLayout2.xml"/><Relationship Id="rId3" Type="http://schemas.openxmlformats.org/officeDocument/2006/relationships/image" Target="../media/image18.png"/><Relationship Id="rId2" Type="http://schemas.openxmlformats.org/officeDocument/2006/relationships/tags" Target="../tags/tag19.xml"/><Relationship Id="rId1" Type="http://schemas.openxmlformats.org/officeDocument/2006/relationships/tags" Target="../tags/tag18.xml"/></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2.xml"/><Relationship Id="rId2" Type="http://schemas.openxmlformats.org/officeDocument/2006/relationships/tags" Target="../tags/tag21.xml"/><Relationship Id="rId1" Type="http://schemas.openxmlformats.org/officeDocument/2006/relationships/tags" Target="../tags/tag20.xml"/></Relationships>
</file>

<file path=ppt/slides/_rels/slide25.xml.rels><?xml version="1.0" encoding="UTF-8" standalone="yes"?>
<Relationships xmlns="http://schemas.openxmlformats.org/package/2006/relationships"><Relationship Id="rId7" Type="http://schemas.openxmlformats.org/officeDocument/2006/relationships/notesSlide" Target="../notesSlides/notesSlide24.xml"/><Relationship Id="rId6"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tags" Target="../tags/tag25.xml"/><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tags" Target="../tags/tag2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2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tags" Target="../tags/tag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7" name="文本框 6"/>
          <p:cNvSpPr txBox="1"/>
          <p:nvPr/>
        </p:nvSpPr>
        <p:spPr>
          <a:xfrm>
            <a:off x="3404878" y="1025173"/>
            <a:ext cx="5565504" cy="1546577"/>
          </a:xfrm>
          <a:prstGeom prst="rect">
            <a:avLst/>
          </a:prstGeom>
          <a:noFill/>
        </p:spPr>
        <p:txBody>
          <a:bodyPr wrap="square" lIns="68580" tIns="34290" rIns="68580" bIns="34290" rtlCol="0">
            <a:spAutoFit/>
          </a:bodyPr>
          <a:lstStyle/>
          <a:p>
            <a:r>
              <a:rPr lang="en-US" altLang="zh-CN" sz="2400" b="1" dirty="0">
                <a:solidFill>
                  <a:srgbClr val="1B4367"/>
                </a:solidFill>
                <a:cs typeface="+mn-ea"/>
              </a:rPr>
              <a:t>Energy Management in Power Distribution Systems:</a:t>
            </a:r>
            <a:endParaRPr lang="en-US" altLang="zh-CN" sz="2400" b="1" dirty="0">
              <a:solidFill>
                <a:srgbClr val="1B4367"/>
              </a:solidFill>
              <a:cs typeface="+mn-ea"/>
            </a:endParaRPr>
          </a:p>
          <a:p>
            <a:r>
              <a:rPr lang="en-US" altLang="zh-CN" sz="2400" b="1" dirty="0">
                <a:solidFill>
                  <a:srgbClr val="1B4367"/>
                </a:solidFill>
                <a:cs typeface="+mn-ea"/>
              </a:rPr>
              <a:t>Review, Classification, Limitations and Challenges</a:t>
            </a:r>
            <a:endParaRPr lang="zh-CN" altLang="en-US" sz="2400" b="1" dirty="0">
              <a:solidFill>
                <a:srgbClr val="1B4367"/>
              </a:solidFill>
              <a:cs typeface="+mn-ea"/>
              <a:sym typeface="+mn-lt"/>
            </a:endParaRPr>
          </a:p>
        </p:txBody>
      </p:sp>
      <p:sp>
        <p:nvSpPr>
          <p:cNvPr id="121" name="TextBox 120"/>
          <p:cNvSpPr txBox="1"/>
          <p:nvPr/>
        </p:nvSpPr>
        <p:spPr>
          <a:xfrm>
            <a:off x="3458667" y="2626926"/>
            <a:ext cx="5233157" cy="379214"/>
          </a:xfrm>
          <a:prstGeom prst="roundRect">
            <a:avLst>
              <a:gd name="adj" fmla="val 33061"/>
            </a:avLst>
          </a:prstGeom>
          <a:solidFill>
            <a:srgbClr val="1B4367"/>
          </a:solidFill>
        </p:spPr>
        <p:txBody>
          <a:bodyPr wrap="square" rtlCol="0">
            <a:spAutoFit/>
          </a:bodyPr>
          <a:lstStyle/>
          <a:p>
            <a:pPr algn="ctr"/>
            <a:r>
              <a:rPr lang="en-US" altLang="zh-CN" dirty="0">
                <a:solidFill>
                  <a:schemeClr val="bg1"/>
                </a:solidFill>
                <a:cs typeface="+mn-ea"/>
                <a:sym typeface="+mn-lt"/>
              </a:rPr>
              <a:t>Li </a:t>
            </a:r>
            <a:r>
              <a:rPr lang="en-US" altLang="zh-CN" dirty="0" err="1">
                <a:solidFill>
                  <a:schemeClr val="bg1"/>
                </a:solidFill>
                <a:cs typeface="+mn-ea"/>
                <a:sym typeface="+mn-lt"/>
              </a:rPr>
              <a:t>Jiajun</a:t>
            </a:r>
            <a:r>
              <a:rPr lang="en-US" altLang="zh-CN" dirty="0">
                <a:solidFill>
                  <a:schemeClr val="bg1"/>
                </a:solidFill>
                <a:cs typeface="+mn-ea"/>
                <a:sym typeface="+mn-lt"/>
              </a:rPr>
              <a:t>   Guo </a:t>
            </a:r>
            <a:r>
              <a:rPr lang="en-US" altLang="zh-CN" dirty="0" err="1">
                <a:solidFill>
                  <a:schemeClr val="bg1"/>
                </a:solidFill>
                <a:cs typeface="+mn-ea"/>
                <a:sym typeface="+mn-lt"/>
              </a:rPr>
              <a:t>Xinyu</a:t>
            </a:r>
            <a:r>
              <a:rPr lang="en-US" altLang="zh-CN" dirty="0">
                <a:solidFill>
                  <a:schemeClr val="bg1"/>
                </a:solidFill>
                <a:cs typeface="+mn-ea"/>
                <a:sym typeface="+mn-lt"/>
              </a:rPr>
              <a:t>   Hou Yuhan   Liu </a:t>
            </a:r>
            <a:r>
              <a:rPr lang="en-US" altLang="zh-CN" dirty="0" err="1">
                <a:solidFill>
                  <a:schemeClr val="bg1"/>
                </a:solidFill>
                <a:cs typeface="+mn-ea"/>
                <a:sym typeface="+mn-lt"/>
              </a:rPr>
              <a:t>Yaxuan</a:t>
            </a:r>
            <a:endParaRPr lang="zh-CN" altLang="en-US" dirty="0">
              <a:solidFill>
                <a:schemeClr val="bg1"/>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7"/>
                                        </p:tgtEl>
                                        <p:attrNameLst>
                                          <p:attrName>ppt_y</p:attrName>
                                        </p:attrNameLst>
                                      </p:cBhvr>
                                      <p:tavLst>
                                        <p:tav tm="0">
                                          <p:val>
                                            <p:strVal val="#ppt_y"/>
                                          </p:val>
                                        </p:tav>
                                        <p:tav tm="100000">
                                          <p:val>
                                            <p:strVal val="#ppt_y"/>
                                          </p:val>
                                        </p:tav>
                                      </p:tavLst>
                                    </p:anim>
                                    <p:anim calcmode="lin" valueType="num">
                                      <p:cBhvr>
                                        <p:cTn id="9" dur="50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7"/>
                                        </p:tgtEl>
                                      </p:cBhvr>
                                    </p:animEffect>
                                  </p:childTnLst>
                                </p:cTn>
                              </p:par>
                            </p:childTnLst>
                          </p:cTn>
                        </p:par>
                        <p:par>
                          <p:cTn id="12" fill="hold">
                            <p:stCondLst>
                              <p:cond delay="5349"/>
                            </p:stCondLst>
                            <p:childTnLst>
                              <p:par>
                                <p:cTn id="13" presetID="14" presetClass="entr" presetSubtype="10" fill="hold" grpId="0" nodeType="afterEffect">
                                  <p:stCondLst>
                                    <p:cond delay="0"/>
                                  </p:stCondLst>
                                  <p:childTnLst>
                                    <p:set>
                                      <p:cBhvr>
                                        <p:cTn id="14" dur="1" fill="hold">
                                          <p:stCondLst>
                                            <p:cond delay="0"/>
                                          </p:stCondLst>
                                        </p:cTn>
                                        <p:tgtEl>
                                          <p:spTgt spid="121"/>
                                        </p:tgtEl>
                                        <p:attrNameLst>
                                          <p:attrName>style.visibility</p:attrName>
                                        </p:attrNameLst>
                                      </p:cBhvr>
                                      <p:to>
                                        <p:strVal val="visible"/>
                                      </p:to>
                                    </p:set>
                                    <p:animEffect transition="in" filter="randombar(horizontal)">
                                      <p:cBhvr>
                                        <p:cTn id="15" dur="500"/>
                                        <p:tgtEl>
                                          <p:spTgt spid="1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21"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11" name="文本框 10"/>
          <p:cNvSpPr txBox="1"/>
          <p:nvPr/>
        </p:nvSpPr>
        <p:spPr>
          <a:xfrm>
            <a:off x="4567808" y="1447376"/>
            <a:ext cx="3636000" cy="720000"/>
          </a:xfrm>
          <a:prstGeom prst="roundRect">
            <a:avLst/>
          </a:prstGeom>
          <a:solidFill>
            <a:srgbClr val="1B4367"/>
          </a:solidFill>
        </p:spPr>
        <p:txBody>
          <a:bodyPr wrap="square" rtlCol="0">
            <a:spAutoFit/>
          </a:bodyPr>
          <a:lstStyle/>
          <a:p>
            <a:pPr algn="ctr"/>
            <a:r>
              <a:rPr lang="en-US" altLang="zh-CN" sz="1700" dirty="0">
                <a:solidFill>
                  <a:schemeClr val="bg1"/>
                </a:solidFill>
                <a:cs typeface="+mn-ea"/>
                <a:sym typeface="+mn-lt"/>
              </a:rPr>
              <a:t>Paper </a:t>
            </a:r>
            <a:r>
              <a:rPr lang="zh-CN" altLang="en-US" sz="1700" dirty="0">
                <a:solidFill>
                  <a:schemeClr val="bg1"/>
                </a:solidFill>
                <a:cs typeface="+mn-ea"/>
                <a:sym typeface="+mn-lt"/>
              </a:rPr>
              <a:t>C</a:t>
            </a:r>
            <a:r>
              <a:rPr lang="en-US" altLang="zh-CN" sz="1700" dirty="0">
                <a:solidFill>
                  <a:schemeClr val="bg1"/>
                </a:solidFill>
                <a:cs typeface="+mn-ea"/>
                <a:sym typeface="+mn-lt"/>
              </a:rPr>
              <a:t>lassfication </a:t>
            </a:r>
            <a:r>
              <a:rPr lang="zh-CN" altLang="en-US" sz="1700" dirty="0">
                <a:solidFill>
                  <a:schemeClr val="bg1"/>
                </a:solidFill>
                <a:cs typeface="+mn-ea"/>
                <a:sym typeface="+mn-lt"/>
              </a:rPr>
              <a:t>B</a:t>
            </a:r>
            <a:r>
              <a:rPr lang="en-US" altLang="zh-CN" sz="1700" dirty="0">
                <a:solidFill>
                  <a:schemeClr val="bg1"/>
                </a:solidFill>
                <a:cs typeface="+mn-ea"/>
                <a:sym typeface="+mn-lt"/>
              </a:rPr>
              <a:t>ased</a:t>
            </a:r>
            <a:r>
              <a:rPr lang="zh-CN" altLang="en-US" sz="1700" dirty="0">
                <a:solidFill>
                  <a:schemeClr val="bg1"/>
                </a:solidFill>
                <a:cs typeface="+mn-ea"/>
                <a:sym typeface="+mn-lt"/>
              </a:rPr>
              <a:t> </a:t>
            </a:r>
            <a:r>
              <a:rPr lang="en-US" altLang="zh-CN" sz="1700" dirty="0">
                <a:solidFill>
                  <a:schemeClr val="bg1"/>
                </a:solidFill>
                <a:cs typeface="+mn-ea"/>
                <a:sym typeface="+mn-lt"/>
              </a:rPr>
              <a:t>on the Goal of Energy Management</a:t>
            </a:r>
            <a:endParaRPr lang="en-US" altLang="zh-CN" sz="1700" dirty="0">
              <a:solidFill>
                <a:schemeClr val="bg1"/>
              </a:solidFill>
              <a:cs typeface="+mn-ea"/>
              <a:sym typeface="+mn-lt"/>
            </a:endParaRPr>
          </a:p>
        </p:txBody>
      </p:sp>
      <p:grpSp>
        <p:nvGrpSpPr>
          <p:cNvPr id="2" name="组合 1"/>
          <p:cNvGrpSpPr/>
          <p:nvPr/>
        </p:nvGrpSpPr>
        <p:grpSpPr>
          <a:xfrm>
            <a:off x="4089908" y="655100"/>
            <a:ext cx="478533" cy="393570"/>
            <a:chOff x="5640108" y="966369"/>
            <a:chExt cx="476097" cy="391567"/>
          </a:xfrm>
        </p:grpSpPr>
        <p:sp>
          <p:nvSpPr>
            <p:cNvPr id="25" name="椭圆 24"/>
            <p:cNvSpPr/>
            <p:nvPr/>
          </p:nvSpPr>
          <p:spPr>
            <a:xfrm>
              <a:off x="5673454" y="966369"/>
              <a:ext cx="391567" cy="391567"/>
            </a:xfrm>
            <a:prstGeom prst="ellipse">
              <a:avLst/>
            </a:prstGeom>
            <a:solidFill>
              <a:srgbClr val="1B4367"/>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26" name="文本框 17"/>
            <p:cNvSpPr txBox="1"/>
            <p:nvPr/>
          </p:nvSpPr>
          <p:spPr>
            <a:xfrm>
              <a:off x="5640108" y="975817"/>
              <a:ext cx="476097" cy="367452"/>
            </a:xfrm>
            <a:prstGeom prst="rect">
              <a:avLst/>
            </a:prstGeom>
            <a:noFill/>
          </p:spPr>
          <p:txBody>
            <a:bodyPr wrap="square" rtlCol="0">
              <a:spAutoFit/>
            </a:bodyPr>
            <a:lstStyle/>
            <a:p>
              <a:pPr algn="ctr">
                <a:defRPr/>
              </a:pPr>
              <a:r>
                <a:rPr lang="en-US" altLang="zh-CN" sz="1800" dirty="0">
                  <a:solidFill>
                    <a:schemeClr val="bg1"/>
                  </a:solidFill>
                  <a:cs typeface="+mn-ea"/>
                  <a:sym typeface="+mn-lt"/>
                </a:rPr>
                <a:t>01</a:t>
              </a:r>
              <a:endParaRPr lang="en-US" altLang="zh-CN" sz="1800" dirty="0">
                <a:solidFill>
                  <a:schemeClr val="bg1"/>
                </a:solidFill>
                <a:cs typeface="+mn-ea"/>
                <a:sym typeface="+mn-lt"/>
              </a:endParaRPr>
            </a:p>
          </p:txBody>
        </p:sp>
      </p:grpSp>
      <p:sp>
        <p:nvSpPr>
          <p:cNvPr id="3" name="文本框 2"/>
          <p:cNvSpPr txBox="1"/>
          <p:nvPr/>
        </p:nvSpPr>
        <p:spPr>
          <a:xfrm>
            <a:off x="174091" y="163600"/>
            <a:ext cx="2113154" cy="461665"/>
          </a:xfrm>
          <a:prstGeom prst="rect">
            <a:avLst/>
          </a:prstGeom>
          <a:noFill/>
        </p:spPr>
        <p:txBody>
          <a:bodyPr vert="horz" wrap="square" rtlCol="0">
            <a:spAutoFit/>
          </a:bodyPr>
          <a:lstStyle/>
          <a:p>
            <a:r>
              <a:rPr lang="en-US" altLang="zh-CN" sz="2400" b="1" dirty="0">
                <a:solidFill>
                  <a:srgbClr val="1B4367"/>
                </a:solidFill>
                <a:cs typeface="+mn-ea"/>
                <a:sym typeface="+mn-lt"/>
              </a:rPr>
              <a:t>CONTENTS</a:t>
            </a:r>
            <a:endParaRPr lang="en-US" altLang="zh-CN" sz="2400" b="1" dirty="0">
              <a:solidFill>
                <a:srgbClr val="1B4367"/>
              </a:solidFill>
              <a:cs typeface="+mn-ea"/>
              <a:sym typeface="+mn-lt"/>
            </a:endParaRPr>
          </a:p>
        </p:txBody>
      </p:sp>
      <p:sp>
        <p:nvSpPr>
          <p:cNvPr id="79" name="文本框 10"/>
          <p:cNvSpPr txBox="1"/>
          <p:nvPr/>
        </p:nvSpPr>
        <p:spPr>
          <a:xfrm>
            <a:off x="4558665" y="2330589"/>
            <a:ext cx="3648710" cy="720000"/>
          </a:xfrm>
          <a:prstGeom prst="roundRect">
            <a:avLst/>
          </a:prstGeom>
          <a:solidFill>
            <a:srgbClr val="1B4367"/>
          </a:solidFill>
        </p:spPr>
        <p:txBody>
          <a:bodyPr wrap="square" rtlCol="0">
            <a:spAutoFit/>
          </a:bodyPr>
          <a:lstStyle/>
          <a:p>
            <a:pPr algn="ctr"/>
            <a:r>
              <a:rPr lang="en-US" altLang="zh-CN" sz="1700" dirty="0">
                <a:solidFill>
                  <a:schemeClr val="bg1"/>
                </a:solidFill>
                <a:cs typeface="+mn-ea"/>
                <a:sym typeface="+mn-ea"/>
              </a:rPr>
              <a:t>Based on Optimization Approach</a:t>
            </a:r>
            <a:endParaRPr lang="en-US" altLang="zh-CN" sz="1700" dirty="0">
              <a:solidFill>
                <a:schemeClr val="bg1"/>
              </a:solidFill>
              <a:cs typeface="+mn-ea"/>
              <a:sym typeface="+mn-lt"/>
            </a:endParaRPr>
          </a:p>
        </p:txBody>
      </p:sp>
      <p:grpSp>
        <p:nvGrpSpPr>
          <p:cNvPr id="80" name="组合 79"/>
          <p:cNvGrpSpPr/>
          <p:nvPr/>
        </p:nvGrpSpPr>
        <p:grpSpPr>
          <a:xfrm>
            <a:off x="4052868" y="2493804"/>
            <a:ext cx="478533" cy="393570"/>
            <a:chOff x="5640108" y="966369"/>
            <a:chExt cx="476097" cy="391567"/>
          </a:xfrm>
        </p:grpSpPr>
        <p:sp>
          <p:nvSpPr>
            <p:cNvPr id="81" name="椭圆 80"/>
            <p:cNvSpPr/>
            <p:nvPr/>
          </p:nvSpPr>
          <p:spPr>
            <a:xfrm>
              <a:off x="5673454" y="966369"/>
              <a:ext cx="391567" cy="391567"/>
            </a:xfrm>
            <a:prstGeom prst="ellipse">
              <a:avLst/>
            </a:prstGeom>
            <a:solidFill>
              <a:srgbClr val="1B4367"/>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82" name="文本框 17"/>
            <p:cNvSpPr txBox="1"/>
            <p:nvPr/>
          </p:nvSpPr>
          <p:spPr>
            <a:xfrm>
              <a:off x="5640108" y="975817"/>
              <a:ext cx="476097" cy="366426"/>
            </a:xfrm>
            <a:prstGeom prst="rect">
              <a:avLst/>
            </a:prstGeom>
            <a:noFill/>
          </p:spPr>
          <p:txBody>
            <a:bodyPr wrap="square" rtlCol="0">
              <a:spAutoFit/>
            </a:bodyPr>
            <a:lstStyle/>
            <a:p>
              <a:pPr algn="ctr">
                <a:defRPr/>
              </a:pPr>
              <a:r>
                <a:rPr lang="en-US" altLang="zh-CN" sz="1800" dirty="0">
                  <a:solidFill>
                    <a:schemeClr val="bg1"/>
                  </a:solidFill>
                  <a:cs typeface="+mn-ea"/>
                  <a:sym typeface="+mn-lt"/>
                </a:rPr>
                <a:t>03</a:t>
              </a:r>
              <a:endParaRPr lang="en-US" altLang="zh-CN" sz="1800" dirty="0">
                <a:solidFill>
                  <a:schemeClr val="bg1"/>
                </a:solidFill>
                <a:cs typeface="+mn-ea"/>
                <a:sym typeface="+mn-lt"/>
              </a:endParaRPr>
            </a:p>
          </p:txBody>
        </p:sp>
      </p:grpSp>
      <p:sp>
        <p:nvSpPr>
          <p:cNvPr id="83" name="文本框 10"/>
          <p:cNvSpPr txBox="1"/>
          <p:nvPr/>
        </p:nvSpPr>
        <p:spPr>
          <a:xfrm>
            <a:off x="4572635" y="3271346"/>
            <a:ext cx="3634740" cy="680483"/>
          </a:xfrm>
          <a:prstGeom prst="roundRect">
            <a:avLst/>
          </a:prstGeom>
          <a:solidFill>
            <a:srgbClr val="1B4367"/>
          </a:solidFill>
        </p:spPr>
        <p:txBody>
          <a:bodyPr wrap="square" rtlCol="0">
            <a:spAutoFit/>
          </a:bodyPr>
          <a:lstStyle/>
          <a:p>
            <a:pPr algn="ctr"/>
            <a:r>
              <a:rPr lang="zh-CN" altLang="en-US" sz="1700" dirty="0">
                <a:solidFill>
                  <a:schemeClr val="bg1"/>
                </a:solidFill>
                <a:cs typeface="+mn-ea"/>
                <a:sym typeface="+mn-lt"/>
              </a:rPr>
              <a:t>P</a:t>
            </a:r>
            <a:r>
              <a:rPr lang="en-US" altLang="zh-CN" sz="1700" dirty="0">
                <a:solidFill>
                  <a:schemeClr val="bg1"/>
                </a:solidFill>
                <a:cs typeface="+mn-ea"/>
                <a:sym typeface="+mn-lt"/>
              </a:rPr>
              <a:t>aper</a:t>
            </a:r>
            <a:r>
              <a:rPr lang="zh-CN" altLang="en-US" sz="1700" dirty="0">
                <a:solidFill>
                  <a:schemeClr val="bg1"/>
                </a:solidFill>
                <a:cs typeface="+mn-ea"/>
                <a:sym typeface="+mn-lt"/>
              </a:rPr>
              <a:t> C</a:t>
            </a:r>
            <a:r>
              <a:rPr lang="en-US" altLang="zh-CN" sz="1700" dirty="0">
                <a:solidFill>
                  <a:schemeClr val="bg1"/>
                </a:solidFill>
                <a:cs typeface="+mn-ea"/>
                <a:sym typeface="+mn-lt"/>
              </a:rPr>
              <a:t>lassfication </a:t>
            </a:r>
            <a:r>
              <a:rPr lang="zh-CN" altLang="en-US" sz="1700" dirty="0">
                <a:solidFill>
                  <a:schemeClr val="bg1"/>
                </a:solidFill>
                <a:cs typeface="+mn-ea"/>
                <a:sym typeface="+mn-lt"/>
              </a:rPr>
              <a:t>B</a:t>
            </a:r>
            <a:r>
              <a:rPr lang="en-US" altLang="zh-CN" sz="1700" dirty="0">
                <a:solidFill>
                  <a:schemeClr val="bg1"/>
                </a:solidFill>
                <a:cs typeface="+mn-ea"/>
                <a:sym typeface="+mn-lt"/>
              </a:rPr>
              <a:t>ased</a:t>
            </a:r>
            <a:r>
              <a:rPr lang="zh-CN" altLang="en-US" sz="1700" dirty="0">
                <a:solidFill>
                  <a:schemeClr val="bg1"/>
                </a:solidFill>
                <a:cs typeface="+mn-ea"/>
                <a:sym typeface="+mn-lt"/>
              </a:rPr>
              <a:t> </a:t>
            </a:r>
            <a:r>
              <a:rPr lang="en-US" altLang="zh-CN" sz="1700" dirty="0">
                <a:solidFill>
                  <a:schemeClr val="bg1"/>
                </a:solidFill>
                <a:cs typeface="+mn-ea"/>
                <a:sym typeface="+mn-lt"/>
              </a:rPr>
              <a:t>on the</a:t>
            </a:r>
            <a:r>
              <a:rPr lang="zh-CN" altLang="en-US" sz="1700" dirty="0">
                <a:solidFill>
                  <a:schemeClr val="bg1"/>
                </a:solidFill>
                <a:cs typeface="+mn-ea"/>
                <a:sym typeface="+mn-lt"/>
              </a:rPr>
              <a:t> EM </a:t>
            </a:r>
            <a:r>
              <a:rPr lang="en-US" altLang="zh-CN" sz="1700" dirty="0">
                <a:solidFill>
                  <a:schemeClr val="bg1"/>
                </a:solidFill>
                <a:cs typeface="+mn-ea"/>
                <a:sym typeface="+mn-lt"/>
              </a:rPr>
              <a:t>approach</a:t>
            </a:r>
            <a:endParaRPr lang="en-US" altLang="zh-CN" sz="1700" dirty="0">
              <a:solidFill>
                <a:schemeClr val="bg1"/>
              </a:solidFill>
              <a:cs typeface="+mn-ea"/>
              <a:sym typeface="+mn-lt"/>
            </a:endParaRPr>
          </a:p>
        </p:txBody>
      </p:sp>
      <p:grpSp>
        <p:nvGrpSpPr>
          <p:cNvPr id="84" name="组合 83"/>
          <p:cNvGrpSpPr/>
          <p:nvPr/>
        </p:nvGrpSpPr>
        <p:grpSpPr>
          <a:xfrm>
            <a:off x="4052868" y="3393773"/>
            <a:ext cx="478533" cy="393570"/>
            <a:chOff x="5640108" y="966369"/>
            <a:chExt cx="476097" cy="391567"/>
          </a:xfrm>
        </p:grpSpPr>
        <p:sp>
          <p:nvSpPr>
            <p:cNvPr id="85" name="椭圆 84"/>
            <p:cNvSpPr/>
            <p:nvPr/>
          </p:nvSpPr>
          <p:spPr>
            <a:xfrm>
              <a:off x="5673454" y="966369"/>
              <a:ext cx="391567" cy="391567"/>
            </a:xfrm>
            <a:prstGeom prst="ellipse">
              <a:avLst/>
            </a:prstGeom>
            <a:solidFill>
              <a:srgbClr val="1B4367"/>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86" name="文本框 17"/>
            <p:cNvSpPr txBox="1"/>
            <p:nvPr/>
          </p:nvSpPr>
          <p:spPr>
            <a:xfrm>
              <a:off x="5640108" y="975817"/>
              <a:ext cx="476097" cy="366426"/>
            </a:xfrm>
            <a:prstGeom prst="rect">
              <a:avLst/>
            </a:prstGeom>
            <a:noFill/>
          </p:spPr>
          <p:txBody>
            <a:bodyPr wrap="square" rtlCol="0">
              <a:spAutoFit/>
            </a:bodyPr>
            <a:lstStyle/>
            <a:p>
              <a:pPr algn="ctr">
                <a:defRPr/>
              </a:pPr>
              <a:r>
                <a:rPr lang="en-US" altLang="zh-CN" sz="1800" dirty="0">
                  <a:solidFill>
                    <a:schemeClr val="bg1"/>
                  </a:solidFill>
                  <a:cs typeface="+mn-ea"/>
                  <a:sym typeface="+mn-lt"/>
                </a:rPr>
                <a:t>04</a:t>
              </a:r>
              <a:endParaRPr lang="en-US" altLang="zh-CN" sz="1800" dirty="0">
                <a:solidFill>
                  <a:schemeClr val="bg1"/>
                </a:solidFill>
                <a:cs typeface="+mn-ea"/>
                <a:sym typeface="+mn-lt"/>
              </a:endParaRPr>
            </a:p>
          </p:txBody>
        </p:sp>
      </p:grpSp>
      <p:sp>
        <p:nvSpPr>
          <p:cNvPr id="87" name="文本框 10"/>
          <p:cNvSpPr txBox="1"/>
          <p:nvPr/>
        </p:nvSpPr>
        <p:spPr>
          <a:xfrm>
            <a:off x="4572635" y="4156847"/>
            <a:ext cx="3636000" cy="720000"/>
          </a:xfrm>
          <a:prstGeom prst="roundRect">
            <a:avLst/>
          </a:prstGeom>
          <a:solidFill>
            <a:srgbClr val="1B4367"/>
          </a:solidFill>
        </p:spPr>
        <p:txBody>
          <a:bodyPr wrap="square" rtlCol="0">
            <a:spAutoFit/>
          </a:bodyPr>
          <a:lstStyle/>
          <a:p>
            <a:pPr algn="ctr"/>
            <a:endParaRPr lang="en-US" altLang="zh-CN" sz="1700" dirty="0">
              <a:solidFill>
                <a:schemeClr val="bg1"/>
              </a:solidFill>
              <a:cs typeface="+mn-ea"/>
              <a:sym typeface="+mn-lt"/>
            </a:endParaRPr>
          </a:p>
        </p:txBody>
      </p:sp>
      <p:grpSp>
        <p:nvGrpSpPr>
          <p:cNvPr id="88" name="组合 87"/>
          <p:cNvGrpSpPr/>
          <p:nvPr/>
        </p:nvGrpSpPr>
        <p:grpSpPr>
          <a:xfrm>
            <a:off x="4054275" y="4320064"/>
            <a:ext cx="478533" cy="393570"/>
            <a:chOff x="5640108" y="966369"/>
            <a:chExt cx="476097" cy="391567"/>
          </a:xfrm>
        </p:grpSpPr>
        <p:sp>
          <p:nvSpPr>
            <p:cNvPr id="89" name="椭圆 88"/>
            <p:cNvSpPr/>
            <p:nvPr/>
          </p:nvSpPr>
          <p:spPr>
            <a:xfrm>
              <a:off x="5673454" y="966369"/>
              <a:ext cx="391567" cy="391567"/>
            </a:xfrm>
            <a:prstGeom prst="ellipse">
              <a:avLst/>
            </a:prstGeom>
            <a:solidFill>
              <a:srgbClr val="1B4367"/>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90" name="文本框 17"/>
            <p:cNvSpPr txBox="1"/>
            <p:nvPr/>
          </p:nvSpPr>
          <p:spPr>
            <a:xfrm>
              <a:off x="5640108" y="975817"/>
              <a:ext cx="476097" cy="366426"/>
            </a:xfrm>
            <a:prstGeom prst="rect">
              <a:avLst/>
            </a:prstGeom>
            <a:noFill/>
          </p:spPr>
          <p:txBody>
            <a:bodyPr wrap="square" rtlCol="0">
              <a:spAutoFit/>
            </a:bodyPr>
            <a:lstStyle/>
            <a:p>
              <a:pPr algn="ctr">
                <a:defRPr/>
              </a:pPr>
              <a:r>
                <a:rPr lang="en-US" altLang="zh-CN" sz="1800" dirty="0">
                  <a:solidFill>
                    <a:schemeClr val="bg1"/>
                  </a:solidFill>
                  <a:cs typeface="+mn-ea"/>
                  <a:sym typeface="+mn-lt"/>
                </a:rPr>
                <a:t>05</a:t>
              </a:r>
              <a:endParaRPr lang="en-US" altLang="zh-CN" sz="1800" dirty="0">
                <a:solidFill>
                  <a:schemeClr val="bg1"/>
                </a:solidFill>
                <a:cs typeface="+mn-ea"/>
                <a:sym typeface="+mn-lt"/>
              </a:endParaRPr>
            </a:p>
          </p:txBody>
        </p:sp>
      </p:grpSp>
      <p:sp>
        <p:nvSpPr>
          <p:cNvPr id="4" name="燕尾形 3"/>
          <p:cNvSpPr/>
          <p:nvPr/>
        </p:nvSpPr>
        <p:spPr>
          <a:xfrm>
            <a:off x="2030709" y="176889"/>
            <a:ext cx="256853" cy="448435"/>
          </a:xfrm>
          <a:prstGeom prst="chevron">
            <a:avLst/>
          </a:prstGeom>
          <a:solidFill>
            <a:srgbClr val="1B43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custDataLst>
              <p:tags r:id="rId2"/>
            </p:custDataLst>
          </p:nvPr>
        </p:nvSpPr>
        <p:spPr>
          <a:xfrm>
            <a:off x="4572000" y="533428"/>
            <a:ext cx="3636010" cy="720000"/>
          </a:xfrm>
          <a:prstGeom prst="roundRect">
            <a:avLst/>
          </a:prstGeom>
          <a:solidFill>
            <a:srgbClr val="1B4367"/>
          </a:solidFill>
        </p:spPr>
        <p:txBody>
          <a:bodyPr wrap="square" rtlCol="0">
            <a:spAutoFit/>
          </a:bodyPr>
          <a:lstStyle>
            <a:defPPr>
              <a:defRPr lang="zh-CN"/>
            </a:defPPr>
            <a:lvl1pPr algn="ctr">
              <a:defRPr sz="1700">
                <a:solidFill>
                  <a:schemeClr val="bg1"/>
                </a:solidFill>
                <a:cs typeface="+mn-ea"/>
              </a:defRPr>
            </a:lvl1pPr>
          </a:lstStyle>
          <a:p>
            <a:endParaRPr lang="en-US" dirty="0">
              <a:sym typeface="+mn-lt"/>
            </a:endParaRPr>
          </a:p>
        </p:txBody>
      </p:sp>
      <p:grpSp>
        <p:nvGrpSpPr>
          <p:cNvPr id="6" name="组合 5"/>
          <p:cNvGrpSpPr/>
          <p:nvPr/>
        </p:nvGrpSpPr>
        <p:grpSpPr>
          <a:xfrm>
            <a:off x="4089909" y="1606661"/>
            <a:ext cx="478533" cy="393570"/>
            <a:chOff x="5640108" y="966369"/>
            <a:chExt cx="476097" cy="391567"/>
          </a:xfrm>
        </p:grpSpPr>
        <p:sp>
          <p:nvSpPr>
            <p:cNvPr id="7" name="椭圆 6"/>
            <p:cNvSpPr/>
            <p:nvPr>
              <p:custDataLst>
                <p:tags r:id="rId3"/>
              </p:custDataLst>
            </p:nvPr>
          </p:nvSpPr>
          <p:spPr>
            <a:xfrm>
              <a:off x="5673454" y="966369"/>
              <a:ext cx="391567" cy="391567"/>
            </a:xfrm>
            <a:prstGeom prst="ellipse">
              <a:avLst/>
            </a:prstGeom>
            <a:solidFill>
              <a:srgbClr val="1B4367"/>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8" name="文本框 17"/>
            <p:cNvSpPr txBox="1"/>
            <p:nvPr>
              <p:custDataLst>
                <p:tags r:id="rId4"/>
              </p:custDataLst>
            </p:nvPr>
          </p:nvSpPr>
          <p:spPr>
            <a:xfrm>
              <a:off x="5640108" y="975817"/>
              <a:ext cx="476097" cy="367452"/>
            </a:xfrm>
            <a:prstGeom prst="rect">
              <a:avLst/>
            </a:prstGeom>
            <a:noFill/>
          </p:spPr>
          <p:txBody>
            <a:bodyPr wrap="square" rtlCol="0">
              <a:spAutoFit/>
            </a:bodyPr>
            <a:lstStyle/>
            <a:p>
              <a:pPr algn="ctr">
                <a:defRPr/>
              </a:pPr>
              <a:r>
                <a:rPr lang="en-US" altLang="zh-CN" sz="1800" dirty="0">
                  <a:solidFill>
                    <a:schemeClr val="bg1"/>
                  </a:solidFill>
                  <a:cs typeface="+mn-ea"/>
                  <a:sym typeface="+mn-lt"/>
                </a:rPr>
                <a:t>02</a:t>
              </a:r>
              <a:endParaRPr lang="en-US" altLang="zh-CN" sz="1800" dirty="0">
                <a:solidFill>
                  <a:schemeClr val="bg1"/>
                </a:solidFill>
                <a:cs typeface="+mn-ea"/>
                <a:sym typeface="+mn-lt"/>
              </a:endParaRPr>
            </a:p>
          </p:txBody>
        </p:sp>
      </p:grpSp>
      <p:sp>
        <p:nvSpPr>
          <p:cNvPr id="10" name="文本框 9"/>
          <p:cNvSpPr txBox="1"/>
          <p:nvPr/>
        </p:nvSpPr>
        <p:spPr>
          <a:xfrm>
            <a:off x="4572635" y="4329560"/>
            <a:ext cx="3634740" cy="353943"/>
          </a:xfrm>
          <a:prstGeom prst="rect">
            <a:avLst/>
          </a:prstGeom>
          <a:noFill/>
        </p:spPr>
        <p:txBody>
          <a:bodyPr wrap="square">
            <a:spAutoFit/>
          </a:bodyPr>
          <a:lstStyle/>
          <a:p>
            <a:pPr algn="ctr"/>
            <a:r>
              <a:rPr lang="en-US" altLang="zh-CN" sz="1700" dirty="0">
                <a:solidFill>
                  <a:schemeClr val="bg1"/>
                </a:solidFill>
                <a:cs typeface="+mn-ea"/>
                <a:sym typeface="+mn-lt"/>
              </a:rPr>
              <a:t>Limitation and Conclusion</a:t>
            </a:r>
            <a:endParaRPr lang="en-US" altLang="zh-CN" sz="1700" dirty="0">
              <a:solidFill>
                <a:schemeClr val="bg1"/>
              </a:solidFill>
              <a:cs typeface="+mn-ea"/>
              <a:sym typeface="+mn-lt"/>
            </a:endParaRPr>
          </a:p>
        </p:txBody>
      </p:sp>
      <p:sp>
        <p:nvSpPr>
          <p:cNvPr id="12" name="文本框 11"/>
          <p:cNvSpPr txBox="1"/>
          <p:nvPr/>
        </p:nvSpPr>
        <p:spPr>
          <a:xfrm>
            <a:off x="4576829" y="717276"/>
            <a:ext cx="3634740" cy="353943"/>
          </a:xfrm>
          <a:prstGeom prst="rect">
            <a:avLst/>
          </a:prstGeom>
          <a:noFill/>
        </p:spPr>
        <p:txBody>
          <a:bodyPr wrap="square">
            <a:spAutoFit/>
          </a:bodyPr>
          <a:lstStyle/>
          <a:p>
            <a:pPr algn="ctr"/>
            <a:r>
              <a:rPr lang="en-US" altLang="zh-CN" sz="1700" dirty="0">
                <a:solidFill>
                  <a:schemeClr val="bg1"/>
                </a:solidFill>
                <a:cs typeface="+mn-ea"/>
                <a:sym typeface="+mn-lt"/>
              </a:rPr>
              <a:t>Contents and Motivation</a:t>
            </a:r>
            <a:endParaRPr lang="en-US" altLang="zh-CN" sz="1700" dirty="0">
              <a:solidFill>
                <a:schemeClr val="bg1"/>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ppt_x</p:attrName>
                                        </p:attrNameLst>
                                      </p:cBhvr>
                                      <p:tavLst>
                                        <p:tav tm="0">
                                          <p:val>
                                            <p:strVal val="#ppt_x-#ppt_w*1.125000"/>
                                          </p:val>
                                        </p:tav>
                                        <p:tav tm="100000">
                                          <p:val>
                                            <p:strVal val="#ppt_x"/>
                                          </p:val>
                                        </p:tav>
                                      </p:tavLst>
                                    </p:anim>
                                    <p:animEffect transition="in" filter="wipe(right)">
                                      <p:cBhvr>
                                        <p:cTn id="8" dur="500"/>
                                        <p:tgtEl>
                                          <p:spTgt spid="3"/>
                                        </p:tgtEl>
                                      </p:cBhvr>
                                    </p:animEffect>
                                  </p:childTnLst>
                                </p:cTn>
                              </p:par>
                            </p:childTnLst>
                          </p:cTn>
                        </p:par>
                        <p:par>
                          <p:cTn id="9" fill="hold">
                            <p:stCondLst>
                              <p:cond delay="500"/>
                            </p:stCondLst>
                            <p:childTnLst>
                              <p:par>
                                <p:cTn id="10" presetID="12" presetClass="entr" presetSubtype="8"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p:tgtEl>
                                          <p:spTgt spid="4"/>
                                        </p:tgtEl>
                                        <p:attrNameLst>
                                          <p:attrName>ppt_x</p:attrName>
                                        </p:attrNameLst>
                                      </p:cBhvr>
                                      <p:tavLst>
                                        <p:tav tm="0">
                                          <p:val>
                                            <p:strVal val="#ppt_x-#ppt_w*1.125000"/>
                                          </p:val>
                                        </p:tav>
                                        <p:tav tm="100000">
                                          <p:val>
                                            <p:strVal val="#ppt_x"/>
                                          </p:val>
                                        </p:tav>
                                      </p:tavLst>
                                    </p:anim>
                                    <p:animEffect transition="in" filter="wipe(right)">
                                      <p:cBhvr>
                                        <p:cTn id="13" dur="500"/>
                                        <p:tgtEl>
                                          <p:spTgt spid="4"/>
                                        </p:tgtEl>
                                      </p:cBhvr>
                                    </p:animEffect>
                                  </p:childTnLst>
                                </p:cTn>
                              </p:par>
                            </p:childTnLst>
                          </p:cTn>
                        </p:par>
                        <p:par>
                          <p:cTn id="14" fill="hold">
                            <p:stCondLst>
                              <p:cond delay="1000"/>
                            </p:stCondLst>
                            <p:childTnLst>
                              <p:par>
                                <p:cTn id="15" presetID="53" presetClass="entr" presetSubtype="528" fill="hold" nodeType="after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500" fill="hold"/>
                                        <p:tgtEl>
                                          <p:spTgt spid="2"/>
                                        </p:tgtEl>
                                        <p:attrNameLst>
                                          <p:attrName>ppt_w</p:attrName>
                                        </p:attrNameLst>
                                      </p:cBhvr>
                                      <p:tavLst>
                                        <p:tav tm="0">
                                          <p:val>
                                            <p:fltVal val="0"/>
                                          </p:val>
                                        </p:tav>
                                        <p:tav tm="100000">
                                          <p:val>
                                            <p:strVal val="#ppt_w"/>
                                          </p:val>
                                        </p:tav>
                                      </p:tavLst>
                                    </p:anim>
                                    <p:anim calcmode="lin" valueType="num">
                                      <p:cBhvr>
                                        <p:cTn id="18" dur="500" fill="hold"/>
                                        <p:tgtEl>
                                          <p:spTgt spid="2"/>
                                        </p:tgtEl>
                                        <p:attrNameLst>
                                          <p:attrName>ppt_h</p:attrName>
                                        </p:attrNameLst>
                                      </p:cBhvr>
                                      <p:tavLst>
                                        <p:tav tm="0">
                                          <p:val>
                                            <p:fltVal val="0"/>
                                          </p:val>
                                        </p:tav>
                                        <p:tav tm="100000">
                                          <p:val>
                                            <p:strVal val="#ppt_h"/>
                                          </p:val>
                                        </p:tav>
                                      </p:tavLst>
                                    </p:anim>
                                    <p:animEffect transition="in" filter="fade">
                                      <p:cBhvr>
                                        <p:cTn id="19" dur="500"/>
                                        <p:tgtEl>
                                          <p:spTgt spid="2"/>
                                        </p:tgtEl>
                                      </p:cBhvr>
                                    </p:animEffect>
                                    <p:anim calcmode="lin" valueType="num">
                                      <p:cBhvr>
                                        <p:cTn id="20" dur="500" fill="hold"/>
                                        <p:tgtEl>
                                          <p:spTgt spid="2"/>
                                        </p:tgtEl>
                                        <p:attrNameLst>
                                          <p:attrName>ppt_x</p:attrName>
                                        </p:attrNameLst>
                                      </p:cBhvr>
                                      <p:tavLst>
                                        <p:tav tm="0">
                                          <p:val>
                                            <p:fltVal val="0.5"/>
                                          </p:val>
                                        </p:tav>
                                        <p:tav tm="100000">
                                          <p:val>
                                            <p:strVal val="#ppt_x"/>
                                          </p:val>
                                        </p:tav>
                                      </p:tavLst>
                                    </p:anim>
                                    <p:anim calcmode="lin" valueType="num">
                                      <p:cBhvr>
                                        <p:cTn id="21" dur="500" fill="hold"/>
                                        <p:tgtEl>
                                          <p:spTgt spid="2"/>
                                        </p:tgtEl>
                                        <p:attrNameLst>
                                          <p:attrName>ppt_y</p:attrName>
                                        </p:attrNameLst>
                                      </p:cBhvr>
                                      <p:tavLst>
                                        <p:tav tm="0">
                                          <p:val>
                                            <p:fltVal val="0.5"/>
                                          </p:val>
                                        </p:tav>
                                        <p:tav tm="100000">
                                          <p:val>
                                            <p:strVal val="#ppt_y"/>
                                          </p:val>
                                        </p:tav>
                                      </p:tavLst>
                                    </p:anim>
                                  </p:childTnLst>
                                </p:cTn>
                              </p:par>
                            </p:childTnLst>
                          </p:cTn>
                        </p:par>
                        <p:par>
                          <p:cTn id="22" fill="hold">
                            <p:stCondLst>
                              <p:cond delay="1500"/>
                            </p:stCondLst>
                            <p:childTnLst>
                              <p:par>
                                <p:cTn id="23" presetID="2" presetClass="entr" presetSubtype="2" fill="hold" grpId="0" nodeType="after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1+#ppt_w/2"/>
                                          </p:val>
                                        </p:tav>
                                        <p:tav tm="100000">
                                          <p:val>
                                            <p:strVal val="#ppt_x"/>
                                          </p:val>
                                        </p:tav>
                                      </p:tavLst>
                                    </p:anim>
                                    <p:anim calcmode="lin" valueType="num">
                                      <p:cBhvr additive="base">
                                        <p:cTn id="26" dur="500" fill="hold"/>
                                        <p:tgtEl>
                                          <p:spTgt spid="11"/>
                                        </p:tgtEl>
                                        <p:attrNameLst>
                                          <p:attrName>ppt_y</p:attrName>
                                        </p:attrNameLst>
                                      </p:cBhvr>
                                      <p:tavLst>
                                        <p:tav tm="0">
                                          <p:val>
                                            <p:strVal val="#ppt_y"/>
                                          </p:val>
                                        </p:tav>
                                        <p:tav tm="100000">
                                          <p:val>
                                            <p:strVal val="#ppt_y"/>
                                          </p:val>
                                        </p:tav>
                                      </p:tavLst>
                                    </p:anim>
                                  </p:childTnLst>
                                </p:cTn>
                              </p:par>
                            </p:childTnLst>
                          </p:cTn>
                        </p:par>
                        <p:par>
                          <p:cTn id="27" fill="hold">
                            <p:stCondLst>
                              <p:cond delay="2000"/>
                            </p:stCondLst>
                            <p:childTnLst>
                              <p:par>
                                <p:cTn id="28" presetID="53" presetClass="entr" presetSubtype="528" fill="hold" nodeType="afterEffect">
                                  <p:stCondLst>
                                    <p:cond delay="0"/>
                                  </p:stCondLst>
                                  <p:childTnLst>
                                    <p:set>
                                      <p:cBhvr>
                                        <p:cTn id="29" dur="1" fill="hold">
                                          <p:stCondLst>
                                            <p:cond delay="0"/>
                                          </p:stCondLst>
                                        </p:cTn>
                                        <p:tgtEl>
                                          <p:spTgt spid="80"/>
                                        </p:tgtEl>
                                        <p:attrNameLst>
                                          <p:attrName>style.visibility</p:attrName>
                                        </p:attrNameLst>
                                      </p:cBhvr>
                                      <p:to>
                                        <p:strVal val="visible"/>
                                      </p:to>
                                    </p:set>
                                    <p:anim calcmode="lin" valueType="num">
                                      <p:cBhvr>
                                        <p:cTn id="30" dur="500" fill="hold"/>
                                        <p:tgtEl>
                                          <p:spTgt spid="80"/>
                                        </p:tgtEl>
                                        <p:attrNameLst>
                                          <p:attrName>ppt_w</p:attrName>
                                        </p:attrNameLst>
                                      </p:cBhvr>
                                      <p:tavLst>
                                        <p:tav tm="0">
                                          <p:val>
                                            <p:fltVal val="0"/>
                                          </p:val>
                                        </p:tav>
                                        <p:tav tm="100000">
                                          <p:val>
                                            <p:strVal val="#ppt_w"/>
                                          </p:val>
                                        </p:tav>
                                      </p:tavLst>
                                    </p:anim>
                                    <p:anim calcmode="lin" valueType="num">
                                      <p:cBhvr>
                                        <p:cTn id="31" dur="500" fill="hold"/>
                                        <p:tgtEl>
                                          <p:spTgt spid="80"/>
                                        </p:tgtEl>
                                        <p:attrNameLst>
                                          <p:attrName>ppt_h</p:attrName>
                                        </p:attrNameLst>
                                      </p:cBhvr>
                                      <p:tavLst>
                                        <p:tav tm="0">
                                          <p:val>
                                            <p:fltVal val="0"/>
                                          </p:val>
                                        </p:tav>
                                        <p:tav tm="100000">
                                          <p:val>
                                            <p:strVal val="#ppt_h"/>
                                          </p:val>
                                        </p:tav>
                                      </p:tavLst>
                                    </p:anim>
                                    <p:animEffect transition="in" filter="fade">
                                      <p:cBhvr>
                                        <p:cTn id="32" dur="500"/>
                                        <p:tgtEl>
                                          <p:spTgt spid="80"/>
                                        </p:tgtEl>
                                      </p:cBhvr>
                                    </p:animEffect>
                                    <p:anim calcmode="lin" valueType="num">
                                      <p:cBhvr>
                                        <p:cTn id="33" dur="500" fill="hold"/>
                                        <p:tgtEl>
                                          <p:spTgt spid="80"/>
                                        </p:tgtEl>
                                        <p:attrNameLst>
                                          <p:attrName>ppt_x</p:attrName>
                                        </p:attrNameLst>
                                      </p:cBhvr>
                                      <p:tavLst>
                                        <p:tav tm="0">
                                          <p:val>
                                            <p:fltVal val="0.5"/>
                                          </p:val>
                                        </p:tav>
                                        <p:tav tm="100000">
                                          <p:val>
                                            <p:strVal val="#ppt_x"/>
                                          </p:val>
                                        </p:tav>
                                      </p:tavLst>
                                    </p:anim>
                                    <p:anim calcmode="lin" valueType="num">
                                      <p:cBhvr>
                                        <p:cTn id="34" dur="500" fill="hold"/>
                                        <p:tgtEl>
                                          <p:spTgt spid="80"/>
                                        </p:tgtEl>
                                        <p:attrNameLst>
                                          <p:attrName>ppt_y</p:attrName>
                                        </p:attrNameLst>
                                      </p:cBhvr>
                                      <p:tavLst>
                                        <p:tav tm="0">
                                          <p:val>
                                            <p:fltVal val="0.5"/>
                                          </p:val>
                                        </p:tav>
                                        <p:tav tm="100000">
                                          <p:val>
                                            <p:strVal val="#ppt_y"/>
                                          </p:val>
                                        </p:tav>
                                      </p:tavLst>
                                    </p:anim>
                                  </p:childTnLst>
                                </p:cTn>
                              </p:par>
                            </p:childTnLst>
                          </p:cTn>
                        </p:par>
                        <p:par>
                          <p:cTn id="35" fill="hold">
                            <p:stCondLst>
                              <p:cond delay="2500"/>
                            </p:stCondLst>
                            <p:childTnLst>
                              <p:par>
                                <p:cTn id="36" presetID="2" presetClass="entr" presetSubtype="2" fill="hold" grpId="0" nodeType="afterEffect">
                                  <p:stCondLst>
                                    <p:cond delay="0"/>
                                  </p:stCondLst>
                                  <p:childTnLst>
                                    <p:set>
                                      <p:cBhvr>
                                        <p:cTn id="37" dur="1" fill="hold">
                                          <p:stCondLst>
                                            <p:cond delay="0"/>
                                          </p:stCondLst>
                                        </p:cTn>
                                        <p:tgtEl>
                                          <p:spTgt spid="79"/>
                                        </p:tgtEl>
                                        <p:attrNameLst>
                                          <p:attrName>style.visibility</p:attrName>
                                        </p:attrNameLst>
                                      </p:cBhvr>
                                      <p:to>
                                        <p:strVal val="visible"/>
                                      </p:to>
                                    </p:set>
                                    <p:anim calcmode="lin" valueType="num">
                                      <p:cBhvr additive="base">
                                        <p:cTn id="38" dur="500" fill="hold"/>
                                        <p:tgtEl>
                                          <p:spTgt spid="79"/>
                                        </p:tgtEl>
                                        <p:attrNameLst>
                                          <p:attrName>ppt_x</p:attrName>
                                        </p:attrNameLst>
                                      </p:cBhvr>
                                      <p:tavLst>
                                        <p:tav tm="0">
                                          <p:val>
                                            <p:strVal val="1+#ppt_w/2"/>
                                          </p:val>
                                        </p:tav>
                                        <p:tav tm="100000">
                                          <p:val>
                                            <p:strVal val="#ppt_x"/>
                                          </p:val>
                                        </p:tav>
                                      </p:tavLst>
                                    </p:anim>
                                    <p:anim calcmode="lin" valueType="num">
                                      <p:cBhvr additive="base">
                                        <p:cTn id="39" dur="500" fill="hold"/>
                                        <p:tgtEl>
                                          <p:spTgt spid="79"/>
                                        </p:tgtEl>
                                        <p:attrNameLst>
                                          <p:attrName>ppt_y</p:attrName>
                                        </p:attrNameLst>
                                      </p:cBhvr>
                                      <p:tavLst>
                                        <p:tav tm="0">
                                          <p:val>
                                            <p:strVal val="#ppt_y"/>
                                          </p:val>
                                        </p:tav>
                                        <p:tav tm="100000">
                                          <p:val>
                                            <p:strVal val="#ppt_y"/>
                                          </p:val>
                                        </p:tav>
                                      </p:tavLst>
                                    </p:anim>
                                  </p:childTnLst>
                                </p:cTn>
                              </p:par>
                            </p:childTnLst>
                          </p:cTn>
                        </p:par>
                        <p:par>
                          <p:cTn id="40" fill="hold">
                            <p:stCondLst>
                              <p:cond delay="3000"/>
                            </p:stCondLst>
                            <p:childTnLst>
                              <p:par>
                                <p:cTn id="41" presetID="53" presetClass="entr" presetSubtype="528" fill="hold" nodeType="afterEffect">
                                  <p:stCondLst>
                                    <p:cond delay="0"/>
                                  </p:stCondLst>
                                  <p:childTnLst>
                                    <p:set>
                                      <p:cBhvr>
                                        <p:cTn id="42" dur="1" fill="hold">
                                          <p:stCondLst>
                                            <p:cond delay="0"/>
                                          </p:stCondLst>
                                        </p:cTn>
                                        <p:tgtEl>
                                          <p:spTgt spid="84"/>
                                        </p:tgtEl>
                                        <p:attrNameLst>
                                          <p:attrName>style.visibility</p:attrName>
                                        </p:attrNameLst>
                                      </p:cBhvr>
                                      <p:to>
                                        <p:strVal val="visible"/>
                                      </p:to>
                                    </p:set>
                                    <p:anim calcmode="lin" valueType="num">
                                      <p:cBhvr>
                                        <p:cTn id="43" dur="500" fill="hold"/>
                                        <p:tgtEl>
                                          <p:spTgt spid="84"/>
                                        </p:tgtEl>
                                        <p:attrNameLst>
                                          <p:attrName>ppt_w</p:attrName>
                                        </p:attrNameLst>
                                      </p:cBhvr>
                                      <p:tavLst>
                                        <p:tav tm="0">
                                          <p:val>
                                            <p:fltVal val="0"/>
                                          </p:val>
                                        </p:tav>
                                        <p:tav tm="100000">
                                          <p:val>
                                            <p:strVal val="#ppt_w"/>
                                          </p:val>
                                        </p:tav>
                                      </p:tavLst>
                                    </p:anim>
                                    <p:anim calcmode="lin" valueType="num">
                                      <p:cBhvr>
                                        <p:cTn id="44" dur="500" fill="hold"/>
                                        <p:tgtEl>
                                          <p:spTgt spid="84"/>
                                        </p:tgtEl>
                                        <p:attrNameLst>
                                          <p:attrName>ppt_h</p:attrName>
                                        </p:attrNameLst>
                                      </p:cBhvr>
                                      <p:tavLst>
                                        <p:tav tm="0">
                                          <p:val>
                                            <p:fltVal val="0"/>
                                          </p:val>
                                        </p:tav>
                                        <p:tav tm="100000">
                                          <p:val>
                                            <p:strVal val="#ppt_h"/>
                                          </p:val>
                                        </p:tav>
                                      </p:tavLst>
                                    </p:anim>
                                    <p:animEffect transition="in" filter="fade">
                                      <p:cBhvr>
                                        <p:cTn id="45" dur="500"/>
                                        <p:tgtEl>
                                          <p:spTgt spid="84"/>
                                        </p:tgtEl>
                                      </p:cBhvr>
                                    </p:animEffect>
                                    <p:anim calcmode="lin" valueType="num">
                                      <p:cBhvr>
                                        <p:cTn id="46" dur="500" fill="hold"/>
                                        <p:tgtEl>
                                          <p:spTgt spid="84"/>
                                        </p:tgtEl>
                                        <p:attrNameLst>
                                          <p:attrName>ppt_x</p:attrName>
                                        </p:attrNameLst>
                                      </p:cBhvr>
                                      <p:tavLst>
                                        <p:tav tm="0">
                                          <p:val>
                                            <p:fltVal val="0.5"/>
                                          </p:val>
                                        </p:tav>
                                        <p:tav tm="100000">
                                          <p:val>
                                            <p:strVal val="#ppt_x"/>
                                          </p:val>
                                        </p:tav>
                                      </p:tavLst>
                                    </p:anim>
                                    <p:anim calcmode="lin" valueType="num">
                                      <p:cBhvr>
                                        <p:cTn id="47" dur="500" fill="hold"/>
                                        <p:tgtEl>
                                          <p:spTgt spid="84"/>
                                        </p:tgtEl>
                                        <p:attrNameLst>
                                          <p:attrName>ppt_y</p:attrName>
                                        </p:attrNameLst>
                                      </p:cBhvr>
                                      <p:tavLst>
                                        <p:tav tm="0">
                                          <p:val>
                                            <p:fltVal val="0.5"/>
                                          </p:val>
                                        </p:tav>
                                        <p:tav tm="100000">
                                          <p:val>
                                            <p:strVal val="#ppt_y"/>
                                          </p:val>
                                        </p:tav>
                                      </p:tavLst>
                                    </p:anim>
                                  </p:childTnLst>
                                </p:cTn>
                              </p:par>
                            </p:childTnLst>
                          </p:cTn>
                        </p:par>
                        <p:par>
                          <p:cTn id="48" fill="hold">
                            <p:stCondLst>
                              <p:cond delay="3500"/>
                            </p:stCondLst>
                            <p:childTnLst>
                              <p:par>
                                <p:cTn id="49" presetID="2" presetClass="entr" presetSubtype="2" fill="hold" grpId="0" nodeType="afterEffect">
                                  <p:stCondLst>
                                    <p:cond delay="0"/>
                                  </p:stCondLst>
                                  <p:childTnLst>
                                    <p:set>
                                      <p:cBhvr>
                                        <p:cTn id="50" dur="1" fill="hold">
                                          <p:stCondLst>
                                            <p:cond delay="0"/>
                                          </p:stCondLst>
                                        </p:cTn>
                                        <p:tgtEl>
                                          <p:spTgt spid="83"/>
                                        </p:tgtEl>
                                        <p:attrNameLst>
                                          <p:attrName>style.visibility</p:attrName>
                                        </p:attrNameLst>
                                      </p:cBhvr>
                                      <p:to>
                                        <p:strVal val="visible"/>
                                      </p:to>
                                    </p:set>
                                    <p:anim calcmode="lin" valueType="num">
                                      <p:cBhvr additive="base">
                                        <p:cTn id="51" dur="500" fill="hold"/>
                                        <p:tgtEl>
                                          <p:spTgt spid="83"/>
                                        </p:tgtEl>
                                        <p:attrNameLst>
                                          <p:attrName>ppt_x</p:attrName>
                                        </p:attrNameLst>
                                      </p:cBhvr>
                                      <p:tavLst>
                                        <p:tav tm="0">
                                          <p:val>
                                            <p:strVal val="1+#ppt_w/2"/>
                                          </p:val>
                                        </p:tav>
                                        <p:tav tm="100000">
                                          <p:val>
                                            <p:strVal val="#ppt_x"/>
                                          </p:val>
                                        </p:tav>
                                      </p:tavLst>
                                    </p:anim>
                                    <p:anim calcmode="lin" valueType="num">
                                      <p:cBhvr additive="base">
                                        <p:cTn id="52" dur="500" fill="hold"/>
                                        <p:tgtEl>
                                          <p:spTgt spid="83"/>
                                        </p:tgtEl>
                                        <p:attrNameLst>
                                          <p:attrName>ppt_y</p:attrName>
                                        </p:attrNameLst>
                                      </p:cBhvr>
                                      <p:tavLst>
                                        <p:tav tm="0">
                                          <p:val>
                                            <p:strVal val="#ppt_y"/>
                                          </p:val>
                                        </p:tav>
                                        <p:tav tm="100000">
                                          <p:val>
                                            <p:strVal val="#ppt_y"/>
                                          </p:val>
                                        </p:tav>
                                      </p:tavLst>
                                    </p:anim>
                                  </p:childTnLst>
                                </p:cTn>
                              </p:par>
                            </p:childTnLst>
                          </p:cTn>
                        </p:par>
                        <p:par>
                          <p:cTn id="53" fill="hold">
                            <p:stCondLst>
                              <p:cond delay="4000"/>
                            </p:stCondLst>
                            <p:childTnLst>
                              <p:par>
                                <p:cTn id="54" presetID="53" presetClass="entr" presetSubtype="528" fill="hold" nodeType="afterEffect">
                                  <p:stCondLst>
                                    <p:cond delay="0"/>
                                  </p:stCondLst>
                                  <p:childTnLst>
                                    <p:set>
                                      <p:cBhvr>
                                        <p:cTn id="55" dur="1" fill="hold">
                                          <p:stCondLst>
                                            <p:cond delay="0"/>
                                          </p:stCondLst>
                                        </p:cTn>
                                        <p:tgtEl>
                                          <p:spTgt spid="88"/>
                                        </p:tgtEl>
                                        <p:attrNameLst>
                                          <p:attrName>style.visibility</p:attrName>
                                        </p:attrNameLst>
                                      </p:cBhvr>
                                      <p:to>
                                        <p:strVal val="visible"/>
                                      </p:to>
                                    </p:set>
                                    <p:anim calcmode="lin" valueType="num">
                                      <p:cBhvr>
                                        <p:cTn id="56" dur="500" fill="hold"/>
                                        <p:tgtEl>
                                          <p:spTgt spid="88"/>
                                        </p:tgtEl>
                                        <p:attrNameLst>
                                          <p:attrName>ppt_w</p:attrName>
                                        </p:attrNameLst>
                                      </p:cBhvr>
                                      <p:tavLst>
                                        <p:tav tm="0">
                                          <p:val>
                                            <p:fltVal val="0"/>
                                          </p:val>
                                        </p:tav>
                                        <p:tav tm="100000">
                                          <p:val>
                                            <p:strVal val="#ppt_w"/>
                                          </p:val>
                                        </p:tav>
                                      </p:tavLst>
                                    </p:anim>
                                    <p:anim calcmode="lin" valueType="num">
                                      <p:cBhvr>
                                        <p:cTn id="57" dur="500" fill="hold"/>
                                        <p:tgtEl>
                                          <p:spTgt spid="88"/>
                                        </p:tgtEl>
                                        <p:attrNameLst>
                                          <p:attrName>ppt_h</p:attrName>
                                        </p:attrNameLst>
                                      </p:cBhvr>
                                      <p:tavLst>
                                        <p:tav tm="0">
                                          <p:val>
                                            <p:fltVal val="0"/>
                                          </p:val>
                                        </p:tav>
                                        <p:tav tm="100000">
                                          <p:val>
                                            <p:strVal val="#ppt_h"/>
                                          </p:val>
                                        </p:tav>
                                      </p:tavLst>
                                    </p:anim>
                                    <p:animEffect transition="in" filter="fade">
                                      <p:cBhvr>
                                        <p:cTn id="58" dur="500"/>
                                        <p:tgtEl>
                                          <p:spTgt spid="88"/>
                                        </p:tgtEl>
                                      </p:cBhvr>
                                    </p:animEffect>
                                    <p:anim calcmode="lin" valueType="num">
                                      <p:cBhvr>
                                        <p:cTn id="59" dur="500" fill="hold"/>
                                        <p:tgtEl>
                                          <p:spTgt spid="88"/>
                                        </p:tgtEl>
                                        <p:attrNameLst>
                                          <p:attrName>ppt_x</p:attrName>
                                        </p:attrNameLst>
                                      </p:cBhvr>
                                      <p:tavLst>
                                        <p:tav tm="0">
                                          <p:val>
                                            <p:fltVal val="0.5"/>
                                          </p:val>
                                        </p:tav>
                                        <p:tav tm="100000">
                                          <p:val>
                                            <p:strVal val="#ppt_x"/>
                                          </p:val>
                                        </p:tav>
                                      </p:tavLst>
                                    </p:anim>
                                    <p:anim calcmode="lin" valueType="num">
                                      <p:cBhvr>
                                        <p:cTn id="60" dur="500" fill="hold"/>
                                        <p:tgtEl>
                                          <p:spTgt spid="88"/>
                                        </p:tgtEl>
                                        <p:attrNameLst>
                                          <p:attrName>ppt_y</p:attrName>
                                        </p:attrNameLst>
                                      </p:cBhvr>
                                      <p:tavLst>
                                        <p:tav tm="0">
                                          <p:val>
                                            <p:fltVal val="0.5"/>
                                          </p:val>
                                        </p:tav>
                                        <p:tav tm="100000">
                                          <p:val>
                                            <p:strVal val="#ppt_y"/>
                                          </p:val>
                                        </p:tav>
                                      </p:tavLst>
                                    </p:anim>
                                  </p:childTnLst>
                                </p:cTn>
                              </p:par>
                            </p:childTnLst>
                          </p:cTn>
                        </p:par>
                        <p:par>
                          <p:cTn id="61" fill="hold">
                            <p:stCondLst>
                              <p:cond delay="4500"/>
                            </p:stCondLst>
                            <p:childTnLst>
                              <p:par>
                                <p:cTn id="62" presetID="2" presetClass="entr" presetSubtype="2" fill="hold" grpId="0" nodeType="afterEffect">
                                  <p:stCondLst>
                                    <p:cond delay="0"/>
                                  </p:stCondLst>
                                  <p:childTnLst>
                                    <p:set>
                                      <p:cBhvr>
                                        <p:cTn id="63" dur="1" fill="hold">
                                          <p:stCondLst>
                                            <p:cond delay="0"/>
                                          </p:stCondLst>
                                        </p:cTn>
                                        <p:tgtEl>
                                          <p:spTgt spid="87"/>
                                        </p:tgtEl>
                                        <p:attrNameLst>
                                          <p:attrName>style.visibility</p:attrName>
                                        </p:attrNameLst>
                                      </p:cBhvr>
                                      <p:to>
                                        <p:strVal val="visible"/>
                                      </p:to>
                                    </p:set>
                                    <p:anim calcmode="lin" valueType="num">
                                      <p:cBhvr additive="base">
                                        <p:cTn id="64" dur="500" fill="hold"/>
                                        <p:tgtEl>
                                          <p:spTgt spid="87"/>
                                        </p:tgtEl>
                                        <p:attrNameLst>
                                          <p:attrName>ppt_x</p:attrName>
                                        </p:attrNameLst>
                                      </p:cBhvr>
                                      <p:tavLst>
                                        <p:tav tm="0">
                                          <p:val>
                                            <p:strVal val="1+#ppt_w/2"/>
                                          </p:val>
                                        </p:tav>
                                        <p:tav tm="100000">
                                          <p:val>
                                            <p:strVal val="#ppt_x"/>
                                          </p:val>
                                        </p:tav>
                                      </p:tavLst>
                                    </p:anim>
                                    <p:anim calcmode="lin" valueType="num">
                                      <p:cBhvr additive="base">
                                        <p:cTn id="65" dur="500" fill="hold"/>
                                        <p:tgtEl>
                                          <p:spTgt spid="87"/>
                                        </p:tgtEl>
                                        <p:attrNameLst>
                                          <p:attrName>ppt_y</p:attrName>
                                        </p:attrNameLst>
                                      </p:cBhvr>
                                      <p:tavLst>
                                        <p:tav tm="0">
                                          <p:val>
                                            <p:strVal val="#ppt_y"/>
                                          </p:val>
                                        </p:tav>
                                        <p:tav tm="100000">
                                          <p:val>
                                            <p:strVal val="#ppt_y"/>
                                          </p:val>
                                        </p:tav>
                                      </p:tavLst>
                                    </p:anim>
                                  </p:childTnLst>
                                </p:cTn>
                              </p:par>
                            </p:childTnLst>
                          </p:cTn>
                        </p:par>
                        <p:par>
                          <p:cTn id="66" fill="hold">
                            <p:stCondLst>
                              <p:cond delay="5000"/>
                            </p:stCondLst>
                            <p:childTnLst>
                              <p:par>
                                <p:cTn id="67" presetID="2" presetClass="entr" presetSubtype="2" fill="hold" grpId="0" nodeType="afterEffect">
                                  <p:stCondLst>
                                    <p:cond delay="0"/>
                                  </p:stCondLst>
                                  <p:childTnLst>
                                    <p:set>
                                      <p:cBhvr>
                                        <p:cTn id="68" dur="1" fill="hold">
                                          <p:stCondLst>
                                            <p:cond delay="0"/>
                                          </p:stCondLst>
                                        </p:cTn>
                                        <p:tgtEl>
                                          <p:spTgt spid="5"/>
                                        </p:tgtEl>
                                        <p:attrNameLst>
                                          <p:attrName>style.visibility</p:attrName>
                                        </p:attrNameLst>
                                      </p:cBhvr>
                                      <p:to>
                                        <p:strVal val="visible"/>
                                      </p:to>
                                    </p:set>
                                    <p:anim calcmode="lin" valueType="num">
                                      <p:cBhvr additive="base">
                                        <p:cTn id="69" dur="500" fill="hold"/>
                                        <p:tgtEl>
                                          <p:spTgt spid="5"/>
                                        </p:tgtEl>
                                        <p:attrNameLst>
                                          <p:attrName>ppt_x</p:attrName>
                                        </p:attrNameLst>
                                      </p:cBhvr>
                                      <p:tavLst>
                                        <p:tav tm="0">
                                          <p:val>
                                            <p:strVal val="1+#ppt_w/2"/>
                                          </p:val>
                                        </p:tav>
                                        <p:tav tm="100000">
                                          <p:val>
                                            <p:strVal val="#ppt_x"/>
                                          </p:val>
                                        </p:tav>
                                      </p:tavLst>
                                    </p:anim>
                                    <p:anim calcmode="lin" valueType="num">
                                      <p:cBhvr additive="base">
                                        <p:cTn id="70" dur="500" fill="hold"/>
                                        <p:tgtEl>
                                          <p:spTgt spid="5"/>
                                        </p:tgtEl>
                                        <p:attrNameLst>
                                          <p:attrName>ppt_y</p:attrName>
                                        </p:attrNameLst>
                                      </p:cBhvr>
                                      <p:tavLst>
                                        <p:tav tm="0">
                                          <p:val>
                                            <p:strVal val="#ppt_y"/>
                                          </p:val>
                                        </p:tav>
                                        <p:tav tm="100000">
                                          <p:val>
                                            <p:strVal val="#ppt_y"/>
                                          </p:val>
                                        </p:tav>
                                      </p:tavLst>
                                    </p:anim>
                                  </p:childTnLst>
                                </p:cTn>
                              </p:par>
                            </p:childTnLst>
                          </p:cTn>
                        </p:par>
                        <p:par>
                          <p:cTn id="71" fill="hold">
                            <p:stCondLst>
                              <p:cond delay="5500"/>
                            </p:stCondLst>
                            <p:childTnLst>
                              <p:par>
                                <p:cTn id="72" presetID="53" presetClass="entr" presetSubtype="528" fill="hold" nodeType="afterEffect">
                                  <p:stCondLst>
                                    <p:cond delay="0"/>
                                  </p:stCondLst>
                                  <p:childTnLst>
                                    <p:set>
                                      <p:cBhvr>
                                        <p:cTn id="73" dur="1" fill="hold">
                                          <p:stCondLst>
                                            <p:cond delay="0"/>
                                          </p:stCondLst>
                                        </p:cTn>
                                        <p:tgtEl>
                                          <p:spTgt spid="6"/>
                                        </p:tgtEl>
                                        <p:attrNameLst>
                                          <p:attrName>style.visibility</p:attrName>
                                        </p:attrNameLst>
                                      </p:cBhvr>
                                      <p:to>
                                        <p:strVal val="visible"/>
                                      </p:to>
                                    </p:set>
                                    <p:anim calcmode="lin" valueType="num">
                                      <p:cBhvr>
                                        <p:cTn id="74" dur="500" fill="hold"/>
                                        <p:tgtEl>
                                          <p:spTgt spid="6"/>
                                        </p:tgtEl>
                                        <p:attrNameLst>
                                          <p:attrName>ppt_w</p:attrName>
                                        </p:attrNameLst>
                                      </p:cBhvr>
                                      <p:tavLst>
                                        <p:tav tm="0">
                                          <p:val>
                                            <p:fltVal val="0"/>
                                          </p:val>
                                        </p:tav>
                                        <p:tav tm="100000">
                                          <p:val>
                                            <p:strVal val="#ppt_w"/>
                                          </p:val>
                                        </p:tav>
                                      </p:tavLst>
                                    </p:anim>
                                    <p:anim calcmode="lin" valueType="num">
                                      <p:cBhvr>
                                        <p:cTn id="75" dur="500" fill="hold"/>
                                        <p:tgtEl>
                                          <p:spTgt spid="6"/>
                                        </p:tgtEl>
                                        <p:attrNameLst>
                                          <p:attrName>ppt_h</p:attrName>
                                        </p:attrNameLst>
                                      </p:cBhvr>
                                      <p:tavLst>
                                        <p:tav tm="0">
                                          <p:val>
                                            <p:fltVal val="0"/>
                                          </p:val>
                                        </p:tav>
                                        <p:tav tm="100000">
                                          <p:val>
                                            <p:strVal val="#ppt_h"/>
                                          </p:val>
                                        </p:tav>
                                      </p:tavLst>
                                    </p:anim>
                                    <p:animEffect transition="in" filter="fade">
                                      <p:cBhvr>
                                        <p:cTn id="76" dur="500"/>
                                        <p:tgtEl>
                                          <p:spTgt spid="6"/>
                                        </p:tgtEl>
                                      </p:cBhvr>
                                    </p:animEffect>
                                    <p:anim calcmode="lin" valueType="num">
                                      <p:cBhvr>
                                        <p:cTn id="77" dur="500" fill="hold"/>
                                        <p:tgtEl>
                                          <p:spTgt spid="6"/>
                                        </p:tgtEl>
                                        <p:attrNameLst>
                                          <p:attrName>ppt_x</p:attrName>
                                        </p:attrNameLst>
                                      </p:cBhvr>
                                      <p:tavLst>
                                        <p:tav tm="0">
                                          <p:val>
                                            <p:fltVal val="0.5"/>
                                          </p:val>
                                        </p:tav>
                                        <p:tav tm="100000">
                                          <p:val>
                                            <p:strVal val="#ppt_x"/>
                                          </p:val>
                                        </p:tav>
                                      </p:tavLst>
                                    </p:anim>
                                    <p:anim calcmode="lin" valueType="num">
                                      <p:cBhvr>
                                        <p:cTn id="78" dur="500" fill="hold"/>
                                        <p:tgtEl>
                                          <p:spTgt spid="6"/>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3" grpId="0"/>
      <p:bldP spid="79" grpId="0" bldLvl="0" animBg="1"/>
      <p:bldP spid="83" grpId="0" bldLvl="0" animBg="1"/>
      <p:bldP spid="87" grpId="0" bldLvl="0" animBg="1"/>
      <p:bldP spid="4" grpId="0" bldLvl="0" animBg="1"/>
      <p:bldP spid="5"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828871" y="2888875"/>
            <a:ext cx="1202531" cy="1202531"/>
            <a:chOff x="4420032" y="1854736"/>
            <a:chExt cx="1603375" cy="1603375"/>
          </a:xfrm>
          <a:solidFill>
            <a:srgbClr val="1B4367"/>
          </a:solidFill>
        </p:grpSpPr>
        <p:sp>
          <p:nvSpPr>
            <p:cNvPr id="20486" name="Rectangle 5"/>
            <p:cNvSpPr/>
            <p:nvPr/>
          </p:nvSpPr>
          <p:spPr>
            <a:xfrm>
              <a:off x="4420032" y="1854736"/>
              <a:ext cx="1603375" cy="1603375"/>
            </a:xfrm>
            <a:prstGeom prst="flowChartConnector">
              <a:avLst/>
            </a:prstGeom>
            <a:grpFill/>
            <a:ln w="9525">
              <a:noFill/>
              <a:miter/>
            </a:ln>
          </p:spPr>
          <p:txBody>
            <a:bodyPr anchor="ctr"/>
            <a:lstStyle/>
            <a:p>
              <a:pPr lvl="0" algn="ctr" eaLnBrk="1" hangingPunct="1"/>
              <a:endParaRPr lang="en-US" altLang="zh-CN" sz="1000" dirty="0">
                <a:solidFill>
                  <a:srgbClr val="FFFFFF"/>
                </a:solidFill>
                <a:cs typeface="+mn-ea"/>
                <a:sym typeface="+mn-lt"/>
              </a:endParaRPr>
            </a:p>
          </p:txBody>
        </p:sp>
        <p:sp>
          <p:nvSpPr>
            <p:cNvPr id="20489" name="Freeform 132"/>
            <p:cNvSpPr>
              <a:spLocks noEditPoints="1"/>
            </p:cNvSpPr>
            <p:nvPr/>
          </p:nvSpPr>
          <p:spPr>
            <a:xfrm>
              <a:off x="4971860" y="2268369"/>
              <a:ext cx="497814" cy="691654"/>
            </a:xfrm>
            <a:custGeom>
              <a:avLst/>
              <a:gdLst/>
              <a:ahLst/>
              <a:cxnLst>
                <a:cxn ang="0">
                  <a:pos x="69148" y="0"/>
                </a:cxn>
                <a:cxn ang="0">
                  <a:pos x="69148" y="0"/>
                </a:cxn>
                <a:cxn ang="0">
                  <a:pos x="69148" y="48617"/>
                </a:cxn>
                <a:cxn ang="0">
                  <a:pos x="69148" y="70611"/>
                </a:cxn>
                <a:cxn ang="0">
                  <a:pos x="47251" y="70611"/>
                </a:cxn>
                <a:cxn ang="0">
                  <a:pos x="0" y="70611"/>
                </a:cxn>
                <a:cxn ang="0">
                  <a:pos x="0" y="333375"/>
                </a:cxn>
                <a:cxn ang="0">
                  <a:pos x="239712" y="333375"/>
                </a:cxn>
                <a:cxn ang="0">
                  <a:pos x="239712" y="0"/>
                </a:cxn>
                <a:cxn ang="0">
                  <a:pos x="69148" y="0"/>
                </a:cxn>
                <a:cxn ang="0">
                  <a:pos x="187851" y="193311"/>
                </a:cxn>
                <a:cxn ang="0">
                  <a:pos x="154430" y="193311"/>
                </a:cxn>
                <a:cxn ang="0">
                  <a:pos x="140600" y="193311"/>
                </a:cxn>
                <a:cxn ang="0">
                  <a:pos x="140600" y="266237"/>
                </a:cxn>
                <a:cxn ang="0">
                  <a:pos x="127923" y="278970"/>
                </a:cxn>
                <a:cxn ang="0">
                  <a:pos x="111789" y="278970"/>
                </a:cxn>
                <a:cxn ang="0">
                  <a:pos x="99112" y="266237"/>
                </a:cxn>
                <a:cxn ang="0">
                  <a:pos x="99112" y="193311"/>
                </a:cxn>
                <a:cxn ang="0">
                  <a:pos x="85282" y="193311"/>
                </a:cxn>
                <a:cxn ang="0">
                  <a:pos x="51861" y="193311"/>
                </a:cxn>
                <a:cxn ang="0">
                  <a:pos x="46098" y="182893"/>
                </a:cxn>
                <a:cxn ang="0">
                  <a:pos x="111789" y="105337"/>
                </a:cxn>
                <a:cxn ang="0">
                  <a:pos x="127923" y="105337"/>
                </a:cxn>
                <a:cxn ang="0">
                  <a:pos x="192461" y="182893"/>
                </a:cxn>
                <a:cxn ang="0">
                  <a:pos x="187851" y="193311"/>
                </a:cxn>
              </a:cxnLst>
              <a:rect l="0" t="0" r="0" b="0"/>
              <a:pathLst>
                <a:path w="208" h="288">
                  <a:moveTo>
                    <a:pt x="60" y="0"/>
                  </a:moveTo>
                  <a:cubicBezTo>
                    <a:pt x="60" y="0"/>
                    <a:pt x="60" y="0"/>
                    <a:pt x="60" y="0"/>
                  </a:cubicBezTo>
                  <a:cubicBezTo>
                    <a:pt x="60" y="42"/>
                    <a:pt x="60" y="42"/>
                    <a:pt x="60" y="42"/>
                  </a:cubicBezTo>
                  <a:cubicBezTo>
                    <a:pt x="60" y="61"/>
                    <a:pt x="60" y="61"/>
                    <a:pt x="60" y="61"/>
                  </a:cubicBezTo>
                  <a:cubicBezTo>
                    <a:pt x="41" y="61"/>
                    <a:pt x="41" y="61"/>
                    <a:pt x="41" y="61"/>
                  </a:cubicBezTo>
                  <a:cubicBezTo>
                    <a:pt x="0" y="61"/>
                    <a:pt x="0" y="61"/>
                    <a:pt x="0" y="61"/>
                  </a:cubicBezTo>
                  <a:cubicBezTo>
                    <a:pt x="0" y="288"/>
                    <a:pt x="0" y="288"/>
                    <a:pt x="0" y="288"/>
                  </a:cubicBezTo>
                  <a:cubicBezTo>
                    <a:pt x="208" y="288"/>
                    <a:pt x="208" y="288"/>
                    <a:pt x="208" y="288"/>
                  </a:cubicBezTo>
                  <a:cubicBezTo>
                    <a:pt x="208" y="0"/>
                    <a:pt x="208" y="0"/>
                    <a:pt x="208" y="0"/>
                  </a:cubicBezTo>
                  <a:lnTo>
                    <a:pt x="60" y="0"/>
                  </a:lnTo>
                  <a:close/>
                  <a:moveTo>
                    <a:pt x="163" y="167"/>
                  </a:moveTo>
                  <a:cubicBezTo>
                    <a:pt x="134" y="167"/>
                    <a:pt x="134" y="167"/>
                    <a:pt x="134" y="167"/>
                  </a:cubicBezTo>
                  <a:cubicBezTo>
                    <a:pt x="131" y="167"/>
                    <a:pt x="126" y="167"/>
                    <a:pt x="122" y="167"/>
                  </a:cubicBezTo>
                  <a:cubicBezTo>
                    <a:pt x="122" y="230"/>
                    <a:pt x="122" y="230"/>
                    <a:pt x="122" y="230"/>
                  </a:cubicBezTo>
                  <a:cubicBezTo>
                    <a:pt x="122" y="236"/>
                    <a:pt x="117" y="241"/>
                    <a:pt x="111" y="241"/>
                  </a:cubicBezTo>
                  <a:cubicBezTo>
                    <a:pt x="97" y="241"/>
                    <a:pt x="97" y="241"/>
                    <a:pt x="97" y="241"/>
                  </a:cubicBezTo>
                  <a:cubicBezTo>
                    <a:pt x="91" y="241"/>
                    <a:pt x="86" y="236"/>
                    <a:pt x="86" y="230"/>
                  </a:cubicBezTo>
                  <a:cubicBezTo>
                    <a:pt x="86" y="167"/>
                    <a:pt x="86" y="167"/>
                    <a:pt x="86" y="167"/>
                  </a:cubicBezTo>
                  <a:cubicBezTo>
                    <a:pt x="81" y="167"/>
                    <a:pt x="77" y="167"/>
                    <a:pt x="74" y="167"/>
                  </a:cubicBezTo>
                  <a:cubicBezTo>
                    <a:pt x="45" y="167"/>
                    <a:pt x="45" y="167"/>
                    <a:pt x="45" y="167"/>
                  </a:cubicBezTo>
                  <a:cubicBezTo>
                    <a:pt x="38" y="167"/>
                    <a:pt x="36" y="163"/>
                    <a:pt x="40" y="158"/>
                  </a:cubicBezTo>
                  <a:cubicBezTo>
                    <a:pt x="97" y="91"/>
                    <a:pt x="97" y="91"/>
                    <a:pt x="97" y="91"/>
                  </a:cubicBezTo>
                  <a:cubicBezTo>
                    <a:pt x="101" y="86"/>
                    <a:pt x="107" y="86"/>
                    <a:pt x="111" y="91"/>
                  </a:cubicBezTo>
                  <a:cubicBezTo>
                    <a:pt x="167" y="158"/>
                    <a:pt x="167" y="158"/>
                    <a:pt x="167" y="158"/>
                  </a:cubicBezTo>
                  <a:cubicBezTo>
                    <a:pt x="172" y="163"/>
                    <a:pt x="170" y="167"/>
                    <a:pt x="163" y="167"/>
                  </a:cubicBezTo>
                  <a:close/>
                </a:path>
              </a:pathLst>
            </a:custGeom>
            <a:solidFill>
              <a:schemeClr val="bg1"/>
            </a:solidFill>
            <a:ln w="9525">
              <a:noFill/>
            </a:ln>
          </p:spPr>
          <p:txBody>
            <a:bodyPr/>
            <a:lstStyle/>
            <a:p>
              <a:endParaRPr lang="zh-CN" altLang="en-US">
                <a:cs typeface="+mn-ea"/>
                <a:sym typeface="+mn-lt"/>
              </a:endParaRPr>
            </a:p>
          </p:txBody>
        </p:sp>
      </p:grpSp>
      <p:grpSp>
        <p:nvGrpSpPr>
          <p:cNvPr id="7" name="组合 6"/>
          <p:cNvGrpSpPr/>
          <p:nvPr/>
        </p:nvGrpSpPr>
        <p:grpSpPr>
          <a:xfrm>
            <a:off x="4834852" y="3037723"/>
            <a:ext cx="1202531" cy="1202531"/>
            <a:chOff x="2361414" y="1854736"/>
            <a:chExt cx="1603375" cy="1603375"/>
          </a:xfrm>
          <a:solidFill>
            <a:srgbClr val="1B4367"/>
          </a:solidFill>
        </p:grpSpPr>
        <p:sp>
          <p:nvSpPr>
            <p:cNvPr id="20485" name="Rectangle 3"/>
            <p:cNvSpPr/>
            <p:nvPr/>
          </p:nvSpPr>
          <p:spPr>
            <a:xfrm>
              <a:off x="2361414" y="1854736"/>
              <a:ext cx="1603375" cy="1603375"/>
            </a:xfrm>
            <a:prstGeom prst="flowChartConnector">
              <a:avLst/>
            </a:prstGeom>
            <a:grpFill/>
            <a:ln w="9525">
              <a:noFill/>
              <a:miter/>
            </a:ln>
          </p:spPr>
          <p:txBody>
            <a:bodyPr anchor="ctr"/>
            <a:lstStyle/>
            <a:p>
              <a:pPr lvl="0" algn="ctr" eaLnBrk="1" hangingPunct="1"/>
              <a:endParaRPr lang="en-US" altLang="zh-CN" sz="1000" dirty="0">
                <a:solidFill>
                  <a:srgbClr val="FFFFFF"/>
                </a:solidFill>
                <a:cs typeface="+mn-ea"/>
                <a:sym typeface="+mn-lt"/>
              </a:endParaRPr>
            </a:p>
          </p:txBody>
        </p:sp>
        <p:sp>
          <p:nvSpPr>
            <p:cNvPr id="20490" name="Freeform 220"/>
            <p:cNvSpPr/>
            <p:nvPr/>
          </p:nvSpPr>
          <p:spPr>
            <a:xfrm>
              <a:off x="2770383" y="2305455"/>
              <a:ext cx="796514" cy="594622"/>
            </a:xfrm>
            <a:custGeom>
              <a:avLst/>
              <a:gdLst/>
              <a:ahLst/>
              <a:cxnLst>
                <a:cxn ang="0">
                  <a:pos x="384421" y="282893"/>
                </a:cxn>
                <a:cxn ang="0">
                  <a:pos x="384421" y="0"/>
                </a:cxn>
                <a:cxn ang="0">
                  <a:pos x="299800" y="0"/>
                </a:cxn>
                <a:cxn ang="0">
                  <a:pos x="299800" y="282893"/>
                </a:cxn>
                <a:cxn ang="0">
                  <a:pos x="251445" y="282893"/>
                </a:cxn>
                <a:cxn ang="0">
                  <a:pos x="251445" y="174088"/>
                </a:cxn>
                <a:cxn ang="0">
                  <a:pos x="166824" y="174088"/>
                </a:cxn>
                <a:cxn ang="0">
                  <a:pos x="166824" y="282893"/>
                </a:cxn>
                <a:cxn ang="0">
                  <a:pos x="120887" y="282893"/>
                </a:cxn>
                <a:cxn ang="0">
                  <a:pos x="120887" y="77372"/>
                </a:cxn>
                <a:cxn ang="0">
                  <a:pos x="36266" y="77372"/>
                </a:cxn>
                <a:cxn ang="0">
                  <a:pos x="36266" y="282893"/>
                </a:cxn>
                <a:cxn ang="0">
                  <a:pos x="0" y="282893"/>
                </a:cxn>
                <a:cxn ang="0">
                  <a:pos x="0" y="314325"/>
                </a:cxn>
                <a:cxn ang="0">
                  <a:pos x="420687" y="314325"/>
                </a:cxn>
                <a:cxn ang="0">
                  <a:pos x="420687" y="282893"/>
                </a:cxn>
                <a:cxn ang="0">
                  <a:pos x="384421" y="282893"/>
                </a:cxn>
              </a:cxnLst>
              <a:rect l="0" t="0" r="0" b="0"/>
              <a:pathLst>
                <a:path w="174" h="130">
                  <a:moveTo>
                    <a:pt x="159" y="117"/>
                  </a:moveTo>
                  <a:lnTo>
                    <a:pt x="159" y="0"/>
                  </a:lnTo>
                  <a:lnTo>
                    <a:pt x="124" y="0"/>
                  </a:lnTo>
                  <a:lnTo>
                    <a:pt x="124" y="117"/>
                  </a:lnTo>
                  <a:lnTo>
                    <a:pt x="104" y="117"/>
                  </a:lnTo>
                  <a:lnTo>
                    <a:pt x="104" y="72"/>
                  </a:lnTo>
                  <a:lnTo>
                    <a:pt x="69" y="72"/>
                  </a:lnTo>
                  <a:lnTo>
                    <a:pt x="69" y="117"/>
                  </a:lnTo>
                  <a:lnTo>
                    <a:pt x="50" y="117"/>
                  </a:lnTo>
                  <a:lnTo>
                    <a:pt x="50" y="32"/>
                  </a:lnTo>
                  <a:lnTo>
                    <a:pt x="15" y="32"/>
                  </a:lnTo>
                  <a:lnTo>
                    <a:pt x="15" y="117"/>
                  </a:lnTo>
                  <a:lnTo>
                    <a:pt x="0" y="117"/>
                  </a:lnTo>
                  <a:lnTo>
                    <a:pt x="0" y="130"/>
                  </a:lnTo>
                  <a:lnTo>
                    <a:pt x="174" y="130"/>
                  </a:lnTo>
                  <a:lnTo>
                    <a:pt x="174" y="117"/>
                  </a:lnTo>
                  <a:lnTo>
                    <a:pt x="159" y="117"/>
                  </a:lnTo>
                  <a:close/>
                </a:path>
              </a:pathLst>
            </a:custGeom>
            <a:solidFill>
              <a:schemeClr val="bg1"/>
            </a:solidFill>
            <a:ln w="9525">
              <a:noFill/>
            </a:ln>
          </p:spPr>
          <p:txBody>
            <a:bodyPr/>
            <a:lstStyle/>
            <a:p>
              <a:endParaRPr lang="zh-CN" altLang="en-US">
                <a:cs typeface="+mn-ea"/>
                <a:sym typeface="+mn-lt"/>
              </a:endParaRPr>
            </a:p>
          </p:txBody>
        </p:sp>
      </p:grpSp>
      <p:grpSp>
        <p:nvGrpSpPr>
          <p:cNvPr id="2" name="组合 1"/>
          <p:cNvGrpSpPr/>
          <p:nvPr/>
        </p:nvGrpSpPr>
        <p:grpSpPr>
          <a:xfrm>
            <a:off x="811928" y="1171881"/>
            <a:ext cx="1181100" cy="1202531"/>
            <a:chOff x="8565208" y="1856641"/>
            <a:chExt cx="1574800" cy="1603375"/>
          </a:xfrm>
          <a:solidFill>
            <a:srgbClr val="1B4367"/>
          </a:solidFill>
        </p:grpSpPr>
        <p:sp>
          <p:nvSpPr>
            <p:cNvPr id="20488" name="Rectangle 7"/>
            <p:cNvSpPr/>
            <p:nvPr/>
          </p:nvSpPr>
          <p:spPr>
            <a:xfrm>
              <a:off x="8565208" y="1856641"/>
              <a:ext cx="1574800" cy="1603375"/>
            </a:xfrm>
            <a:prstGeom prst="flowChartConnector">
              <a:avLst/>
            </a:prstGeom>
            <a:grpFill/>
            <a:ln w="9525">
              <a:noFill/>
              <a:miter/>
            </a:ln>
          </p:spPr>
          <p:txBody>
            <a:bodyPr anchor="ctr"/>
            <a:lstStyle/>
            <a:p>
              <a:pPr lvl="0" algn="ctr" eaLnBrk="1" hangingPunct="1"/>
              <a:endParaRPr lang="en-US" altLang="zh-CN" sz="1000" dirty="0">
                <a:solidFill>
                  <a:srgbClr val="FFFFFF"/>
                </a:solidFill>
                <a:cs typeface="+mn-ea"/>
                <a:sym typeface="+mn-lt"/>
              </a:endParaRPr>
            </a:p>
          </p:txBody>
        </p:sp>
        <p:sp>
          <p:nvSpPr>
            <p:cNvPr id="20492" name="Freeform 289"/>
            <p:cNvSpPr>
              <a:spLocks noEditPoints="1"/>
            </p:cNvSpPr>
            <p:nvPr/>
          </p:nvSpPr>
          <p:spPr>
            <a:xfrm>
              <a:off x="9100279" y="2382692"/>
              <a:ext cx="557770" cy="565878"/>
            </a:xfrm>
            <a:custGeom>
              <a:avLst/>
              <a:gdLst/>
              <a:ahLst/>
              <a:cxnLst>
                <a:cxn ang="0">
                  <a:pos x="244146" y="20836"/>
                </a:cxn>
                <a:cxn ang="0">
                  <a:pos x="163149" y="0"/>
                </a:cxn>
                <a:cxn ang="0">
                  <a:pos x="0" y="0"/>
                </a:cxn>
                <a:cxn ang="0">
                  <a:pos x="0" y="77556"/>
                </a:cxn>
                <a:cxn ang="0">
                  <a:pos x="161992" y="77556"/>
                </a:cxn>
                <a:cxn ang="0">
                  <a:pos x="208276" y="90289"/>
                </a:cxn>
                <a:cxn ang="0">
                  <a:pos x="251088" y="167845"/>
                </a:cxn>
                <a:cxn ang="0">
                  <a:pos x="210590" y="243086"/>
                </a:cxn>
                <a:cxn ang="0">
                  <a:pos x="161992" y="255819"/>
                </a:cxn>
                <a:cxn ang="0">
                  <a:pos x="0" y="255819"/>
                </a:cxn>
                <a:cxn ang="0">
                  <a:pos x="0" y="333375"/>
                </a:cxn>
                <a:cxn ang="0">
                  <a:pos x="161992" y="333375"/>
                </a:cxn>
                <a:cxn ang="0">
                  <a:pos x="242988" y="313697"/>
                </a:cxn>
                <a:cxn ang="0">
                  <a:pos x="328613" y="167845"/>
                </a:cxn>
                <a:cxn ang="0">
                  <a:pos x="244146" y="20836"/>
                </a:cxn>
                <a:cxn ang="0">
                  <a:pos x="60169" y="57878"/>
                </a:cxn>
                <a:cxn ang="0">
                  <a:pos x="21985" y="57878"/>
                </a:cxn>
                <a:cxn ang="0">
                  <a:pos x="21985" y="19678"/>
                </a:cxn>
                <a:cxn ang="0">
                  <a:pos x="60169" y="19678"/>
                </a:cxn>
                <a:cxn ang="0">
                  <a:pos x="60169" y="57878"/>
                </a:cxn>
                <a:cxn ang="0">
                  <a:pos x="60169" y="314854"/>
                </a:cxn>
                <a:cxn ang="0">
                  <a:pos x="21985" y="314854"/>
                </a:cxn>
                <a:cxn ang="0">
                  <a:pos x="21985" y="275497"/>
                </a:cxn>
                <a:cxn ang="0">
                  <a:pos x="60169" y="275497"/>
                </a:cxn>
                <a:cxn ang="0">
                  <a:pos x="60169" y="314854"/>
                </a:cxn>
              </a:cxnLst>
              <a:rect l="0" t="0" r="0" b="0"/>
              <a:pathLst>
                <a:path w="284" h="288">
                  <a:moveTo>
                    <a:pt x="211" y="18"/>
                  </a:moveTo>
                  <a:cubicBezTo>
                    <a:pt x="177" y="1"/>
                    <a:pt x="144" y="0"/>
                    <a:pt x="141" y="0"/>
                  </a:cubicBezTo>
                  <a:cubicBezTo>
                    <a:pt x="0" y="0"/>
                    <a:pt x="0" y="0"/>
                    <a:pt x="0" y="0"/>
                  </a:cubicBezTo>
                  <a:cubicBezTo>
                    <a:pt x="0" y="67"/>
                    <a:pt x="0" y="67"/>
                    <a:pt x="0" y="67"/>
                  </a:cubicBezTo>
                  <a:cubicBezTo>
                    <a:pt x="140" y="67"/>
                    <a:pt x="140" y="67"/>
                    <a:pt x="140" y="67"/>
                  </a:cubicBezTo>
                  <a:cubicBezTo>
                    <a:pt x="141" y="67"/>
                    <a:pt x="161" y="68"/>
                    <a:pt x="180" y="78"/>
                  </a:cubicBezTo>
                  <a:cubicBezTo>
                    <a:pt x="205" y="91"/>
                    <a:pt x="217" y="112"/>
                    <a:pt x="217" y="145"/>
                  </a:cubicBezTo>
                  <a:cubicBezTo>
                    <a:pt x="217" y="177"/>
                    <a:pt x="206" y="198"/>
                    <a:pt x="182" y="210"/>
                  </a:cubicBezTo>
                  <a:cubicBezTo>
                    <a:pt x="162" y="221"/>
                    <a:pt x="140" y="221"/>
                    <a:pt x="140" y="221"/>
                  </a:cubicBezTo>
                  <a:cubicBezTo>
                    <a:pt x="0" y="221"/>
                    <a:pt x="0" y="221"/>
                    <a:pt x="0" y="221"/>
                  </a:cubicBezTo>
                  <a:cubicBezTo>
                    <a:pt x="0" y="288"/>
                    <a:pt x="0" y="288"/>
                    <a:pt x="0" y="288"/>
                  </a:cubicBezTo>
                  <a:cubicBezTo>
                    <a:pt x="140" y="288"/>
                    <a:pt x="140" y="288"/>
                    <a:pt x="140" y="288"/>
                  </a:cubicBezTo>
                  <a:cubicBezTo>
                    <a:pt x="144" y="288"/>
                    <a:pt x="177" y="288"/>
                    <a:pt x="210" y="271"/>
                  </a:cubicBezTo>
                  <a:cubicBezTo>
                    <a:pt x="258" y="247"/>
                    <a:pt x="284" y="203"/>
                    <a:pt x="284" y="145"/>
                  </a:cubicBezTo>
                  <a:cubicBezTo>
                    <a:pt x="284" y="87"/>
                    <a:pt x="258" y="42"/>
                    <a:pt x="211" y="18"/>
                  </a:cubicBezTo>
                  <a:close/>
                  <a:moveTo>
                    <a:pt x="52" y="50"/>
                  </a:moveTo>
                  <a:cubicBezTo>
                    <a:pt x="19" y="50"/>
                    <a:pt x="19" y="50"/>
                    <a:pt x="19" y="50"/>
                  </a:cubicBezTo>
                  <a:cubicBezTo>
                    <a:pt x="19" y="17"/>
                    <a:pt x="19" y="17"/>
                    <a:pt x="19" y="17"/>
                  </a:cubicBezTo>
                  <a:cubicBezTo>
                    <a:pt x="52" y="17"/>
                    <a:pt x="52" y="17"/>
                    <a:pt x="52" y="17"/>
                  </a:cubicBezTo>
                  <a:lnTo>
                    <a:pt x="52" y="50"/>
                  </a:lnTo>
                  <a:close/>
                  <a:moveTo>
                    <a:pt x="52" y="272"/>
                  </a:moveTo>
                  <a:cubicBezTo>
                    <a:pt x="19" y="272"/>
                    <a:pt x="19" y="272"/>
                    <a:pt x="19" y="272"/>
                  </a:cubicBezTo>
                  <a:cubicBezTo>
                    <a:pt x="19" y="238"/>
                    <a:pt x="19" y="238"/>
                    <a:pt x="19" y="238"/>
                  </a:cubicBezTo>
                  <a:cubicBezTo>
                    <a:pt x="52" y="238"/>
                    <a:pt x="52" y="238"/>
                    <a:pt x="52" y="238"/>
                  </a:cubicBezTo>
                  <a:lnTo>
                    <a:pt x="52" y="272"/>
                  </a:lnTo>
                  <a:close/>
                </a:path>
              </a:pathLst>
            </a:custGeom>
            <a:solidFill>
              <a:schemeClr val="bg1"/>
            </a:solidFill>
            <a:ln w="9525">
              <a:noFill/>
            </a:ln>
          </p:spPr>
          <p:txBody>
            <a:bodyPr/>
            <a:lstStyle/>
            <a:p>
              <a:endParaRPr lang="zh-CN" altLang="en-US">
                <a:cs typeface="+mn-ea"/>
                <a:sym typeface="+mn-lt"/>
              </a:endParaRPr>
            </a:p>
          </p:txBody>
        </p:sp>
      </p:grpSp>
      <p:sp>
        <p:nvSpPr>
          <p:cNvPr id="20494" name="TextBox 13"/>
          <p:cNvSpPr txBox="1"/>
          <p:nvPr/>
        </p:nvSpPr>
        <p:spPr>
          <a:xfrm>
            <a:off x="2050395" y="1388425"/>
            <a:ext cx="2603774" cy="576580"/>
          </a:xfrm>
          <a:prstGeom prst="rect">
            <a:avLst/>
          </a:prstGeom>
          <a:noFill/>
          <a:ln w="9525">
            <a:noFill/>
            <a:miter/>
          </a:ln>
        </p:spPr>
        <p:txBody>
          <a:bodyPr wrap="square" lIns="0" tIns="0" rIns="0" bIns="0">
            <a:spAutoFit/>
          </a:bodyPr>
          <a:lstStyle/>
          <a:p>
            <a:pPr algn="l">
              <a:lnSpc>
                <a:spcPts val="1500"/>
              </a:lnSpc>
              <a:buClrTx/>
              <a:buSzTx/>
              <a:buFontTx/>
            </a:pPr>
            <a:r>
              <a:rPr lang="en-US" altLang="zh-CN" b="1" dirty="0">
                <a:solidFill>
                  <a:schemeClr val="tx1">
                    <a:lumMod val="75000"/>
                    <a:lumOff val="25000"/>
                  </a:schemeClr>
                </a:solidFill>
                <a:cs typeface="+mn-ea"/>
                <a:sym typeface="+mn-lt"/>
              </a:rPr>
              <a:t>Performing</a:t>
            </a:r>
            <a:r>
              <a:rPr lang="en-US" altLang="zh-CN" dirty="0">
                <a:solidFill>
                  <a:schemeClr val="tx1">
                    <a:lumMod val="75000"/>
                    <a:lumOff val="25000"/>
                  </a:schemeClr>
                </a:solidFill>
                <a:cs typeface="+mn-ea"/>
                <a:sym typeface="+mn-lt"/>
              </a:rPr>
              <a:t> </a:t>
            </a:r>
            <a:r>
              <a:rPr lang="en-US" altLang="zh-CN" kern="0" dirty="0">
                <a:latin typeface="Arial" panose="020B0604020202020204" pitchFamily="34" charset="0"/>
                <a:cs typeface="Arial" panose="020B0604020202020204" pitchFamily="34" charset="0"/>
                <a:sym typeface="+mn-lt"/>
              </a:rPr>
              <a:t>a thorough and current literature review on energy management</a:t>
            </a:r>
            <a:endParaRPr lang="en-US" altLang="zh-CN" kern="0" dirty="0">
              <a:latin typeface="Arial" panose="020B0604020202020204" pitchFamily="34" charset="0"/>
              <a:cs typeface="Arial" panose="020B0604020202020204" pitchFamily="34" charset="0"/>
              <a:sym typeface="+mn-lt"/>
            </a:endParaRPr>
          </a:p>
        </p:txBody>
      </p:sp>
      <p:sp>
        <p:nvSpPr>
          <p:cNvPr id="24" name="文本框 15"/>
          <p:cNvSpPr txBox="1"/>
          <p:nvPr/>
        </p:nvSpPr>
        <p:spPr>
          <a:xfrm>
            <a:off x="709386" y="309785"/>
            <a:ext cx="2948214" cy="377026"/>
          </a:xfrm>
          <a:prstGeom prst="rect">
            <a:avLst/>
          </a:prstGeom>
          <a:noFill/>
        </p:spPr>
        <p:txBody>
          <a:bodyPr wrap="square" lIns="68580" tIns="34290" rIns="68580" bIns="34290" rtlCol="0">
            <a:spAutoFit/>
          </a:bodyPr>
          <a:lstStyle/>
          <a:p>
            <a:r>
              <a:rPr lang="en-US" altLang="zh-CN" sz="2000" b="1" dirty="0">
                <a:solidFill>
                  <a:srgbClr val="1B4367"/>
                </a:solidFill>
                <a:cs typeface="+mn-ea"/>
                <a:sym typeface="+mn-lt"/>
              </a:rPr>
              <a:t>Content of this paper</a:t>
            </a:r>
            <a:endParaRPr lang="zh-CN" altLang="en-US" sz="2000" b="1" dirty="0">
              <a:solidFill>
                <a:srgbClr val="1B4367"/>
              </a:solidFill>
              <a:cs typeface="+mn-ea"/>
              <a:sym typeface="+mn-lt"/>
            </a:endParaRPr>
          </a:p>
        </p:txBody>
      </p:sp>
      <p:grpSp>
        <p:nvGrpSpPr>
          <p:cNvPr id="4" name="组合 3"/>
          <p:cNvGrpSpPr/>
          <p:nvPr/>
        </p:nvGrpSpPr>
        <p:grpSpPr>
          <a:xfrm>
            <a:off x="4755722" y="1121666"/>
            <a:ext cx="1201103" cy="1202531"/>
            <a:chOff x="4856202" y="1222146"/>
            <a:chExt cx="1201103" cy="1202531"/>
          </a:xfrm>
          <a:solidFill>
            <a:srgbClr val="1B4367"/>
          </a:solidFill>
        </p:grpSpPr>
        <p:sp>
          <p:nvSpPr>
            <p:cNvPr id="20487" name="Rectangle 6"/>
            <p:cNvSpPr/>
            <p:nvPr/>
          </p:nvSpPr>
          <p:spPr>
            <a:xfrm>
              <a:off x="4856202" y="1222146"/>
              <a:ext cx="1201103" cy="1202531"/>
            </a:xfrm>
            <a:prstGeom prst="flowChartConnector">
              <a:avLst/>
            </a:prstGeom>
            <a:grpFill/>
            <a:ln w="9525">
              <a:noFill/>
              <a:miter/>
            </a:ln>
          </p:spPr>
          <p:txBody>
            <a:bodyPr anchor="ctr"/>
            <a:lstStyle/>
            <a:p>
              <a:pPr lvl="0" algn="ctr" eaLnBrk="1" hangingPunct="1"/>
              <a:endParaRPr lang="en-US" altLang="zh-CN" sz="1000" dirty="0">
                <a:solidFill>
                  <a:srgbClr val="FFFFFF"/>
                </a:solidFill>
                <a:cs typeface="+mn-ea"/>
                <a:sym typeface="+mn-lt"/>
              </a:endParaRPr>
            </a:p>
          </p:txBody>
        </p:sp>
        <p:sp>
          <p:nvSpPr>
            <p:cNvPr id="25" name="KSO_Shape"/>
            <p:cNvSpPr/>
            <p:nvPr/>
          </p:nvSpPr>
          <p:spPr bwMode="auto">
            <a:xfrm>
              <a:off x="5275038" y="1500840"/>
              <a:ext cx="363431" cy="645143"/>
            </a:xfrm>
            <a:custGeom>
              <a:avLst/>
              <a:gdLst>
                <a:gd name="T0" fmla="*/ 2147483646 w 3056"/>
                <a:gd name="T1" fmla="*/ 2147483646 h 5429"/>
                <a:gd name="T2" fmla="*/ 2147483646 w 3056"/>
                <a:gd name="T3" fmla="*/ 2147483646 h 5429"/>
                <a:gd name="T4" fmla="*/ 2147483646 w 3056"/>
                <a:gd name="T5" fmla="*/ 388832290 h 5429"/>
                <a:gd name="T6" fmla="*/ 2147483646 w 3056"/>
                <a:gd name="T7" fmla="*/ 345615213 h 5429"/>
                <a:gd name="T8" fmla="*/ 2147483646 w 3056"/>
                <a:gd name="T9" fmla="*/ 2147483646 h 5429"/>
                <a:gd name="T10" fmla="*/ 2147483646 w 3056"/>
                <a:gd name="T11" fmla="*/ 2147483646 h 5429"/>
                <a:gd name="T12" fmla="*/ 2147483646 w 3056"/>
                <a:gd name="T13" fmla="*/ 2147483646 h 5429"/>
                <a:gd name="T14" fmla="*/ 2147483646 w 3056"/>
                <a:gd name="T15" fmla="*/ 2147483646 h 5429"/>
                <a:gd name="T16" fmla="*/ 2147483646 w 3056"/>
                <a:gd name="T17" fmla="*/ 2147483646 h 5429"/>
                <a:gd name="T18" fmla="*/ 2147483646 w 3056"/>
                <a:gd name="T19" fmla="*/ 2147483646 h 5429"/>
                <a:gd name="T20" fmla="*/ 475747481 w 3056"/>
                <a:gd name="T21" fmla="*/ 2147483646 h 5429"/>
                <a:gd name="T22" fmla="*/ 432463999 w 3056"/>
                <a:gd name="T23" fmla="*/ 2147483646 h 5429"/>
                <a:gd name="T24" fmla="*/ 2147483646 w 3056"/>
                <a:gd name="T25" fmla="*/ 2147483646 h 5429"/>
                <a:gd name="T26" fmla="*/ 2147483646 w 3056"/>
                <a:gd name="T27" fmla="*/ 2147483646 h 5429"/>
                <a:gd name="T28" fmla="*/ 2147483646 w 3056"/>
                <a:gd name="T29" fmla="*/ 2147483646 h 5429"/>
                <a:gd name="T30" fmla="*/ 2147483646 w 3056"/>
                <a:gd name="T31" fmla="*/ 2147483646 h 5429"/>
                <a:gd name="T32" fmla="*/ 2147483646 w 3056"/>
                <a:gd name="T33" fmla="*/ 2147483646 h 5429"/>
                <a:gd name="T34" fmla="*/ 2147483646 w 3056"/>
                <a:gd name="T35" fmla="*/ 2147483646 h 5429"/>
                <a:gd name="T36" fmla="*/ 2147483646 w 3056"/>
                <a:gd name="T37" fmla="*/ 2147483646 h 5429"/>
                <a:gd name="T38" fmla="*/ 2147483646 w 3056"/>
                <a:gd name="T39" fmla="*/ 2147483646 h 5429"/>
                <a:gd name="T40" fmla="*/ 2147483646 w 3056"/>
                <a:gd name="T41" fmla="*/ 2147483646 h 5429"/>
                <a:gd name="T42" fmla="*/ 2147483646 w 3056"/>
                <a:gd name="T43" fmla="*/ 2147483646 h 5429"/>
                <a:gd name="T44" fmla="*/ 2147483646 w 3056"/>
                <a:gd name="T45" fmla="*/ 2147483646 h 5429"/>
                <a:gd name="T46" fmla="*/ 2147483646 w 3056"/>
                <a:gd name="T47" fmla="*/ 2147483646 h 5429"/>
                <a:gd name="T48" fmla="*/ 2147483646 w 3056"/>
                <a:gd name="T49" fmla="*/ 2147483646 h 5429"/>
                <a:gd name="T50" fmla="*/ 2147483646 w 3056"/>
                <a:gd name="T51" fmla="*/ 2147483646 h 5429"/>
                <a:gd name="T52" fmla="*/ 2147483646 w 3056"/>
                <a:gd name="T53" fmla="*/ 2147483646 h 5429"/>
                <a:gd name="T54" fmla="*/ 2147483646 w 3056"/>
                <a:gd name="T55" fmla="*/ 2147483646 h 5429"/>
                <a:gd name="T56" fmla="*/ 2147483646 w 3056"/>
                <a:gd name="T57" fmla="*/ 2147483646 h 5429"/>
                <a:gd name="T58" fmla="*/ 2147483646 w 3056"/>
                <a:gd name="T59" fmla="*/ 2147483646 h 5429"/>
                <a:gd name="T60" fmla="*/ 2147483646 w 3056"/>
                <a:gd name="T61" fmla="*/ 2147483646 h 5429"/>
                <a:gd name="T62" fmla="*/ 2147483646 w 3056"/>
                <a:gd name="T63" fmla="*/ 2147483646 h 5429"/>
                <a:gd name="T64" fmla="*/ 2147483646 w 3056"/>
                <a:gd name="T65" fmla="*/ 2147483646 h 5429"/>
                <a:gd name="T66" fmla="*/ 2147483646 w 3056"/>
                <a:gd name="T67" fmla="*/ 2147483646 h 5429"/>
                <a:gd name="T68" fmla="*/ 2147483646 w 3056"/>
                <a:gd name="T69" fmla="*/ 2147483646 h 5429"/>
                <a:gd name="T70" fmla="*/ 2147483646 w 3056"/>
                <a:gd name="T71" fmla="*/ 2147483646 h 5429"/>
                <a:gd name="T72" fmla="*/ 2147483646 w 3056"/>
                <a:gd name="T73" fmla="*/ 2147483646 h 5429"/>
                <a:gd name="T74" fmla="*/ 2147483646 w 3056"/>
                <a:gd name="T75" fmla="*/ 2147483646 h 5429"/>
                <a:gd name="T76" fmla="*/ 2147483646 w 3056"/>
                <a:gd name="T77" fmla="*/ 2147483646 h 5429"/>
                <a:gd name="T78" fmla="*/ 2147483646 w 3056"/>
                <a:gd name="T79" fmla="*/ 2147483646 h 5429"/>
                <a:gd name="T80" fmla="*/ 2147483646 w 3056"/>
                <a:gd name="T81" fmla="*/ 2147483646 h 5429"/>
                <a:gd name="T82" fmla="*/ 2147483646 w 3056"/>
                <a:gd name="T83" fmla="*/ 2147483646 h 5429"/>
                <a:gd name="T84" fmla="*/ 2147483646 w 3056"/>
                <a:gd name="T85" fmla="*/ 2147483646 h 5429"/>
                <a:gd name="T86" fmla="*/ 2147483646 w 3056"/>
                <a:gd name="T87" fmla="*/ 2147483646 h 5429"/>
                <a:gd name="T88" fmla="*/ 2147483646 w 3056"/>
                <a:gd name="T89" fmla="*/ 2147483646 h 5429"/>
                <a:gd name="T90" fmla="*/ 2147483646 w 3056"/>
                <a:gd name="T91" fmla="*/ 2147483646 h 5429"/>
                <a:gd name="T92" fmla="*/ 2147483646 w 3056"/>
                <a:gd name="T93" fmla="*/ 2147483646 h 5429"/>
                <a:gd name="T94" fmla="*/ 2147483646 w 3056"/>
                <a:gd name="T95" fmla="*/ 2147483646 h 5429"/>
                <a:gd name="T96" fmla="*/ 2147483646 w 3056"/>
                <a:gd name="T97" fmla="*/ 2147483646 h 5429"/>
                <a:gd name="T98" fmla="*/ 2147483646 w 3056"/>
                <a:gd name="T99" fmla="*/ 2147483646 h 5429"/>
                <a:gd name="T100" fmla="*/ 2147483646 w 3056"/>
                <a:gd name="T101" fmla="*/ 2147483646 h 5429"/>
                <a:gd name="T102" fmla="*/ 2147483646 w 3056"/>
                <a:gd name="T103" fmla="*/ 2147483646 h 5429"/>
                <a:gd name="T104" fmla="*/ 2147483646 w 3056"/>
                <a:gd name="T105" fmla="*/ 2147483646 h 5429"/>
                <a:gd name="T106" fmla="*/ 2147483646 w 3056"/>
                <a:gd name="T107" fmla="*/ 2147483646 h 5429"/>
                <a:gd name="T108" fmla="*/ 2147483646 w 3056"/>
                <a:gd name="T109" fmla="*/ 2147483646 h 5429"/>
                <a:gd name="T110" fmla="*/ 2147483646 w 3056"/>
                <a:gd name="T111" fmla="*/ 2147483646 h 5429"/>
                <a:gd name="T112" fmla="*/ 2147483646 w 3056"/>
                <a:gd name="T113" fmla="*/ 2147483646 h 5429"/>
                <a:gd name="T114" fmla="*/ 2147483646 w 3056"/>
                <a:gd name="T115" fmla="*/ 2147483646 h 5429"/>
                <a:gd name="T116" fmla="*/ 2147483646 w 3056"/>
                <a:gd name="T117" fmla="*/ 2147483646 h 5429"/>
                <a:gd name="T118" fmla="*/ 2147483646 w 3056"/>
                <a:gd name="T119" fmla="*/ 2147483646 h 5429"/>
                <a:gd name="T120" fmla="*/ 2147483646 w 3056"/>
                <a:gd name="T121" fmla="*/ 2147483646 h 542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3056" h="5429">
                  <a:moveTo>
                    <a:pt x="2609" y="448"/>
                  </a:moveTo>
                  <a:lnTo>
                    <a:pt x="2609" y="448"/>
                  </a:lnTo>
                  <a:lnTo>
                    <a:pt x="2575" y="415"/>
                  </a:lnTo>
                  <a:lnTo>
                    <a:pt x="2538" y="383"/>
                  </a:lnTo>
                  <a:lnTo>
                    <a:pt x="2503" y="352"/>
                  </a:lnTo>
                  <a:lnTo>
                    <a:pt x="2465" y="322"/>
                  </a:lnTo>
                  <a:lnTo>
                    <a:pt x="2426" y="293"/>
                  </a:lnTo>
                  <a:lnTo>
                    <a:pt x="2388" y="265"/>
                  </a:lnTo>
                  <a:lnTo>
                    <a:pt x="2348" y="239"/>
                  </a:lnTo>
                  <a:lnTo>
                    <a:pt x="2307" y="213"/>
                  </a:lnTo>
                  <a:lnTo>
                    <a:pt x="2266" y="190"/>
                  </a:lnTo>
                  <a:lnTo>
                    <a:pt x="2224" y="168"/>
                  </a:lnTo>
                  <a:lnTo>
                    <a:pt x="2182" y="146"/>
                  </a:lnTo>
                  <a:lnTo>
                    <a:pt x="2138" y="127"/>
                  </a:lnTo>
                  <a:lnTo>
                    <a:pt x="2095" y="108"/>
                  </a:lnTo>
                  <a:lnTo>
                    <a:pt x="2049" y="91"/>
                  </a:lnTo>
                  <a:lnTo>
                    <a:pt x="2005" y="75"/>
                  </a:lnTo>
                  <a:lnTo>
                    <a:pt x="1960" y="61"/>
                  </a:lnTo>
                  <a:lnTo>
                    <a:pt x="1907" y="46"/>
                  </a:lnTo>
                  <a:lnTo>
                    <a:pt x="1853" y="34"/>
                  </a:lnTo>
                  <a:lnTo>
                    <a:pt x="1800" y="24"/>
                  </a:lnTo>
                  <a:lnTo>
                    <a:pt x="1746" y="15"/>
                  </a:lnTo>
                  <a:lnTo>
                    <a:pt x="1692" y="9"/>
                  </a:lnTo>
                  <a:lnTo>
                    <a:pt x="1638" y="3"/>
                  </a:lnTo>
                  <a:lnTo>
                    <a:pt x="1582" y="1"/>
                  </a:lnTo>
                  <a:lnTo>
                    <a:pt x="1527" y="0"/>
                  </a:lnTo>
                  <a:lnTo>
                    <a:pt x="1490" y="0"/>
                  </a:lnTo>
                  <a:lnTo>
                    <a:pt x="1451" y="2"/>
                  </a:lnTo>
                  <a:lnTo>
                    <a:pt x="1413" y="4"/>
                  </a:lnTo>
                  <a:lnTo>
                    <a:pt x="1376" y="8"/>
                  </a:lnTo>
                  <a:lnTo>
                    <a:pt x="1338" y="11"/>
                  </a:lnTo>
                  <a:lnTo>
                    <a:pt x="1302" y="17"/>
                  </a:lnTo>
                  <a:lnTo>
                    <a:pt x="1264" y="22"/>
                  </a:lnTo>
                  <a:lnTo>
                    <a:pt x="1227" y="29"/>
                  </a:lnTo>
                  <a:lnTo>
                    <a:pt x="1191" y="36"/>
                  </a:lnTo>
                  <a:lnTo>
                    <a:pt x="1154" y="45"/>
                  </a:lnTo>
                  <a:lnTo>
                    <a:pt x="1118" y="55"/>
                  </a:lnTo>
                  <a:lnTo>
                    <a:pt x="1083" y="65"/>
                  </a:lnTo>
                  <a:lnTo>
                    <a:pt x="1047" y="76"/>
                  </a:lnTo>
                  <a:lnTo>
                    <a:pt x="1012" y="88"/>
                  </a:lnTo>
                  <a:lnTo>
                    <a:pt x="977" y="102"/>
                  </a:lnTo>
                  <a:lnTo>
                    <a:pt x="942" y="115"/>
                  </a:lnTo>
                  <a:lnTo>
                    <a:pt x="909" y="130"/>
                  </a:lnTo>
                  <a:lnTo>
                    <a:pt x="875" y="146"/>
                  </a:lnTo>
                  <a:lnTo>
                    <a:pt x="841" y="161"/>
                  </a:lnTo>
                  <a:lnTo>
                    <a:pt x="808" y="179"/>
                  </a:lnTo>
                  <a:lnTo>
                    <a:pt x="775" y="197"/>
                  </a:lnTo>
                  <a:lnTo>
                    <a:pt x="743" y="216"/>
                  </a:lnTo>
                  <a:lnTo>
                    <a:pt x="712" y="235"/>
                  </a:lnTo>
                  <a:lnTo>
                    <a:pt x="680" y="255"/>
                  </a:lnTo>
                  <a:lnTo>
                    <a:pt x="649" y="277"/>
                  </a:lnTo>
                  <a:lnTo>
                    <a:pt x="619" y="300"/>
                  </a:lnTo>
                  <a:lnTo>
                    <a:pt x="589" y="322"/>
                  </a:lnTo>
                  <a:lnTo>
                    <a:pt x="559" y="345"/>
                  </a:lnTo>
                  <a:lnTo>
                    <a:pt x="531" y="370"/>
                  </a:lnTo>
                  <a:lnTo>
                    <a:pt x="502" y="395"/>
                  </a:lnTo>
                  <a:lnTo>
                    <a:pt x="474" y="421"/>
                  </a:lnTo>
                  <a:lnTo>
                    <a:pt x="447" y="448"/>
                  </a:lnTo>
                  <a:lnTo>
                    <a:pt x="420" y="475"/>
                  </a:lnTo>
                  <a:lnTo>
                    <a:pt x="395" y="503"/>
                  </a:lnTo>
                  <a:lnTo>
                    <a:pt x="369" y="531"/>
                  </a:lnTo>
                  <a:lnTo>
                    <a:pt x="345" y="561"/>
                  </a:lnTo>
                  <a:lnTo>
                    <a:pt x="322" y="589"/>
                  </a:lnTo>
                  <a:lnTo>
                    <a:pt x="298" y="619"/>
                  </a:lnTo>
                  <a:lnTo>
                    <a:pt x="276" y="650"/>
                  </a:lnTo>
                  <a:lnTo>
                    <a:pt x="255" y="681"/>
                  </a:lnTo>
                  <a:lnTo>
                    <a:pt x="235" y="712"/>
                  </a:lnTo>
                  <a:lnTo>
                    <a:pt x="215" y="744"/>
                  </a:lnTo>
                  <a:lnTo>
                    <a:pt x="197" y="776"/>
                  </a:lnTo>
                  <a:lnTo>
                    <a:pt x="179" y="808"/>
                  </a:lnTo>
                  <a:lnTo>
                    <a:pt x="161" y="841"/>
                  </a:lnTo>
                  <a:lnTo>
                    <a:pt x="145" y="875"/>
                  </a:lnTo>
                  <a:lnTo>
                    <a:pt x="129" y="909"/>
                  </a:lnTo>
                  <a:lnTo>
                    <a:pt x="115" y="943"/>
                  </a:lnTo>
                  <a:lnTo>
                    <a:pt x="101" y="977"/>
                  </a:lnTo>
                  <a:lnTo>
                    <a:pt x="88" y="1012"/>
                  </a:lnTo>
                  <a:lnTo>
                    <a:pt x="76" y="1047"/>
                  </a:lnTo>
                  <a:lnTo>
                    <a:pt x="65" y="1082"/>
                  </a:lnTo>
                  <a:lnTo>
                    <a:pt x="55" y="1118"/>
                  </a:lnTo>
                  <a:lnTo>
                    <a:pt x="45" y="1154"/>
                  </a:lnTo>
                  <a:lnTo>
                    <a:pt x="36" y="1191"/>
                  </a:lnTo>
                  <a:lnTo>
                    <a:pt x="28" y="1227"/>
                  </a:lnTo>
                  <a:lnTo>
                    <a:pt x="22" y="1264"/>
                  </a:lnTo>
                  <a:lnTo>
                    <a:pt x="16" y="1301"/>
                  </a:lnTo>
                  <a:lnTo>
                    <a:pt x="11" y="1338"/>
                  </a:lnTo>
                  <a:lnTo>
                    <a:pt x="7" y="1376"/>
                  </a:lnTo>
                  <a:lnTo>
                    <a:pt x="4" y="1413"/>
                  </a:lnTo>
                  <a:lnTo>
                    <a:pt x="2" y="1452"/>
                  </a:lnTo>
                  <a:lnTo>
                    <a:pt x="0" y="1489"/>
                  </a:lnTo>
                  <a:lnTo>
                    <a:pt x="0" y="1527"/>
                  </a:lnTo>
                  <a:lnTo>
                    <a:pt x="6" y="1667"/>
                  </a:lnTo>
                  <a:lnTo>
                    <a:pt x="10" y="1707"/>
                  </a:lnTo>
                  <a:lnTo>
                    <a:pt x="15" y="1746"/>
                  </a:lnTo>
                  <a:lnTo>
                    <a:pt x="22" y="1785"/>
                  </a:lnTo>
                  <a:lnTo>
                    <a:pt x="28" y="1823"/>
                  </a:lnTo>
                  <a:lnTo>
                    <a:pt x="36" y="1862"/>
                  </a:lnTo>
                  <a:lnTo>
                    <a:pt x="45" y="1900"/>
                  </a:lnTo>
                  <a:lnTo>
                    <a:pt x="55" y="1937"/>
                  </a:lnTo>
                  <a:lnTo>
                    <a:pt x="66" y="1975"/>
                  </a:lnTo>
                  <a:lnTo>
                    <a:pt x="78" y="2012"/>
                  </a:lnTo>
                  <a:lnTo>
                    <a:pt x="92" y="2049"/>
                  </a:lnTo>
                  <a:lnTo>
                    <a:pt x="105" y="2085"/>
                  </a:lnTo>
                  <a:lnTo>
                    <a:pt x="119" y="2122"/>
                  </a:lnTo>
                  <a:lnTo>
                    <a:pt x="136" y="2157"/>
                  </a:lnTo>
                  <a:lnTo>
                    <a:pt x="152" y="2193"/>
                  </a:lnTo>
                  <a:lnTo>
                    <a:pt x="170" y="2228"/>
                  </a:lnTo>
                  <a:lnTo>
                    <a:pt x="189" y="2262"/>
                  </a:lnTo>
                  <a:lnTo>
                    <a:pt x="195" y="2277"/>
                  </a:lnTo>
                  <a:lnTo>
                    <a:pt x="213" y="2312"/>
                  </a:lnTo>
                  <a:lnTo>
                    <a:pt x="242" y="2366"/>
                  </a:lnTo>
                  <a:lnTo>
                    <a:pt x="278" y="2439"/>
                  </a:lnTo>
                  <a:lnTo>
                    <a:pt x="323" y="2528"/>
                  </a:lnTo>
                  <a:lnTo>
                    <a:pt x="371" y="2631"/>
                  </a:lnTo>
                  <a:lnTo>
                    <a:pt x="422" y="2743"/>
                  </a:lnTo>
                  <a:lnTo>
                    <a:pt x="450" y="2804"/>
                  </a:lnTo>
                  <a:lnTo>
                    <a:pt x="476" y="2867"/>
                  </a:lnTo>
                  <a:lnTo>
                    <a:pt x="503" y="2931"/>
                  </a:lnTo>
                  <a:lnTo>
                    <a:pt x="530" y="2998"/>
                  </a:lnTo>
                  <a:lnTo>
                    <a:pt x="556" y="3065"/>
                  </a:lnTo>
                  <a:lnTo>
                    <a:pt x="582" y="3134"/>
                  </a:lnTo>
                  <a:lnTo>
                    <a:pt x="607" y="3202"/>
                  </a:lnTo>
                  <a:lnTo>
                    <a:pt x="630" y="3273"/>
                  </a:lnTo>
                  <a:lnTo>
                    <a:pt x="653" y="3343"/>
                  </a:lnTo>
                  <a:lnTo>
                    <a:pt x="674" y="3413"/>
                  </a:lnTo>
                  <a:lnTo>
                    <a:pt x="693" y="3483"/>
                  </a:lnTo>
                  <a:lnTo>
                    <a:pt x="711" y="3553"/>
                  </a:lnTo>
                  <a:lnTo>
                    <a:pt x="726" y="3621"/>
                  </a:lnTo>
                  <a:lnTo>
                    <a:pt x="739" y="3690"/>
                  </a:lnTo>
                  <a:lnTo>
                    <a:pt x="750" y="3756"/>
                  </a:lnTo>
                  <a:lnTo>
                    <a:pt x="754" y="3788"/>
                  </a:lnTo>
                  <a:lnTo>
                    <a:pt x="757" y="3822"/>
                  </a:lnTo>
                  <a:lnTo>
                    <a:pt x="760" y="3854"/>
                  </a:lnTo>
                  <a:lnTo>
                    <a:pt x="762" y="3885"/>
                  </a:lnTo>
                  <a:lnTo>
                    <a:pt x="763" y="3915"/>
                  </a:lnTo>
                  <a:lnTo>
                    <a:pt x="764" y="3946"/>
                  </a:lnTo>
                  <a:lnTo>
                    <a:pt x="783" y="4137"/>
                  </a:lnTo>
                  <a:lnTo>
                    <a:pt x="789" y="4160"/>
                  </a:lnTo>
                  <a:lnTo>
                    <a:pt x="796" y="4181"/>
                  </a:lnTo>
                  <a:lnTo>
                    <a:pt x="804" y="4202"/>
                  </a:lnTo>
                  <a:lnTo>
                    <a:pt x="813" y="4220"/>
                  </a:lnTo>
                  <a:lnTo>
                    <a:pt x="823" y="4237"/>
                  </a:lnTo>
                  <a:lnTo>
                    <a:pt x="833" y="4253"/>
                  </a:lnTo>
                  <a:lnTo>
                    <a:pt x="844" y="4267"/>
                  </a:lnTo>
                  <a:lnTo>
                    <a:pt x="855" y="4280"/>
                  </a:lnTo>
                  <a:lnTo>
                    <a:pt x="867" y="4291"/>
                  </a:lnTo>
                  <a:lnTo>
                    <a:pt x="880" y="4301"/>
                  </a:lnTo>
                  <a:lnTo>
                    <a:pt x="895" y="4309"/>
                  </a:lnTo>
                  <a:lnTo>
                    <a:pt x="909" y="4316"/>
                  </a:lnTo>
                  <a:lnTo>
                    <a:pt x="924" y="4321"/>
                  </a:lnTo>
                  <a:lnTo>
                    <a:pt x="941" y="4325"/>
                  </a:lnTo>
                  <a:lnTo>
                    <a:pt x="959" y="4328"/>
                  </a:lnTo>
                  <a:lnTo>
                    <a:pt x="976" y="4328"/>
                  </a:lnTo>
                  <a:lnTo>
                    <a:pt x="2079" y="4328"/>
                  </a:lnTo>
                  <a:lnTo>
                    <a:pt x="2097" y="4328"/>
                  </a:lnTo>
                  <a:lnTo>
                    <a:pt x="2114" y="4325"/>
                  </a:lnTo>
                  <a:lnTo>
                    <a:pt x="2130" y="4321"/>
                  </a:lnTo>
                  <a:lnTo>
                    <a:pt x="2145" y="4316"/>
                  </a:lnTo>
                  <a:lnTo>
                    <a:pt x="2161" y="4309"/>
                  </a:lnTo>
                  <a:lnTo>
                    <a:pt x="2174" y="4301"/>
                  </a:lnTo>
                  <a:lnTo>
                    <a:pt x="2187" y="4291"/>
                  </a:lnTo>
                  <a:lnTo>
                    <a:pt x="2201" y="4280"/>
                  </a:lnTo>
                  <a:lnTo>
                    <a:pt x="2212" y="4267"/>
                  </a:lnTo>
                  <a:lnTo>
                    <a:pt x="2223" y="4253"/>
                  </a:lnTo>
                  <a:lnTo>
                    <a:pt x="2233" y="4237"/>
                  </a:lnTo>
                  <a:lnTo>
                    <a:pt x="2243" y="4220"/>
                  </a:lnTo>
                  <a:lnTo>
                    <a:pt x="2251" y="4202"/>
                  </a:lnTo>
                  <a:lnTo>
                    <a:pt x="2259" y="4181"/>
                  </a:lnTo>
                  <a:lnTo>
                    <a:pt x="2266" y="4160"/>
                  </a:lnTo>
                  <a:lnTo>
                    <a:pt x="2272" y="4137"/>
                  </a:lnTo>
                  <a:lnTo>
                    <a:pt x="2291" y="3946"/>
                  </a:lnTo>
                  <a:lnTo>
                    <a:pt x="2293" y="3915"/>
                  </a:lnTo>
                  <a:lnTo>
                    <a:pt x="2294" y="3885"/>
                  </a:lnTo>
                  <a:lnTo>
                    <a:pt x="2295" y="3854"/>
                  </a:lnTo>
                  <a:lnTo>
                    <a:pt x="2298" y="3822"/>
                  </a:lnTo>
                  <a:lnTo>
                    <a:pt x="2301" y="3788"/>
                  </a:lnTo>
                  <a:lnTo>
                    <a:pt x="2306" y="3756"/>
                  </a:lnTo>
                  <a:lnTo>
                    <a:pt x="2316" y="3690"/>
                  </a:lnTo>
                  <a:lnTo>
                    <a:pt x="2329" y="3621"/>
                  </a:lnTo>
                  <a:lnTo>
                    <a:pt x="2345" y="3553"/>
                  </a:lnTo>
                  <a:lnTo>
                    <a:pt x="2362" y="3483"/>
                  </a:lnTo>
                  <a:lnTo>
                    <a:pt x="2381" y="3413"/>
                  </a:lnTo>
                  <a:lnTo>
                    <a:pt x="2402" y="3343"/>
                  </a:lnTo>
                  <a:lnTo>
                    <a:pt x="2425" y="3273"/>
                  </a:lnTo>
                  <a:lnTo>
                    <a:pt x="2449" y="3202"/>
                  </a:lnTo>
                  <a:lnTo>
                    <a:pt x="2474" y="3134"/>
                  </a:lnTo>
                  <a:lnTo>
                    <a:pt x="2499" y="3065"/>
                  </a:lnTo>
                  <a:lnTo>
                    <a:pt x="2526" y="2998"/>
                  </a:lnTo>
                  <a:lnTo>
                    <a:pt x="2552" y="2931"/>
                  </a:lnTo>
                  <a:lnTo>
                    <a:pt x="2579" y="2867"/>
                  </a:lnTo>
                  <a:lnTo>
                    <a:pt x="2607" y="2804"/>
                  </a:lnTo>
                  <a:lnTo>
                    <a:pt x="2633" y="2743"/>
                  </a:lnTo>
                  <a:lnTo>
                    <a:pt x="2685" y="2631"/>
                  </a:lnTo>
                  <a:lnTo>
                    <a:pt x="2735" y="2528"/>
                  </a:lnTo>
                  <a:lnTo>
                    <a:pt x="2778" y="2439"/>
                  </a:lnTo>
                  <a:lnTo>
                    <a:pt x="2816" y="2366"/>
                  </a:lnTo>
                  <a:lnTo>
                    <a:pt x="2846" y="2312"/>
                  </a:lnTo>
                  <a:lnTo>
                    <a:pt x="2872" y="2262"/>
                  </a:lnTo>
                  <a:lnTo>
                    <a:pt x="2890" y="2228"/>
                  </a:lnTo>
                  <a:lnTo>
                    <a:pt x="2906" y="2193"/>
                  </a:lnTo>
                  <a:lnTo>
                    <a:pt x="2923" y="2157"/>
                  </a:lnTo>
                  <a:lnTo>
                    <a:pt x="2937" y="2122"/>
                  </a:lnTo>
                  <a:lnTo>
                    <a:pt x="2952" y="2085"/>
                  </a:lnTo>
                  <a:lnTo>
                    <a:pt x="2965" y="2049"/>
                  </a:lnTo>
                  <a:lnTo>
                    <a:pt x="2978" y="2012"/>
                  </a:lnTo>
                  <a:lnTo>
                    <a:pt x="2989" y="1975"/>
                  </a:lnTo>
                  <a:lnTo>
                    <a:pt x="3000" y="1937"/>
                  </a:lnTo>
                  <a:lnTo>
                    <a:pt x="3010" y="1900"/>
                  </a:lnTo>
                  <a:lnTo>
                    <a:pt x="3019" y="1862"/>
                  </a:lnTo>
                  <a:lnTo>
                    <a:pt x="3027" y="1823"/>
                  </a:lnTo>
                  <a:lnTo>
                    <a:pt x="3034" y="1785"/>
                  </a:lnTo>
                  <a:lnTo>
                    <a:pt x="3040" y="1746"/>
                  </a:lnTo>
                  <a:lnTo>
                    <a:pt x="3045" y="1707"/>
                  </a:lnTo>
                  <a:lnTo>
                    <a:pt x="3049" y="1667"/>
                  </a:lnTo>
                  <a:lnTo>
                    <a:pt x="3056" y="1527"/>
                  </a:lnTo>
                  <a:lnTo>
                    <a:pt x="3055" y="1489"/>
                  </a:lnTo>
                  <a:lnTo>
                    <a:pt x="3054" y="1452"/>
                  </a:lnTo>
                  <a:lnTo>
                    <a:pt x="3051" y="1413"/>
                  </a:lnTo>
                  <a:lnTo>
                    <a:pt x="3048" y="1376"/>
                  </a:lnTo>
                  <a:lnTo>
                    <a:pt x="3044" y="1338"/>
                  </a:lnTo>
                  <a:lnTo>
                    <a:pt x="3039" y="1301"/>
                  </a:lnTo>
                  <a:lnTo>
                    <a:pt x="3034" y="1264"/>
                  </a:lnTo>
                  <a:lnTo>
                    <a:pt x="3026" y="1227"/>
                  </a:lnTo>
                  <a:lnTo>
                    <a:pt x="3018" y="1191"/>
                  </a:lnTo>
                  <a:lnTo>
                    <a:pt x="3010" y="1154"/>
                  </a:lnTo>
                  <a:lnTo>
                    <a:pt x="3000" y="1118"/>
                  </a:lnTo>
                  <a:lnTo>
                    <a:pt x="2990" y="1082"/>
                  </a:lnTo>
                  <a:lnTo>
                    <a:pt x="2979" y="1047"/>
                  </a:lnTo>
                  <a:lnTo>
                    <a:pt x="2967" y="1012"/>
                  </a:lnTo>
                  <a:lnTo>
                    <a:pt x="2954" y="977"/>
                  </a:lnTo>
                  <a:lnTo>
                    <a:pt x="2941" y="943"/>
                  </a:lnTo>
                  <a:lnTo>
                    <a:pt x="2925" y="909"/>
                  </a:lnTo>
                  <a:lnTo>
                    <a:pt x="2910" y="875"/>
                  </a:lnTo>
                  <a:lnTo>
                    <a:pt x="2894" y="841"/>
                  </a:lnTo>
                  <a:lnTo>
                    <a:pt x="2877" y="808"/>
                  </a:lnTo>
                  <a:lnTo>
                    <a:pt x="2859" y="776"/>
                  </a:lnTo>
                  <a:lnTo>
                    <a:pt x="2840" y="744"/>
                  </a:lnTo>
                  <a:lnTo>
                    <a:pt x="2820" y="712"/>
                  </a:lnTo>
                  <a:lnTo>
                    <a:pt x="2800" y="681"/>
                  </a:lnTo>
                  <a:lnTo>
                    <a:pt x="2779" y="650"/>
                  </a:lnTo>
                  <a:lnTo>
                    <a:pt x="2757" y="619"/>
                  </a:lnTo>
                  <a:lnTo>
                    <a:pt x="2734" y="589"/>
                  </a:lnTo>
                  <a:lnTo>
                    <a:pt x="2711" y="561"/>
                  </a:lnTo>
                  <a:lnTo>
                    <a:pt x="2686" y="531"/>
                  </a:lnTo>
                  <a:lnTo>
                    <a:pt x="2661" y="503"/>
                  </a:lnTo>
                  <a:lnTo>
                    <a:pt x="2635" y="475"/>
                  </a:lnTo>
                  <a:lnTo>
                    <a:pt x="2609" y="448"/>
                  </a:lnTo>
                  <a:close/>
                  <a:moveTo>
                    <a:pt x="2661" y="1641"/>
                  </a:moveTo>
                  <a:lnTo>
                    <a:pt x="2661" y="1641"/>
                  </a:lnTo>
                  <a:lnTo>
                    <a:pt x="2658" y="1669"/>
                  </a:lnTo>
                  <a:lnTo>
                    <a:pt x="2654" y="1697"/>
                  </a:lnTo>
                  <a:lnTo>
                    <a:pt x="2650" y="1725"/>
                  </a:lnTo>
                  <a:lnTo>
                    <a:pt x="2644" y="1753"/>
                  </a:lnTo>
                  <a:lnTo>
                    <a:pt x="2639" y="1781"/>
                  </a:lnTo>
                  <a:lnTo>
                    <a:pt x="2632" y="1809"/>
                  </a:lnTo>
                  <a:lnTo>
                    <a:pt x="2624" y="1837"/>
                  </a:lnTo>
                  <a:lnTo>
                    <a:pt x="2617" y="1863"/>
                  </a:lnTo>
                  <a:lnTo>
                    <a:pt x="2608" y="1891"/>
                  </a:lnTo>
                  <a:lnTo>
                    <a:pt x="2599" y="1918"/>
                  </a:lnTo>
                  <a:lnTo>
                    <a:pt x="2589" y="1945"/>
                  </a:lnTo>
                  <a:lnTo>
                    <a:pt x="2579" y="1972"/>
                  </a:lnTo>
                  <a:lnTo>
                    <a:pt x="2567" y="1998"/>
                  </a:lnTo>
                  <a:lnTo>
                    <a:pt x="2556" y="2025"/>
                  </a:lnTo>
                  <a:lnTo>
                    <a:pt x="2543" y="2051"/>
                  </a:lnTo>
                  <a:lnTo>
                    <a:pt x="2529" y="2078"/>
                  </a:lnTo>
                  <a:lnTo>
                    <a:pt x="2485" y="2158"/>
                  </a:lnTo>
                  <a:lnTo>
                    <a:pt x="2450" y="2227"/>
                  </a:lnTo>
                  <a:lnTo>
                    <a:pt x="2408" y="2311"/>
                  </a:lnTo>
                  <a:lnTo>
                    <a:pt x="2359" y="2409"/>
                  </a:lnTo>
                  <a:lnTo>
                    <a:pt x="2307" y="2519"/>
                  </a:lnTo>
                  <a:lnTo>
                    <a:pt x="2253" y="2641"/>
                  </a:lnTo>
                  <a:lnTo>
                    <a:pt x="2225" y="2705"/>
                  </a:lnTo>
                  <a:lnTo>
                    <a:pt x="2197" y="2771"/>
                  </a:lnTo>
                  <a:lnTo>
                    <a:pt x="2170" y="2838"/>
                  </a:lnTo>
                  <a:lnTo>
                    <a:pt x="2142" y="2908"/>
                  </a:lnTo>
                  <a:lnTo>
                    <a:pt x="2116" y="2979"/>
                  </a:lnTo>
                  <a:lnTo>
                    <a:pt x="2090" y="3051"/>
                  </a:lnTo>
                  <a:lnTo>
                    <a:pt x="2065" y="3124"/>
                  </a:lnTo>
                  <a:lnTo>
                    <a:pt x="2040" y="3198"/>
                  </a:lnTo>
                  <a:lnTo>
                    <a:pt x="2018" y="3272"/>
                  </a:lnTo>
                  <a:lnTo>
                    <a:pt x="1996" y="3346"/>
                  </a:lnTo>
                  <a:lnTo>
                    <a:pt x="1977" y="3420"/>
                  </a:lnTo>
                  <a:lnTo>
                    <a:pt x="1960" y="3494"/>
                  </a:lnTo>
                  <a:lnTo>
                    <a:pt x="1944" y="3568"/>
                  </a:lnTo>
                  <a:lnTo>
                    <a:pt x="1930" y="3641"/>
                  </a:lnTo>
                  <a:lnTo>
                    <a:pt x="1919" y="3714"/>
                  </a:lnTo>
                  <a:lnTo>
                    <a:pt x="1911" y="3785"/>
                  </a:lnTo>
                  <a:lnTo>
                    <a:pt x="1908" y="3820"/>
                  </a:lnTo>
                  <a:lnTo>
                    <a:pt x="1905" y="3856"/>
                  </a:lnTo>
                  <a:lnTo>
                    <a:pt x="1903" y="3890"/>
                  </a:lnTo>
                  <a:lnTo>
                    <a:pt x="1902" y="3924"/>
                  </a:lnTo>
                  <a:lnTo>
                    <a:pt x="1901" y="3939"/>
                  </a:lnTo>
                  <a:lnTo>
                    <a:pt x="1722" y="3939"/>
                  </a:lnTo>
                  <a:lnTo>
                    <a:pt x="1722" y="3230"/>
                  </a:lnTo>
                  <a:lnTo>
                    <a:pt x="1333" y="3230"/>
                  </a:lnTo>
                  <a:lnTo>
                    <a:pt x="1333" y="3939"/>
                  </a:lnTo>
                  <a:lnTo>
                    <a:pt x="1154" y="3939"/>
                  </a:lnTo>
                  <a:lnTo>
                    <a:pt x="1152" y="3924"/>
                  </a:lnTo>
                  <a:lnTo>
                    <a:pt x="1151" y="3873"/>
                  </a:lnTo>
                  <a:lnTo>
                    <a:pt x="1148" y="3820"/>
                  </a:lnTo>
                  <a:lnTo>
                    <a:pt x="1142" y="3767"/>
                  </a:lnTo>
                  <a:lnTo>
                    <a:pt x="1136" y="3714"/>
                  </a:lnTo>
                  <a:lnTo>
                    <a:pt x="1128" y="3659"/>
                  </a:lnTo>
                  <a:lnTo>
                    <a:pt x="1118" y="3604"/>
                  </a:lnTo>
                  <a:lnTo>
                    <a:pt x="1108" y="3547"/>
                  </a:lnTo>
                  <a:lnTo>
                    <a:pt x="1096" y="3491"/>
                  </a:lnTo>
                  <a:lnTo>
                    <a:pt x="1081" y="3434"/>
                  </a:lnTo>
                  <a:lnTo>
                    <a:pt x="1067" y="3377"/>
                  </a:lnTo>
                  <a:lnTo>
                    <a:pt x="1052" y="3319"/>
                  </a:lnTo>
                  <a:lnTo>
                    <a:pt x="1035" y="3261"/>
                  </a:lnTo>
                  <a:lnTo>
                    <a:pt x="1016" y="3203"/>
                  </a:lnTo>
                  <a:lnTo>
                    <a:pt x="997" y="3145"/>
                  </a:lnTo>
                  <a:lnTo>
                    <a:pt x="977" y="3086"/>
                  </a:lnTo>
                  <a:lnTo>
                    <a:pt x="958" y="3029"/>
                  </a:lnTo>
                  <a:lnTo>
                    <a:pt x="937" y="2970"/>
                  </a:lnTo>
                  <a:lnTo>
                    <a:pt x="914" y="2911"/>
                  </a:lnTo>
                  <a:lnTo>
                    <a:pt x="868" y="2796"/>
                  </a:lnTo>
                  <a:lnTo>
                    <a:pt x="820" y="2681"/>
                  </a:lnTo>
                  <a:lnTo>
                    <a:pt x="771" y="2570"/>
                  </a:lnTo>
                  <a:lnTo>
                    <a:pt x="721" y="2459"/>
                  </a:lnTo>
                  <a:lnTo>
                    <a:pt x="669" y="2353"/>
                  </a:lnTo>
                  <a:lnTo>
                    <a:pt x="618" y="2249"/>
                  </a:lnTo>
                  <a:lnTo>
                    <a:pt x="568" y="2150"/>
                  </a:lnTo>
                  <a:lnTo>
                    <a:pt x="567" y="2144"/>
                  </a:lnTo>
                  <a:lnTo>
                    <a:pt x="530" y="2075"/>
                  </a:lnTo>
                  <a:lnTo>
                    <a:pt x="515" y="2050"/>
                  </a:lnTo>
                  <a:lnTo>
                    <a:pt x="503" y="2024"/>
                  </a:lnTo>
                  <a:lnTo>
                    <a:pt x="491" y="1998"/>
                  </a:lnTo>
                  <a:lnTo>
                    <a:pt x="479" y="1972"/>
                  </a:lnTo>
                  <a:lnTo>
                    <a:pt x="468" y="1945"/>
                  </a:lnTo>
                  <a:lnTo>
                    <a:pt x="458" y="1918"/>
                  </a:lnTo>
                  <a:lnTo>
                    <a:pt x="449" y="1892"/>
                  </a:lnTo>
                  <a:lnTo>
                    <a:pt x="440" y="1864"/>
                  </a:lnTo>
                  <a:lnTo>
                    <a:pt x="431" y="1838"/>
                  </a:lnTo>
                  <a:lnTo>
                    <a:pt x="424" y="1810"/>
                  </a:lnTo>
                  <a:lnTo>
                    <a:pt x="418" y="1782"/>
                  </a:lnTo>
                  <a:lnTo>
                    <a:pt x="411" y="1754"/>
                  </a:lnTo>
                  <a:lnTo>
                    <a:pt x="406" y="1726"/>
                  </a:lnTo>
                  <a:lnTo>
                    <a:pt x="401" y="1697"/>
                  </a:lnTo>
                  <a:lnTo>
                    <a:pt x="398" y="1670"/>
                  </a:lnTo>
                  <a:lnTo>
                    <a:pt x="395" y="1641"/>
                  </a:lnTo>
                  <a:lnTo>
                    <a:pt x="389" y="1519"/>
                  </a:lnTo>
                  <a:lnTo>
                    <a:pt x="389" y="1492"/>
                  </a:lnTo>
                  <a:lnTo>
                    <a:pt x="390" y="1463"/>
                  </a:lnTo>
                  <a:lnTo>
                    <a:pt x="392" y="1435"/>
                  </a:lnTo>
                  <a:lnTo>
                    <a:pt x="395" y="1408"/>
                  </a:lnTo>
                  <a:lnTo>
                    <a:pt x="398" y="1380"/>
                  </a:lnTo>
                  <a:lnTo>
                    <a:pt x="402" y="1352"/>
                  </a:lnTo>
                  <a:lnTo>
                    <a:pt x="407" y="1325"/>
                  </a:lnTo>
                  <a:lnTo>
                    <a:pt x="412" y="1298"/>
                  </a:lnTo>
                  <a:lnTo>
                    <a:pt x="418" y="1270"/>
                  </a:lnTo>
                  <a:lnTo>
                    <a:pt x="424" y="1244"/>
                  </a:lnTo>
                  <a:lnTo>
                    <a:pt x="431" y="1217"/>
                  </a:lnTo>
                  <a:lnTo>
                    <a:pt x="439" y="1191"/>
                  </a:lnTo>
                  <a:lnTo>
                    <a:pt x="448" y="1165"/>
                  </a:lnTo>
                  <a:lnTo>
                    <a:pt x="457" y="1139"/>
                  </a:lnTo>
                  <a:lnTo>
                    <a:pt x="466" y="1113"/>
                  </a:lnTo>
                  <a:lnTo>
                    <a:pt x="476" y="1088"/>
                  </a:lnTo>
                  <a:lnTo>
                    <a:pt x="487" y="1063"/>
                  </a:lnTo>
                  <a:lnTo>
                    <a:pt x="499" y="1038"/>
                  </a:lnTo>
                  <a:lnTo>
                    <a:pt x="511" y="1013"/>
                  </a:lnTo>
                  <a:lnTo>
                    <a:pt x="524" y="989"/>
                  </a:lnTo>
                  <a:lnTo>
                    <a:pt x="537" y="965"/>
                  </a:lnTo>
                  <a:lnTo>
                    <a:pt x="551" y="941"/>
                  </a:lnTo>
                  <a:lnTo>
                    <a:pt x="565" y="918"/>
                  </a:lnTo>
                  <a:lnTo>
                    <a:pt x="580" y="895"/>
                  </a:lnTo>
                  <a:lnTo>
                    <a:pt x="596" y="871"/>
                  </a:lnTo>
                  <a:lnTo>
                    <a:pt x="612" y="849"/>
                  </a:lnTo>
                  <a:lnTo>
                    <a:pt x="629" y="827"/>
                  </a:lnTo>
                  <a:lnTo>
                    <a:pt x="647" y="806"/>
                  </a:lnTo>
                  <a:lnTo>
                    <a:pt x="664" y="784"/>
                  </a:lnTo>
                  <a:lnTo>
                    <a:pt x="683" y="763"/>
                  </a:lnTo>
                  <a:lnTo>
                    <a:pt x="702" y="743"/>
                  </a:lnTo>
                  <a:lnTo>
                    <a:pt x="722" y="723"/>
                  </a:lnTo>
                  <a:lnTo>
                    <a:pt x="743" y="703"/>
                  </a:lnTo>
                  <a:lnTo>
                    <a:pt x="764" y="683"/>
                  </a:lnTo>
                  <a:lnTo>
                    <a:pt x="785" y="665"/>
                  </a:lnTo>
                  <a:lnTo>
                    <a:pt x="806" y="647"/>
                  </a:lnTo>
                  <a:lnTo>
                    <a:pt x="828" y="629"/>
                  </a:lnTo>
                  <a:lnTo>
                    <a:pt x="850" y="611"/>
                  </a:lnTo>
                  <a:lnTo>
                    <a:pt x="874" y="596"/>
                  </a:lnTo>
                  <a:lnTo>
                    <a:pt x="896" y="579"/>
                  </a:lnTo>
                  <a:lnTo>
                    <a:pt x="920" y="565"/>
                  </a:lnTo>
                  <a:lnTo>
                    <a:pt x="943" y="550"/>
                  </a:lnTo>
                  <a:lnTo>
                    <a:pt x="968" y="536"/>
                  </a:lnTo>
                  <a:lnTo>
                    <a:pt x="992" y="523"/>
                  </a:lnTo>
                  <a:lnTo>
                    <a:pt x="1016" y="510"/>
                  </a:lnTo>
                  <a:lnTo>
                    <a:pt x="1041" y="498"/>
                  </a:lnTo>
                  <a:lnTo>
                    <a:pt x="1066" y="486"/>
                  </a:lnTo>
                  <a:lnTo>
                    <a:pt x="1091" y="475"/>
                  </a:lnTo>
                  <a:lnTo>
                    <a:pt x="1117" y="464"/>
                  </a:lnTo>
                  <a:lnTo>
                    <a:pt x="1143" y="456"/>
                  </a:lnTo>
                  <a:lnTo>
                    <a:pt x="1170" y="446"/>
                  </a:lnTo>
                  <a:lnTo>
                    <a:pt x="1195" y="438"/>
                  </a:lnTo>
                  <a:lnTo>
                    <a:pt x="1223" y="430"/>
                  </a:lnTo>
                  <a:lnTo>
                    <a:pt x="1250" y="423"/>
                  </a:lnTo>
                  <a:lnTo>
                    <a:pt x="1276" y="417"/>
                  </a:lnTo>
                  <a:lnTo>
                    <a:pt x="1304" y="411"/>
                  </a:lnTo>
                  <a:lnTo>
                    <a:pt x="1331" y="406"/>
                  </a:lnTo>
                  <a:lnTo>
                    <a:pt x="1359" y="401"/>
                  </a:lnTo>
                  <a:lnTo>
                    <a:pt x="1387" y="398"/>
                  </a:lnTo>
                  <a:lnTo>
                    <a:pt x="1414" y="395"/>
                  </a:lnTo>
                  <a:lnTo>
                    <a:pt x="1443" y="392"/>
                  </a:lnTo>
                  <a:lnTo>
                    <a:pt x="1471" y="390"/>
                  </a:lnTo>
                  <a:lnTo>
                    <a:pt x="1500" y="389"/>
                  </a:lnTo>
                  <a:lnTo>
                    <a:pt x="1527" y="389"/>
                  </a:lnTo>
                  <a:lnTo>
                    <a:pt x="1569" y="389"/>
                  </a:lnTo>
                  <a:lnTo>
                    <a:pt x="1610" y="391"/>
                  </a:lnTo>
                  <a:lnTo>
                    <a:pt x="1651" y="396"/>
                  </a:lnTo>
                  <a:lnTo>
                    <a:pt x="1691" y="400"/>
                  </a:lnTo>
                  <a:lnTo>
                    <a:pt x="1732" y="407"/>
                  </a:lnTo>
                  <a:lnTo>
                    <a:pt x="1771" y="415"/>
                  </a:lnTo>
                  <a:lnTo>
                    <a:pt x="1810" y="423"/>
                  </a:lnTo>
                  <a:lnTo>
                    <a:pt x="1849" y="435"/>
                  </a:lnTo>
                  <a:lnTo>
                    <a:pt x="1882" y="444"/>
                  </a:lnTo>
                  <a:lnTo>
                    <a:pt x="1917" y="457"/>
                  </a:lnTo>
                  <a:lnTo>
                    <a:pt x="1950" y="470"/>
                  </a:lnTo>
                  <a:lnTo>
                    <a:pt x="1983" y="483"/>
                  </a:lnTo>
                  <a:lnTo>
                    <a:pt x="2015" y="498"/>
                  </a:lnTo>
                  <a:lnTo>
                    <a:pt x="2047" y="514"/>
                  </a:lnTo>
                  <a:lnTo>
                    <a:pt x="2078" y="531"/>
                  </a:lnTo>
                  <a:lnTo>
                    <a:pt x="2109" y="548"/>
                  </a:lnTo>
                  <a:lnTo>
                    <a:pt x="2139" y="567"/>
                  </a:lnTo>
                  <a:lnTo>
                    <a:pt x="2169" y="586"/>
                  </a:lnTo>
                  <a:lnTo>
                    <a:pt x="2197" y="607"/>
                  </a:lnTo>
                  <a:lnTo>
                    <a:pt x="2226" y="628"/>
                  </a:lnTo>
                  <a:lnTo>
                    <a:pt x="2254" y="650"/>
                  </a:lnTo>
                  <a:lnTo>
                    <a:pt x="2281" y="673"/>
                  </a:lnTo>
                  <a:lnTo>
                    <a:pt x="2308" y="698"/>
                  </a:lnTo>
                  <a:lnTo>
                    <a:pt x="2333" y="723"/>
                  </a:lnTo>
                  <a:lnTo>
                    <a:pt x="2353" y="743"/>
                  </a:lnTo>
                  <a:lnTo>
                    <a:pt x="2372" y="763"/>
                  </a:lnTo>
                  <a:lnTo>
                    <a:pt x="2391" y="784"/>
                  </a:lnTo>
                  <a:lnTo>
                    <a:pt x="2409" y="806"/>
                  </a:lnTo>
                  <a:lnTo>
                    <a:pt x="2426" y="827"/>
                  </a:lnTo>
                  <a:lnTo>
                    <a:pt x="2443" y="849"/>
                  </a:lnTo>
                  <a:lnTo>
                    <a:pt x="2460" y="872"/>
                  </a:lnTo>
                  <a:lnTo>
                    <a:pt x="2475" y="895"/>
                  </a:lnTo>
                  <a:lnTo>
                    <a:pt x="2489" y="918"/>
                  </a:lnTo>
                  <a:lnTo>
                    <a:pt x="2505" y="941"/>
                  </a:lnTo>
                  <a:lnTo>
                    <a:pt x="2518" y="965"/>
                  </a:lnTo>
                  <a:lnTo>
                    <a:pt x="2531" y="989"/>
                  </a:lnTo>
                  <a:lnTo>
                    <a:pt x="2545" y="1013"/>
                  </a:lnTo>
                  <a:lnTo>
                    <a:pt x="2557" y="1038"/>
                  </a:lnTo>
                  <a:lnTo>
                    <a:pt x="2568" y="1063"/>
                  </a:lnTo>
                  <a:lnTo>
                    <a:pt x="2579" y="1088"/>
                  </a:lnTo>
                  <a:lnTo>
                    <a:pt x="2589" y="1113"/>
                  </a:lnTo>
                  <a:lnTo>
                    <a:pt x="2599" y="1139"/>
                  </a:lnTo>
                  <a:lnTo>
                    <a:pt x="2608" y="1164"/>
                  </a:lnTo>
                  <a:lnTo>
                    <a:pt x="2617" y="1191"/>
                  </a:lnTo>
                  <a:lnTo>
                    <a:pt x="2624" y="1217"/>
                  </a:lnTo>
                  <a:lnTo>
                    <a:pt x="2631" y="1244"/>
                  </a:lnTo>
                  <a:lnTo>
                    <a:pt x="2638" y="1270"/>
                  </a:lnTo>
                  <a:lnTo>
                    <a:pt x="2643" y="1297"/>
                  </a:lnTo>
                  <a:lnTo>
                    <a:pt x="2649" y="1325"/>
                  </a:lnTo>
                  <a:lnTo>
                    <a:pt x="2653" y="1352"/>
                  </a:lnTo>
                  <a:lnTo>
                    <a:pt x="2658" y="1379"/>
                  </a:lnTo>
                  <a:lnTo>
                    <a:pt x="2660" y="1406"/>
                  </a:lnTo>
                  <a:lnTo>
                    <a:pt x="2663" y="1435"/>
                  </a:lnTo>
                  <a:lnTo>
                    <a:pt x="2664" y="1463"/>
                  </a:lnTo>
                  <a:lnTo>
                    <a:pt x="2666" y="1491"/>
                  </a:lnTo>
                  <a:lnTo>
                    <a:pt x="2666" y="1519"/>
                  </a:lnTo>
                  <a:lnTo>
                    <a:pt x="2661" y="1641"/>
                  </a:lnTo>
                  <a:close/>
                  <a:moveTo>
                    <a:pt x="907" y="4981"/>
                  </a:moveTo>
                  <a:lnTo>
                    <a:pt x="2149" y="4981"/>
                  </a:lnTo>
                  <a:lnTo>
                    <a:pt x="2149" y="4592"/>
                  </a:lnTo>
                  <a:lnTo>
                    <a:pt x="907" y="4592"/>
                  </a:lnTo>
                  <a:lnTo>
                    <a:pt x="907" y="4981"/>
                  </a:lnTo>
                  <a:close/>
                  <a:moveTo>
                    <a:pt x="1177" y="5429"/>
                  </a:moveTo>
                  <a:lnTo>
                    <a:pt x="1879" y="5429"/>
                  </a:lnTo>
                  <a:lnTo>
                    <a:pt x="1879" y="5209"/>
                  </a:lnTo>
                  <a:lnTo>
                    <a:pt x="1177" y="5209"/>
                  </a:lnTo>
                  <a:lnTo>
                    <a:pt x="1177" y="5429"/>
                  </a:lnTo>
                  <a:close/>
                </a:path>
              </a:pathLst>
            </a:custGeom>
            <a:solidFill>
              <a:schemeClr val="bg1"/>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FFFF"/>
                </a:solidFill>
              </a:endParaRPr>
            </a:p>
          </p:txBody>
        </p:sp>
      </p:grpSp>
      <p:cxnSp>
        <p:nvCxnSpPr>
          <p:cNvPr id="26" name="直接连接符 25"/>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30" name="TextBox 13"/>
          <p:cNvSpPr txBox="1"/>
          <p:nvPr/>
        </p:nvSpPr>
        <p:spPr>
          <a:xfrm>
            <a:off x="6131100" y="1340128"/>
            <a:ext cx="2157202" cy="576580"/>
          </a:xfrm>
          <a:prstGeom prst="rect">
            <a:avLst/>
          </a:prstGeom>
          <a:noFill/>
          <a:ln w="9525">
            <a:noFill/>
            <a:miter/>
          </a:ln>
        </p:spPr>
        <p:txBody>
          <a:bodyPr wrap="square" lIns="0" tIns="0" rIns="0" bIns="0">
            <a:spAutoFit/>
          </a:bodyPr>
          <a:lstStyle/>
          <a:p>
            <a:pPr algn="l">
              <a:lnSpc>
                <a:spcPts val="1500"/>
              </a:lnSpc>
              <a:buClrTx/>
              <a:buSzTx/>
              <a:buFontTx/>
            </a:pPr>
            <a:r>
              <a:rPr lang="en-US" altLang="zh-CN" b="1" dirty="0">
                <a:solidFill>
                  <a:schemeClr val="tx1">
                    <a:lumMod val="75000"/>
                    <a:lumOff val="25000"/>
                  </a:schemeClr>
                </a:solidFill>
                <a:cs typeface="+mn-ea"/>
                <a:sym typeface="+mn-lt"/>
              </a:rPr>
              <a:t>Summarizing</a:t>
            </a:r>
            <a:r>
              <a:rPr lang="en-US" altLang="zh-CN" dirty="0">
                <a:solidFill>
                  <a:schemeClr val="tx1">
                    <a:lumMod val="75000"/>
                    <a:lumOff val="25000"/>
                  </a:schemeClr>
                </a:solidFill>
                <a:cs typeface="+mn-ea"/>
                <a:sym typeface="+mn-lt"/>
              </a:rPr>
              <a:t> </a:t>
            </a:r>
            <a:r>
              <a:rPr lang="en-US" altLang="zh-CN" kern="0" dirty="0">
                <a:latin typeface="Arial" panose="020B0604020202020204" pitchFamily="34" charset="0"/>
                <a:cs typeface="Arial" panose="020B0604020202020204" pitchFamily="34" charset="0"/>
                <a:sym typeface="+mn-lt"/>
              </a:rPr>
              <a:t>and </a:t>
            </a:r>
            <a:r>
              <a:rPr lang="en-US" altLang="zh-CN" b="1" dirty="0">
                <a:solidFill>
                  <a:schemeClr val="tx1">
                    <a:lumMod val="75000"/>
                    <a:lumOff val="25000"/>
                  </a:schemeClr>
                </a:solidFill>
                <a:cs typeface="+mn-ea"/>
                <a:sym typeface="+mn-lt"/>
              </a:rPr>
              <a:t>categorizing</a:t>
            </a:r>
            <a:r>
              <a:rPr lang="en-US" altLang="zh-CN" dirty="0">
                <a:solidFill>
                  <a:schemeClr val="tx1">
                    <a:lumMod val="75000"/>
                    <a:lumOff val="25000"/>
                  </a:schemeClr>
                </a:solidFill>
                <a:cs typeface="+mn-ea"/>
                <a:sym typeface="+mn-lt"/>
              </a:rPr>
              <a:t> </a:t>
            </a:r>
            <a:r>
              <a:rPr lang="en-US" altLang="zh-CN" kern="0" dirty="0">
                <a:latin typeface="Arial" panose="020B0604020202020204" pitchFamily="34" charset="0"/>
                <a:cs typeface="Arial" panose="020B0604020202020204" pitchFamily="34" charset="0"/>
                <a:sym typeface="+mn-lt"/>
              </a:rPr>
              <a:t>the work based on key factors</a:t>
            </a:r>
            <a:endParaRPr lang="en-US" altLang="zh-CN" kern="0" dirty="0">
              <a:latin typeface="Arial" panose="020B0604020202020204" pitchFamily="34" charset="0"/>
              <a:cs typeface="Arial" panose="020B0604020202020204" pitchFamily="34" charset="0"/>
              <a:sym typeface="+mn-lt"/>
            </a:endParaRPr>
          </a:p>
        </p:txBody>
      </p:sp>
      <p:sp>
        <p:nvSpPr>
          <p:cNvPr id="32" name="TextBox 13"/>
          <p:cNvSpPr txBox="1"/>
          <p:nvPr/>
        </p:nvSpPr>
        <p:spPr>
          <a:xfrm>
            <a:off x="2125119" y="3173975"/>
            <a:ext cx="2502222" cy="1538605"/>
          </a:xfrm>
          <a:prstGeom prst="rect">
            <a:avLst/>
          </a:prstGeom>
          <a:noFill/>
          <a:ln w="9525">
            <a:noFill/>
            <a:miter/>
          </a:ln>
        </p:spPr>
        <p:txBody>
          <a:bodyPr wrap="square" lIns="0" tIns="0" rIns="0" bIns="0">
            <a:spAutoFit/>
          </a:bodyPr>
          <a:lstStyle/>
          <a:p>
            <a:pPr>
              <a:lnSpc>
                <a:spcPts val="1500"/>
              </a:lnSpc>
            </a:pPr>
            <a:r>
              <a:rPr lang="en-US" altLang="zh-CN" b="1" dirty="0">
                <a:solidFill>
                  <a:schemeClr val="tx1">
                    <a:lumMod val="75000"/>
                    <a:lumOff val="25000"/>
                  </a:schemeClr>
                </a:solidFill>
                <a:cs typeface="+mn-ea"/>
                <a:sym typeface="+mn-lt"/>
              </a:rPr>
              <a:t>Organizing</a:t>
            </a:r>
            <a:r>
              <a:rPr lang="en-US" altLang="zh-CN" dirty="0">
                <a:solidFill>
                  <a:schemeClr val="tx1">
                    <a:lumMod val="75000"/>
                    <a:lumOff val="25000"/>
                  </a:schemeClr>
                </a:solidFill>
                <a:cs typeface="+mn-ea"/>
                <a:sym typeface="+mn-lt"/>
              </a:rPr>
              <a:t> </a:t>
            </a:r>
            <a:r>
              <a:rPr lang="en-US" altLang="zh-CN" kern="0" dirty="0">
                <a:latin typeface="Arial" panose="020B0604020202020204" pitchFamily="34" charset="0"/>
                <a:cs typeface="Arial" panose="020B0604020202020204" pitchFamily="34" charset="0"/>
                <a:sym typeface="+mn-lt"/>
              </a:rPr>
              <a:t>and</a:t>
            </a:r>
            <a:r>
              <a:rPr lang="en-US" altLang="zh-CN" dirty="0">
                <a:solidFill>
                  <a:schemeClr val="tx1">
                    <a:lumMod val="75000"/>
                    <a:lumOff val="25000"/>
                  </a:schemeClr>
                </a:solidFill>
                <a:cs typeface="+mn-ea"/>
                <a:sym typeface="+mn-lt"/>
              </a:rPr>
              <a:t> </a:t>
            </a:r>
            <a:r>
              <a:rPr lang="en-US" altLang="zh-CN" b="1" dirty="0">
                <a:solidFill>
                  <a:schemeClr val="tx1">
                    <a:lumMod val="75000"/>
                    <a:lumOff val="25000"/>
                  </a:schemeClr>
                </a:solidFill>
                <a:cs typeface="+mn-ea"/>
                <a:sym typeface="+mn-lt"/>
              </a:rPr>
              <a:t>discussing</a:t>
            </a:r>
            <a:r>
              <a:rPr lang="en-US" altLang="zh-CN" dirty="0">
                <a:solidFill>
                  <a:schemeClr val="tx1">
                    <a:lumMod val="75000"/>
                    <a:lumOff val="25000"/>
                  </a:schemeClr>
                </a:solidFill>
                <a:cs typeface="+mn-ea"/>
                <a:sym typeface="+mn-lt"/>
              </a:rPr>
              <a:t> </a:t>
            </a:r>
            <a:r>
              <a:rPr lang="en-US" altLang="zh-CN" kern="0" dirty="0">
                <a:latin typeface="Arial" panose="020B0604020202020204" pitchFamily="34" charset="0"/>
                <a:cs typeface="Arial" panose="020B0604020202020204" pitchFamily="34" charset="0"/>
                <a:sym typeface="+mn-lt"/>
              </a:rPr>
              <a:t>effective techniques a</a:t>
            </a:r>
            <a:r>
              <a:rPr lang="en-US" altLang="zh-CN" kern="0" dirty="0">
                <a:solidFill>
                  <a:schemeClr val="tx1"/>
                </a:solidFill>
                <a:latin typeface="Arial" panose="020B0604020202020204" pitchFamily="34" charset="0"/>
                <a:cs typeface="Arial" panose="020B0604020202020204" pitchFamily="34" charset="0"/>
                <a:sym typeface="+mn-lt"/>
              </a:rPr>
              <a:t>nd methodologies employed or developed</a:t>
            </a:r>
            <a:endParaRPr lang="en-US" altLang="zh-CN" kern="0" dirty="0">
              <a:solidFill>
                <a:schemeClr val="tx1"/>
              </a:solidFill>
              <a:latin typeface="Arial" panose="020B0604020202020204" pitchFamily="34" charset="0"/>
              <a:cs typeface="Arial" panose="020B0604020202020204" pitchFamily="34" charset="0"/>
              <a:sym typeface="+mn-lt"/>
            </a:endParaRPr>
          </a:p>
          <a:p>
            <a:pPr>
              <a:lnSpc>
                <a:spcPts val="1500"/>
              </a:lnSpc>
            </a:pPr>
            <a:endParaRPr lang="en-US" altLang="zh-CN" sz="1000" dirty="0">
              <a:solidFill>
                <a:schemeClr val="tx1">
                  <a:lumMod val="75000"/>
                  <a:lumOff val="25000"/>
                </a:schemeClr>
              </a:solidFill>
              <a:cs typeface="+mn-ea"/>
              <a:sym typeface="+mn-lt"/>
            </a:endParaRPr>
          </a:p>
          <a:p>
            <a:pPr>
              <a:lnSpc>
                <a:spcPts val="1500"/>
              </a:lnSpc>
            </a:pPr>
            <a:endParaRPr lang="en-US" altLang="zh-CN" sz="1000" dirty="0">
              <a:solidFill>
                <a:schemeClr val="tx1">
                  <a:lumMod val="75000"/>
                  <a:lumOff val="25000"/>
                </a:schemeClr>
              </a:solidFill>
              <a:cs typeface="+mn-ea"/>
              <a:sym typeface="+mn-lt"/>
            </a:endParaRPr>
          </a:p>
          <a:p>
            <a:pPr>
              <a:lnSpc>
                <a:spcPts val="1500"/>
              </a:lnSpc>
            </a:pPr>
            <a:endParaRPr lang="en-US" altLang="zh-CN" sz="1000" dirty="0">
              <a:solidFill>
                <a:schemeClr val="tx1">
                  <a:lumMod val="75000"/>
                  <a:lumOff val="25000"/>
                </a:schemeClr>
              </a:solidFill>
              <a:cs typeface="+mn-ea"/>
              <a:sym typeface="+mn-lt"/>
            </a:endParaRPr>
          </a:p>
          <a:p>
            <a:pPr>
              <a:lnSpc>
                <a:spcPts val="1500"/>
              </a:lnSpc>
            </a:pPr>
            <a:endParaRPr lang="en-US" altLang="zh-CN" sz="1000" dirty="0">
              <a:solidFill>
                <a:schemeClr val="tx1">
                  <a:lumMod val="75000"/>
                  <a:lumOff val="25000"/>
                </a:schemeClr>
              </a:solidFill>
              <a:cs typeface="+mn-ea"/>
              <a:sym typeface="+mn-lt"/>
            </a:endParaRPr>
          </a:p>
        </p:txBody>
      </p:sp>
      <p:sp>
        <p:nvSpPr>
          <p:cNvPr id="34" name="TextBox 13"/>
          <p:cNvSpPr txBox="1"/>
          <p:nvPr/>
        </p:nvSpPr>
        <p:spPr>
          <a:xfrm>
            <a:off x="6131100" y="3214024"/>
            <a:ext cx="2709733" cy="768985"/>
          </a:xfrm>
          <a:prstGeom prst="rect">
            <a:avLst/>
          </a:prstGeom>
          <a:noFill/>
          <a:ln w="9525">
            <a:noFill/>
            <a:miter/>
          </a:ln>
        </p:spPr>
        <p:txBody>
          <a:bodyPr wrap="square" lIns="0" tIns="0" rIns="0" bIns="0">
            <a:spAutoFit/>
          </a:bodyPr>
          <a:lstStyle/>
          <a:p>
            <a:pPr algn="l">
              <a:lnSpc>
                <a:spcPts val="1500"/>
              </a:lnSpc>
              <a:buClrTx/>
              <a:buSzTx/>
              <a:buFontTx/>
            </a:pPr>
            <a:r>
              <a:rPr lang="en-US" altLang="zh-CN" b="1" dirty="0">
                <a:solidFill>
                  <a:schemeClr val="tx1">
                    <a:lumMod val="75000"/>
                    <a:lumOff val="25000"/>
                  </a:schemeClr>
                </a:solidFill>
                <a:cs typeface="+mn-ea"/>
                <a:sym typeface="+mn-lt"/>
              </a:rPr>
              <a:t>Analyzing</a:t>
            </a:r>
            <a:r>
              <a:rPr lang="en-US" altLang="zh-CN" dirty="0">
                <a:solidFill>
                  <a:schemeClr val="tx1">
                    <a:lumMod val="75000"/>
                    <a:lumOff val="25000"/>
                  </a:schemeClr>
                </a:solidFill>
                <a:cs typeface="+mn-ea"/>
                <a:sym typeface="+mn-lt"/>
              </a:rPr>
              <a:t> </a:t>
            </a:r>
            <a:r>
              <a:rPr lang="en-US" altLang="zh-CN" kern="0" dirty="0">
                <a:latin typeface="Arial" panose="020B0604020202020204" pitchFamily="34" charset="0"/>
                <a:cs typeface="Arial" panose="020B0604020202020204" pitchFamily="34" charset="0"/>
                <a:sym typeface="+mn-lt"/>
              </a:rPr>
              <a:t>published papers, </a:t>
            </a:r>
            <a:r>
              <a:rPr lang="en-US" altLang="zh-CN" b="1" dirty="0">
                <a:solidFill>
                  <a:schemeClr val="tx1">
                    <a:lumMod val="75000"/>
                    <a:lumOff val="25000"/>
                  </a:schemeClr>
                </a:solidFill>
                <a:cs typeface="+mn-ea"/>
                <a:sym typeface="+mn-lt"/>
              </a:rPr>
              <a:t>highlighting</a:t>
            </a:r>
            <a:r>
              <a:rPr lang="en-US" altLang="zh-CN" dirty="0">
                <a:solidFill>
                  <a:schemeClr val="tx1">
                    <a:lumMod val="75000"/>
                    <a:lumOff val="25000"/>
                  </a:schemeClr>
                </a:solidFill>
                <a:cs typeface="+mn-ea"/>
                <a:sym typeface="+mn-lt"/>
              </a:rPr>
              <a:t> </a:t>
            </a:r>
            <a:r>
              <a:rPr lang="en-US" altLang="zh-CN" kern="0" dirty="0">
                <a:latin typeface="Arial" panose="020B0604020202020204" pitchFamily="34" charset="0"/>
                <a:cs typeface="Arial" panose="020B0604020202020204" pitchFamily="34" charset="0"/>
                <a:sym typeface="+mn-lt"/>
              </a:rPr>
              <a:t>challenges and limitations, addressing open question.</a:t>
            </a:r>
            <a:endParaRPr lang="en-US" altLang="zh-CN" kern="0" dirty="0">
              <a:latin typeface="Arial" panose="020B0604020202020204" pitchFamily="34" charset="0"/>
              <a:cs typeface="Arial" panose="020B0604020202020204" pitchFamily="34" charset="0"/>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4"/>
                                        </p:tgtEl>
                                        <p:attrNameLst>
                                          <p:attrName>style.visibility</p:attrName>
                                        </p:attrNameLst>
                                      </p:cBhvr>
                                      <p:to>
                                        <p:strVal val="visible"/>
                                      </p:to>
                                    </p:set>
                                    <p:anim calcmode="lin" valueType="num">
                                      <p:cBhvr>
                                        <p:cTn id="7" dur="500" fill="hold"/>
                                        <p:tgtEl>
                                          <p:spTgt spid="24"/>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4"/>
                                        </p:tgtEl>
                                        <p:attrNameLst>
                                          <p:attrName>ppt_y</p:attrName>
                                        </p:attrNameLst>
                                      </p:cBhvr>
                                      <p:tavLst>
                                        <p:tav tm="0">
                                          <p:val>
                                            <p:strVal val="#ppt_y"/>
                                          </p:val>
                                        </p:tav>
                                        <p:tav tm="100000">
                                          <p:val>
                                            <p:strVal val="#ppt_y"/>
                                          </p:val>
                                        </p:tav>
                                      </p:tavLst>
                                    </p:anim>
                                    <p:anim calcmode="lin" valueType="num">
                                      <p:cBhvr>
                                        <p:cTn id="9" dur="500" fill="hold"/>
                                        <p:tgtEl>
                                          <p:spTgt spid="24"/>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4"/>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4"/>
                                        </p:tgtEl>
                                      </p:cBhvr>
                                    </p:animEffect>
                                  </p:childTnLst>
                                </p:cTn>
                              </p:par>
                            </p:childTnLst>
                          </p:cTn>
                        </p:par>
                        <p:par>
                          <p:cTn id="12" fill="hold">
                            <p:stCondLst>
                              <p:cond delay="1500"/>
                            </p:stCondLst>
                            <p:childTnLst>
                              <p:par>
                                <p:cTn id="13" presetID="22" presetClass="entr" presetSubtype="8"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wipe(left)">
                                      <p:cBhvr>
                                        <p:cTn id="15" dur="300"/>
                                        <p:tgtEl>
                                          <p:spTgt spid="26"/>
                                        </p:tgtEl>
                                      </p:cBhvr>
                                    </p:animEffect>
                                  </p:childTnLst>
                                </p:cTn>
                              </p:par>
                            </p:childTnLst>
                          </p:cTn>
                        </p:par>
                        <p:par>
                          <p:cTn id="16" fill="hold">
                            <p:stCondLst>
                              <p:cond delay="2000"/>
                            </p:stCondLst>
                            <p:childTnLst>
                              <p:par>
                                <p:cTn id="17" presetID="53" presetClass="entr" presetSubtype="528"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ppt_w</p:attrName>
                                        </p:attrNameLst>
                                      </p:cBhvr>
                                      <p:tavLst>
                                        <p:tav tm="0">
                                          <p:val>
                                            <p:fltVal val="0"/>
                                          </p:val>
                                        </p:tav>
                                        <p:tav tm="100000">
                                          <p:val>
                                            <p:strVal val="#ppt_w"/>
                                          </p:val>
                                        </p:tav>
                                      </p:tavLst>
                                    </p:anim>
                                    <p:anim calcmode="lin" valueType="num">
                                      <p:cBhvr>
                                        <p:cTn id="20" dur="500" fill="hold"/>
                                        <p:tgtEl>
                                          <p:spTgt spid="7"/>
                                        </p:tgtEl>
                                        <p:attrNameLst>
                                          <p:attrName>ppt_h</p:attrName>
                                        </p:attrNameLst>
                                      </p:cBhvr>
                                      <p:tavLst>
                                        <p:tav tm="0">
                                          <p:val>
                                            <p:fltVal val="0"/>
                                          </p:val>
                                        </p:tav>
                                        <p:tav tm="100000">
                                          <p:val>
                                            <p:strVal val="#ppt_h"/>
                                          </p:val>
                                        </p:tav>
                                      </p:tavLst>
                                    </p:anim>
                                    <p:animEffect transition="in" filter="fade">
                                      <p:cBhvr>
                                        <p:cTn id="21" dur="500"/>
                                        <p:tgtEl>
                                          <p:spTgt spid="7"/>
                                        </p:tgtEl>
                                      </p:cBhvr>
                                    </p:animEffect>
                                    <p:anim calcmode="lin" valueType="num">
                                      <p:cBhvr>
                                        <p:cTn id="22" dur="500" fill="hold"/>
                                        <p:tgtEl>
                                          <p:spTgt spid="7"/>
                                        </p:tgtEl>
                                        <p:attrNameLst>
                                          <p:attrName>ppt_x</p:attrName>
                                        </p:attrNameLst>
                                      </p:cBhvr>
                                      <p:tavLst>
                                        <p:tav tm="0">
                                          <p:val>
                                            <p:fltVal val="0.5"/>
                                          </p:val>
                                        </p:tav>
                                        <p:tav tm="100000">
                                          <p:val>
                                            <p:strVal val="#ppt_x"/>
                                          </p:val>
                                        </p:tav>
                                      </p:tavLst>
                                    </p:anim>
                                    <p:anim calcmode="lin" valueType="num">
                                      <p:cBhvr>
                                        <p:cTn id="23" dur="500" fill="hold"/>
                                        <p:tgtEl>
                                          <p:spTgt spid="7"/>
                                        </p:tgtEl>
                                        <p:attrNameLst>
                                          <p:attrName>ppt_y</p:attrName>
                                        </p:attrNameLst>
                                      </p:cBhvr>
                                      <p:tavLst>
                                        <p:tav tm="0">
                                          <p:val>
                                            <p:fltVal val="0.5"/>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20494"/>
                                        </p:tgtEl>
                                        <p:attrNameLst>
                                          <p:attrName>style.visibility</p:attrName>
                                        </p:attrNameLst>
                                      </p:cBhvr>
                                      <p:to>
                                        <p:strVal val="visible"/>
                                      </p:to>
                                    </p:set>
                                    <p:animEffect transition="in" filter="fade">
                                      <p:cBhvr>
                                        <p:cTn id="26" dur="500"/>
                                        <p:tgtEl>
                                          <p:spTgt spid="20494"/>
                                        </p:tgtEl>
                                      </p:cBhvr>
                                    </p:animEffect>
                                    <p:anim calcmode="lin" valueType="num">
                                      <p:cBhvr>
                                        <p:cTn id="27" dur="500" fill="hold"/>
                                        <p:tgtEl>
                                          <p:spTgt spid="20494"/>
                                        </p:tgtEl>
                                        <p:attrNameLst>
                                          <p:attrName>ppt_x</p:attrName>
                                        </p:attrNameLst>
                                      </p:cBhvr>
                                      <p:tavLst>
                                        <p:tav tm="0">
                                          <p:val>
                                            <p:strVal val="#ppt_x"/>
                                          </p:val>
                                        </p:tav>
                                        <p:tav tm="100000">
                                          <p:val>
                                            <p:strVal val="#ppt_x"/>
                                          </p:val>
                                        </p:tav>
                                      </p:tavLst>
                                    </p:anim>
                                    <p:anim calcmode="lin" valueType="num">
                                      <p:cBhvr>
                                        <p:cTn id="28" dur="500" fill="hold"/>
                                        <p:tgtEl>
                                          <p:spTgt spid="20494"/>
                                        </p:tgtEl>
                                        <p:attrNameLst>
                                          <p:attrName>ppt_y</p:attrName>
                                        </p:attrNameLst>
                                      </p:cBhvr>
                                      <p:tavLst>
                                        <p:tav tm="0">
                                          <p:val>
                                            <p:strVal val="#ppt_y+.1"/>
                                          </p:val>
                                        </p:tav>
                                        <p:tav tm="100000">
                                          <p:val>
                                            <p:strVal val="#ppt_y"/>
                                          </p:val>
                                        </p:tav>
                                      </p:tavLst>
                                    </p:anim>
                                  </p:childTnLst>
                                </p:cTn>
                              </p:par>
                            </p:childTnLst>
                          </p:cTn>
                        </p:par>
                        <p:par>
                          <p:cTn id="29" fill="hold">
                            <p:stCondLst>
                              <p:cond delay="2500"/>
                            </p:stCondLst>
                            <p:childTnLst>
                              <p:par>
                                <p:cTn id="30" presetID="53" presetClass="entr" presetSubtype="528" fill="hold" nodeType="afterEffect">
                                  <p:stCondLst>
                                    <p:cond delay="0"/>
                                  </p:stCondLst>
                                  <p:childTnLst>
                                    <p:set>
                                      <p:cBhvr>
                                        <p:cTn id="31" dur="1" fill="hold">
                                          <p:stCondLst>
                                            <p:cond delay="0"/>
                                          </p:stCondLst>
                                        </p:cTn>
                                        <p:tgtEl>
                                          <p:spTgt spid="4"/>
                                        </p:tgtEl>
                                        <p:attrNameLst>
                                          <p:attrName>style.visibility</p:attrName>
                                        </p:attrNameLst>
                                      </p:cBhvr>
                                      <p:to>
                                        <p:strVal val="visible"/>
                                      </p:to>
                                    </p:set>
                                    <p:anim calcmode="lin" valueType="num">
                                      <p:cBhvr>
                                        <p:cTn id="32" dur="500" fill="hold"/>
                                        <p:tgtEl>
                                          <p:spTgt spid="4"/>
                                        </p:tgtEl>
                                        <p:attrNameLst>
                                          <p:attrName>ppt_w</p:attrName>
                                        </p:attrNameLst>
                                      </p:cBhvr>
                                      <p:tavLst>
                                        <p:tav tm="0">
                                          <p:val>
                                            <p:fltVal val="0"/>
                                          </p:val>
                                        </p:tav>
                                        <p:tav tm="100000">
                                          <p:val>
                                            <p:strVal val="#ppt_w"/>
                                          </p:val>
                                        </p:tav>
                                      </p:tavLst>
                                    </p:anim>
                                    <p:anim calcmode="lin" valueType="num">
                                      <p:cBhvr>
                                        <p:cTn id="33" dur="500" fill="hold"/>
                                        <p:tgtEl>
                                          <p:spTgt spid="4"/>
                                        </p:tgtEl>
                                        <p:attrNameLst>
                                          <p:attrName>ppt_h</p:attrName>
                                        </p:attrNameLst>
                                      </p:cBhvr>
                                      <p:tavLst>
                                        <p:tav tm="0">
                                          <p:val>
                                            <p:fltVal val="0"/>
                                          </p:val>
                                        </p:tav>
                                        <p:tav tm="100000">
                                          <p:val>
                                            <p:strVal val="#ppt_h"/>
                                          </p:val>
                                        </p:tav>
                                      </p:tavLst>
                                    </p:anim>
                                    <p:animEffect transition="in" filter="fade">
                                      <p:cBhvr>
                                        <p:cTn id="34" dur="500"/>
                                        <p:tgtEl>
                                          <p:spTgt spid="4"/>
                                        </p:tgtEl>
                                      </p:cBhvr>
                                    </p:animEffect>
                                    <p:anim calcmode="lin" valueType="num">
                                      <p:cBhvr>
                                        <p:cTn id="35" dur="500" fill="hold"/>
                                        <p:tgtEl>
                                          <p:spTgt spid="4"/>
                                        </p:tgtEl>
                                        <p:attrNameLst>
                                          <p:attrName>ppt_x</p:attrName>
                                        </p:attrNameLst>
                                      </p:cBhvr>
                                      <p:tavLst>
                                        <p:tav tm="0">
                                          <p:val>
                                            <p:fltVal val="0.5"/>
                                          </p:val>
                                        </p:tav>
                                        <p:tav tm="100000">
                                          <p:val>
                                            <p:strVal val="#ppt_x"/>
                                          </p:val>
                                        </p:tav>
                                      </p:tavLst>
                                    </p:anim>
                                    <p:anim calcmode="lin" valueType="num">
                                      <p:cBhvr>
                                        <p:cTn id="36" dur="500" fill="hold"/>
                                        <p:tgtEl>
                                          <p:spTgt spid="4"/>
                                        </p:tgtEl>
                                        <p:attrNameLst>
                                          <p:attrName>ppt_y</p:attrName>
                                        </p:attrNameLst>
                                      </p:cBhvr>
                                      <p:tavLst>
                                        <p:tav tm="0">
                                          <p:val>
                                            <p:fltVal val="0.5"/>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30"/>
                                        </p:tgtEl>
                                        <p:attrNameLst>
                                          <p:attrName>style.visibility</p:attrName>
                                        </p:attrNameLst>
                                      </p:cBhvr>
                                      <p:to>
                                        <p:strVal val="visible"/>
                                      </p:to>
                                    </p:set>
                                    <p:animEffect transition="in" filter="fade">
                                      <p:cBhvr>
                                        <p:cTn id="39" dur="500"/>
                                        <p:tgtEl>
                                          <p:spTgt spid="30"/>
                                        </p:tgtEl>
                                      </p:cBhvr>
                                    </p:animEffect>
                                    <p:anim calcmode="lin" valueType="num">
                                      <p:cBhvr>
                                        <p:cTn id="40" dur="500" fill="hold"/>
                                        <p:tgtEl>
                                          <p:spTgt spid="30"/>
                                        </p:tgtEl>
                                        <p:attrNameLst>
                                          <p:attrName>ppt_x</p:attrName>
                                        </p:attrNameLst>
                                      </p:cBhvr>
                                      <p:tavLst>
                                        <p:tav tm="0">
                                          <p:val>
                                            <p:strVal val="#ppt_x"/>
                                          </p:val>
                                        </p:tav>
                                        <p:tav tm="100000">
                                          <p:val>
                                            <p:strVal val="#ppt_x"/>
                                          </p:val>
                                        </p:tav>
                                      </p:tavLst>
                                    </p:anim>
                                    <p:anim calcmode="lin" valueType="num">
                                      <p:cBhvr>
                                        <p:cTn id="41" dur="500" fill="hold"/>
                                        <p:tgtEl>
                                          <p:spTgt spid="30"/>
                                        </p:tgtEl>
                                        <p:attrNameLst>
                                          <p:attrName>ppt_y</p:attrName>
                                        </p:attrNameLst>
                                      </p:cBhvr>
                                      <p:tavLst>
                                        <p:tav tm="0">
                                          <p:val>
                                            <p:strVal val="#ppt_y+.1"/>
                                          </p:val>
                                        </p:tav>
                                        <p:tav tm="100000">
                                          <p:val>
                                            <p:strVal val="#ppt_y"/>
                                          </p:val>
                                        </p:tav>
                                      </p:tavLst>
                                    </p:anim>
                                  </p:childTnLst>
                                </p:cTn>
                              </p:par>
                            </p:childTnLst>
                          </p:cTn>
                        </p:par>
                        <p:par>
                          <p:cTn id="42" fill="hold">
                            <p:stCondLst>
                              <p:cond delay="3000"/>
                            </p:stCondLst>
                            <p:childTnLst>
                              <p:par>
                                <p:cTn id="43" presetID="53" presetClass="entr" presetSubtype="528" fill="hold" nodeType="afterEffect">
                                  <p:stCondLst>
                                    <p:cond delay="0"/>
                                  </p:stCondLst>
                                  <p:childTnLst>
                                    <p:set>
                                      <p:cBhvr>
                                        <p:cTn id="44" dur="1" fill="hold">
                                          <p:stCondLst>
                                            <p:cond delay="0"/>
                                          </p:stCondLst>
                                        </p:cTn>
                                        <p:tgtEl>
                                          <p:spTgt spid="5"/>
                                        </p:tgtEl>
                                        <p:attrNameLst>
                                          <p:attrName>style.visibility</p:attrName>
                                        </p:attrNameLst>
                                      </p:cBhvr>
                                      <p:to>
                                        <p:strVal val="visible"/>
                                      </p:to>
                                    </p:set>
                                    <p:anim calcmode="lin" valueType="num">
                                      <p:cBhvr>
                                        <p:cTn id="45" dur="500" fill="hold"/>
                                        <p:tgtEl>
                                          <p:spTgt spid="5"/>
                                        </p:tgtEl>
                                        <p:attrNameLst>
                                          <p:attrName>ppt_w</p:attrName>
                                        </p:attrNameLst>
                                      </p:cBhvr>
                                      <p:tavLst>
                                        <p:tav tm="0">
                                          <p:val>
                                            <p:fltVal val="0"/>
                                          </p:val>
                                        </p:tav>
                                        <p:tav tm="100000">
                                          <p:val>
                                            <p:strVal val="#ppt_w"/>
                                          </p:val>
                                        </p:tav>
                                      </p:tavLst>
                                    </p:anim>
                                    <p:anim calcmode="lin" valueType="num">
                                      <p:cBhvr>
                                        <p:cTn id="46" dur="500" fill="hold"/>
                                        <p:tgtEl>
                                          <p:spTgt spid="5"/>
                                        </p:tgtEl>
                                        <p:attrNameLst>
                                          <p:attrName>ppt_h</p:attrName>
                                        </p:attrNameLst>
                                      </p:cBhvr>
                                      <p:tavLst>
                                        <p:tav tm="0">
                                          <p:val>
                                            <p:fltVal val="0"/>
                                          </p:val>
                                        </p:tav>
                                        <p:tav tm="100000">
                                          <p:val>
                                            <p:strVal val="#ppt_h"/>
                                          </p:val>
                                        </p:tav>
                                      </p:tavLst>
                                    </p:anim>
                                    <p:animEffect transition="in" filter="fade">
                                      <p:cBhvr>
                                        <p:cTn id="47" dur="500"/>
                                        <p:tgtEl>
                                          <p:spTgt spid="5"/>
                                        </p:tgtEl>
                                      </p:cBhvr>
                                    </p:animEffect>
                                    <p:anim calcmode="lin" valueType="num">
                                      <p:cBhvr>
                                        <p:cTn id="48" dur="500" fill="hold"/>
                                        <p:tgtEl>
                                          <p:spTgt spid="5"/>
                                        </p:tgtEl>
                                        <p:attrNameLst>
                                          <p:attrName>ppt_x</p:attrName>
                                        </p:attrNameLst>
                                      </p:cBhvr>
                                      <p:tavLst>
                                        <p:tav tm="0">
                                          <p:val>
                                            <p:fltVal val="0.5"/>
                                          </p:val>
                                        </p:tav>
                                        <p:tav tm="100000">
                                          <p:val>
                                            <p:strVal val="#ppt_x"/>
                                          </p:val>
                                        </p:tav>
                                      </p:tavLst>
                                    </p:anim>
                                    <p:anim calcmode="lin" valueType="num">
                                      <p:cBhvr>
                                        <p:cTn id="49" dur="500" fill="hold"/>
                                        <p:tgtEl>
                                          <p:spTgt spid="5"/>
                                        </p:tgtEl>
                                        <p:attrNameLst>
                                          <p:attrName>ppt_y</p:attrName>
                                        </p:attrNameLst>
                                      </p:cBhvr>
                                      <p:tavLst>
                                        <p:tav tm="0">
                                          <p:val>
                                            <p:fltVal val="0.5"/>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32"/>
                                        </p:tgtEl>
                                        <p:attrNameLst>
                                          <p:attrName>style.visibility</p:attrName>
                                        </p:attrNameLst>
                                      </p:cBhvr>
                                      <p:to>
                                        <p:strVal val="visible"/>
                                      </p:to>
                                    </p:set>
                                    <p:animEffect transition="in" filter="fade">
                                      <p:cBhvr>
                                        <p:cTn id="52" dur="500"/>
                                        <p:tgtEl>
                                          <p:spTgt spid="32"/>
                                        </p:tgtEl>
                                      </p:cBhvr>
                                    </p:animEffect>
                                    <p:anim calcmode="lin" valueType="num">
                                      <p:cBhvr>
                                        <p:cTn id="53" dur="500" fill="hold"/>
                                        <p:tgtEl>
                                          <p:spTgt spid="32"/>
                                        </p:tgtEl>
                                        <p:attrNameLst>
                                          <p:attrName>ppt_x</p:attrName>
                                        </p:attrNameLst>
                                      </p:cBhvr>
                                      <p:tavLst>
                                        <p:tav tm="0">
                                          <p:val>
                                            <p:strVal val="#ppt_x"/>
                                          </p:val>
                                        </p:tav>
                                        <p:tav tm="100000">
                                          <p:val>
                                            <p:strVal val="#ppt_x"/>
                                          </p:val>
                                        </p:tav>
                                      </p:tavLst>
                                    </p:anim>
                                    <p:anim calcmode="lin" valueType="num">
                                      <p:cBhvr>
                                        <p:cTn id="54" dur="500" fill="hold"/>
                                        <p:tgtEl>
                                          <p:spTgt spid="32"/>
                                        </p:tgtEl>
                                        <p:attrNameLst>
                                          <p:attrName>ppt_y</p:attrName>
                                        </p:attrNameLst>
                                      </p:cBhvr>
                                      <p:tavLst>
                                        <p:tav tm="0">
                                          <p:val>
                                            <p:strVal val="#ppt_y+.1"/>
                                          </p:val>
                                        </p:tav>
                                        <p:tav tm="100000">
                                          <p:val>
                                            <p:strVal val="#ppt_y"/>
                                          </p:val>
                                        </p:tav>
                                      </p:tavLst>
                                    </p:anim>
                                  </p:childTnLst>
                                </p:cTn>
                              </p:par>
                            </p:childTnLst>
                          </p:cTn>
                        </p:par>
                        <p:par>
                          <p:cTn id="55" fill="hold">
                            <p:stCondLst>
                              <p:cond delay="3500"/>
                            </p:stCondLst>
                            <p:childTnLst>
                              <p:par>
                                <p:cTn id="56" presetID="53" presetClass="entr" presetSubtype="528" fill="hold" nodeType="afterEffect">
                                  <p:stCondLst>
                                    <p:cond delay="0"/>
                                  </p:stCondLst>
                                  <p:childTnLst>
                                    <p:set>
                                      <p:cBhvr>
                                        <p:cTn id="57" dur="1" fill="hold">
                                          <p:stCondLst>
                                            <p:cond delay="0"/>
                                          </p:stCondLst>
                                        </p:cTn>
                                        <p:tgtEl>
                                          <p:spTgt spid="2"/>
                                        </p:tgtEl>
                                        <p:attrNameLst>
                                          <p:attrName>style.visibility</p:attrName>
                                        </p:attrNameLst>
                                      </p:cBhvr>
                                      <p:to>
                                        <p:strVal val="visible"/>
                                      </p:to>
                                    </p:set>
                                    <p:anim calcmode="lin" valueType="num">
                                      <p:cBhvr>
                                        <p:cTn id="58" dur="500" fill="hold"/>
                                        <p:tgtEl>
                                          <p:spTgt spid="2"/>
                                        </p:tgtEl>
                                        <p:attrNameLst>
                                          <p:attrName>ppt_w</p:attrName>
                                        </p:attrNameLst>
                                      </p:cBhvr>
                                      <p:tavLst>
                                        <p:tav tm="0">
                                          <p:val>
                                            <p:fltVal val="0"/>
                                          </p:val>
                                        </p:tav>
                                        <p:tav tm="100000">
                                          <p:val>
                                            <p:strVal val="#ppt_w"/>
                                          </p:val>
                                        </p:tav>
                                      </p:tavLst>
                                    </p:anim>
                                    <p:anim calcmode="lin" valueType="num">
                                      <p:cBhvr>
                                        <p:cTn id="59" dur="500" fill="hold"/>
                                        <p:tgtEl>
                                          <p:spTgt spid="2"/>
                                        </p:tgtEl>
                                        <p:attrNameLst>
                                          <p:attrName>ppt_h</p:attrName>
                                        </p:attrNameLst>
                                      </p:cBhvr>
                                      <p:tavLst>
                                        <p:tav tm="0">
                                          <p:val>
                                            <p:fltVal val="0"/>
                                          </p:val>
                                        </p:tav>
                                        <p:tav tm="100000">
                                          <p:val>
                                            <p:strVal val="#ppt_h"/>
                                          </p:val>
                                        </p:tav>
                                      </p:tavLst>
                                    </p:anim>
                                    <p:animEffect transition="in" filter="fade">
                                      <p:cBhvr>
                                        <p:cTn id="60" dur="500"/>
                                        <p:tgtEl>
                                          <p:spTgt spid="2"/>
                                        </p:tgtEl>
                                      </p:cBhvr>
                                    </p:animEffect>
                                    <p:anim calcmode="lin" valueType="num">
                                      <p:cBhvr>
                                        <p:cTn id="61" dur="500" fill="hold"/>
                                        <p:tgtEl>
                                          <p:spTgt spid="2"/>
                                        </p:tgtEl>
                                        <p:attrNameLst>
                                          <p:attrName>ppt_x</p:attrName>
                                        </p:attrNameLst>
                                      </p:cBhvr>
                                      <p:tavLst>
                                        <p:tav tm="0">
                                          <p:val>
                                            <p:fltVal val="0.5"/>
                                          </p:val>
                                        </p:tav>
                                        <p:tav tm="100000">
                                          <p:val>
                                            <p:strVal val="#ppt_x"/>
                                          </p:val>
                                        </p:tav>
                                      </p:tavLst>
                                    </p:anim>
                                    <p:anim calcmode="lin" valueType="num">
                                      <p:cBhvr>
                                        <p:cTn id="62" dur="500" fill="hold"/>
                                        <p:tgtEl>
                                          <p:spTgt spid="2"/>
                                        </p:tgtEl>
                                        <p:attrNameLst>
                                          <p:attrName>ppt_y</p:attrName>
                                        </p:attrNameLst>
                                      </p:cBhvr>
                                      <p:tavLst>
                                        <p:tav tm="0">
                                          <p:val>
                                            <p:fltVal val="0.5"/>
                                          </p:val>
                                        </p:tav>
                                        <p:tav tm="100000">
                                          <p:val>
                                            <p:strVal val="#ppt_y"/>
                                          </p:val>
                                        </p:tav>
                                      </p:tavLst>
                                    </p:anim>
                                  </p:childTnLst>
                                </p:cTn>
                              </p:par>
                              <p:par>
                                <p:cTn id="63" presetID="42" presetClass="entr" presetSubtype="0" fill="hold" grpId="0" nodeType="withEffect">
                                  <p:stCondLst>
                                    <p:cond delay="0"/>
                                  </p:stCondLst>
                                  <p:childTnLst>
                                    <p:set>
                                      <p:cBhvr>
                                        <p:cTn id="64" dur="1" fill="hold">
                                          <p:stCondLst>
                                            <p:cond delay="0"/>
                                          </p:stCondLst>
                                        </p:cTn>
                                        <p:tgtEl>
                                          <p:spTgt spid="34"/>
                                        </p:tgtEl>
                                        <p:attrNameLst>
                                          <p:attrName>style.visibility</p:attrName>
                                        </p:attrNameLst>
                                      </p:cBhvr>
                                      <p:to>
                                        <p:strVal val="visible"/>
                                      </p:to>
                                    </p:set>
                                    <p:animEffect transition="in" filter="fade">
                                      <p:cBhvr>
                                        <p:cTn id="65" dur="500"/>
                                        <p:tgtEl>
                                          <p:spTgt spid="34"/>
                                        </p:tgtEl>
                                      </p:cBhvr>
                                    </p:animEffect>
                                    <p:anim calcmode="lin" valueType="num">
                                      <p:cBhvr>
                                        <p:cTn id="66" dur="500" fill="hold"/>
                                        <p:tgtEl>
                                          <p:spTgt spid="34"/>
                                        </p:tgtEl>
                                        <p:attrNameLst>
                                          <p:attrName>ppt_x</p:attrName>
                                        </p:attrNameLst>
                                      </p:cBhvr>
                                      <p:tavLst>
                                        <p:tav tm="0">
                                          <p:val>
                                            <p:strVal val="#ppt_x"/>
                                          </p:val>
                                        </p:tav>
                                        <p:tav tm="100000">
                                          <p:val>
                                            <p:strVal val="#ppt_x"/>
                                          </p:val>
                                        </p:tav>
                                      </p:tavLst>
                                    </p:anim>
                                    <p:anim calcmode="lin" valueType="num">
                                      <p:cBhvr>
                                        <p:cTn id="67" dur="500" fill="hold"/>
                                        <p:tgtEl>
                                          <p:spTgt spid="3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94" grpId="0"/>
      <p:bldP spid="24" grpId="0"/>
      <p:bldP spid="30" grpId="0"/>
      <p:bldP spid="32" grpId="0"/>
      <p:bldP spid="3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1017740" y="1126501"/>
            <a:ext cx="422322" cy="446276"/>
            <a:chOff x="6368440" y="1774897"/>
            <a:chExt cx="563096" cy="595035"/>
          </a:xfrm>
          <a:solidFill>
            <a:srgbClr val="1B4367"/>
          </a:solidFill>
        </p:grpSpPr>
        <p:sp>
          <p:nvSpPr>
            <p:cNvPr id="33" name="椭圆 32"/>
            <p:cNvSpPr/>
            <p:nvPr/>
          </p:nvSpPr>
          <p:spPr>
            <a:xfrm>
              <a:off x="6368440" y="1774898"/>
              <a:ext cx="555440" cy="555438"/>
            </a:xfrm>
            <a:prstGeom prst="ellipse">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35" name="文本框 34"/>
            <p:cNvSpPr txBox="1"/>
            <p:nvPr/>
          </p:nvSpPr>
          <p:spPr>
            <a:xfrm>
              <a:off x="6378450" y="1774897"/>
              <a:ext cx="553086" cy="595035"/>
            </a:xfrm>
            <a:prstGeom prst="rect">
              <a:avLst/>
            </a:prstGeom>
            <a:noFill/>
            <a:ln>
              <a:noFill/>
            </a:ln>
          </p:spPr>
          <p:txBody>
            <a:bodyPr wrap="square" rtlCol="0">
              <a:spAutoFit/>
            </a:bodyPr>
            <a:lstStyle/>
            <a:p>
              <a:pPr algn="ctr">
                <a:defRPr/>
              </a:pPr>
              <a:r>
                <a:rPr lang="en-US" altLang="zh-CN" sz="2300" dirty="0">
                  <a:solidFill>
                    <a:schemeClr val="bg1"/>
                  </a:solidFill>
                  <a:cs typeface="+mn-ea"/>
                  <a:sym typeface="+mn-lt"/>
                </a:rPr>
                <a:t>1</a:t>
              </a:r>
              <a:endParaRPr lang="en-US" altLang="zh-CN" sz="2300" b="1" dirty="0">
                <a:solidFill>
                  <a:schemeClr val="bg1"/>
                </a:solidFill>
                <a:cs typeface="+mn-ea"/>
                <a:sym typeface="+mn-lt"/>
              </a:endParaRPr>
            </a:p>
          </p:txBody>
        </p:sp>
      </p:grpSp>
      <p:sp>
        <p:nvSpPr>
          <p:cNvPr id="61" name="文本框 60"/>
          <p:cNvSpPr txBox="1"/>
          <p:nvPr/>
        </p:nvSpPr>
        <p:spPr>
          <a:xfrm>
            <a:off x="1611390" y="1237324"/>
            <a:ext cx="5543949" cy="645160"/>
          </a:xfrm>
          <a:prstGeom prst="rect">
            <a:avLst/>
          </a:prstGeom>
          <a:noFill/>
          <a:ln>
            <a:noFill/>
          </a:ln>
          <a:effectLst/>
          <a:extLst>
            <a:ext uri="{909E8E84-426E-40DD-AFC4-6F175D3DCCD1}">
              <a14:hiddenFill xmlns:a14="http://schemas.microsoft.com/office/drawing/2010/main">
                <a:solidFill>
                  <a:srgbClr val="424B51"/>
                </a:solidFill>
              </a14:hiddenFill>
            </a:ext>
          </a:extLst>
        </p:spPr>
        <p:txBody>
          <a:bodyPr wrap="square" lIns="68580" tIns="34290" rIns="68580" bIns="3429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lnSpc>
                <a:spcPts val="1500"/>
              </a:lnSpc>
            </a:pPr>
            <a:r>
              <a:rPr lang="en-US" altLang="zh-CN" b="1" dirty="0">
                <a:solidFill>
                  <a:srgbClr val="1B4367"/>
                </a:solidFill>
                <a:cs typeface="+mn-ea"/>
                <a:sym typeface="+mn-lt"/>
              </a:rPr>
              <a:t>I</a:t>
            </a:r>
            <a:r>
              <a:rPr lang="zh-CN" altLang="en-US" b="1" dirty="0">
                <a:solidFill>
                  <a:srgbClr val="1B4367"/>
                </a:solidFill>
                <a:cs typeface="+mn-ea"/>
                <a:sym typeface="+mn-lt"/>
              </a:rPr>
              <a:t>mportance of the Subject</a:t>
            </a:r>
            <a:endParaRPr lang="en-US" altLang="zh-CN" b="1" dirty="0">
              <a:solidFill>
                <a:srgbClr val="1B4367"/>
              </a:solidFill>
              <a:cs typeface="+mn-ea"/>
              <a:sym typeface="+mn-lt"/>
            </a:endParaRPr>
          </a:p>
          <a:p>
            <a:pPr algn="l" defTabSz="685800">
              <a:lnSpc>
                <a:spcPts val="1500"/>
              </a:lnSpc>
              <a:buClrTx/>
              <a:buSzTx/>
              <a:buFontTx/>
            </a:pPr>
            <a:r>
              <a:rPr lang="en-US" altLang="zh-CN" sz="1400" kern="0" dirty="0">
                <a:latin typeface="Arial" panose="020B0604020202020204" pitchFamily="34" charset="0"/>
                <a:cs typeface="Arial" panose="020B0604020202020204" pitchFamily="34" charset="0"/>
                <a:sym typeface="+mn-lt"/>
              </a:rPr>
              <a:t>To address rising energy demands, mitigate environmental pollution, and achieve socio-economic benefits for sustainable development.</a:t>
            </a:r>
            <a:endParaRPr lang="en-US" altLang="zh-CN" sz="1400" kern="0" dirty="0">
              <a:latin typeface="Arial" panose="020B0604020202020204" pitchFamily="34" charset="0"/>
              <a:cs typeface="Arial" panose="020B0604020202020204" pitchFamily="34" charset="0"/>
              <a:sym typeface="+mn-lt"/>
            </a:endParaRPr>
          </a:p>
        </p:txBody>
      </p:sp>
      <p:grpSp>
        <p:nvGrpSpPr>
          <p:cNvPr id="5" name="组合 4"/>
          <p:cNvGrpSpPr/>
          <p:nvPr/>
        </p:nvGrpSpPr>
        <p:grpSpPr>
          <a:xfrm>
            <a:off x="1010235" y="2415427"/>
            <a:ext cx="422319" cy="446276"/>
            <a:chOff x="6368440" y="2745273"/>
            <a:chExt cx="563092" cy="595035"/>
          </a:xfrm>
          <a:solidFill>
            <a:srgbClr val="1B4367"/>
          </a:solidFill>
        </p:grpSpPr>
        <p:sp>
          <p:nvSpPr>
            <p:cNvPr id="34" name="椭圆 33"/>
            <p:cNvSpPr/>
            <p:nvPr/>
          </p:nvSpPr>
          <p:spPr>
            <a:xfrm>
              <a:off x="6368440" y="2745274"/>
              <a:ext cx="555440" cy="555438"/>
            </a:xfrm>
            <a:prstGeom prst="ellipse">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37" name="文本框 34"/>
            <p:cNvSpPr txBox="1"/>
            <p:nvPr/>
          </p:nvSpPr>
          <p:spPr>
            <a:xfrm>
              <a:off x="6378447" y="2745273"/>
              <a:ext cx="553085" cy="595035"/>
            </a:xfrm>
            <a:prstGeom prst="rect">
              <a:avLst/>
            </a:prstGeom>
            <a:noFill/>
            <a:ln>
              <a:noFill/>
            </a:ln>
          </p:spPr>
          <p:txBody>
            <a:bodyPr wrap="square" rtlCol="0">
              <a:spAutoFit/>
            </a:bodyPr>
            <a:lstStyle/>
            <a:p>
              <a:pPr algn="ctr">
                <a:defRPr/>
              </a:pPr>
              <a:r>
                <a:rPr lang="en-US" altLang="zh-CN" sz="2300" dirty="0">
                  <a:solidFill>
                    <a:schemeClr val="bg1"/>
                  </a:solidFill>
                  <a:cs typeface="+mn-ea"/>
                  <a:sym typeface="+mn-lt"/>
                </a:rPr>
                <a:t>2</a:t>
              </a:r>
              <a:endParaRPr lang="en-US" altLang="zh-CN" sz="2300" b="1" dirty="0">
                <a:solidFill>
                  <a:schemeClr val="bg1"/>
                </a:solidFill>
                <a:cs typeface="+mn-ea"/>
                <a:sym typeface="+mn-lt"/>
              </a:endParaRPr>
            </a:p>
          </p:txBody>
        </p:sp>
      </p:grpSp>
      <p:sp>
        <p:nvSpPr>
          <p:cNvPr id="38" name="文本框 60"/>
          <p:cNvSpPr txBox="1"/>
          <p:nvPr/>
        </p:nvSpPr>
        <p:spPr>
          <a:xfrm>
            <a:off x="1611391" y="2538538"/>
            <a:ext cx="6867592" cy="645160"/>
          </a:xfrm>
          <a:prstGeom prst="rect">
            <a:avLst/>
          </a:prstGeom>
          <a:noFill/>
          <a:ln>
            <a:noFill/>
          </a:ln>
          <a:effectLst/>
          <a:extLst>
            <a:ext uri="{909E8E84-426E-40DD-AFC4-6F175D3DCCD1}">
              <a14:hiddenFill xmlns:a14="http://schemas.microsoft.com/office/drawing/2010/main">
                <a:solidFill>
                  <a:srgbClr val="424B51"/>
                </a:solidFill>
              </a14:hiddenFill>
            </a:ext>
          </a:extLst>
        </p:spPr>
        <p:txBody>
          <a:bodyPr wrap="square" lIns="68580" tIns="34290" rIns="68580" bIns="3429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lnSpc>
                <a:spcPts val="1500"/>
              </a:lnSpc>
            </a:pPr>
            <a:r>
              <a:rPr lang="zh-CN" altLang="en-US" b="1" dirty="0">
                <a:solidFill>
                  <a:srgbClr val="1B4367"/>
                </a:solidFill>
                <a:cs typeface="+mn-ea"/>
                <a:sym typeface="+mn-lt"/>
              </a:rPr>
              <a:t>Summarizing the Literature</a:t>
            </a:r>
            <a:endParaRPr lang="en-US" altLang="zh-CN" b="1" dirty="0">
              <a:solidFill>
                <a:srgbClr val="1B4367"/>
              </a:solidFill>
              <a:cs typeface="+mn-ea"/>
              <a:sym typeface="+mn-lt"/>
            </a:endParaRPr>
          </a:p>
          <a:p>
            <a:pPr algn="l" defTabSz="685800">
              <a:lnSpc>
                <a:spcPts val="1500"/>
              </a:lnSpc>
              <a:buClrTx/>
              <a:buSzTx/>
              <a:buFontTx/>
            </a:pPr>
            <a:r>
              <a:rPr lang="en-US" altLang="zh-CN" sz="1400" kern="0" dirty="0">
                <a:latin typeface="Arial" panose="020B0604020202020204" pitchFamily="34" charset="0"/>
                <a:cs typeface="Arial" panose="020B0604020202020204" pitchFamily="34" charset="0"/>
                <a:sym typeface="+mn-lt"/>
              </a:rPr>
              <a:t>Offering a consolidated overview of current research to guide researchers in making informed decisions.</a:t>
            </a:r>
            <a:endParaRPr lang="en-US" altLang="zh-CN" sz="1400" kern="0" dirty="0">
              <a:latin typeface="Arial" panose="020B0604020202020204" pitchFamily="34" charset="0"/>
              <a:cs typeface="Arial" panose="020B0604020202020204" pitchFamily="34" charset="0"/>
              <a:sym typeface="+mn-lt"/>
            </a:endParaRPr>
          </a:p>
        </p:txBody>
      </p:sp>
      <p:grpSp>
        <p:nvGrpSpPr>
          <p:cNvPr id="11" name="组合 10"/>
          <p:cNvGrpSpPr/>
          <p:nvPr/>
        </p:nvGrpSpPr>
        <p:grpSpPr>
          <a:xfrm>
            <a:off x="1002734" y="3742060"/>
            <a:ext cx="422315" cy="446276"/>
            <a:chOff x="6280888" y="3790231"/>
            <a:chExt cx="563086" cy="595035"/>
          </a:xfrm>
          <a:solidFill>
            <a:srgbClr val="1B4367"/>
          </a:solidFill>
        </p:grpSpPr>
        <p:sp>
          <p:nvSpPr>
            <p:cNvPr id="39" name="椭圆 38"/>
            <p:cNvSpPr/>
            <p:nvPr/>
          </p:nvSpPr>
          <p:spPr>
            <a:xfrm>
              <a:off x="6280888" y="3790232"/>
              <a:ext cx="555440" cy="555438"/>
            </a:xfrm>
            <a:prstGeom prst="ellipse">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40" name="文本框 34"/>
            <p:cNvSpPr txBox="1"/>
            <p:nvPr/>
          </p:nvSpPr>
          <p:spPr>
            <a:xfrm>
              <a:off x="6290889" y="3790231"/>
              <a:ext cx="553085" cy="595035"/>
            </a:xfrm>
            <a:prstGeom prst="rect">
              <a:avLst/>
            </a:prstGeom>
            <a:noFill/>
            <a:ln>
              <a:noFill/>
            </a:ln>
          </p:spPr>
          <p:txBody>
            <a:bodyPr wrap="square" rtlCol="0">
              <a:spAutoFit/>
            </a:bodyPr>
            <a:lstStyle/>
            <a:p>
              <a:pPr algn="ctr">
                <a:defRPr/>
              </a:pPr>
              <a:r>
                <a:rPr lang="en-US" altLang="zh-CN" sz="2300" dirty="0">
                  <a:solidFill>
                    <a:schemeClr val="bg1"/>
                  </a:solidFill>
                  <a:cs typeface="+mn-ea"/>
                  <a:sym typeface="+mn-lt"/>
                </a:rPr>
                <a:t>3</a:t>
              </a:r>
              <a:endParaRPr lang="en-US" altLang="zh-CN" sz="2300" b="1" dirty="0">
                <a:solidFill>
                  <a:schemeClr val="bg1"/>
                </a:solidFill>
                <a:cs typeface="+mn-ea"/>
                <a:sym typeface="+mn-lt"/>
              </a:endParaRPr>
            </a:p>
          </p:txBody>
        </p:sp>
      </p:grpSp>
      <p:sp>
        <p:nvSpPr>
          <p:cNvPr id="41" name="文本框 60"/>
          <p:cNvSpPr txBox="1"/>
          <p:nvPr/>
        </p:nvSpPr>
        <p:spPr>
          <a:xfrm>
            <a:off x="1611391" y="3839752"/>
            <a:ext cx="6198522" cy="645160"/>
          </a:xfrm>
          <a:prstGeom prst="rect">
            <a:avLst/>
          </a:prstGeom>
          <a:noFill/>
          <a:ln>
            <a:noFill/>
          </a:ln>
          <a:effectLst/>
          <a:extLst>
            <a:ext uri="{909E8E84-426E-40DD-AFC4-6F175D3DCCD1}">
              <a14:hiddenFill xmlns:a14="http://schemas.microsoft.com/office/drawing/2010/main">
                <a:solidFill>
                  <a:srgbClr val="424B51"/>
                </a:solidFill>
              </a14:hiddenFill>
            </a:ext>
          </a:extLst>
        </p:spPr>
        <p:txBody>
          <a:bodyPr wrap="square" lIns="68580" tIns="34290" rIns="68580" bIns="3429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lnSpc>
                <a:spcPts val="1500"/>
              </a:lnSpc>
            </a:pPr>
            <a:r>
              <a:rPr lang="zh-CN" altLang="en-US" b="1" dirty="0">
                <a:solidFill>
                  <a:srgbClr val="1B4367"/>
                </a:solidFill>
                <a:cs typeface="+mn-ea"/>
                <a:sym typeface="+mn-lt"/>
              </a:rPr>
              <a:t>Ti</a:t>
            </a:r>
            <a:r>
              <a:rPr lang="en-US" altLang="zh-CN" b="1" dirty="0">
                <a:solidFill>
                  <a:srgbClr val="1B4367"/>
                </a:solidFill>
                <a:cs typeface="+mn-ea"/>
                <a:sym typeface="+mn-lt"/>
              </a:rPr>
              <a:t>m</a:t>
            </a:r>
            <a:r>
              <a:rPr lang="zh-CN" altLang="en-US" b="1" dirty="0">
                <a:solidFill>
                  <a:srgbClr val="1B4367"/>
                </a:solidFill>
                <a:cs typeface="+mn-ea"/>
                <a:sym typeface="+mn-lt"/>
              </a:rPr>
              <a:t>e Saving Manual</a:t>
            </a:r>
            <a:endParaRPr lang="en-US" altLang="zh-CN" b="1" dirty="0">
              <a:solidFill>
                <a:srgbClr val="1B4367"/>
              </a:solidFill>
              <a:cs typeface="+mn-ea"/>
              <a:sym typeface="+mn-lt"/>
            </a:endParaRPr>
          </a:p>
          <a:p>
            <a:pPr algn="l" defTabSz="685800">
              <a:lnSpc>
                <a:spcPts val="1500"/>
              </a:lnSpc>
              <a:buClrTx/>
              <a:buSzTx/>
              <a:buFontTx/>
            </a:pPr>
            <a:r>
              <a:rPr lang="en-US" altLang="zh-CN" sz="1400" kern="0" dirty="0">
                <a:latin typeface="Arial" panose="020B0604020202020204" pitchFamily="34" charset="0"/>
                <a:cs typeface="Arial" panose="020B0604020202020204" pitchFamily="34" charset="0"/>
                <a:sym typeface="+mn-lt"/>
              </a:rPr>
              <a:t>A valuable community service by providing researchers with a time-saving and easily accessible guideline.</a:t>
            </a:r>
            <a:endParaRPr lang="en-US" altLang="zh-CN" sz="1400" kern="0" dirty="0">
              <a:latin typeface="Arial" panose="020B0604020202020204" pitchFamily="34" charset="0"/>
              <a:cs typeface="Arial" panose="020B0604020202020204" pitchFamily="34" charset="0"/>
              <a:sym typeface="+mn-lt"/>
            </a:endParaRPr>
          </a:p>
        </p:txBody>
      </p:sp>
      <p:cxnSp>
        <p:nvCxnSpPr>
          <p:cNvPr id="45" name="直接连接符 44"/>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2" name="文本框 15"/>
          <p:cNvSpPr txBox="1"/>
          <p:nvPr/>
        </p:nvSpPr>
        <p:spPr>
          <a:xfrm>
            <a:off x="696597" y="290601"/>
            <a:ext cx="2261711" cy="377026"/>
          </a:xfrm>
          <a:prstGeom prst="rect">
            <a:avLst/>
          </a:prstGeom>
          <a:noFill/>
        </p:spPr>
        <p:txBody>
          <a:bodyPr wrap="square" lIns="68580" tIns="34290" rIns="68580" bIns="34290" rtlCol="0">
            <a:spAutoFit/>
          </a:bodyPr>
          <a:lstStyle/>
          <a:p>
            <a:r>
              <a:rPr lang="en-US" altLang="zh-CN" sz="2000" b="1" dirty="0">
                <a:solidFill>
                  <a:srgbClr val="1B4367"/>
                </a:solidFill>
                <a:cs typeface="+mn-ea"/>
                <a:sym typeface="+mn-lt"/>
              </a:rPr>
              <a:t>Motivation</a:t>
            </a:r>
            <a:endParaRPr lang="zh-CN" altLang="en-US" sz="2000" b="1" dirty="0">
              <a:solidFill>
                <a:srgbClr val="1B4367"/>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900">
        <p14:warp/>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wipe(left)">
                                      <p:cBhvr>
                                        <p:cTn id="7" dur="300"/>
                                        <p:tgtEl>
                                          <p:spTgt spid="45"/>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ppt_w</p:attrName>
                                        </p:attrNameLst>
                                      </p:cBhvr>
                                      <p:tavLst>
                                        <p:tav tm="0">
                                          <p:val>
                                            <p:fltVal val="0"/>
                                          </p:val>
                                        </p:tav>
                                        <p:tav tm="100000">
                                          <p:val>
                                            <p:strVal val="#ppt_w"/>
                                          </p:val>
                                        </p:tav>
                                      </p:tavLst>
                                    </p:anim>
                                    <p:anim calcmode="lin" valueType="num">
                                      <p:cBhvr>
                                        <p:cTn id="12" dur="500" fill="hold"/>
                                        <p:tgtEl>
                                          <p:spTgt spid="9"/>
                                        </p:tgtEl>
                                        <p:attrNameLst>
                                          <p:attrName>ppt_h</p:attrName>
                                        </p:attrNameLst>
                                      </p:cBhvr>
                                      <p:tavLst>
                                        <p:tav tm="0">
                                          <p:val>
                                            <p:fltVal val="0"/>
                                          </p:val>
                                        </p:tav>
                                        <p:tav tm="100000">
                                          <p:val>
                                            <p:strVal val="#ppt_h"/>
                                          </p:val>
                                        </p:tav>
                                      </p:tavLst>
                                    </p:anim>
                                    <p:animEffect transition="in" filter="fade">
                                      <p:cBhvr>
                                        <p:cTn id="13" dur="500"/>
                                        <p:tgtEl>
                                          <p:spTgt spid="9"/>
                                        </p:tgtEl>
                                      </p:cBhvr>
                                    </p:animEffect>
                                  </p:childTnLst>
                                </p:cTn>
                              </p:par>
                            </p:childTnLst>
                          </p:cTn>
                        </p:par>
                        <p:par>
                          <p:cTn id="14" fill="hold">
                            <p:stCondLst>
                              <p:cond delay="1000"/>
                            </p:stCondLst>
                            <p:childTnLst>
                              <p:par>
                                <p:cTn id="15" presetID="42" presetClass="entr" presetSubtype="0" fill="hold" grpId="0" nodeType="afterEffect">
                                  <p:stCondLst>
                                    <p:cond delay="0"/>
                                  </p:stCondLst>
                                  <p:childTnLst>
                                    <p:set>
                                      <p:cBhvr>
                                        <p:cTn id="16" dur="1" fill="hold">
                                          <p:stCondLst>
                                            <p:cond delay="0"/>
                                          </p:stCondLst>
                                        </p:cTn>
                                        <p:tgtEl>
                                          <p:spTgt spid="61"/>
                                        </p:tgtEl>
                                        <p:attrNameLst>
                                          <p:attrName>style.visibility</p:attrName>
                                        </p:attrNameLst>
                                      </p:cBhvr>
                                      <p:to>
                                        <p:strVal val="visible"/>
                                      </p:to>
                                    </p:set>
                                    <p:animEffect transition="in" filter="fade">
                                      <p:cBhvr>
                                        <p:cTn id="17" dur="1000"/>
                                        <p:tgtEl>
                                          <p:spTgt spid="61"/>
                                        </p:tgtEl>
                                      </p:cBhvr>
                                    </p:animEffect>
                                    <p:anim calcmode="lin" valueType="num">
                                      <p:cBhvr>
                                        <p:cTn id="18" dur="1000" fill="hold"/>
                                        <p:tgtEl>
                                          <p:spTgt spid="61"/>
                                        </p:tgtEl>
                                        <p:attrNameLst>
                                          <p:attrName>ppt_x</p:attrName>
                                        </p:attrNameLst>
                                      </p:cBhvr>
                                      <p:tavLst>
                                        <p:tav tm="0">
                                          <p:val>
                                            <p:strVal val="#ppt_x"/>
                                          </p:val>
                                        </p:tav>
                                        <p:tav tm="100000">
                                          <p:val>
                                            <p:strVal val="#ppt_x"/>
                                          </p:val>
                                        </p:tav>
                                      </p:tavLst>
                                    </p:anim>
                                    <p:anim calcmode="lin" valueType="num">
                                      <p:cBhvr>
                                        <p:cTn id="19" dur="1000" fill="hold"/>
                                        <p:tgtEl>
                                          <p:spTgt spid="61"/>
                                        </p:tgtEl>
                                        <p:attrNameLst>
                                          <p:attrName>ppt_y</p:attrName>
                                        </p:attrNameLst>
                                      </p:cBhvr>
                                      <p:tavLst>
                                        <p:tav tm="0">
                                          <p:val>
                                            <p:strVal val="#ppt_y+.1"/>
                                          </p:val>
                                        </p:tav>
                                        <p:tav tm="100000">
                                          <p:val>
                                            <p:strVal val="#ppt_y"/>
                                          </p:val>
                                        </p:tav>
                                      </p:tavLst>
                                    </p:anim>
                                  </p:childTnLst>
                                </p:cTn>
                              </p:par>
                            </p:childTnLst>
                          </p:cTn>
                        </p:par>
                        <p:par>
                          <p:cTn id="20" fill="hold">
                            <p:stCondLst>
                              <p:cond delay="2000"/>
                            </p:stCondLst>
                            <p:childTnLst>
                              <p:par>
                                <p:cTn id="21" presetID="53" presetClass="entr" presetSubtype="16"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p:cTn id="23" dur="500" fill="hold"/>
                                        <p:tgtEl>
                                          <p:spTgt spid="5"/>
                                        </p:tgtEl>
                                        <p:attrNameLst>
                                          <p:attrName>ppt_w</p:attrName>
                                        </p:attrNameLst>
                                      </p:cBhvr>
                                      <p:tavLst>
                                        <p:tav tm="0">
                                          <p:val>
                                            <p:fltVal val="0"/>
                                          </p:val>
                                        </p:tav>
                                        <p:tav tm="100000">
                                          <p:val>
                                            <p:strVal val="#ppt_w"/>
                                          </p:val>
                                        </p:tav>
                                      </p:tavLst>
                                    </p:anim>
                                    <p:anim calcmode="lin" valueType="num">
                                      <p:cBhvr>
                                        <p:cTn id="24" dur="500" fill="hold"/>
                                        <p:tgtEl>
                                          <p:spTgt spid="5"/>
                                        </p:tgtEl>
                                        <p:attrNameLst>
                                          <p:attrName>ppt_h</p:attrName>
                                        </p:attrNameLst>
                                      </p:cBhvr>
                                      <p:tavLst>
                                        <p:tav tm="0">
                                          <p:val>
                                            <p:fltVal val="0"/>
                                          </p:val>
                                        </p:tav>
                                        <p:tav tm="100000">
                                          <p:val>
                                            <p:strVal val="#ppt_h"/>
                                          </p:val>
                                        </p:tav>
                                      </p:tavLst>
                                    </p:anim>
                                    <p:animEffect transition="in" filter="fade">
                                      <p:cBhvr>
                                        <p:cTn id="25" dur="500"/>
                                        <p:tgtEl>
                                          <p:spTgt spid="5"/>
                                        </p:tgtEl>
                                      </p:cBhvr>
                                    </p:animEffect>
                                  </p:childTnLst>
                                </p:cTn>
                              </p:par>
                            </p:childTnLst>
                          </p:cTn>
                        </p:par>
                        <p:par>
                          <p:cTn id="26" fill="hold">
                            <p:stCondLst>
                              <p:cond delay="2500"/>
                            </p:stCondLst>
                            <p:childTnLst>
                              <p:par>
                                <p:cTn id="27" presetID="42" presetClass="entr" presetSubtype="0" fill="hold" grpId="0" nodeType="afterEffect">
                                  <p:stCondLst>
                                    <p:cond delay="0"/>
                                  </p:stCondLst>
                                  <p:childTnLst>
                                    <p:set>
                                      <p:cBhvr>
                                        <p:cTn id="28" dur="1" fill="hold">
                                          <p:stCondLst>
                                            <p:cond delay="0"/>
                                          </p:stCondLst>
                                        </p:cTn>
                                        <p:tgtEl>
                                          <p:spTgt spid="38"/>
                                        </p:tgtEl>
                                        <p:attrNameLst>
                                          <p:attrName>style.visibility</p:attrName>
                                        </p:attrNameLst>
                                      </p:cBhvr>
                                      <p:to>
                                        <p:strVal val="visible"/>
                                      </p:to>
                                    </p:set>
                                    <p:animEffect transition="in" filter="fade">
                                      <p:cBhvr>
                                        <p:cTn id="29" dur="1000"/>
                                        <p:tgtEl>
                                          <p:spTgt spid="38"/>
                                        </p:tgtEl>
                                      </p:cBhvr>
                                    </p:animEffect>
                                    <p:anim calcmode="lin" valueType="num">
                                      <p:cBhvr>
                                        <p:cTn id="30" dur="1000" fill="hold"/>
                                        <p:tgtEl>
                                          <p:spTgt spid="38"/>
                                        </p:tgtEl>
                                        <p:attrNameLst>
                                          <p:attrName>ppt_x</p:attrName>
                                        </p:attrNameLst>
                                      </p:cBhvr>
                                      <p:tavLst>
                                        <p:tav tm="0">
                                          <p:val>
                                            <p:strVal val="#ppt_x"/>
                                          </p:val>
                                        </p:tav>
                                        <p:tav tm="100000">
                                          <p:val>
                                            <p:strVal val="#ppt_x"/>
                                          </p:val>
                                        </p:tav>
                                      </p:tavLst>
                                    </p:anim>
                                    <p:anim calcmode="lin" valueType="num">
                                      <p:cBhvr>
                                        <p:cTn id="31" dur="1000" fill="hold"/>
                                        <p:tgtEl>
                                          <p:spTgt spid="38"/>
                                        </p:tgtEl>
                                        <p:attrNameLst>
                                          <p:attrName>ppt_y</p:attrName>
                                        </p:attrNameLst>
                                      </p:cBhvr>
                                      <p:tavLst>
                                        <p:tav tm="0">
                                          <p:val>
                                            <p:strVal val="#ppt_y+.1"/>
                                          </p:val>
                                        </p:tav>
                                        <p:tav tm="100000">
                                          <p:val>
                                            <p:strVal val="#ppt_y"/>
                                          </p:val>
                                        </p:tav>
                                      </p:tavLst>
                                    </p:anim>
                                  </p:childTnLst>
                                </p:cTn>
                              </p:par>
                            </p:childTnLst>
                          </p:cTn>
                        </p:par>
                        <p:par>
                          <p:cTn id="32" fill="hold">
                            <p:stCondLst>
                              <p:cond delay="3500"/>
                            </p:stCondLst>
                            <p:childTnLst>
                              <p:par>
                                <p:cTn id="33" presetID="53" presetClass="entr" presetSubtype="16" fill="hold" nodeType="afterEffect">
                                  <p:stCondLst>
                                    <p:cond delay="0"/>
                                  </p:stCondLst>
                                  <p:childTnLst>
                                    <p:set>
                                      <p:cBhvr>
                                        <p:cTn id="34" dur="1" fill="hold">
                                          <p:stCondLst>
                                            <p:cond delay="0"/>
                                          </p:stCondLst>
                                        </p:cTn>
                                        <p:tgtEl>
                                          <p:spTgt spid="11"/>
                                        </p:tgtEl>
                                        <p:attrNameLst>
                                          <p:attrName>style.visibility</p:attrName>
                                        </p:attrNameLst>
                                      </p:cBhvr>
                                      <p:to>
                                        <p:strVal val="visible"/>
                                      </p:to>
                                    </p:set>
                                    <p:anim calcmode="lin" valueType="num">
                                      <p:cBhvr>
                                        <p:cTn id="35" dur="500" fill="hold"/>
                                        <p:tgtEl>
                                          <p:spTgt spid="11"/>
                                        </p:tgtEl>
                                        <p:attrNameLst>
                                          <p:attrName>ppt_w</p:attrName>
                                        </p:attrNameLst>
                                      </p:cBhvr>
                                      <p:tavLst>
                                        <p:tav tm="0">
                                          <p:val>
                                            <p:fltVal val="0"/>
                                          </p:val>
                                        </p:tav>
                                        <p:tav tm="100000">
                                          <p:val>
                                            <p:strVal val="#ppt_w"/>
                                          </p:val>
                                        </p:tav>
                                      </p:tavLst>
                                    </p:anim>
                                    <p:anim calcmode="lin" valueType="num">
                                      <p:cBhvr>
                                        <p:cTn id="36" dur="500" fill="hold"/>
                                        <p:tgtEl>
                                          <p:spTgt spid="11"/>
                                        </p:tgtEl>
                                        <p:attrNameLst>
                                          <p:attrName>ppt_h</p:attrName>
                                        </p:attrNameLst>
                                      </p:cBhvr>
                                      <p:tavLst>
                                        <p:tav tm="0">
                                          <p:val>
                                            <p:fltVal val="0"/>
                                          </p:val>
                                        </p:tav>
                                        <p:tav tm="100000">
                                          <p:val>
                                            <p:strVal val="#ppt_h"/>
                                          </p:val>
                                        </p:tav>
                                      </p:tavLst>
                                    </p:anim>
                                    <p:animEffect transition="in" filter="fade">
                                      <p:cBhvr>
                                        <p:cTn id="37" dur="500"/>
                                        <p:tgtEl>
                                          <p:spTgt spid="11"/>
                                        </p:tgtEl>
                                      </p:cBhvr>
                                    </p:animEffect>
                                  </p:childTnLst>
                                </p:cTn>
                              </p:par>
                            </p:childTnLst>
                          </p:cTn>
                        </p:par>
                        <p:par>
                          <p:cTn id="38" fill="hold">
                            <p:stCondLst>
                              <p:cond delay="4000"/>
                            </p:stCondLst>
                            <p:childTnLst>
                              <p:par>
                                <p:cTn id="39" presetID="42" presetClass="entr" presetSubtype="0" fill="hold" grpId="0" nodeType="afterEffect">
                                  <p:stCondLst>
                                    <p:cond delay="0"/>
                                  </p:stCondLst>
                                  <p:childTnLst>
                                    <p:set>
                                      <p:cBhvr>
                                        <p:cTn id="40" dur="1" fill="hold">
                                          <p:stCondLst>
                                            <p:cond delay="0"/>
                                          </p:stCondLst>
                                        </p:cTn>
                                        <p:tgtEl>
                                          <p:spTgt spid="41"/>
                                        </p:tgtEl>
                                        <p:attrNameLst>
                                          <p:attrName>style.visibility</p:attrName>
                                        </p:attrNameLst>
                                      </p:cBhvr>
                                      <p:to>
                                        <p:strVal val="visible"/>
                                      </p:to>
                                    </p:set>
                                    <p:animEffect transition="in" filter="fade">
                                      <p:cBhvr>
                                        <p:cTn id="41" dur="1000"/>
                                        <p:tgtEl>
                                          <p:spTgt spid="41"/>
                                        </p:tgtEl>
                                      </p:cBhvr>
                                    </p:animEffect>
                                    <p:anim calcmode="lin" valueType="num">
                                      <p:cBhvr>
                                        <p:cTn id="42" dur="1000" fill="hold"/>
                                        <p:tgtEl>
                                          <p:spTgt spid="41"/>
                                        </p:tgtEl>
                                        <p:attrNameLst>
                                          <p:attrName>ppt_x</p:attrName>
                                        </p:attrNameLst>
                                      </p:cBhvr>
                                      <p:tavLst>
                                        <p:tav tm="0">
                                          <p:val>
                                            <p:strVal val="#ppt_x"/>
                                          </p:val>
                                        </p:tav>
                                        <p:tav tm="100000">
                                          <p:val>
                                            <p:strVal val="#ppt_x"/>
                                          </p:val>
                                        </p:tav>
                                      </p:tavLst>
                                    </p:anim>
                                    <p:anim calcmode="lin" valueType="num">
                                      <p:cBhvr>
                                        <p:cTn id="43" dur="1000" fill="hold"/>
                                        <p:tgtEl>
                                          <p:spTgt spid="41"/>
                                        </p:tgtEl>
                                        <p:attrNameLst>
                                          <p:attrName>ppt_y</p:attrName>
                                        </p:attrNameLst>
                                      </p:cBhvr>
                                      <p:tavLst>
                                        <p:tav tm="0">
                                          <p:val>
                                            <p:strVal val="#ppt_y+.1"/>
                                          </p:val>
                                        </p:tav>
                                        <p:tav tm="100000">
                                          <p:val>
                                            <p:strVal val="#ppt_y"/>
                                          </p:val>
                                        </p:tav>
                                      </p:tavLst>
                                    </p:anim>
                                  </p:childTnLst>
                                </p:cTn>
                              </p:par>
                            </p:childTnLst>
                          </p:cTn>
                        </p:par>
                        <p:par>
                          <p:cTn id="44" fill="hold">
                            <p:stCondLst>
                              <p:cond delay="5000"/>
                            </p:stCondLst>
                            <p:childTnLst>
                              <p:par>
                                <p:cTn id="45" presetID="41" presetClass="entr" presetSubtype="0" fill="hold" grpId="0" nodeType="afterEffect">
                                  <p:stCondLst>
                                    <p:cond delay="0"/>
                                  </p:stCondLst>
                                  <p:iterate type="lt">
                                    <p:tmPct val="10000"/>
                                  </p:iterate>
                                  <p:childTnLst>
                                    <p:set>
                                      <p:cBhvr>
                                        <p:cTn id="46" dur="1" fill="hold">
                                          <p:stCondLst>
                                            <p:cond delay="0"/>
                                          </p:stCondLst>
                                        </p:cTn>
                                        <p:tgtEl>
                                          <p:spTgt spid="2"/>
                                        </p:tgtEl>
                                        <p:attrNameLst>
                                          <p:attrName>style.visibility</p:attrName>
                                        </p:attrNameLst>
                                      </p:cBhvr>
                                      <p:to>
                                        <p:strVal val="visible"/>
                                      </p:to>
                                    </p:set>
                                    <p:anim calcmode="lin" valueType="num">
                                      <p:cBhvr>
                                        <p:cTn id="47" dur="5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48" dur="500" fill="hold"/>
                                        <p:tgtEl>
                                          <p:spTgt spid="2"/>
                                        </p:tgtEl>
                                        <p:attrNameLst>
                                          <p:attrName>ppt_y</p:attrName>
                                        </p:attrNameLst>
                                      </p:cBhvr>
                                      <p:tavLst>
                                        <p:tav tm="0">
                                          <p:val>
                                            <p:strVal val="#ppt_y"/>
                                          </p:val>
                                        </p:tav>
                                        <p:tav tm="100000">
                                          <p:val>
                                            <p:strVal val="#ppt_y"/>
                                          </p:val>
                                        </p:tav>
                                      </p:tavLst>
                                    </p:anim>
                                    <p:anim calcmode="lin" valueType="num">
                                      <p:cBhvr>
                                        <p:cTn id="49" dur="5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50" dur="5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51" dur="500" tmFilter="0,0; .5, 1; 1, 1"/>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bldLvl="0" animBg="1"/>
      <p:bldP spid="38" grpId="0" bldLvl="0" animBg="1"/>
      <p:bldP spid="41" grpId="0" bldLvl="0" animBg="1"/>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5" name="组合 74"/>
          <p:cNvGrpSpPr/>
          <p:nvPr/>
        </p:nvGrpSpPr>
        <p:grpSpPr>
          <a:xfrm>
            <a:off x="1174059" y="760833"/>
            <a:ext cx="5122237" cy="743383"/>
            <a:chOff x="5481042" y="1292072"/>
            <a:chExt cx="6101500" cy="708629"/>
          </a:xfrm>
        </p:grpSpPr>
        <p:sp>
          <p:nvSpPr>
            <p:cNvPr id="86" name="文本框 85"/>
            <p:cNvSpPr txBox="1"/>
            <p:nvPr/>
          </p:nvSpPr>
          <p:spPr>
            <a:xfrm>
              <a:off x="6178340" y="1746065"/>
              <a:ext cx="4860478" cy="254636"/>
            </a:xfrm>
            <a:prstGeom prst="rect">
              <a:avLst/>
            </a:prstGeom>
            <a:noFill/>
          </p:spPr>
          <p:txBody>
            <a:bodyPr wrap="square" rtlCol="0">
              <a:spAutoFit/>
            </a:bodyPr>
            <a:lstStyle/>
            <a:p>
              <a:pPr>
                <a:lnSpc>
                  <a:spcPts val="1500"/>
                </a:lnSpc>
              </a:pPr>
              <a:endParaRPr lang="zh-CN" altLang="da-DK" sz="1000" dirty="0">
                <a:solidFill>
                  <a:schemeClr val="tx1">
                    <a:lumMod val="75000"/>
                    <a:lumOff val="25000"/>
                  </a:schemeClr>
                </a:solidFill>
                <a:cs typeface="+mn-ea"/>
                <a:sym typeface="+mn-lt"/>
              </a:endParaRPr>
            </a:p>
          </p:txBody>
        </p:sp>
        <p:sp>
          <p:nvSpPr>
            <p:cNvPr id="8" name="TextBox 1956"/>
            <p:cNvSpPr/>
            <p:nvPr/>
          </p:nvSpPr>
          <p:spPr>
            <a:xfrm>
              <a:off x="5481042" y="1292072"/>
              <a:ext cx="6101500" cy="461292"/>
            </a:xfrm>
            <a:prstGeom prst="rect">
              <a:avLst/>
            </a:prstGeom>
            <a:noFill/>
            <a:ln w="9525">
              <a:noFill/>
              <a:miter/>
            </a:ln>
          </p:spPr>
          <p:txBody>
            <a:bodyPr wrap="square">
              <a:spAutoFit/>
            </a:bodyPr>
            <a:lstStyle/>
            <a:p>
              <a:pPr>
                <a:lnSpc>
                  <a:spcPts val="1500"/>
                </a:lnSpc>
              </a:pPr>
              <a:r>
                <a:rPr lang="en-US" altLang="zh-CN" b="1" dirty="0">
                  <a:solidFill>
                    <a:srgbClr val="1B4367"/>
                  </a:solidFill>
                  <a:cs typeface="+mn-ea"/>
                </a:rPr>
                <a:t>Searching technique and </a:t>
              </a:r>
              <a:endParaRPr lang="en-US" altLang="zh-CN" b="1" dirty="0">
                <a:solidFill>
                  <a:srgbClr val="1B4367"/>
                </a:solidFill>
                <a:cs typeface="+mn-ea"/>
              </a:endParaRPr>
            </a:p>
            <a:p>
              <a:pPr>
                <a:lnSpc>
                  <a:spcPts val="1500"/>
                </a:lnSpc>
              </a:pPr>
              <a:r>
                <a:rPr lang="en-US" altLang="zh-CN" b="1" dirty="0">
                  <a:solidFill>
                    <a:srgbClr val="1B4367"/>
                  </a:solidFill>
                  <a:cs typeface="+mn-ea"/>
                </a:rPr>
                <a:t>paper selection procedure</a:t>
              </a:r>
              <a:endParaRPr lang="zh-CN" altLang="en-US" b="1" dirty="0">
                <a:solidFill>
                  <a:srgbClr val="1B4367"/>
                </a:solidFill>
                <a:cs typeface="+mn-ea"/>
                <a:sym typeface="+mn-lt"/>
              </a:endParaRPr>
            </a:p>
          </p:txBody>
        </p:sp>
      </p:grpSp>
      <p:cxnSp>
        <p:nvCxnSpPr>
          <p:cNvPr id="11" name="直接连接符 10"/>
          <p:cNvCxnSpPr/>
          <p:nvPr/>
        </p:nvCxnSpPr>
        <p:spPr>
          <a:xfrm flipH="1">
            <a:off x="982307" y="1002790"/>
            <a:ext cx="8532" cy="1517699"/>
          </a:xfrm>
          <a:prstGeom prst="line">
            <a:avLst/>
          </a:prstGeom>
          <a:ln w="9525">
            <a:solidFill>
              <a:srgbClr val="1B4367"/>
            </a:solidFill>
            <a:prstDash val="solid"/>
          </a:ln>
        </p:spPr>
        <p:style>
          <a:lnRef idx="1">
            <a:schemeClr val="accent1"/>
          </a:lnRef>
          <a:fillRef idx="0">
            <a:schemeClr val="accent1"/>
          </a:fillRef>
          <a:effectRef idx="0">
            <a:schemeClr val="accent1"/>
          </a:effectRef>
          <a:fontRef idx="minor">
            <a:schemeClr val="tx1"/>
          </a:fontRef>
        </p:style>
      </p:cxnSp>
      <p:grpSp>
        <p:nvGrpSpPr>
          <p:cNvPr id="73" name="组合 72"/>
          <p:cNvGrpSpPr/>
          <p:nvPr/>
        </p:nvGrpSpPr>
        <p:grpSpPr>
          <a:xfrm>
            <a:off x="4845676" y="634285"/>
            <a:ext cx="560476" cy="555590"/>
            <a:chOff x="5237224" y="4937554"/>
            <a:chExt cx="914912" cy="926470"/>
          </a:xfrm>
          <a:solidFill>
            <a:schemeClr val="bg1"/>
          </a:solidFill>
        </p:grpSpPr>
        <p:sp>
          <p:nvSpPr>
            <p:cNvPr id="65" name="Freeform 1812"/>
            <p:cNvSpPr/>
            <p:nvPr/>
          </p:nvSpPr>
          <p:spPr>
            <a:xfrm>
              <a:off x="5237224" y="4937554"/>
              <a:ext cx="914912" cy="926470"/>
            </a:xfrm>
            <a:custGeom>
              <a:avLst/>
              <a:gdLst>
                <a:gd name="txL" fmla="*/ 0 w 91"/>
                <a:gd name="txT" fmla="*/ 0 h 92"/>
                <a:gd name="txR" fmla="*/ 91 w 91"/>
                <a:gd name="txB" fmla="*/ 92 h 92"/>
              </a:gdLst>
              <a:ahLst/>
              <a:cxnLst>
                <a:cxn ang="0">
                  <a:pos x="463341" y="150743"/>
                </a:cxn>
                <a:cxn ang="0">
                  <a:pos x="376464" y="463826"/>
                </a:cxn>
                <a:cxn ang="0">
                  <a:pos x="63709" y="382657"/>
                </a:cxn>
                <a:cxn ang="0">
                  <a:pos x="150586" y="63776"/>
                </a:cxn>
                <a:cxn ang="0">
                  <a:pos x="463341" y="150743"/>
                </a:cxn>
              </a:cxnLst>
              <a:rect l="txL" t="txT" r="txR" b="txB"/>
              <a:pathLst>
                <a:path w="91" h="92">
                  <a:moveTo>
                    <a:pt x="80" y="26"/>
                  </a:moveTo>
                  <a:cubicBezTo>
                    <a:pt x="91" y="45"/>
                    <a:pt x="84" y="69"/>
                    <a:pt x="65" y="80"/>
                  </a:cubicBezTo>
                  <a:cubicBezTo>
                    <a:pt x="46" y="92"/>
                    <a:pt x="22" y="85"/>
                    <a:pt x="11" y="66"/>
                  </a:cubicBezTo>
                  <a:cubicBezTo>
                    <a:pt x="0" y="47"/>
                    <a:pt x="6" y="22"/>
                    <a:pt x="26" y="11"/>
                  </a:cubicBezTo>
                  <a:cubicBezTo>
                    <a:pt x="45" y="0"/>
                    <a:pt x="69" y="7"/>
                    <a:pt x="80" y="26"/>
                  </a:cubicBezTo>
                </a:path>
              </a:pathLst>
            </a:custGeom>
            <a:solidFill>
              <a:srgbClr val="1B4367"/>
            </a:solidFill>
            <a:ln w="9525">
              <a:solidFill>
                <a:schemeClr val="bg1"/>
              </a:solidFill>
            </a:ln>
          </p:spPr>
          <p:txBody>
            <a:bodyPr/>
            <a:lstStyle/>
            <a:p>
              <a:endParaRPr lang="zh-CN" altLang="en-US">
                <a:cs typeface="+mn-ea"/>
                <a:sym typeface="+mn-lt"/>
              </a:endParaRPr>
            </a:p>
          </p:txBody>
        </p:sp>
        <p:grpSp>
          <p:nvGrpSpPr>
            <p:cNvPr id="25" name="组合 24"/>
            <p:cNvGrpSpPr/>
            <p:nvPr/>
          </p:nvGrpSpPr>
          <p:grpSpPr>
            <a:xfrm>
              <a:off x="5474309" y="5184293"/>
              <a:ext cx="438631" cy="441328"/>
              <a:chOff x="5595939" y="4999038"/>
              <a:chExt cx="515938" cy="519113"/>
            </a:xfrm>
            <a:grpFill/>
          </p:grpSpPr>
          <p:sp>
            <p:nvSpPr>
              <p:cNvPr id="49" name="Freeform 5"/>
              <p:cNvSpPr/>
              <p:nvPr/>
            </p:nvSpPr>
            <p:spPr bwMode="auto">
              <a:xfrm>
                <a:off x="5599114" y="4999038"/>
                <a:ext cx="430213" cy="303213"/>
              </a:xfrm>
              <a:custGeom>
                <a:avLst/>
                <a:gdLst>
                  <a:gd name="T0" fmla="*/ 298 w 298"/>
                  <a:gd name="T1" fmla="*/ 81 h 211"/>
                  <a:gd name="T2" fmla="*/ 292 w 298"/>
                  <a:gd name="T3" fmla="*/ 0 h 211"/>
                  <a:gd name="T4" fmla="*/ 210 w 298"/>
                  <a:gd name="T5" fmla="*/ 30 h 211"/>
                  <a:gd name="T6" fmla="*/ 242 w 298"/>
                  <a:gd name="T7" fmla="*/ 48 h 211"/>
                  <a:gd name="T8" fmla="*/ 100 w 298"/>
                  <a:gd name="T9" fmla="*/ 155 h 211"/>
                  <a:gd name="T10" fmla="*/ 1 w 298"/>
                  <a:gd name="T11" fmla="*/ 169 h 211"/>
                  <a:gd name="T12" fmla="*/ 1 w 298"/>
                  <a:gd name="T13" fmla="*/ 188 h 211"/>
                  <a:gd name="T14" fmla="*/ 1 w 298"/>
                  <a:gd name="T15" fmla="*/ 207 h 211"/>
                  <a:gd name="T16" fmla="*/ 1 w 298"/>
                  <a:gd name="T17" fmla="*/ 207 h 211"/>
                  <a:gd name="T18" fmla="*/ 112 w 298"/>
                  <a:gd name="T19" fmla="*/ 191 h 211"/>
                  <a:gd name="T20" fmla="*/ 208 w 298"/>
                  <a:gd name="T21" fmla="*/ 139 h 211"/>
                  <a:gd name="T22" fmla="*/ 275 w 298"/>
                  <a:gd name="T23" fmla="*/ 68 h 211"/>
                  <a:gd name="T24" fmla="*/ 298 w 298"/>
                  <a:gd name="T25" fmla="*/ 81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98" h="211">
                    <a:moveTo>
                      <a:pt x="298" y="81"/>
                    </a:moveTo>
                    <a:cubicBezTo>
                      <a:pt x="292" y="0"/>
                      <a:pt x="292" y="0"/>
                      <a:pt x="292" y="0"/>
                    </a:cubicBezTo>
                    <a:cubicBezTo>
                      <a:pt x="210" y="30"/>
                      <a:pt x="210" y="30"/>
                      <a:pt x="210" y="30"/>
                    </a:cubicBezTo>
                    <a:cubicBezTo>
                      <a:pt x="242" y="48"/>
                      <a:pt x="242" y="48"/>
                      <a:pt x="242" y="48"/>
                    </a:cubicBezTo>
                    <a:cubicBezTo>
                      <a:pt x="208" y="98"/>
                      <a:pt x="160" y="133"/>
                      <a:pt x="100" y="155"/>
                    </a:cubicBezTo>
                    <a:cubicBezTo>
                      <a:pt x="46" y="174"/>
                      <a:pt x="1" y="169"/>
                      <a:pt x="1" y="169"/>
                    </a:cubicBezTo>
                    <a:cubicBezTo>
                      <a:pt x="1" y="188"/>
                      <a:pt x="1" y="188"/>
                      <a:pt x="1" y="188"/>
                    </a:cubicBezTo>
                    <a:cubicBezTo>
                      <a:pt x="1" y="207"/>
                      <a:pt x="1" y="207"/>
                      <a:pt x="1" y="207"/>
                    </a:cubicBezTo>
                    <a:cubicBezTo>
                      <a:pt x="1" y="207"/>
                      <a:pt x="0" y="207"/>
                      <a:pt x="1" y="207"/>
                    </a:cubicBezTo>
                    <a:cubicBezTo>
                      <a:pt x="8" y="207"/>
                      <a:pt x="55" y="211"/>
                      <a:pt x="112" y="191"/>
                    </a:cubicBezTo>
                    <a:cubicBezTo>
                      <a:pt x="147" y="179"/>
                      <a:pt x="180" y="161"/>
                      <a:pt x="208" y="139"/>
                    </a:cubicBezTo>
                    <a:cubicBezTo>
                      <a:pt x="234" y="119"/>
                      <a:pt x="256" y="95"/>
                      <a:pt x="275" y="68"/>
                    </a:cubicBezTo>
                    <a:lnTo>
                      <a:pt x="298" y="81"/>
                    </a:lnTo>
                    <a:close/>
                  </a:path>
                </a:pathLst>
              </a:custGeom>
              <a:grpFill/>
              <a:ln w="9525">
                <a:solidFill>
                  <a:schemeClr val="bg1"/>
                </a:solidFill>
                <a:round/>
              </a:ln>
            </p:spPr>
            <p:txBody>
              <a:bodyPr/>
              <a:lstStyle/>
              <a:p>
                <a:pPr>
                  <a:defRPr/>
                </a:pPr>
                <a:endParaRPr lang="zh-CN" altLang="en-US">
                  <a:cs typeface="+mn-ea"/>
                  <a:sym typeface="+mn-lt"/>
                </a:endParaRPr>
              </a:p>
            </p:txBody>
          </p:sp>
          <p:sp>
            <p:nvSpPr>
              <p:cNvPr id="50" name="Rectangle 6"/>
              <p:cNvSpPr>
                <a:spLocks noChangeArrowheads="1"/>
              </p:cNvSpPr>
              <p:nvPr/>
            </p:nvSpPr>
            <p:spPr bwMode="auto">
              <a:xfrm>
                <a:off x="5595939" y="5345113"/>
                <a:ext cx="100013" cy="109538"/>
              </a:xfrm>
              <a:prstGeom prst="rect">
                <a:avLst/>
              </a:prstGeom>
              <a:grpFill/>
              <a:ln w="9525">
                <a:solidFill>
                  <a:schemeClr val="bg1"/>
                </a:solidFill>
                <a:miter lim="800000"/>
              </a:ln>
            </p:spPr>
            <p:txBody>
              <a:bodyPr/>
              <a:lstStyle/>
              <a:p>
                <a:pPr>
                  <a:defRPr/>
                </a:pPr>
                <a:endParaRPr lang="zh-CN" altLang="en-US">
                  <a:cs typeface="+mn-ea"/>
                  <a:sym typeface="+mn-lt"/>
                </a:endParaRPr>
              </a:p>
            </p:txBody>
          </p:sp>
          <p:sp>
            <p:nvSpPr>
              <p:cNvPr id="51" name="Freeform 7"/>
              <p:cNvSpPr/>
              <p:nvPr/>
            </p:nvSpPr>
            <p:spPr bwMode="auto">
              <a:xfrm>
                <a:off x="5713414" y="5310188"/>
                <a:ext cx="98425" cy="144463"/>
              </a:xfrm>
              <a:custGeom>
                <a:avLst/>
                <a:gdLst>
                  <a:gd name="T0" fmla="*/ 62 w 62"/>
                  <a:gd name="T1" fmla="*/ 0 h 91"/>
                  <a:gd name="T2" fmla="*/ 1 w 62"/>
                  <a:gd name="T3" fmla="*/ 0 h 91"/>
                  <a:gd name="T4" fmla="*/ 0 w 62"/>
                  <a:gd name="T5" fmla="*/ 91 h 91"/>
                  <a:gd name="T6" fmla="*/ 62 w 62"/>
                  <a:gd name="T7" fmla="*/ 91 h 91"/>
                  <a:gd name="T8" fmla="*/ 62 w 62"/>
                  <a:gd name="T9" fmla="*/ 0 h 91"/>
                </a:gdLst>
                <a:ahLst/>
                <a:cxnLst>
                  <a:cxn ang="0">
                    <a:pos x="T0" y="T1"/>
                  </a:cxn>
                  <a:cxn ang="0">
                    <a:pos x="T2" y="T3"/>
                  </a:cxn>
                  <a:cxn ang="0">
                    <a:pos x="T4" y="T5"/>
                  </a:cxn>
                  <a:cxn ang="0">
                    <a:pos x="T6" y="T7"/>
                  </a:cxn>
                  <a:cxn ang="0">
                    <a:pos x="T8" y="T9"/>
                  </a:cxn>
                </a:cxnLst>
                <a:rect l="0" t="0" r="r" b="b"/>
                <a:pathLst>
                  <a:path w="62" h="91">
                    <a:moveTo>
                      <a:pt x="62" y="0"/>
                    </a:moveTo>
                    <a:lnTo>
                      <a:pt x="1" y="0"/>
                    </a:lnTo>
                    <a:lnTo>
                      <a:pt x="0" y="91"/>
                    </a:lnTo>
                    <a:lnTo>
                      <a:pt x="62" y="91"/>
                    </a:lnTo>
                    <a:lnTo>
                      <a:pt x="62" y="0"/>
                    </a:lnTo>
                    <a:close/>
                  </a:path>
                </a:pathLst>
              </a:custGeom>
              <a:grpFill/>
              <a:ln w="9525">
                <a:solidFill>
                  <a:schemeClr val="bg1"/>
                </a:solidFill>
                <a:round/>
              </a:ln>
            </p:spPr>
            <p:txBody>
              <a:bodyPr/>
              <a:lstStyle/>
              <a:p>
                <a:pPr>
                  <a:defRPr/>
                </a:pPr>
                <a:endParaRPr lang="zh-CN" altLang="en-US">
                  <a:cs typeface="+mn-ea"/>
                  <a:sym typeface="+mn-lt"/>
                </a:endParaRPr>
              </a:p>
            </p:txBody>
          </p:sp>
          <p:sp>
            <p:nvSpPr>
              <p:cNvPr id="52" name="Rectangle 8"/>
              <p:cNvSpPr>
                <a:spLocks noChangeArrowheads="1"/>
              </p:cNvSpPr>
              <p:nvPr/>
            </p:nvSpPr>
            <p:spPr bwMode="auto">
              <a:xfrm>
                <a:off x="5830889" y="5260976"/>
                <a:ext cx="98425" cy="193675"/>
              </a:xfrm>
              <a:prstGeom prst="rect">
                <a:avLst/>
              </a:prstGeom>
              <a:grpFill/>
              <a:ln w="9525">
                <a:solidFill>
                  <a:schemeClr val="bg1"/>
                </a:solidFill>
                <a:miter lim="800000"/>
              </a:ln>
            </p:spPr>
            <p:txBody>
              <a:bodyPr/>
              <a:lstStyle/>
              <a:p>
                <a:pPr>
                  <a:defRPr/>
                </a:pPr>
                <a:endParaRPr lang="zh-CN" altLang="en-US">
                  <a:cs typeface="+mn-ea"/>
                  <a:sym typeface="+mn-lt"/>
                </a:endParaRPr>
              </a:p>
            </p:txBody>
          </p:sp>
          <p:sp>
            <p:nvSpPr>
              <p:cNvPr id="53" name="Rectangle 9"/>
              <p:cNvSpPr>
                <a:spLocks noChangeArrowheads="1"/>
              </p:cNvSpPr>
              <p:nvPr/>
            </p:nvSpPr>
            <p:spPr bwMode="auto">
              <a:xfrm>
                <a:off x="5948364" y="5183188"/>
                <a:ext cx="98425" cy="271463"/>
              </a:xfrm>
              <a:prstGeom prst="rect">
                <a:avLst/>
              </a:prstGeom>
              <a:grpFill/>
              <a:ln w="9525">
                <a:solidFill>
                  <a:schemeClr val="bg1"/>
                </a:solidFill>
                <a:miter lim="800000"/>
              </a:ln>
            </p:spPr>
            <p:txBody>
              <a:bodyPr/>
              <a:lstStyle/>
              <a:p>
                <a:pPr>
                  <a:defRPr/>
                </a:pPr>
                <a:endParaRPr lang="zh-CN" altLang="en-US">
                  <a:cs typeface="+mn-ea"/>
                  <a:sym typeface="+mn-lt"/>
                </a:endParaRPr>
              </a:p>
            </p:txBody>
          </p:sp>
          <p:sp>
            <p:nvSpPr>
              <p:cNvPr id="54" name="Freeform 10"/>
              <p:cNvSpPr/>
              <p:nvPr/>
            </p:nvSpPr>
            <p:spPr bwMode="auto">
              <a:xfrm>
                <a:off x="5595939" y="4999038"/>
                <a:ext cx="515938" cy="519113"/>
              </a:xfrm>
              <a:custGeom>
                <a:avLst/>
                <a:gdLst>
                  <a:gd name="T0" fmla="*/ 343 w 358"/>
                  <a:gd name="T1" fmla="*/ 0 h 361"/>
                  <a:gd name="T2" fmla="*/ 343 w 358"/>
                  <a:gd name="T3" fmla="*/ 0 h 361"/>
                  <a:gd name="T4" fmla="*/ 343 w 358"/>
                  <a:gd name="T5" fmla="*/ 0 h 361"/>
                  <a:gd name="T6" fmla="*/ 334 w 358"/>
                  <a:gd name="T7" fmla="*/ 4 h 361"/>
                  <a:gd name="T8" fmla="*/ 329 w 358"/>
                  <a:gd name="T9" fmla="*/ 14 h 361"/>
                  <a:gd name="T10" fmla="*/ 339 w 358"/>
                  <a:gd name="T11" fmla="*/ 28 h 361"/>
                  <a:gd name="T12" fmla="*/ 339 w 358"/>
                  <a:gd name="T13" fmla="*/ 343 h 361"/>
                  <a:gd name="T14" fmla="*/ 29 w 358"/>
                  <a:gd name="T15" fmla="*/ 343 h 361"/>
                  <a:gd name="T16" fmla="*/ 15 w 358"/>
                  <a:gd name="T17" fmla="*/ 332 h 361"/>
                  <a:gd name="T18" fmla="*/ 0 w 358"/>
                  <a:gd name="T19" fmla="*/ 347 h 361"/>
                  <a:gd name="T20" fmla="*/ 0 w 358"/>
                  <a:gd name="T21" fmla="*/ 348 h 361"/>
                  <a:gd name="T22" fmla="*/ 15 w 358"/>
                  <a:gd name="T23" fmla="*/ 361 h 361"/>
                  <a:gd name="T24" fmla="*/ 29 w 358"/>
                  <a:gd name="T25" fmla="*/ 351 h 361"/>
                  <a:gd name="T26" fmla="*/ 347 w 358"/>
                  <a:gd name="T27" fmla="*/ 351 h 361"/>
                  <a:gd name="T28" fmla="*/ 347 w 358"/>
                  <a:gd name="T29" fmla="*/ 28 h 361"/>
                  <a:gd name="T30" fmla="*/ 358 w 358"/>
                  <a:gd name="T31" fmla="*/ 14 h 361"/>
                  <a:gd name="T32" fmla="*/ 343 w 358"/>
                  <a:gd name="T33" fmla="*/ 0 h 3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58" h="361">
                    <a:moveTo>
                      <a:pt x="343" y="0"/>
                    </a:moveTo>
                    <a:cubicBezTo>
                      <a:pt x="343" y="0"/>
                      <a:pt x="343" y="0"/>
                      <a:pt x="343" y="0"/>
                    </a:cubicBezTo>
                    <a:cubicBezTo>
                      <a:pt x="343" y="0"/>
                      <a:pt x="343" y="0"/>
                      <a:pt x="343" y="0"/>
                    </a:cubicBezTo>
                    <a:cubicBezTo>
                      <a:pt x="339" y="0"/>
                      <a:pt x="336" y="1"/>
                      <a:pt x="334" y="4"/>
                    </a:cubicBezTo>
                    <a:cubicBezTo>
                      <a:pt x="331" y="6"/>
                      <a:pt x="329" y="10"/>
                      <a:pt x="329" y="14"/>
                    </a:cubicBezTo>
                    <a:cubicBezTo>
                      <a:pt x="329" y="21"/>
                      <a:pt x="333" y="26"/>
                      <a:pt x="339" y="28"/>
                    </a:cubicBezTo>
                    <a:cubicBezTo>
                      <a:pt x="339" y="343"/>
                      <a:pt x="339" y="343"/>
                      <a:pt x="339" y="343"/>
                    </a:cubicBezTo>
                    <a:cubicBezTo>
                      <a:pt x="29" y="343"/>
                      <a:pt x="29" y="343"/>
                      <a:pt x="29" y="343"/>
                    </a:cubicBezTo>
                    <a:cubicBezTo>
                      <a:pt x="27" y="337"/>
                      <a:pt x="21" y="332"/>
                      <a:pt x="15" y="332"/>
                    </a:cubicBezTo>
                    <a:cubicBezTo>
                      <a:pt x="7" y="332"/>
                      <a:pt x="0" y="339"/>
                      <a:pt x="0" y="347"/>
                    </a:cubicBezTo>
                    <a:cubicBezTo>
                      <a:pt x="0" y="347"/>
                      <a:pt x="0" y="348"/>
                      <a:pt x="0" y="348"/>
                    </a:cubicBezTo>
                    <a:cubicBezTo>
                      <a:pt x="1" y="355"/>
                      <a:pt x="7" y="361"/>
                      <a:pt x="15" y="361"/>
                    </a:cubicBezTo>
                    <a:cubicBezTo>
                      <a:pt x="21" y="361"/>
                      <a:pt x="27" y="357"/>
                      <a:pt x="29" y="351"/>
                    </a:cubicBezTo>
                    <a:cubicBezTo>
                      <a:pt x="347" y="351"/>
                      <a:pt x="347" y="351"/>
                      <a:pt x="347" y="351"/>
                    </a:cubicBezTo>
                    <a:cubicBezTo>
                      <a:pt x="347" y="28"/>
                      <a:pt x="347" y="28"/>
                      <a:pt x="347" y="28"/>
                    </a:cubicBezTo>
                    <a:cubicBezTo>
                      <a:pt x="353" y="27"/>
                      <a:pt x="358" y="21"/>
                      <a:pt x="358" y="14"/>
                    </a:cubicBezTo>
                    <a:cubicBezTo>
                      <a:pt x="358" y="6"/>
                      <a:pt x="351" y="0"/>
                      <a:pt x="343" y="0"/>
                    </a:cubicBezTo>
                    <a:close/>
                  </a:path>
                </a:pathLst>
              </a:custGeom>
              <a:grpFill/>
              <a:ln w="9525">
                <a:solidFill>
                  <a:schemeClr val="bg1"/>
                </a:solidFill>
                <a:round/>
              </a:ln>
            </p:spPr>
            <p:txBody>
              <a:bodyPr/>
              <a:lstStyle/>
              <a:p>
                <a:pPr>
                  <a:defRPr/>
                </a:pPr>
                <a:endParaRPr lang="zh-CN" altLang="en-US">
                  <a:cs typeface="+mn-ea"/>
                  <a:sym typeface="+mn-lt"/>
                </a:endParaRPr>
              </a:p>
            </p:txBody>
          </p:sp>
        </p:grpSp>
      </p:grpSp>
      <p:grpSp>
        <p:nvGrpSpPr>
          <p:cNvPr id="70" name="组合 69"/>
          <p:cNvGrpSpPr/>
          <p:nvPr/>
        </p:nvGrpSpPr>
        <p:grpSpPr>
          <a:xfrm>
            <a:off x="709386" y="681503"/>
            <a:ext cx="550535" cy="555590"/>
            <a:chOff x="5237224" y="1404429"/>
            <a:chExt cx="914912" cy="926470"/>
          </a:xfrm>
          <a:solidFill>
            <a:schemeClr val="bg1"/>
          </a:solidFill>
        </p:grpSpPr>
        <p:sp>
          <p:nvSpPr>
            <p:cNvPr id="56" name="Freeform 1812"/>
            <p:cNvSpPr/>
            <p:nvPr/>
          </p:nvSpPr>
          <p:spPr>
            <a:xfrm>
              <a:off x="5237224" y="1404429"/>
              <a:ext cx="914912" cy="926470"/>
            </a:xfrm>
            <a:custGeom>
              <a:avLst/>
              <a:gdLst>
                <a:gd name="txL" fmla="*/ 0 w 91"/>
                <a:gd name="txT" fmla="*/ 0 h 92"/>
                <a:gd name="txR" fmla="*/ 91 w 91"/>
                <a:gd name="txB" fmla="*/ 92 h 92"/>
              </a:gdLst>
              <a:ahLst/>
              <a:cxnLst>
                <a:cxn ang="0">
                  <a:pos x="463341" y="150743"/>
                </a:cxn>
                <a:cxn ang="0">
                  <a:pos x="376464" y="463826"/>
                </a:cxn>
                <a:cxn ang="0">
                  <a:pos x="63709" y="382657"/>
                </a:cxn>
                <a:cxn ang="0">
                  <a:pos x="150586" y="63776"/>
                </a:cxn>
                <a:cxn ang="0">
                  <a:pos x="463341" y="150743"/>
                </a:cxn>
              </a:cxnLst>
              <a:rect l="txL" t="txT" r="txR" b="txB"/>
              <a:pathLst>
                <a:path w="91" h="92">
                  <a:moveTo>
                    <a:pt x="80" y="26"/>
                  </a:moveTo>
                  <a:cubicBezTo>
                    <a:pt x="91" y="45"/>
                    <a:pt x="84" y="69"/>
                    <a:pt x="65" y="80"/>
                  </a:cubicBezTo>
                  <a:cubicBezTo>
                    <a:pt x="46" y="92"/>
                    <a:pt x="22" y="85"/>
                    <a:pt x="11" y="66"/>
                  </a:cubicBezTo>
                  <a:cubicBezTo>
                    <a:pt x="0" y="47"/>
                    <a:pt x="6" y="22"/>
                    <a:pt x="26" y="11"/>
                  </a:cubicBezTo>
                  <a:cubicBezTo>
                    <a:pt x="45" y="0"/>
                    <a:pt x="69" y="7"/>
                    <a:pt x="80" y="26"/>
                  </a:cubicBezTo>
                </a:path>
              </a:pathLst>
            </a:custGeom>
            <a:solidFill>
              <a:srgbClr val="1B4367"/>
            </a:solidFill>
            <a:ln w="9525">
              <a:solidFill>
                <a:schemeClr val="bg1"/>
              </a:solidFill>
            </a:ln>
          </p:spPr>
          <p:txBody>
            <a:bodyPr/>
            <a:lstStyle/>
            <a:p>
              <a:endParaRPr lang="zh-CN" altLang="en-US">
                <a:cs typeface="+mn-ea"/>
                <a:sym typeface="+mn-lt"/>
              </a:endParaRPr>
            </a:p>
          </p:txBody>
        </p:sp>
        <p:grpSp>
          <p:nvGrpSpPr>
            <p:cNvPr id="26" name="组合 25"/>
            <p:cNvGrpSpPr/>
            <p:nvPr/>
          </p:nvGrpSpPr>
          <p:grpSpPr>
            <a:xfrm>
              <a:off x="5414070" y="1669201"/>
              <a:ext cx="567104" cy="386174"/>
              <a:chOff x="5842315" y="2065986"/>
              <a:chExt cx="592138" cy="403225"/>
            </a:xfrm>
            <a:grpFill/>
          </p:grpSpPr>
          <p:sp>
            <p:nvSpPr>
              <p:cNvPr id="36" name="Oval 14"/>
              <p:cNvSpPr>
                <a:spLocks noChangeArrowheads="1"/>
              </p:cNvSpPr>
              <p:nvPr/>
            </p:nvSpPr>
            <p:spPr bwMode="auto">
              <a:xfrm>
                <a:off x="6050278" y="2065986"/>
                <a:ext cx="174625" cy="171450"/>
              </a:xfrm>
              <a:prstGeom prst="ellipse">
                <a:avLst/>
              </a:prstGeom>
              <a:grpFill/>
              <a:ln w="9525">
                <a:solidFill>
                  <a:schemeClr val="bg1"/>
                </a:solidFill>
                <a:round/>
              </a:ln>
            </p:spPr>
            <p:txBody>
              <a:bodyPr/>
              <a:lstStyle/>
              <a:p>
                <a:pPr>
                  <a:defRPr/>
                </a:pPr>
                <a:endParaRPr lang="zh-CN" altLang="en-US">
                  <a:cs typeface="+mn-ea"/>
                  <a:sym typeface="+mn-lt"/>
                </a:endParaRPr>
              </a:p>
            </p:txBody>
          </p:sp>
          <p:grpSp>
            <p:nvGrpSpPr>
              <p:cNvPr id="37" name="组合 36"/>
              <p:cNvGrpSpPr/>
              <p:nvPr/>
            </p:nvGrpSpPr>
            <p:grpSpPr>
              <a:xfrm>
                <a:off x="5842315" y="2112023"/>
                <a:ext cx="592138" cy="357188"/>
                <a:chOff x="5543551" y="2033588"/>
                <a:chExt cx="592138" cy="357188"/>
              </a:xfrm>
              <a:grpFill/>
            </p:grpSpPr>
            <p:sp>
              <p:nvSpPr>
                <p:cNvPr id="38" name="Freeform 15"/>
                <p:cNvSpPr/>
                <p:nvPr/>
              </p:nvSpPr>
              <p:spPr bwMode="auto">
                <a:xfrm>
                  <a:off x="5681664" y="2170113"/>
                  <a:ext cx="315913" cy="220663"/>
                </a:xfrm>
                <a:custGeom>
                  <a:avLst/>
                  <a:gdLst>
                    <a:gd name="T0" fmla="*/ 219 w 219"/>
                    <a:gd name="T1" fmla="*/ 93 h 154"/>
                    <a:gd name="T2" fmla="*/ 156 w 219"/>
                    <a:gd name="T3" fmla="*/ 0 h 154"/>
                    <a:gd name="T4" fmla="*/ 110 w 219"/>
                    <a:gd name="T5" fmla="*/ 125 h 154"/>
                    <a:gd name="T6" fmla="*/ 64 w 219"/>
                    <a:gd name="T7" fmla="*/ 0 h 154"/>
                    <a:gd name="T8" fmla="*/ 0 w 219"/>
                    <a:gd name="T9" fmla="*/ 93 h 154"/>
                    <a:gd name="T10" fmla="*/ 0 w 219"/>
                    <a:gd name="T11" fmla="*/ 96 h 154"/>
                    <a:gd name="T12" fmla="*/ 0 w 219"/>
                    <a:gd name="T13" fmla="*/ 97 h 154"/>
                    <a:gd name="T14" fmla="*/ 110 w 219"/>
                    <a:gd name="T15" fmla="*/ 154 h 154"/>
                    <a:gd name="T16" fmla="*/ 219 w 219"/>
                    <a:gd name="T17" fmla="*/ 97 h 154"/>
                    <a:gd name="T18" fmla="*/ 219 w 219"/>
                    <a:gd name="T19" fmla="*/ 96 h 154"/>
                    <a:gd name="T20" fmla="*/ 219 w 219"/>
                    <a:gd name="T21" fmla="*/ 93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9" h="154">
                      <a:moveTo>
                        <a:pt x="219" y="93"/>
                      </a:moveTo>
                      <a:cubicBezTo>
                        <a:pt x="217" y="52"/>
                        <a:pt x="191" y="16"/>
                        <a:pt x="156" y="0"/>
                      </a:cubicBezTo>
                      <a:cubicBezTo>
                        <a:pt x="110" y="125"/>
                        <a:pt x="110" y="125"/>
                        <a:pt x="110" y="125"/>
                      </a:cubicBezTo>
                      <a:cubicBezTo>
                        <a:pt x="64" y="0"/>
                        <a:pt x="64" y="0"/>
                        <a:pt x="64" y="0"/>
                      </a:cubicBezTo>
                      <a:cubicBezTo>
                        <a:pt x="28" y="16"/>
                        <a:pt x="2" y="52"/>
                        <a:pt x="0" y="93"/>
                      </a:cubicBezTo>
                      <a:cubicBezTo>
                        <a:pt x="0" y="94"/>
                        <a:pt x="0" y="95"/>
                        <a:pt x="0" y="96"/>
                      </a:cubicBezTo>
                      <a:cubicBezTo>
                        <a:pt x="0" y="96"/>
                        <a:pt x="0" y="97"/>
                        <a:pt x="0" y="97"/>
                      </a:cubicBezTo>
                      <a:cubicBezTo>
                        <a:pt x="1" y="122"/>
                        <a:pt x="50" y="154"/>
                        <a:pt x="110" y="154"/>
                      </a:cubicBezTo>
                      <a:cubicBezTo>
                        <a:pt x="169" y="154"/>
                        <a:pt x="218" y="122"/>
                        <a:pt x="219" y="97"/>
                      </a:cubicBezTo>
                      <a:cubicBezTo>
                        <a:pt x="219" y="97"/>
                        <a:pt x="219" y="96"/>
                        <a:pt x="219" y="96"/>
                      </a:cubicBezTo>
                      <a:cubicBezTo>
                        <a:pt x="219" y="95"/>
                        <a:pt x="219" y="94"/>
                        <a:pt x="219" y="93"/>
                      </a:cubicBezTo>
                      <a:close/>
                    </a:path>
                  </a:pathLst>
                </a:custGeom>
                <a:grpFill/>
                <a:ln w="9525">
                  <a:solidFill>
                    <a:schemeClr val="bg1"/>
                  </a:solidFill>
                  <a:round/>
                </a:ln>
              </p:spPr>
              <p:txBody>
                <a:bodyPr/>
                <a:lstStyle/>
                <a:p>
                  <a:pPr>
                    <a:defRPr/>
                  </a:pPr>
                  <a:endParaRPr lang="zh-CN" altLang="en-US">
                    <a:cs typeface="+mn-ea"/>
                    <a:sym typeface="+mn-lt"/>
                  </a:endParaRPr>
                </a:p>
              </p:txBody>
            </p:sp>
            <p:sp>
              <p:nvSpPr>
                <p:cNvPr id="39" name="Freeform 16"/>
                <p:cNvSpPr/>
                <p:nvPr/>
              </p:nvSpPr>
              <p:spPr bwMode="auto">
                <a:xfrm>
                  <a:off x="5824539" y="2165351"/>
                  <a:ext cx="31750" cy="31750"/>
                </a:xfrm>
                <a:custGeom>
                  <a:avLst/>
                  <a:gdLst>
                    <a:gd name="T0" fmla="*/ 10 w 20"/>
                    <a:gd name="T1" fmla="*/ 0 h 20"/>
                    <a:gd name="T2" fmla="*/ 20 w 20"/>
                    <a:gd name="T3" fmla="*/ 10 h 20"/>
                    <a:gd name="T4" fmla="*/ 10 w 20"/>
                    <a:gd name="T5" fmla="*/ 20 h 20"/>
                    <a:gd name="T6" fmla="*/ 0 w 20"/>
                    <a:gd name="T7" fmla="*/ 10 h 20"/>
                    <a:gd name="T8" fmla="*/ 10 w 20"/>
                    <a:gd name="T9" fmla="*/ 0 h 20"/>
                  </a:gdLst>
                  <a:ahLst/>
                  <a:cxnLst>
                    <a:cxn ang="0">
                      <a:pos x="T0" y="T1"/>
                    </a:cxn>
                    <a:cxn ang="0">
                      <a:pos x="T2" y="T3"/>
                    </a:cxn>
                    <a:cxn ang="0">
                      <a:pos x="T4" y="T5"/>
                    </a:cxn>
                    <a:cxn ang="0">
                      <a:pos x="T6" y="T7"/>
                    </a:cxn>
                    <a:cxn ang="0">
                      <a:pos x="T8" y="T9"/>
                    </a:cxn>
                  </a:cxnLst>
                  <a:rect l="0" t="0" r="r" b="b"/>
                  <a:pathLst>
                    <a:path w="20" h="20">
                      <a:moveTo>
                        <a:pt x="10" y="0"/>
                      </a:moveTo>
                      <a:lnTo>
                        <a:pt x="20" y="10"/>
                      </a:lnTo>
                      <a:lnTo>
                        <a:pt x="10" y="20"/>
                      </a:lnTo>
                      <a:lnTo>
                        <a:pt x="0" y="10"/>
                      </a:lnTo>
                      <a:lnTo>
                        <a:pt x="10" y="0"/>
                      </a:lnTo>
                      <a:close/>
                    </a:path>
                  </a:pathLst>
                </a:custGeom>
                <a:grpFill/>
                <a:ln w="9525">
                  <a:solidFill>
                    <a:schemeClr val="bg1"/>
                  </a:solidFill>
                  <a:round/>
                </a:ln>
              </p:spPr>
              <p:txBody>
                <a:bodyPr/>
                <a:lstStyle/>
                <a:p>
                  <a:pPr>
                    <a:defRPr/>
                  </a:pPr>
                  <a:endParaRPr lang="zh-CN" altLang="en-US">
                    <a:cs typeface="+mn-ea"/>
                    <a:sym typeface="+mn-lt"/>
                  </a:endParaRPr>
                </a:p>
              </p:txBody>
            </p:sp>
            <p:sp>
              <p:nvSpPr>
                <p:cNvPr id="40" name="Freeform 17"/>
                <p:cNvSpPr/>
                <p:nvPr/>
              </p:nvSpPr>
              <p:spPr bwMode="auto">
                <a:xfrm>
                  <a:off x="5816601" y="2197101"/>
                  <a:ext cx="46038" cy="117475"/>
                </a:xfrm>
                <a:custGeom>
                  <a:avLst/>
                  <a:gdLst>
                    <a:gd name="T0" fmla="*/ 21 w 29"/>
                    <a:gd name="T1" fmla="*/ 6 h 74"/>
                    <a:gd name="T2" fmla="*/ 15 w 29"/>
                    <a:gd name="T3" fmla="*/ 0 h 74"/>
                    <a:gd name="T4" fmla="*/ 7 w 29"/>
                    <a:gd name="T5" fmla="*/ 6 h 74"/>
                    <a:gd name="T6" fmla="*/ 0 w 29"/>
                    <a:gd name="T7" fmla="*/ 37 h 74"/>
                    <a:gd name="T8" fmla="*/ 15 w 29"/>
                    <a:gd name="T9" fmla="*/ 74 h 74"/>
                    <a:gd name="T10" fmla="*/ 29 w 29"/>
                    <a:gd name="T11" fmla="*/ 37 h 74"/>
                    <a:gd name="T12" fmla="*/ 21 w 29"/>
                    <a:gd name="T13" fmla="*/ 6 h 74"/>
                  </a:gdLst>
                  <a:ahLst/>
                  <a:cxnLst>
                    <a:cxn ang="0">
                      <a:pos x="T0" y="T1"/>
                    </a:cxn>
                    <a:cxn ang="0">
                      <a:pos x="T2" y="T3"/>
                    </a:cxn>
                    <a:cxn ang="0">
                      <a:pos x="T4" y="T5"/>
                    </a:cxn>
                    <a:cxn ang="0">
                      <a:pos x="T6" y="T7"/>
                    </a:cxn>
                    <a:cxn ang="0">
                      <a:pos x="T8" y="T9"/>
                    </a:cxn>
                    <a:cxn ang="0">
                      <a:pos x="T10" y="T11"/>
                    </a:cxn>
                    <a:cxn ang="0">
                      <a:pos x="T12" y="T13"/>
                    </a:cxn>
                  </a:cxnLst>
                  <a:rect l="0" t="0" r="r" b="b"/>
                  <a:pathLst>
                    <a:path w="29" h="74">
                      <a:moveTo>
                        <a:pt x="21" y="6"/>
                      </a:moveTo>
                      <a:lnTo>
                        <a:pt x="15" y="0"/>
                      </a:lnTo>
                      <a:lnTo>
                        <a:pt x="7" y="6"/>
                      </a:lnTo>
                      <a:lnTo>
                        <a:pt x="0" y="37"/>
                      </a:lnTo>
                      <a:lnTo>
                        <a:pt x="15" y="74"/>
                      </a:lnTo>
                      <a:lnTo>
                        <a:pt x="29" y="37"/>
                      </a:lnTo>
                      <a:lnTo>
                        <a:pt x="21" y="6"/>
                      </a:lnTo>
                      <a:close/>
                    </a:path>
                  </a:pathLst>
                </a:custGeom>
                <a:grpFill/>
                <a:ln w="9525">
                  <a:solidFill>
                    <a:schemeClr val="bg1"/>
                  </a:solidFill>
                  <a:round/>
                </a:ln>
              </p:spPr>
              <p:txBody>
                <a:bodyPr/>
                <a:lstStyle/>
                <a:p>
                  <a:pPr>
                    <a:defRPr/>
                  </a:pPr>
                  <a:endParaRPr lang="zh-CN" altLang="en-US">
                    <a:cs typeface="+mn-ea"/>
                    <a:sym typeface="+mn-lt"/>
                  </a:endParaRPr>
                </a:p>
              </p:txBody>
            </p:sp>
            <p:sp>
              <p:nvSpPr>
                <p:cNvPr id="41" name="Freeform 18"/>
                <p:cNvSpPr/>
                <p:nvPr/>
              </p:nvSpPr>
              <p:spPr bwMode="auto">
                <a:xfrm>
                  <a:off x="5956301" y="2033588"/>
                  <a:ext cx="127000" cy="125413"/>
                </a:xfrm>
                <a:custGeom>
                  <a:avLst/>
                  <a:gdLst>
                    <a:gd name="T0" fmla="*/ 88 w 88"/>
                    <a:gd name="T1" fmla="*/ 44 h 87"/>
                    <a:gd name="T2" fmla="*/ 44 w 88"/>
                    <a:gd name="T3" fmla="*/ 0 h 87"/>
                    <a:gd name="T4" fmla="*/ 0 w 88"/>
                    <a:gd name="T5" fmla="*/ 44 h 87"/>
                    <a:gd name="T6" fmla="*/ 44 w 88"/>
                    <a:gd name="T7" fmla="*/ 87 h 87"/>
                    <a:gd name="T8" fmla="*/ 88 w 88"/>
                    <a:gd name="T9" fmla="*/ 44 h 87"/>
                  </a:gdLst>
                  <a:ahLst/>
                  <a:cxnLst>
                    <a:cxn ang="0">
                      <a:pos x="T0" y="T1"/>
                    </a:cxn>
                    <a:cxn ang="0">
                      <a:pos x="T2" y="T3"/>
                    </a:cxn>
                    <a:cxn ang="0">
                      <a:pos x="T4" y="T5"/>
                    </a:cxn>
                    <a:cxn ang="0">
                      <a:pos x="T6" y="T7"/>
                    </a:cxn>
                    <a:cxn ang="0">
                      <a:pos x="T8" y="T9"/>
                    </a:cxn>
                  </a:cxnLst>
                  <a:rect l="0" t="0" r="r" b="b"/>
                  <a:pathLst>
                    <a:path w="88" h="87">
                      <a:moveTo>
                        <a:pt x="88" y="44"/>
                      </a:moveTo>
                      <a:cubicBezTo>
                        <a:pt x="88" y="19"/>
                        <a:pt x="68" y="0"/>
                        <a:pt x="44" y="0"/>
                      </a:cubicBezTo>
                      <a:cubicBezTo>
                        <a:pt x="20" y="0"/>
                        <a:pt x="1" y="19"/>
                        <a:pt x="0" y="44"/>
                      </a:cubicBezTo>
                      <a:cubicBezTo>
                        <a:pt x="0" y="68"/>
                        <a:pt x="20" y="87"/>
                        <a:pt x="44" y="87"/>
                      </a:cubicBezTo>
                      <a:cubicBezTo>
                        <a:pt x="68" y="87"/>
                        <a:pt x="88" y="68"/>
                        <a:pt x="88" y="44"/>
                      </a:cubicBezTo>
                      <a:close/>
                    </a:path>
                  </a:pathLst>
                </a:custGeom>
                <a:grpFill/>
                <a:ln w="9525">
                  <a:solidFill>
                    <a:schemeClr val="bg1"/>
                  </a:solidFill>
                  <a:round/>
                </a:ln>
              </p:spPr>
              <p:txBody>
                <a:bodyPr/>
                <a:lstStyle/>
                <a:p>
                  <a:pPr>
                    <a:defRPr/>
                  </a:pPr>
                  <a:endParaRPr lang="zh-CN" altLang="en-US">
                    <a:cs typeface="+mn-ea"/>
                    <a:sym typeface="+mn-lt"/>
                  </a:endParaRPr>
                </a:p>
              </p:txBody>
            </p:sp>
            <p:sp>
              <p:nvSpPr>
                <p:cNvPr id="42" name="Freeform 19"/>
                <p:cNvSpPr/>
                <p:nvPr/>
              </p:nvSpPr>
              <p:spPr bwMode="auto">
                <a:xfrm>
                  <a:off x="6008689" y="2162176"/>
                  <a:ext cx="23813" cy="23813"/>
                </a:xfrm>
                <a:custGeom>
                  <a:avLst/>
                  <a:gdLst>
                    <a:gd name="T0" fmla="*/ 7 w 15"/>
                    <a:gd name="T1" fmla="*/ 0 h 15"/>
                    <a:gd name="T2" fmla="*/ 15 w 15"/>
                    <a:gd name="T3" fmla="*/ 7 h 15"/>
                    <a:gd name="T4" fmla="*/ 7 w 15"/>
                    <a:gd name="T5" fmla="*/ 15 h 15"/>
                    <a:gd name="T6" fmla="*/ 0 w 15"/>
                    <a:gd name="T7" fmla="*/ 7 h 15"/>
                    <a:gd name="T8" fmla="*/ 7 w 15"/>
                    <a:gd name="T9" fmla="*/ 0 h 15"/>
                  </a:gdLst>
                  <a:ahLst/>
                  <a:cxnLst>
                    <a:cxn ang="0">
                      <a:pos x="T0" y="T1"/>
                    </a:cxn>
                    <a:cxn ang="0">
                      <a:pos x="T2" y="T3"/>
                    </a:cxn>
                    <a:cxn ang="0">
                      <a:pos x="T4" y="T5"/>
                    </a:cxn>
                    <a:cxn ang="0">
                      <a:pos x="T6" y="T7"/>
                    </a:cxn>
                    <a:cxn ang="0">
                      <a:pos x="T8" y="T9"/>
                    </a:cxn>
                  </a:cxnLst>
                  <a:rect l="0" t="0" r="r" b="b"/>
                  <a:pathLst>
                    <a:path w="15" h="15">
                      <a:moveTo>
                        <a:pt x="7" y="0"/>
                      </a:moveTo>
                      <a:lnTo>
                        <a:pt x="15" y="7"/>
                      </a:lnTo>
                      <a:lnTo>
                        <a:pt x="7" y="15"/>
                      </a:lnTo>
                      <a:lnTo>
                        <a:pt x="0" y="7"/>
                      </a:lnTo>
                      <a:lnTo>
                        <a:pt x="7" y="0"/>
                      </a:lnTo>
                      <a:close/>
                    </a:path>
                  </a:pathLst>
                </a:custGeom>
                <a:grpFill/>
                <a:ln w="9525">
                  <a:solidFill>
                    <a:schemeClr val="bg1"/>
                  </a:solidFill>
                  <a:round/>
                </a:ln>
              </p:spPr>
              <p:txBody>
                <a:bodyPr/>
                <a:lstStyle/>
                <a:p>
                  <a:pPr>
                    <a:defRPr/>
                  </a:pPr>
                  <a:endParaRPr lang="zh-CN" altLang="en-US">
                    <a:cs typeface="+mn-ea"/>
                    <a:sym typeface="+mn-lt"/>
                  </a:endParaRPr>
                </a:p>
              </p:txBody>
            </p:sp>
            <p:sp>
              <p:nvSpPr>
                <p:cNvPr id="43" name="Freeform 20"/>
                <p:cNvSpPr/>
                <p:nvPr/>
              </p:nvSpPr>
              <p:spPr bwMode="auto">
                <a:xfrm>
                  <a:off x="6003926" y="2185988"/>
                  <a:ext cx="33338" cy="85725"/>
                </a:xfrm>
                <a:custGeom>
                  <a:avLst/>
                  <a:gdLst>
                    <a:gd name="T0" fmla="*/ 16 w 21"/>
                    <a:gd name="T1" fmla="*/ 4 h 54"/>
                    <a:gd name="T2" fmla="*/ 10 w 21"/>
                    <a:gd name="T3" fmla="*/ 0 h 54"/>
                    <a:gd name="T4" fmla="*/ 6 w 21"/>
                    <a:gd name="T5" fmla="*/ 4 h 54"/>
                    <a:gd name="T6" fmla="*/ 0 w 21"/>
                    <a:gd name="T7" fmla="*/ 27 h 54"/>
                    <a:gd name="T8" fmla="*/ 10 w 21"/>
                    <a:gd name="T9" fmla="*/ 54 h 54"/>
                    <a:gd name="T10" fmla="*/ 21 w 21"/>
                    <a:gd name="T11" fmla="*/ 27 h 54"/>
                    <a:gd name="T12" fmla="*/ 16 w 21"/>
                    <a:gd name="T13" fmla="*/ 4 h 54"/>
                  </a:gdLst>
                  <a:ahLst/>
                  <a:cxnLst>
                    <a:cxn ang="0">
                      <a:pos x="T0" y="T1"/>
                    </a:cxn>
                    <a:cxn ang="0">
                      <a:pos x="T2" y="T3"/>
                    </a:cxn>
                    <a:cxn ang="0">
                      <a:pos x="T4" y="T5"/>
                    </a:cxn>
                    <a:cxn ang="0">
                      <a:pos x="T6" y="T7"/>
                    </a:cxn>
                    <a:cxn ang="0">
                      <a:pos x="T8" y="T9"/>
                    </a:cxn>
                    <a:cxn ang="0">
                      <a:pos x="T10" y="T11"/>
                    </a:cxn>
                    <a:cxn ang="0">
                      <a:pos x="T12" y="T13"/>
                    </a:cxn>
                  </a:cxnLst>
                  <a:rect l="0" t="0" r="r" b="b"/>
                  <a:pathLst>
                    <a:path w="21" h="54">
                      <a:moveTo>
                        <a:pt x="16" y="4"/>
                      </a:moveTo>
                      <a:lnTo>
                        <a:pt x="10" y="0"/>
                      </a:lnTo>
                      <a:lnTo>
                        <a:pt x="6" y="4"/>
                      </a:lnTo>
                      <a:lnTo>
                        <a:pt x="0" y="27"/>
                      </a:lnTo>
                      <a:lnTo>
                        <a:pt x="10" y="54"/>
                      </a:lnTo>
                      <a:lnTo>
                        <a:pt x="21" y="27"/>
                      </a:lnTo>
                      <a:lnTo>
                        <a:pt x="16" y="4"/>
                      </a:lnTo>
                      <a:close/>
                    </a:path>
                  </a:pathLst>
                </a:custGeom>
                <a:grpFill/>
                <a:ln w="9525">
                  <a:solidFill>
                    <a:schemeClr val="bg1"/>
                  </a:solidFill>
                  <a:round/>
                </a:ln>
              </p:spPr>
              <p:txBody>
                <a:bodyPr/>
                <a:lstStyle/>
                <a:p>
                  <a:pPr>
                    <a:defRPr/>
                  </a:pPr>
                  <a:endParaRPr lang="zh-CN" altLang="en-US">
                    <a:cs typeface="+mn-ea"/>
                    <a:sym typeface="+mn-lt"/>
                  </a:endParaRPr>
                </a:p>
              </p:txBody>
            </p:sp>
            <p:sp>
              <p:nvSpPr>
                <p:cNvPr id="44" name="Oval 21"/>
                <p:cNvSpPr>
                  <a:spLocks noChangeArrowheads="1"/>
                </p:cNvSpPr>
                <p:nvPr/>
              </p:nvSpPr>
              <p:spPr bwMode="auto">
                <a:xfrm>
                  <a:off x="5594351" y="2033588"/>
                  <a:ext cx="127000" cy="125413"/>
                </a:xfrm>
                <a:prstGeom prst="ellipse">
                  <a:avLst/>
                </a:prstGeom>
                <a:grpFill/>
                <a:ln w="9525">
                  <a:solidFill>
                    <a:schemeClr val="bg1"/>
                  </a:solidFill>
                  <a:round/>
                </a:ln>
              </p:spPr>
              <p:txBody>
                <a:bodyPr/>
                <a:lstStyle/>
                <a:p>
                  <a:pPr>
                    <a:defRPr/>
                  </a:pPr>
                  <a:endParaRPr lang="zh-CN" altLang="en-US">
                    <a:cs typeface="+mn-ea"/>
                    <a:sym typeface="+mn-lt"/>
                  </a:endParaRPr>
                </a:p>
              </p:txBody>
            </p:sp>
            <p:sp>
              <p:nvSpPr>
                <p:cNvPr id="45" name="Freeform 22"/>
                <p:cNvSpPr/>
                <p:nvPr/>
              </p:nvSpPr>
              <p:spPr bwMode="auto">
                <a:xfrm>
                  <a:off x="5543551" y="2165351"/>
                  <a:ext cx="190500" cy="161925"/>
                </a:xfrm>
                <a:custGeom>
                  <a:avLst/>
                  <a:gdLst>
                    <a:gd name="T0" fmla="*/ 91 w 133"/>
                    <a:gd name="T1" fmla="*/ 100 h 112"/>
                    <a:gd name="T2" fmla="*/ 91 w 133"/>
                    <a:gd name="T3" fmla="*/ 100 h 112"/>
                    <a:gd name="T4" fmla="*/ 91 w 133"/>
                    <a:gd name="T5" fmla="*/ 99 h 112"/>
                    <a:gd name="T6" fmla="*/ 91 w 133"/>
                    <a:gd name="T7" fmla="*/ 96 h 112"/>
                    <a:gd name="T8" fmla="*/ 133 w 133"/>
                    <a:gd name="T9" fmla="*/ 13 h 112"/>
                    <a:gd name="T10" fmla="*/ 114 w 133"/>
                    <a:gd name="T11" fmla="*/ 0 h 112"/>
                    <a:gd name="T12" fmla="*/ 80 w 133"/>
                    <a:gd name="T13" fmla="*/ 92 h 112"/>
                    <a:gd name="T14" fmla="*/ 47 w 133"/>
                    <a:gd name="T15" fmla="*/ 0 h 112"/>
                    <a:gd name="T16" fmla="*/ 0 w 133"/>
                    <a:gd name="T17" fmla="*/ 68 h 112"/>
                    <a:gd name="T18" fmla="*/ 0 w 133"/>
                    <a:gd name="T19" fmla="*/ 70 h 112"/>
                    <a:gd name="T20" fmla="*/ 0 w 133"/>
                    <a:gd name="T21" fmla="*/ 71 h 112"/>
                    <a:gd name="T22" fmla="*/ 80 w 133"/>
                    <a:gd name="T23" fmla="*/ 112 h 112"/>
                    <a:gd name="T24" fmla="*/ 94 w 133"/>
                    <a:gd name="T25" fmla="*/ 112 h 112"/>
                    <a:gd name="T26" fmla="*/ 91 w 133"/>
                    <a:gd name="T27" fmla="*/ 100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112">
                      <a:moveTo>
                        <a:pt x="91" y="100"/>
                      </a:moveTo>
                      <a:cubicBezTo>
                        <a:pt x="91" y="100"/>
                        <a:pt x="91" y="100"/>
                        <a:pt x="91" y="100"/>
                      </a:cubicBezTo>
                      <a:cubicBezTo>
                        <a:pt x="91" y="100"/>
                        <a:pt x="91" y="100"/>
                        <a:pt x="91" y="99"/>
                      </a:cubicBezTo>
                      <a:cubicBezTo>
                        <a:pt x="91" y="98"/>
                        <a:pt x="91" y="97"/>
                        <a:pt x="91" y="96"/>
                      </a:cubicBezTo>
                      <a:cubicBezTo>
                        <a:pt x="93" y="63"/>
                        <a:pt x="108" y="33"/>
                        <a:pt x="133" y="13"/>
                      </a:cubicBezTo>
                      <a:cubicBezTo>
                        <a:pt x="127" y="8"/>
                        <a:pt x="121" y="4"/>
                        <a:pt x="114" y="0"/>
                      </a:cubicBezTo>
                      <a:cubicBezTo>
                        <a:pt x="80" y="92"/>
                        <a:pt x="80" y="92"/>
                        <a:pt x="80" y="92"/>
                      </a:cubicBezTo>
                      <a:cubicBezTo>
                        <a:pt x="47" y="0"/>
                        <a:pt x="47" y="0"/>
                        <a:pt x="47" y="0"/>
                      </a:cubicBezTo>
                      <a:cubicBezTo>
                        <a:pt x="21" y="12"/>
                        <a:pt x="2" y="38"/>
                        <a:pt x="0" y="68"/>
                      </a:cubicBezTo>
                      <a:cubicBezTo>
                        <a:pt x="0" y="69"/>
                        <a:pt x="0" y="70"/>
                        <a:pt x="0" y="70"/>
                      </a:cubicBezTo>
                      <a:cubicBezTo>
                        <a:pt x="0" y="71"/>
                        <a:pt x="0" y="71"/>
                        <a:pt x="0" y="71"/>
                      </a:cubicBezTo>
                      <a:cubicBezTo>
                        <a:pt x="1" y="90"/>
                        <a:pt x="37" y="112"/>
                        <a:pt x="80" y="112"/>
                      </a:cubicBezTo>
                      <a:cubicBezTo>
                        <a:pt x="85" y="112"/>
                        <a:pt x="89" y="112"/>
                        <a:pt x="94" y="112"/>
                      </a:cubicBezTo>
                      <a:cubicBezTo>
                        <a:pt x="92" y="108"/>
                        <a:pt x="91" y="104"/>
                        <a:pt x="91" y="100"/>
                      </a:cubicBezTo>
                      <a:close/>
                    </a:path>
                  </a:pathLst>
                </a:custGeom>
                <a:grpFill/>
                <a:ln w="9525">
                  <a:solidFill>
                    <a:schemeClr val="bg1"/>
                  </a:solidFill>
                  <a:round/>
                </a:ln>
              </p:spPr>
              <p:txBody>
                <a:bodyPr/>
                <a:lstStyle/>
                <a:p>
                  <a:pPr>
                    <a:defRPr/>
                  </a:pPr>
                  <a:endParaRPr lang="zh-CN" altLang="en-US">
                    <a:cs typeface="+mn-ea"/>
                    <a:sym typeface="+mn-lt"/>
                  </a:endParaRPr>
                </a:p>
              </p:txBody>
            </p:sp>
            <p:sp>
              <p:nvSpPr>
                <p:cNvPr id="46" name="Freeform 23"/>
                <p:cNvSpPr/>
                <p:nvPr/>
              </p:nvSpPr>
              <p:spPr bwMode="auto">
                <a:xfrm>
                  <a:off x="5646739" y="2162176"/>
                  <a:ext cx="23813" cy="23813"/>
                </a:xfrm>
                <a:custGeom>
                  <a:avLst/>
                  <a:gdLst>
                    <a:gd name="T0" fmla="*/ 7 w 15"/>
                    <a:gd name="T1" fmla="*/ 0 h 15"/>
                    <a:gd name="T2" fmla="*/ 15 w 15"/>
                    <a:gd name="T3" fmla="*/ 7 h 15"/>
                    <a:gd name="T4" fmla="*/ 7 w 15"/>
                    <a:gd name="T5" fmla="*/ 15 h 15"/>
                    <a:gd name="T6" fmla="*/ 0 w 15"/>
                    <a:gd name="T7" fmla="*/ 7 h 15"/>
                    <a:gd name="T8" fmla="*/ 7 w 15"/>
                    <a:gd name="T9" fmla="*/ 0 h 15"/>
                  </a:gdLst>
                  <a:ahLst/>
                  <a:cxnLst>
                    <a:cxn ang="0">
                      <a:pos x="T0" y="T1"/>
                    </a:cxn>
                    <a:cxn ang="0">
                      <a:pos x="T2" y="T3"/>
                    </a:cxn>
                    <a:cxn ang="0">
                      <a:pos x="T4" y="T5"/>
                    </a:cxn>
                    <a:cxn ang="0">
                      <a:pos x="T6" y="T7"/>
                    </a:cxn>
                    <a:cxn ang="0">
                      <a:pos x="T8" y="T9"/>
                    </a:cxn>
                  </a:cxnLst>
                  <a:rect l="0" t="0" r="r" b="b"/>
                  <a:pathLst>
                    <a:path w="15" h="15">
                      <a:moveTo>
                        <a:pt x="7" y="0"/>
                      </a:moveTo>
                      <a:lnTo>
                        <a:pt x="15" y="7"/>
                      </a:lnTo>
                      <a:lnTo>
                        <a:pt x="7" y="15"/>
                      </a:lnTo>
                      <a:lnTo>
                        <a:pt x="0" y="7"/>
                      </a:lnTo>
                      <a:lnTo>
                        <a:pt x="7" y="0"/>
                      </a:lnTo>
                      <a:close/>
                    </a:path>
                  </a:pathLst>
                </a:custGeom>
                <a:grpFill/>
                <a:ln w="9525">
                  <a:solidFill>
                    <a:schemeClr val="bg1"/>
                  </a:solidFill>
                  <a:round/>
                </a:ln>
              </p:spPr>
              <p:txBody>
                <a:bodyPr/>
                <a:lstStyle/>
                <a:p>
                  <a:pPr>
                    <a:defRPr/>
                  </a:pPr>
                  <a:endParaRPr lang="zh-CN" altLang="en-US">
                    <a:cs typeface="+mn-ea"/>
                    <a:sym typeface="+mn-lt"/>
                  </a:endParaRPr>
                </a:p>
              </p:txBody>
            </p:sp>
            <p:sp>
              <p:nvSpPr>
                <p:cNvPr id="47" name="Freeform 24"/>
                <p:cNvSpPr/>
                <p:nvPr/>
              </p:nvSpPr>
              <p:spPr bwMode="auto">
                <a:xfrm>
                  <a:off x="5641976" y="2185988"/>
                  <a:ext cx="33338" cy="85725"/>
                </a:xfrm>
                <a:custGeom>
                  <a:avLst/>
                  <a:gdLst>
                    <a:gd name="T0" fmla="*/ 16 w 21"/>
                    <a:gd name="T1" fmla="*/ 4 h 54"/>
                    <a:gd name="T2" fmla="*/ 10 w 21"/>
                    <a:gd name="T3" fmla="*/ 0 h 54"/>
                    <a:gd name="T4" fmla="*/ 5 w 21"/>
                    <a:gd name="T5" fmla="*/ 4 h 54"/>
                    <a:gd name="T6" fmla="*/ 0 w 21"/>
                    <a:gd name="T7" fmla="*/ 27 h 54"/>
                    <a:gd name="T8" fmla="*/ 10 w 21"/>
                    <a:gd name="T9" fmla="*/ 54 h 54"/>
                    <a:gd name="T10" fmla="*/ 21 w 21"/>
                    <a:gd name="T11" fmla="*/ 27 h 54"/>
                    <a:gd name="T12" fmla="*/ 16 w 21"/>
                    <a:gd name="T13" fmla="*/ 4 h 54"/>
                  </a:gdLst>
                  <a:ahLst/>
                  <a:cxnLst>
                    <a:cxn ang="0">
                      <a:pos x="T0" y="T1"/>
                    </a:cxn>
                    <a:cxn ang="0">
                      <a:pos x="T2" y="T3"/>
                    </a:cxn>
                    <a:cxn ang="0">
                      <a:pos x="T4" y="T5"/>
                    </a:cxn>
                    <a:cxn ang="0">
                      <a:pos x="T6" y="T7"/>
                    </a:cxn>
                    <a:cxn ang="0">
                      <a:pos x="T8" y="T9"/>
                    </a:cxn>
                    <a:cxn ang="0">
                      <a:pos x="T10" y="T11"/>
                    </a:cxn>
                    <a:cxn ang="0">
                      <a:pos x="T12" y="T13"/>
                    </a:cxn>
                  </a:cxnLst>
                  <a:rect l="0" t="0" r="r" b="b"/>
                  <a:pathLst>
                    <a:path w="21" h="54">
                      <a:moveTo>
                        <a:pt x="16" y="4"/>
                      </a:moveTo>
                      <a:lnTo>
                        <a:pt x="10" y="0"/>
                      </a:lnTo>
                      <a:lnTo>
                        <a:pt x="5" y="4"/>
                      </a:lnTo>
                      <a:lnTo>
                        <a:pt x="0" y="27"/>
                      </a:lnTo>
                      <a:lnTo>
                        <a:pt x="10" y="54"/>
                      </a:lnTo>
                      <a:lnTo>
                        <a:pt x="21" y="27"/>
                      </a:lnTo>
                      <a:lnTo>
                        <a:pt x="16" y="4"/>
                      </a:lnTo>
                      <a:close/>
                    </a:path>
                  </a:pathLst>
                </a:custGeom>
                <a:grpFill/>
                <a:ln w="9525">
                  <a:solidFill>
                    <a:schemeClr val="bg1"/>
                  </a:solidFill>
                  <a:round/>
                </a:ln>
              </p:spPr>
              <p:txBody>
                <a:bodyPr/>
                <a:lstStyle/>
                <a:p>
                  <a:pPr>
                    <a:defRPr/>
                  </a:pPr>
                  <a:endParaRPr lang="zh-CN" altLang="en-US">
                    <a:cs typeface="+mn-ea"/>
                    <a:sym typeface="+mn-lt"/>
                  </a:endParaRPr>
                </a:p>
              </p:txBody>
            </p:sp>
            <p:sp>
              <p:nvSpPr>
                <p:cNvPr id="48" name="Freeform 25"/>
                <p:cNvSpPr/>
                <p:nvPr/>
              </p:nvSpPr>
              <p:spPr bwMode="auto">
                <a:xfrm>
                  <a:off x="5943601" y="2165351"/>
                  <a:ext cx="192088" cy="161925"/>
                </a:xfrm>
                <a:custGeom>
                  <a:avLst/>
                  <a:gdLst>
                    <a:gd name="T0" fmla="*/ 133 w 133"/>
                    <a:gd name="T1" fmla="*/ 69 h 113"/>
                    <a:gd name="T2" fmla="*/ 87 w 133"/>
                    <a:gd name="T3" fmla="*/ 0 h 113"/>
                    <a:gd name="T4" fmla="*/ 53 w 133"/>
                    <a:gd name="T5" fmla="*/ 92 h 113"/>
                    <a:gd name="T6" fmla="*/ 20 w 133"/>
                    <a:gd name="T7" fmla="*/ 0 h 113"/>
                    <a:gd name="T8" fmla="*/ 0 w 133"/>
                    <a:gd name="T9" fmla="*/ 13 h 113"/>
                    <a:gd name="T10" fmla="*/ 22 w 133"/>
                    <a:gd name="T11" fmla="*/ 37 h 113"/>
                    <a:gd name="T12" fmla="*/ 43 w 133"/>
                    <a:gd name="T13" fmla="*/ 96 h 113"/>
                    <a:gd name="T14" fmla="*/ 43 w 133"/>
                    <a:gd name="T15" fmla="*/ 99 h 113"/>
                    <a:gd name="T16" fmla="*/ 43 w 133"/>
                    <a:gd name="T17" fmla="*/ 100 h 113"/>
                    <a:gd name="T18" fmla="*/ 43 w 133"/>
                    <a:gd name="T19" fmla="*/ 100 h 113"/>
                    <a:gd name="T20" fmla="*/ 40 w 133"/>
                    <a:gd name="T21" fmla="*/ 112 h 113"/>
                    <a:gd name="T22" fmla="*/ 53 w 133"/>
                    <a:gd name="T23" fmla="*/ 113 h 113"/>
                    <a:gd name="T24" fmla="*/ 133 w 133"/>
                    <a:gd name="T25" fmla="*/ 71 h 113"/>
                    <a:gd name="T26" fmla="*/ 133 w 133"/>
                    <a:gd name="T27" fmla="*/ 70 h 113"/>
                    <a:gd name="T28" fmla="*/ 133 w 133"/>
                    <a:gd name="T29" fmla="*/ 69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3" h="113">
                      <a:moveTo>
                        <a:pt x="133" y="69"/>
                      </a:moveTo>
                      <a:cubicBezTo>
                        <a:pt x="131" y="38"/>
                        <a:pt x="113" y="12"/>
                        <a:pt x="87" y="0"/>
                      </a:cubicBezTo>
                      <a:cubicBezTo>
                        <a:pt x="53" y="92"/>
                        <a:pt x="53" y="92"/>
                        <a:pt x="53" y="92"/>
                      </a:cubicBezTo>
                      <a:cubicBezTo>
                        <a:pt x="20" y="0"/>
                        <a:pt x="20" y="0"/>
                        <a:pt x="20" y="0"/>
                      </a:cubicBezTo>
                      <a:cubicBezTo>
                        <a:pt x="13" y="4"/>
                        <a:pt x="6" y="8"/>
                        <a:pt x="0" y="13"/>
                      </a:cubicBezTo>
                      <a:cubicBezTo>
                        <a:pt x="9" y="20"/>
                        <a:pt x="16" y="28"/>
                        <a:pt x="22" y="37"/>
                      </a:cubicBezTo>
                      <a:cubicBezTo>
                        <a:pt x="34" y="55"/>
                        <a:pt x="41" y="75"/>
                        <a:pt x="43" y="96"/>
                      </a:cubicBezTo>
                      <a:cubicBezTo>
                        <a:pt x="43" y="97"/>
                        <a:pt x="43" y="98"/>
                        <a:pt x="43" y="99"/>
                      </a:cubicBezTo>
                      <a:cubicBezTo>
                        <a:pt x="43" y="100"/>
                        <a:pt x="43" y="100"/>
                        <a:pt x="43" y="100"/>
                      </a:cubicBezTo>
                      <a:cubicBezTo>
                        <a:pt x="43" y="100"/>
                        <a:pt x="43" y="100"/>
                        <a:pt x="43" y="100"/>
                      </a:cubicBezTo>
                      <a:cubicBezTo>
                        <a:pt x="43" y="104"/>
                        <a:pt x="41" y="108"/>
                        <a:pt x="40" y="112"/>
                      </a:cubicBezTo>
                      <a:cubicBezTo>
                        <a:pt x="44" y="112"/>
                        <a:pt x="49" y="113"/>
                        <a:pt x="53" y="113"/>
                      </a:cubicBezTo>
                      <a:cubicBezTo>
                        <a:pt x="97" y="112"/>
                        <a:pt x="132" y="90"/>
                        <a:pt x="133" y="71"/>
                      </a:cubicBezTo>
                      <a:cubicBezTo>
                        <a:pt x="133" y="71"/>
                        <a:pt x="133" y="71"/>
                        <a:pt x="133" y="70"/>
                      </a:cubicBezTo>
                      <a:cubicBezTo>
                        <a:pt x="133" y="70"/>
                        <a:pt x="133" y="69"/>
                        <a:pt x="133" y="69"/>
                      </a:cubicBezTo>
                      <a:close/>
                    </a:path>
                  </a:pathLst>
                </a:custGeom>
                <a:grpFill/>
                <a:ln w="9525">
                  <a:solidFill>
                    <a:schemeClr val="bg1"/>
                  </a:solidFill>
                  <a:round/>
                </a:ln>
              </p:spPr>
              <p:txBody>
                <a:bodyPr/>
                <a:lstStyle/>
                <a:p>
                  <a:pPr>
                    <a:defRPr/>
                  </a:pPr>
                  <a:endParaRPr lang="zh-CN" altLang="en-US">
                    <a:cs typeface="+mn-ea"/>
                    <a:sym typeface="+mn-lt"/>
                  </a:endParaRPr>
                </a:p>
              </p:txBody>
            </p:sp>
          </p:grpSp>
        </p:grpSp>
      </p:grpSp>
      <p:grpSp>
        <p:nvGrpSpPr>
          <p:cNvPr id="72" name="组合 71"/>
          <p:cNvGrpSpPr/>
          <p:nvPr/>
        </p:nvGrpSpPr>
        <p:grpSpPr>
          <a:xfrm>
            <a:off x="701251" y="2610031"/>
            <a:ext cx="550535" cy="555590"/>
            <a:chOff x="5237224" y="3759845"/>
            <a:chExt cx="914912" cy="926470"/>
          </a:xfrm>
          <a:solidFill>
            <a:schemeClr val="bg1"/>
          </a:solidFill>
        </p:grpSpPr>
        <p:sp>
          <p:nvSpPr>
            <p:cNvPr id="64" name="Freeform 1812"/>
            <p:cNvSpPr/>
            <p:nvPr/>
          </p:nvSpPr>
          <p:spPr>
            <a:xfrm>
              <a:off x="5237224" y="3759845"/>
              <a:ext cx="914912" cy="926470"/>
            </a:xfrm>
            <a:custGeom>
              <a:avLst/>
              <a:gdLst>
                <a:gd name="txL" fmla="*/ 0 w 91"/>
                <a:gd name="txT" fmla="*/ 0 h 92"/>
                <a:gd name="txR" fmla="*/ 91 w 91"/>
                <a:gd name="txB" fmla="*/ 92 h 92"/>
              </a:gdLst>
              <a:ahLst/>
              <a:cxnLst>
                <a:cxn ang="0">
                  <a:pos x="463341" y="150743"/>
                </a:cxn>
                <a:cxn ang="0">
                  <a:pos x="376464" y="463826"/>
                </a:cxn>
                <a:cxn ang="0">
                  <a:pos x="63709" y="382657"/>
                </a:cxn>
                <a:cxn ang="0">
                  <a:pos x="150586" y="63776"/>
                </a:cxn>
                <a:cxn ang="0">
                  <a:pos x="463341" y="150743"/>
                </a:cxn>
              </a:cxnLst>
              <a:rect l="txL" t="txT" r="txR" b="txB"/>
              <a:pathLst>
                <a:path w="91" h="92">
                  <a:moveTo>
                    <a:pt x="80" y="26"/>
                  </a:moveTo>
                  <a:cubicBezTo>
                    <a:pt x="91" y="45"/>
                    <a:pt x="84" y="69"/>
                    <a:pt x="65" y="80"/>
                  </a:cubicBezTo>
                  <a:cubicBezTo>
                    <a:pt x="46" y="92"/>
                    <a:pt x="22" y="85"/>
                    <a:pt x="11" y="66"/>
                  </a:cubicBezTo>
                  <a:cubicBezTo>
                    <a:pt x="0" y="47"/>
                    <a:pt x="6" y="22"/>
                    <a:pt x="26" y="11"/>
                  </a:cubicBezTo>
                  <a:cubicBezTo>
                    <a:pt x="45" y="0"/>
                    <a:pt x="69" y="7"/>
                    <a:pt x="80" y="26"/>
                  </a:cubicBezTo>
                </a:path>
              </a:pathLst>
            </a:custGeom>
            <a:solidFill>
              <a:srgbClr val="1B4367"/>
            </a:solidFill>
            <a:ln w="9525">
              <a:solidFill>
                <a:schemeClr val="bg1"/>
              </a:solidFill>
            </a:ln>
          </p:spPr>
          <p:txBody>
            <a:bodyPr/>
            <a:lstStyle/>
            <a:p>
              <a:endParaRPr lang="zh-CN" altLang="en-US">
                <a:cs typeface="+mn-ea"/>
                <a:sym typeface="+mn-lt"/>
              </a:endParaRPr>
            </a:p>
          </p:txBody>
        </p:sp>
        <p:grpSp>
          <p:nvGrpSpPr>
            <p:cNvPr id="28" name="组合 27"/>
            <p:cNvGrpSpPr/>
            <p:nvPr/>
          </p:nvGrpSpPr>
          <p:grpSpPr>
            <a:xfrm>
              <a:off x="5539564" y="3983837"/>
              <a:ext cx="345128" cy="512366"/>
              <a:chOff x="5649914" y="2946401"/>
              <a:chExt cx="360363" cy="534987"/>
            </a:xfrm>
            <a:grpFill/>
          </p:grpSpPr>
          <p:sp>
            <p:nvSpPr>
              <p:cNvPr id="29" name="Freeform 29"/>
              <p:cNvSpPr/>
              <p:nvPr/>
            </p:nvSpPr>
            <p:spPr bwMode="auto">
              <a:xfrm>
                <a:off x="5776914" y="3424238"/>
                <a:ext cx="106363" cy="57150"/>
              </a:xfrm>
              <a:custGeom>
                <a:avLst/>
                <a:gdLst>
                  <a:gd name="T0" fmla="*/ 0 w 74"/>
                  <a:gd name="T1" fmla="*/ 0 h 40"/>
                  <a:gd name="T2" fmla="*/ 37 w 74"/>
                  <a:gd name="T3" fmla="*/ 40 h 40"/>
                  <a:gd name="T4" fmla="*/ 74 w 74"/>
                  <a:gd name="T5" fmla="*/ 0 h 40"/>
                  <a:gd name="T6" fmla="*/ 0 w 74"/>
                  <a:gd name="T7" fmla="*/ 0 h 40"/>
                </a:gdLst>
                <a:ahLst/>
                <a:cxnLst>
                  <a:cxn ang="0">
                    <a:pos x="T0" y="T1"/>
                  </a:cxn>
                  <a:cxn ang="0">
                    <a:pos x="T2" y="T3"/>
                  </a:cxn>
                  <a:cxn ang="0">
                    <a:pos x="T4" y="T5"/>
                  </a:cxn>
                  <a:cxn ang="0">
                    <a:pos x="T6" y="T7"/>
                  </a:cxn>
                </a:cxnLst>
                <a:rect l="0" t="0" r="r" b="b"/>
                <a:pathLst>
                  <a:path w="74" h="40">
                    <a:moveTo>
                      <a:pt x="0" y="0"/>
                    </a:moveTo>
                    <a:cubicBezTo>
                      <a:pt x="0" y="22"/>
                      <a:pt x="17" y="40"/>
                      <a:pt x="37" y="40"/>
                    </a:cubicBezTo>
                    <a:cubicBezTo>
                      <a:pt x="57" y="40"/>
                      <a:pt x="74" y="22"/>
                      <a:pt x="74" y="0"/>
                    </a:cubicBezTo>
                    <a:lnTo>
                      <a:pt x="0" y="0"/>
                    </a:lnTo>
                    <a:close/>
                  </a:path>
                </a:pathLst>
              </a:custGeom>
              <a:grpFill/>
              <a:ln w="9525">
                <a:solidFill>
                  <a:schemeClr val="bg1"/>
                </a:solidFill>
                <a:round/>
              </a:ln>
            </p:spPr>
            <p:txBody>
              <a:bodyPr/>
              <a:lstStyle/>
              <a:p>
                <a:pPr>
                  <a:defRPr/>
                </a:pPr>
                <a:endParaRPr lang="zh-CN" altLang="en-US">
                  <a:cs typeface="+mn-ea"/>
                  <a:sym typeface="+mn-lt"/>
                </a:endParaRPr>
              </a:p>
            </p:txBody>
          </p:sp>
          <p:sp>
            <p:nvSpPr>
              <p:cNvPr id="30" name="Freeform 30"/>
              <p:cNvSpPr/>
              <p:nvPr/>
            </p:nvSpPr>
            <p:spPr bwMode="auto">
              <a:xfrm>
                <a:off x="5753101" y="3346451"/>
                <a:ext cx="153988" cy="26988"/>
              </a:xfrm>
              <a:custGeom>
                <a:avLst/>
                <a:gdLst>
                  <a:gd name="T0" fmla="*/ 106 w 106"/>
                  <a:gd name="T1" fmla="*/ 11 h 19"/>
                  <a:gd name="T2" fmla="*/ 98 w 106"/>
                  <a:gd name="T3" fmla="*/ 19 h 19"/>
                  <a:gd name="T4" fmla="*/ 8 w 106"/>
                  <a:gd name="T5" fmla="*/ 19 h 19"/>
                  <a:gd name="T6" fmla="*/ 0 w 106"/>
                  <a:gd name="T7" fmla="*/ 11 h 19"/>
                  <a:gd name="T8" fmla="*/ 0 w 106"/>
                  <a:gd name="T9" fmla="*/ 8 h 19"/>
                  <a:gd name="T10" fmla="*/ 8 w 106"/>
                  <a:gd name="T11" fmla="*/ 0 h 19"/>
                  <a:gd name="T12" fmla="*/ 98 w 106"/>
                  <a:gd name="T13" fmla="*/ 0 h 19"/>
                  <a:gd name="T14" fmla="*/ 106 w 106"/>
                  <a:gd name="T15" fmla="*/ 8 h 19"/>
                  <a:gd name="T16" fmla="*/ 106 w 106"/>
                  <a:gd name="T17" fmla="*/ 11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6" h="19">
                    <a:moveTo>
                      <a:pt x="106" y="11"/>
                    </a:moveTo>
                    <a:cubicBezTo>
                      <a:pt x="106" y="16"/>
                      <a:pt x="103" y="19"/>
                      <a:pt x="98" y="19"/>
                    </a:cubicBezTo>
                    <a:cubicBezTo>
                      <a:pt x="8" y="19"/>
                      <a:pt x="8" y="19"/>
                      <a:pt x="8" y="19"/>
                    </a:cubicBezTo>
                    <a:cubicBezTo>
                      <a:pt x="3" y="19"/>
                      <a:pt x="0" y="16"/>
                      <a:pt x="0" y="11"/>
                    </a:cubicBezTo>
                    <a:cubicBezTo>
                      <a:pt x="0" y="8"/>
                      <a:pt x="0" y="8"/>
                      <a:pt x="0" y="8"/>
                    </a:cubicBezTo>
                    <a:cubicBezTo>
                      <a:pt x="0" y="4"/>
                      <a:pt x="3" y="0"/>
                      <a:pt x="8" y="0"/>
                    </a:cubicBezTo>
                    <a:cubicBezTo>
                      <a:pt x="98" y="0"/>
                      <a:pt x="98" y="0"/>
                      <a:pt x="98" y="0"/>
                    </a:cubicBezTo>
                    <a:cubicBezTo>
                      <a:pt x="103" y="0"/>
                      <a:pt x="106" y="4"/>
                      <a:pt x="106" y="8"/>
                    </a:cubicBezTo>
                    <a:lnTo>
                      <a:pt x="106" y="11"/>
                    </a:lnTo>
                    <a:close/>
                  </a:path>
                </a:pathLst>
              </a:custGeom>
              <a:grpFill/>
              <a:ln w="9525">
                <a:solidFill>
                  <a:schemeClr val="bg1"/>
                </a:solidFill>
                <a:round/>
              </a:ln>
            </p:spPr>
            <p:txBody>
              <a:bodyPr/>
              <a:lstStyle/>
              <a:p>
                <a:pPr>
                  <a:defRPr/>
                </a:pPr>
                <a:endParaRPr lang="zh-CN" altLang="en-US">
                  <a:cs typeface="+mn-ea"/>
                  <a:sym typeface="+mn-lt"/>
                </a:endParaRPr>
              </a:p>
            </p:txBody>
          </p:sp>
          <p:sp>
            <p:nvSpPr>
              <p:cNvPr id="31" name="Freeform 31"/>
              <p:cNvSpPr/>
              <p:nvPr/>
            </p:nvSpPr>
            <p:spPr bwMode="auto">
              <a:xfrm>
                <a:off x="5753101" y="3386138"/>
                <a:ext cx="153988" cy="26988"/>
              </a:xfrm>
              <a:custGeom>
                <a:avLst/>
                <a:gdLst>
                  <a:gd name="T0" fmla="*/ 106 w 106"/>
                  <a:gd name="T1" fmla="*/ 11 h 19"/>
                  <a:gd name="T2" fmla="*/ 98 w 106"/>
                  <a:gd name="T3" fmla="*/ 19 h 19"/>
                  <a:gd name="T4" fmla="*/ 8 w 106"/>
                  <a:gd name="T5" fmla="*/ 19 h 19"/>
                  <a:gd name="T6" fmla="*/ 0 w 106"/>
                  <a:gd name="T7" fmla="*/ 11 h 19"/>
                  <a:gd name="T8" fmla="*/ 0 w 106"/>
                  <a:gd name="T9" fmla="*/ 8 h 19"/>
                  <a:gd name="T10" fmla="*/ 8 w 106"/>
                  <a:gd name="T11" fmla="*/ 0 h 19"/>
                  <a:gd name="T12" fmla="*/ 98 w 106"/>
                  <a:gd name="T13" fmla="*/ 0 h 19"/>
                  <a:gd name="T14" fmla="*/ 106 w 106"/>
                  <a:gd name="T15" fmla="*/ 8 h 19"/>
                  <a:gd name="T16" fmla="*/ 106 w 106"/>
                  <a:gd name="T17" fmla="*/ 11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6" h="19">
                    <a:moveTo>
                      <a:pt x="106" y="11"/>
                    </a:moveTo>
                    <a:cubicBezTo>
                      <a:pt x="106" y="15"/>
                      <a:pt x="103" y="19"/>
                      <a:pt x="98" y="19"/>
                    </a:cubicBezTo>
                    <a:cubicBezTo>
                      <a:pt x="8" y="19"/>
                      <a:pt x="8" y="19"/>
                      <a:pt x="8" y="19"/>
                    </a:cubicBezTo>
                    <a:cubicBezTo>
                      <a:pt x="3" y="19"/>
                      <a:pt x="0" y="15"/>
                      <a:pt x="0" y="11"/>
                    </a:cubicBezTo>
                    <a:cubicBezTo>
                      <a:pt x="0" y="8"/>
                      <a:pt x="0" y="8"/>
                      <a:pt x="0" y="8"/>
                    </a:cubicBezTo>
                    <a:cubicBezTo>
                      <a:pt x="0" y="3"/>
                      <a:pt x="3" y="0"/>
                      <a:pt x="8" y="0"/>
                    </a:cubicBezTo>
                    <a:cubicBezTo>
                      <a:pt x="98" y="0"/>
                      <a:pt x="98" y="0"/>
                      <a:pt x="98" y="0"/>
                    </a:cubicBezTo>
                    <a:cubicBezTo>
                      <a:pt x="103" y="0"/>
                      <a:pt x="106" y="3"/>
                      <a:pt x="106" y="8"/>
                    </a:cubicBezTo>
                    <a:lnTo>
                      <a:pt x="106" y="11"/>
                    </a:lnTo>
                    <a:close/>
                  </a:path>
                </a:pathLst>
              </a:custGeom>
              <a:grpFill/>
              <a:ln w="9525">
                <a:solidFill>
                  <a:schemeClr val="bg1"/>
                </a:solidFill>
                <a:round/>
              </a:ln>
            </p:spPr>
            <p:txBody>
              <a:bodyPr/>
              <a:lstStyle/>
              <a:p>
                <a:pPr>
                  <a:defRPr/>
                </a:pPr>
                <a:endParaRPr lang="zh-CN" altLang="en-US">
                  <a:cs typeface="+mn-ea"/>
                  <a:sym typeface="+mn-lt"/>
                </a:endParaRPr>
              </a:p>
            </p:txBody>
          </p:sp>
          <p:sp>
            <p:nvSpPr>
              <p:cNvPr id="32" name="Freeform 32"/>
              <p:cNvSpPr/>
              <p:nvPr/>
            </p:nvSpPr>
            <p:spPr bwMode="auto">
              <a:xfrm>
                <a:off x="5649914" y="2946401"/>
                <a:ext cx="360363" cy="385763"/>
              </a:xfrm>
              <a:custGeom>
                <a:avLst/>
                <a:gdLst>
                  <a:gd name="T0" fmla="*/ 250 w 250"/>
                  <a:gd name="T1" fmla="*/ 125 h 268"/>
                  <a:gd name="T2" fmla="*/ 125 w 250"/>
                  <a:gd name="T3" fmla="*/ 0 h 268"/>
                  <a:gd name="T4" fmla="*/ 0 w 250"/>
                  <a:gd name="T5" fmla="*/ 125 h 268"/>
                  <a:gd name="T6" fmla="*/ 72 w 250"/>
                  <a:gd name="T7" fmla="*/ 238 h 268"/>
                  <a:gd name="T8" fmla="*/ 72 w 250"/>
                  <a:gd name="T9" fmla="*/ 244 h 268"/>
                  <a:gd name="T10" fmla="*/ 96 w 250"/>
                  <a:gd name="T11" fmla="*/ 268 h 268"/>
                  <a:gd name="T12" fmla="*/ 154 w 250"/>
                  <a:gd name="T13" fmla="*/ 268 h 268"/>
                  <a:gd name="T14" fmla="*/ 178 w 250"/>
                  <a:gd name="T15" fmla="*/ 244 h 268"/>
                  <a:gd name="T16" fmla="*/ 178 w 250"/>
                  <a:gd name="T17" fmla="*/ 238 h 268"/>
                  <a:gd name="T18" fmla="*/ 250 w 250"/>
                  <a:gd name="T19" fmla="*/ 125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0" h="268">
                    <a:moveTo>
                      <a:pt x="250" y="125"/>
                    </a:moveTo>
                    <a:cubicBezTo>
                      <a:pt x="250" y="56"/>
                      <a:pt x="194" y="0"/>
                      <a:pt x="125" y="0"/>
                    </a:cubicBezTo>
                    <a:cubicBezTo>
                      <a:pt x="56" y="0"/>
                      <a:pt x="0" y="56"/>
                      <a:pt x="0" y="125"/>
                    </a:cubicBezTo>
                    <a:cubicBezTo>
                      <a:pt x="0" y="175"/>
                      <a:pt x="30" y="218"/>
                      <a:pt x="72" y="238"/>
                    </a:cubicBezTo>
                    <a:cubicBezTo>
                      <a:pt x="72" y="244"/>
                      <a:pt x="72" y="244"/>
                      <a:pt x="72" y="244"/>
                    </a:cubicBezTo>
                    <a:cubicBezTo>
                      <a:pt x="72" y="257"/>
                      <a:pt x="83" y="268"/>
                      <a:pt x="96" y="268"/>
                    </a:cubicBezTo>
                    <a:cubicBezTo>
                      <a:pt x="154" y="268"/>
                      <a:pt x="154" y="268"/>
                      <a:pt x="154" y="268"/>
                    </a:cubicBezTo>
                    <a:cubicBezTo>
                      <a:pt x="167" y="268"/>
                      <a:pt x="178" y="257"/>
                      <a:pt x="178" y="244"/>
                    </a:cubicBezTo>
                    <a:cubicBezTo>
                      <a:pt x="178" y="238"/>
                      <a:pt x="178" y="238"/>
                      <a:pt x="178" y="238"/>
                    </a:cubicBezTo>
                    <a:cubicBezTo>
                      <a:pt x="221" y="218"/>
                      <a:pt x="250" y="175"/>
                      <a:pt x="250" y="125"/>
                    </a:cubicBezTo>
                    <a:close/>
                  </a:path>
                </a:pathLst>
              </a:custGeom>
              <a:grpFill/>
              <a:ln w="9525">
                <a:solidFill>
                  <a:schemeClr val="bg1"/>
                </a:solidFill>
                <a:round/>
              </a:ln>
            </p:spPr>
            <p:txBody>
              <a:bodyPr/>
              <a:lstStyle/>
              <a:p>
                <a:pPr>
                  <a:defRPr/>
                </a:pPr>
                <a:endParaRPr lang="zh-CN" altLang="en-US">
                  <a:cs typeface="+mn-ea"/>
                  <a:sym typeface="+mn-lt"/>
                </a:endParaRPr>
              </a:p>
            </p:txBody>
          </p:sp>
        </p:grpSp>
      </p:grpSp>
      <p:sp>
        <p:nvSpPr>
          <p:cNvPr id="55" name="文本框 15"/>
          <p:cNvSpPr txBox="1"/>
          <p:nvPr/>
        </p:nvSpPr>
        <p:spPr>
          <a:xfrm>
            <a:off x="709386" y="309785"/>
            <a:ext cx="3537525" cy="377026"/>
          </a:xfrm>
          <a:prstGeom prst="rect">
            <a:avLst/>
          </a:prstGeom>
          <a:noFill/>
        </p:spPr>
        <p:txBody>
          <a:bodyPr wrap="square" lIns="68580" tIns="34290" rIns="68580" bIns="34290" rtlCol="0">
            <a:spAutoFit/>
          </a:bodyPr>
          <a:lstStyle/>
          <a:p>
            <a:r>
              <a:rPr lang="en-US" altLang="zh-CN" sz="2000" b="1" dirty="0">
                <a:solidFill>
                  <a:srgbClr val="1B4367"/>
                </a:solidFill>
                <a:cs typeface="+mn-ea"/>
                <a:sym typeface="+mn-lt"/>
              </a:rPr>
              <a:t>Paper search and analysis</a:t>
            </a:r>
            <a:endParaRPr lang="zh-CN" altLang="en-US" sz="2000" b="1" dirty="0">
              <a:solidFill>
                <a:srgbClr val="1B4367"/>
              </a:solidFill>
              <a:cs typeface="+mn-ea"/>
              <a:sym typeface="+mn-lt"/>
            </a:endParaRPr>
          </a:p>
        </p:txBody>
      </p:sp>
      <p:cxnSp>
        <p:nvCxnSpPr>
          <p:cNvPr id="57" name="直接连接符 56"/>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pic>
        <p:nvPicPr>
          <p:cNvPr id="3" name="图片 2"/>
          <p:cNvPicPr>
            <a:picLocks noChangeAspect="1"/>
          </p:cNvPicPr>
          <p:nvPr/>
        </p:nvPicPr>
        <p:blipFill>
          <a:blip r:embed="rId1"/>
          <a:stretch>
            <a:fillRect/>
          </a:stretch>
        </p:blipFill>
        <p:spPr>
          <a:xfrm>
            <a:off x="1038470" y="1192875"/>
            <a:ext cx="3117682" cy="1327614"/>
          </a:xfrm>
          <a:prstGeom prst="rect">
            <a:avLst/>
          </a:prstGeom>
        </p:spPr>
      </p:pic>
      <p:pic>
        <p:nvPicPr>
          <p:cNvPr id="10" name="图片 9"/>
          <p:cNvPicPr>
            <a:picLocks noChangeAspect="1"/>
          </p:cNvPicPr>
          <p:nvPr/>
        </p:nvPicPr>
        <p:blipFill>
          <a:blip r:embed="rId2"/>
          <a:stretch>
            <a:fillRect/>
          </a:stretch>
        </p:blipFill>
        <p:spPr>
          <a:xfrm>
            <a:off x="5105128" y="1204663"/>
            <a:ext cx="2553979" cy="1614062"/>
          </a:xfrm>
          <a:prstGeom prst="rect">
            <a:avLst/>
          </a:prstGeom>
        </p:spPr>
      </p:pic>
      <p:sp>
        <p:nvSpPr>
          <p:cNvPr id="12" name="TextBox 1956"/>
          <p:cNvSpPr/>
          <p:nvPr/>
        </p:nvSpPr>
        <p:spPr>
          <a:xfrm>
            <a:off x="1204849" y="2754482"/>
            <a:ext cx="1669966" cy="284693"/>
          </a:xfrm>
          <a:prstGeom prst="rect">
            <a:avLst/>
          </a:prstGeom>
          <a:noFill/>
          <a:ln w="9525">
            <a:noFill/>
            <a:miter/>
          </a:ln>
        </p:spPr>
        <p:txBody>
          <a:bodyPr wrap="square">
            <a:spAutoFit/>
          </a:bodyPr>
          <a:lstStyle/>
          <a:p>
            <a:pPr>
              <a:lnSpc>
                <a:spcPts val="1500"/>
              </a:lnSpc>
            </a:pPr>
            <a:r>
              <a:rPr lang="en-US" altLang="zh-CN" b="1" dirty="0">
                <a:solidFill>
                  <a:srgbClr val="1B4367"/>
                </a:solidFill>
                <a:cs typeface="+mn-ea"/>
                <a:sym typeface="+mn-lt"/>
              </a:rPr>
              <a:t>Data analysis</a:t>
            </a:r>
            <a:endParaRPr lang="zh-CN" altLang="en-US" b="1" dirty="0">
              <a:solidFill>
                <a:srgbClr val="1B4367"/>
              </a:solidFill>
              <a:cs typeface="+mn-ea"/>
              <a:sym typeface="+mn-lt"/>
            </a:endParaRPr>
          </a:p>
        </p:txBody>
      </p:sp>
      <p:pic>
        <p:nvPicPr>
          <p:cNvPr id="14" name="图片 13"/>
          <p:cNvPicPr>
            <a:picLocks noChangeAspect="1"/>
          </p:cNvPicPr>
          <p:nvPr/>
        </p:nvPicPr>
        <p:blipFill>
          <a:blip r:embed="rId3"/>
          <a:stretch>
            <a:fillRect/>
          </a:stretch>
        </p:blipFill>
        <p:spPr>
          <a:xfrm>
            <a:off x="999691" y="3165621"/>
            <a:ext cx="2903417" cy="1606094"/>
          </a:xfrm>
          <a:prstGeom prst="rect">
            <a:avLst/>
          </a:prstGeom>
        </p:spPr>
      </p:pic>
      <p:cxnSp>
        <p:nvCxnSpPr>
          <p:cNvPr id="16" name="直接连接符 15"/>
          <p:cNvCxnSpPr/>
          <p:nvPr/>
        </p:nvCxnSpPr>
        <p:spPr>
          <a:xfrm>
            <a:off x="5121070" y="1116384"/>
            <a:ext cx="9689" cy="3412730"/>
          </a:xfrm>
          <a:prstGeom prst="line">
            <a:avLst/>
          </a:prstGeom>
          <a:ln w="9525">
            <a:solidFill>
              <a:srgbClr val="1B4367"/>
            </a:solidFill>
            <a:prstDash val="solid"/>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973159" y="3111871"/>
            <a:ext cx="0" cy="1582785"/>
          </a:xfrm>
          <a:prstGeom prst="line">
            <a:avLst/>
          </a:prstGeom>
          <a:ln w="9525">
            <a:solidFill>
              <a:srgbClr val="1B4367"/>
            </a:solidFill>
            <a:prstDash val="solid"/>
          </a:ln>
        </p:spPr>
        <p:style>
          <a:lnRef idx="1">
            <a:schemeClr val="accent1"/>
          </a:lnRef>
          <a:fillRef idx="0">
            <a:schemeClr val="accent1"/>
          </a:fillRef>
          <a:effectRef idx="0">
            <a:schemeClr val="accent1"/>
          </a:effectRef>
          <a:fontRef idx="minor">
            <a:schemeClr val="tx1"/>
          </a:fontRef>
        </p:style>
      </p:cxnSp>
      <p:sp>
        <p:nvSpPr>
          <p:cNvPr id="24" name="TextBox 1956"/>
          <p:cNvSpPr/>
          <p:nvPr/>
        </p:nvSpPr>
        <p:spPr>
          <a:xfrm>
            <a:off x="5380331" y="782251"/>
            <a:ext cx="2576364" cy="284693"/>
          </a:xfrm>
          <a:prstGeom prst="rect">
            <a:avLst/>
          </a:prstGeom>
          <a:noFill/>
          <a:ln w="9525">
            <a:noFill/>
            <a:miter/>
          </a:ln>
        </p:spPr>
        <p:txBody>
          <a:bodyPr wrap="square">
            <a:spAutoFit/>
          </a:bodyPr>
          <a:lstStyle/>
          <a:p>
            <a:pPr>
              <a:lnSpc>
                <a:spcPts val="1500"/>
              </a:lnSpc>
            </a:pPr>
            <a:r>
              <a:rPr lang="en-US" altLang="zh-CN" b="1" dirty="0">
                <a:solidFill>
                  <a:srgbClr val="1B4367"/>
                </a:solidFill>
                <a:cs typeface="+mn-ea"/>
                <a:sym typeface="+mn-lt"/>
              </a:rPr>
              <a:t>Frequency of publications</a:t>
            </a:r>
            <a:endParaRPr lang="zh-CN" altLang="en-US" b="1" dirty="0">
              <a:solidFill>
                <a:srgbClr val="1B4367"/>
              </a:solidFill>
              <a:cs typeface="+mn-ea"/>
              <a:sym typeface="+mn-lt"/>
            </a:endParaRPr>
          </a:p>
        </p:txBody>
      </p:sp>
      <p:pic>
        <p:nvPicPr>
          <p:cNvPr id="59" name="图片 58"/>
          <p:cNvPicPr>
            <a:picLocks noChangeAspect="1"/>
          </p:cNvPicPr>
          <p:nvPr/>
        </p:nvPicPr>
        <p:blipFill>
          <a:blip r:embed="rId4"/>
          <a:stretch>
            <a:fillRect/>
          </a:stretch>
        </p:blipFill>
        <p:spPr>
          <a:xfrm>
            <a:off x="5148245" y="2833513"/>
            <a:ext cx="2553980" cy="16870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55"/>
                                        </p:tgtEl>
                                        <p:attrNameLst>
                                          <p:attrName>ppt_y</p:attrName>
                                        </p:attrNameLst>
                                      </p:cBhvr>
                                      <p:tavLst>
                                        <p:tav tm="0">
                                          <p:val>
                                            <p:strVal val="#ppt_y"/>
                                          </p:val>
                                        </p:tav>
                                        <p:tav tm="100000">
                                          <p:val>
                                            <p:strVal val="#ppt_y"/>
                                          </p:val>
                                        </p:tav>
                                      </p:tavLst>
                                    </p:anim>
                                    <p:anim calcmode="lin" valueType="num">
                                      <p:cBhvr>
                                        <p:cTn id="9" dur="500" fill="hold"/>
                                        <p:tgtEl>
                                          <p:spTgt spid="5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5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55"/>
                                        </p:tgtEl>
                                      </p:cBhvr>
                                    </p:animEffect>
                                  </p:childTnLst>
                                </p:cTn>
                              </p:par>
                            </p:childTnLst>
                          </p:cTn>
                        </p:par>
                        <p:par>
                          <p:cTn id="12" fill="hold">
                            <p:stCondLst>
                              <p:cond delay="1700"/>
                            </p:stCondLst>
                            <p:childTnLst>
                              <p:par>
                                <p:cTn id="13" presetID="22" presetClass="entr" presetSubtype="8" fill="hold" nodeType="afterEffect">
                                  <p:stCondLst>
                                    <p:cond delay="0"/>
                                  </p:stCondLst>
                                  <p:childTnLst>
                                    <p:set>
                                      <p:cBhvr>
                                        <p:cTn id="14" dur="1" fill="hold">
                                          <p:stCondLst>
                                            <p:cond delay="0"/>
                                          </p:stCondLst>
                                        </p:cTn>
                                        <p:tgtEl>
                                          <p:spTgt spid="57"/>
                                        </p:tgtEl>
                                        <p:attrNameLst>
                                          <p:attrName>style.visibility</p:attrName>
                                        </p:attrNameLst>
                                      </p:cBhvr>
                                      <p:to>
                                        <p:strVal val="visible"/>
                                      </p:to>
                                    </p:set>
                                    <p:animEffect transition="in" filter="wipe(left)">
                                      <p:cBhvr>
                                        <p:cTn id="15" dur="300"/>
                                        <p:tgtEl>
                                          <p:spTgt spid="57"/>
                                        </p:tgtEl>
                                      </p:cBhvr>
                                    </p:animEffect>
                                  </p:childTnLst>
                                </p:cTn>
                              </p:par>
                            </p:childTnLst>
                          </p:cTn>
                        </p:par>
                        <p:par>
                          <p:cTn id="16" fill="hold">
                            <p:stCondLst>
                              <p:cond delay="2200"/>
                            </p:stCondLst>
                            <p:childTnLst>
                              <p:par>
                                <p:cTn id="17" presetID="22" presetClass="entr" presetSubtype="1" fill="hold"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up)">
                                      <p:cBhvr>
                                        <p:cTn id="19" dur="500"/>
                                        <p:tgtEl>
                                          <p:spTgt spid="11"/>
                                        </p:tgtEl>
                                      </p:cBhvr>
                                    </p:animEffect>
                                  </p:childTnLst>
                                </p:cTn>
                              </p:par>
                            </p:childTnLst>
                          </p:cTn>
                        </p:par>
                        <p:par>
                          <p:cTn id="20" fill="hold">
                            <p:stCondLst>
                              <p:cond delay="2700"/>
                            </p:stCondLst>
                            <p:childTnLst>
                              <p:par>
                                <p:cTn id="21" presetID="53" presetClass="entr" presetSubtype="16" fill="hold" nodeType="afterEffect">
                                  <p:stCondLst>
                                    <p:cond delay="0"/>
                                  </p:stCondLst>
                                  <p:childTnLst>
                                    <p:set>
                                      <p:cBhvr>
                                        <p:cTn id="22" dur="1" fill="hold">
                                          <p:stCondLst>
                                            <p:cond delay="0"/>
                                          </p:stCondLst>
                                        </p:cTn>
                                        <p:tgtEl>
                                          <p:spTgt spid="70"/>
                                        </p:tgtEl>
                                        <p:attrNameLst>
                                          <p:attrName>style.visibility</p:attrName>
                                        </p:attrNameLst>
                                      </p:cBhvr>
                                      <p:to>
                                        <p:strVal val="visible"/>
                                      </p:to>
                                    </p:set>
                                    <p:anim calcmode="lin" valueType="num">
                                      <p:cBhvr>
                                        <p:cTn id="23" dur="500" fill="hold"/>
                                        <p:tgtEl>
                                          <p:spTgt spid="70"/>
                                        </p:tgtEl>
                                        <p:attrNameLst>
                                          <p:attrName>ppt_w</p:attrName>
                                        </p:attrNameLst>
                                      </p:cBhvr>
                                      <p:tavLst>
                                        <p:tav tm="0">
                                          <p:val>
                                            <p:fltVal val="0"/>
                                          </p:val>
                                        </p:tav>
                                        <p:tav tm="100000">
                                          <p:val>
                                            <p:strVal val="#ppt_w"/>
                                          </p:val>
                                        </p:tav>
                                      </p:tavLst>
                                    </p:anim>
                                    <p:anim calcmode="lin" valueType="num">
                                      <p:cBhvr>
                                        <p:cTn id="24" dur="500" fill="hold"/>
                                        <p:tgtEl>
                                          <p:spTgt spid="70"/>
                                        </p:tgtEl>
                                        <p:attrNameLst>
                                          <p:attrName>ppt_h</p:attrName>
                                        </p:attrNameLst>
                                      </p:cBhvr>
                                      <p:tavLst>
                                        <p:tav tm="0">
                                          <p:val>
                                            <p:fltVal val="0"/>
                                          </p:val>
                                        </p:tav>
                                        <p:tav tm="100000">
                                          <p:val>
                                            <p:strVal val="#ppt_h"/>
                                          </p:val>
                                        </p:tav>
                                      </p:tavLst>
                                    </p:anim>
                                    <p:animEffect transition="in" filter="fade">
                                      <p:cBhvr>
                                        <p:cTn id="25" dur="500"/>
                                        <p:tgtEl>
                                          <p:spTgt spid="70"/>
                                        </p:tgtEl>
                                      </p:cBhvr>
                                    </p:animEffect>
                                  </p:childTnLst>
                                </p:cTn>
                              </p:par>
                            </p:childTnLst>
                          </p:cTn>
                        </p:par>
                        <p:par>
                          <p:cTn id="26" fill="hold">
                            <p:stCondLst>
                              <p:cond delay="3200"/>
                            </p:stCondLst>
                            <p:childTnLst>
                              <p:par>
                                <p:cTn id="27" presetID="2" presetClass="entr" presetSubtype="2" fill="hold" nodeType="afterEffect">
                                  <p:stCondLst>
                                    <p:cond delay="0"/>
                                  </p:stCondLst>
                                  <p:childTnLst>
                                    <p:set>
                                      <p:cBhvr>
                                        <p:cTn id="28" dur="1" fill="hold">
                                          <p:stCondLst>
                                            <p:cond delay="0"/>
                                          </p:stCondLst>
                                        </p:cTn>
                                        <p:tgtEl>
                                          <p:spTgt spid="75"/>
                                        </p:tgtEl>
                                        <p:attrNameLst>
                                          <p:attrName>style.visibility</p:attrName>
                                        </p:attrNameLst>
                                      </p:cBhvr>
                                      <p:to>
                                        <p:strVal val="visible"/>
                                      </p:to>
                                    </p:set>
                                    <p:anim calcmode="lin" valueType="num">
                                      <p:cBhvr additive="base">
                                        <p:cTn id="29" dur="500" fill="hold"/>
                                        <p:tgtEl>
                                          <p:spTgt spid="75"/>
                                        </p:tgtEl>
                                        <p:attrNameLst>
                                          <p:attrName>ppt_x</p:attrName>
                                        </p:attrNameLst>
                                      </p:cBhvr>
                                      <p:tavLst>
                                        <p:tav tm="0">
                                          <p:val>
                                            <p:strVal val="1+#ppt_w/2"/>
                                          </p:val>
                                        </p:tav>
                                        <p:tav tm="100000">
                                          <p:val>
                                            <p:strVal val="#ppt_x"/>
                                          </p:val>
                                        </p:tav>
                                      </p:tavLst>
                                    </p:anim>
                                    <p:anim calcmode="lin" valueType="num">
                                      <p:cBhvr additive="base">
                                        <p:cTn id="30" dur="500" fill="hold"/>
                                        <p:tgtEl>
                                          <p:spTgt spid="75"/>
                                        </p:tgtEl>
                                        <p:attrNameLst>
                                          <p:attrName>ppt_y</p:attrName>
                                        </p:attrNameLst>
                                      </p:cBhvr>
                                      <p:tavLst>
                                        <p:tav tm="0">
                                          <p:val>
                                            <p:strVal val="#ppt_y"/>
                                          </p:val>
                                        </p:tav>
                                        <p:tav tm="100000">
                                          <p:val>
                                            <p:strVal val="#ppt_y"/>
                                          </p:val>
                                        </p:tav>
                                      </p:tavLst>
                                    </p:anim>
                                  </p:childTnLst>
                                </p:cTn>
                              </p:par>
                            </p:childTnLst>
                          </p:cTn>
                        </p:par>
                        <p:par>
                          <p:cTn id="31" fill="hold">
                            <p:stCondLst>
                              <p:cond delay="3700"/>
                            </p:stCondLst>
                            <p:childTnLst>
                              <p:par>
                                <p:cTn id="32" presetID="53" presetClass="entr" presetSubtype="16" fill="hold" nodeType="afterEffect">
                                  <p:stCondLst>
                                    <p:cond delay="0"/>
                                  </p:stCondLst>
                                  <p:childTnLst>
                                    <p:set>
                                      <p:cBhvr>
                                        <p:cTn id="33" dur="1" fill="hold">
                                          <p:stCondLst>
                                            <p:cond delay="0"/>
                                          </p:stCondLst>
                                        </p:cTn>
                                        <p:tgtEl>
                                          <p:spTgt spid="72"/>
                                        </p:tgtEl>
                                        <p:attrNameLst>
                                          <p:attrName>style.visibility</p:attrName>
                                        </p:attrNameLst>
                                      </p:cBhvr>
                                      <p:to>
                                        <p:strVal val="visible"/>
                                      </p:to>
                                    </p:set>
                                    <p:anim calcmode="lin" valueType="num">
                                      <p:cBhvr>
                                        <p:cTn id="34" dur="500" fill="hold"/>
                                        <p:tgtEl>
                                          <p:spTgt spid="72"/>
                                        </p:tgtEl>
                                        <p:attrNameLst>
                                          <p:attrName>ppt_w</p:attrName>
                                        </p:attrNameLst>
                                      </p:cBhvr>
                                      <p:tavLst>
                                        <p:tav tm="0">
                                          <p:val>
                                            <p:fltVal val="0"/>
                                          </p:val>
                                        </p:tav>
                                        <p:tav tm="100000">
                                          <p:val>
                                            <p:strVal val="#ppt_w"/>
                                          </p:val>
                                        </p:tav>
                                      </p:tavLst>
                                    </p:anim>
                                    <p:anim calcmode="lin" valueType="num">
                                      <p:cBhvr>
                                        <p:cTn id="35" dur="500" fill="hold"/>
                                        <p:tgtEl>
                                          <p:spTgt spid="72"/>
                                        </p:tgtEl>
                                        <p:attrNameLst>
                                          <p:attrName>ppt_h</p:attrName>
                                        </p:attrNameLst>
                                      </p:cBhvr>
                                      <p:tavLst>
                                        <p:tav tm="0">
                                          <p:val>
                                            <p:fltVal val="0"/>
                                          </p:val>
                                        </p:tav>
                                        <p:tav tm="100000">
                                          <p:val>
                                            <p:strVal val="#ppt_h"/>
                                          </p:val>
                                        </p:tav>
                                      </p:tavLst>
                                    </p:anim>
                                    <p:animEffect transition="in" filter="fade">
                                      <p:cBhvr>
                                        <p:cTn id="36" dur="500"/>
                                        <p:tgtEl>
                                          <p:spTgt spid="72"/>
                                        </p:tgtEl>
                                      </p:cBhvr>
                                    </p:animEffect>
                                  </p:childTnLst>
                                </p:cTn>
                              </p:par>
                            </p:childTnLst>
                          </p:cTn>
                        </p:par>
                        <p:par>
                          <p:cTn id="37" fill="hold">
                            <p:stCondLst>
                              <p:cond delay="4200"/>
                            </p:stCondLst>
                            <p:childTnLst>
                              <p:par>
                                <p:cTn id="38" presetID="53" presetClass="entr" presetSubtype="16" fill="hold" nodeType="afterEffect">
                                  <p:stCondLst>
                                    <p:cond delay="0"/>
                                  </p:stCondLst>
                                  <p:childTnLst>
                                    <p:set>
                                      <p:cBhvr>
                                        <p:cTn id="39" dur="1" fill="hold">
                                          <p:stCondLst>
                                            <p:cond delay="0"/>
                                          </p:stCondLst>
                                        </p:cTn>
                                        <p:tgtEl>
                                          <p:spTgt spid="73"/>
                                        </p:tgtEl>
                                        <p:attrNameLst>
                                          <p:attrName>style.visibility</p:attrName>
                                        </p:attrNameLst>
                                      </p:cBhvr>
                                      <p:to>
                                        <p:strVal val="visible"/>
                                      </p:to>
                                    </p:set>
                                    <p:anim calcmode="lin" valueType="num">
                                      <p:cBhvr>
                                        <p:cTn id="40" dur="500" fill="hold"/>
                                        <p:tgtEl>
                                          <p:spTgt spid="73"/>
                                        </p:tgtEl>
                                        <p:attrNameLst>
                                          <p:attrName>ppt_w</p:attrName>
                                        </p:attrNameLst>
                                      </p:cBhvr>
                                      <p:tavLst>
                                        <p:tav tm="0">
                                          <p:val>
                                            <p:fltVal val="0"/>
                                          </p:val>
                                        </p:tav>
                                        <p:tav tm="100000">
                                          <p:val>
                                            <p:strVal val="#ppt_w"/>
                                          </p:val>
                                        </p:tav>
                                      </p:tavLst>
                                    </p:anim>
                                    <p:anim calcmode="lin" valueType="num">
                                      <p:cBhvr>
                                        <p:cTn id="41" dur="500" fill="hold"/>
                                        <p:tgtEl>
                                          <p:spTgt spid="73"/>
                                        </p:tgtEl>
                                        <p:attrNameLst>
                                          <p:attrName>ppt_h</p:attrName>
                                        </p:attrNameLst>
                                      </p:cBhvr>
                                      <p:tavLst>
                                        <p:tav tm="0">
                                          <p:val>
                                            <p:fltVal val="0"/>
                                          </p:val>
                                        </p:tav>
                                        <p:tav tm="100000">
                                          <p:val>
                                            <p:strVal val="#ppt_h"/>
                                          </p:val>
                                        </p:tav>
                                      </p:tavLst>
                                    </p:anim>
                                    <p:animEffect transition="in" filter="fade">
                                      <p:cBhvr>
                                        <p:cTn id="42" dur="500"/>
                                        <p:tgtEl>
                                          <p:spTgt spid="73"/>
                                        </p:tgtEl>
                                      </p:cBhvr>
                                    </p:animEffect>
                                  </p:childTnLst>
                                </p:cTn>
                              </p:par>
                            </p:childTnLst>
                          </p:cTn>
                        </p:par>
                        <p:par>
                          <p:cTn id="43" fill="hold">
                            <p:stCondLst>
                              <p:cond delay="4700"/>
                            </p:stCondLst>
                            <p:childTnLst>
                              <p:par>
                                <p:cTn id="44" presetID="22" presetClass="entr" presetSubtype="1" fill="hold"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wipe(up)">
                                      <p:cBhvr>
                                        <p:cTn id="46" dur="500"/>
                                        <p:tgtEl>
                                          <p:spTgt spid="16"/>
                                        </p:tgtEl>
                                      </p:cBhvr>
                                    </p:animEffect>
                                  </p:childTnLst>
                                </p:cTn>
                              </p:par>
                            </p:childTnLst>
                          </p:cTn>
                        </p:par>
                        <p:par>
                          <p:cTn id="47" fill="hold">
                            <p:stCondLst>
                              <p:cond delay="5200"/>
                            </p:stCondLst>
                            <p:childTnLst>
                              <p:par>
                                <p:cTn id="48" presetID="22" presetClass="entr" presetSubtype="1" fill="hold" nodeType="after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wipe(up)">
                                      <p:cBhvr>
                                        <p:cTn id="5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椭圆 99"/>
          <p:cNvSpPr/>
          <p:nvPr/>
        </p:nvSpPr>
        <p:spPr>
          <a:xfrm>
            <a:off x="3819635" y="1089058"/>
            <a:ext cx="1500028" cy="1500028"/>
          </a:xfrm>
          <a:prstGeom prst="ellipse">
            <a:avLst/>
          </a:prstGeom>
          <a:solidFill>
            <a:srgbClr val="1B43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文本框 11"/>
          <p:cNvSpPr txBox="1"/>
          <p:nvPr/>
        </p:nvSpPr>
        <p:spPr>
          <a:xfrm>
            <a:off x="266161" y="2737601"/>
            <a:ext cx="8627523" cy="1638910"/>
          </a:xfrm>
          <a:prstGeom prst="rect">
            <a:avLst/>
          </a:prstGeom>
          <a:noFill/>
        </p:spPr>
        <p:txBody>
          <a:bodyPr wrap="square" lIns="68580" tIns="34290" rIns="68580" bIns="34290" rtlCol="0">
            <a:spAutoFit/>
          </a:bodyPr>
          <a:lstStyle/>
          <a:p>
            <a:pPr algn="ctr"/>
            <a:r>
              <a:rPr lang="zh-CN" altLang="en-US" sz="3400" b="1" dirty="0">
                <a:solidFill>
                  <a:srgbClr val="1B4367"/>
                </a:solidFill>
                <a:cs typeface="+mn-ea"/>
                <a:sym typeface="+mn-lt"/>
              </a:rPr>
              <a:t>PAPER CLASSIFICATION </a:t>
            </a:r>
            <a:endParaRPr lang="en-US" altLang="zh-CN" sz="3400" b="1" dirty="0">
              <a:solidFill>
                <a:srgbClr val="1B4367"/>
              </a:solidFill>
              <a:cs typeface="+mn-ea"/>
              <a:sym typeface="+mn-lt"/>
            </a:endParaRPr>
          </a:p>
          <a:p>
            <a:pPr algn="ctr"/>
            <a:r>
              <a:rPr lang="zh-CN" altLang="en-US" sz="3400" b="1" dirty="0">
                <a:solidFill>
                  <a:srgbClr val="1B4367"/>
                </a:solidFill>
                <a:cs typeface="+mn-ea"/>
                <a:sym typeface="+mn-lt"/>
              </a:rPr>
              <a:t>BASED ON</a:t>
            </a:r>
            <a:endParaRPr lang="zh-CN" altLang="en-US" sz="3400" b="1" dirty="0">
              <a:solidFill>
                <a:srgbClr val="1B4367"/>
              </a:solidFill>
              <a:cs typeface="+mn-ea"/>
              <a:sym typeface="+mn-lt"/>
            </a:endParaRPr>
          </a:p>
          <a:p>
            <a:pPr algn="ctr"/>
            <a:r>
              <a:rPr lang="zh-CN" altLang="en-US" sz="3400" b="1" dirty="0">
                <a:solidFill>
                  <a:srgbClr val="1B4367"/>
                </a:solidFill>
                <a:cs typeface="+mn-ea"/>
                <a:sym typeface="+mn-lt"/>
              </a:rPr>
              <a:t>THE</a:t>
            </a:r>
            <a:r>
              <a:rPr lang="en-US" altLang="zh-CN" sz="3400" b="1" dirty="0">
                <a:solidFill>
                  <a:srgbClr val="1B4367"/>
                </a:solidFill>
                <a:cs typeface="+mn-ea"/>
                <a:sym typeface="+mn-lt"/>
              </a:rPr>
              <a:t> GOAL OF ENERGY MANAGEMENT </a:t>
            </a:r>
            <a:endParaRPr lang="zh-CN" altLang="en-US" sz="3400" b="1" dirty="0">
              <a:solidFill>
                <a:srgbClr val="1B4367"/>
              </a:solidFill>
              <a:cs typeface="+mn-ea"/>
              <a:sym typeface="+mn-lt"/>
            </a:endParaRPr>
          </a:p>
        </p:txBody>
      </p:sp>
      <p:sp>
        <p:nvSpPr>
          <p:cNvPr id="103" name="文本框 11"/>
          <p:cNvSpPr txBox="1"/>
          <p:nvPr/>
        </p:nvSpPr>
        <p:spPr>
          <a:xfrm>
            <a:off x="3713476" y="1575042"/>
            <a:ext cx="1732894" cy="838691"/>
          </a:xfrm>
          <a:prstGeom prst="rect">
            <a:avLst/>
          </a:prstGeom>
          <a:noFill/>
        </p:spPr>
        <p:txBody>
          <a:bodyPr wrap="square" lIns="68580" tIns="34290" rIns="68580" bIns="34290" rtlCol="0">
            <a:spAutoFit/>
          </a:bodyPr>
          <a:lstStyle/>
          <a:p>
            <a:pPr algn="ctr">
              <a:lnSpc>
                <a:spcPts val="3000"/>
              </a:lnSpc>
            </a:pPr>
            <a:r>
              <a:rPr lang="en-US" altLang="zh-CN" sz="5400" dirty="0">
                <a:solidFill>
                  <a:schemeClr val="bg1"/>
                </a:solidFill>
                <a:cs typeface="+mn-ea"/>
                <a:sym typeface="+mn-lt"/>
              </a:rPr>
              <a:t>02</a:t>
            </a:r>
            <a:endParaRPr lang="zh-CN" altLang="en-US" sz="5400" dirty="0">
              <a:solidFill>
                <a:schemeClr val="bg1"/>
              </a:solidFill>
              <a:cs typeface="+mn-ea"/>
              <a:sym typeface="+mn-lt"/>
            </a:endParaRPr>
          </a:p>
          <a:p>
            <a:pPr algn="ctr">
              <a:lnSpc>
                <a:spcPts val="3000"/>
              </a:lnSpc>
            </a:pPr>
            <a:r>
              <a:rPr lang="en-US" altLang="zh-CN" sz="2400" dirty="0">
                <a:solidFill>
                  <a:schemeClr val="bg1"/>
                </a:solidFill>
                <a:cs typeface="+mn-ea"/>
                <a:sym typeface="+mn-lt"/>
              </a:rPr>
              <a:t>PART </a:t>
            </a:r>
            <a:endParaRPr lang="en-US" altLang="zh-CN" sz="2400" dirty="0">
              <a:solidFill>
                <a:schemeClr val="bg1"/>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文本框 15"/>
          <p:cNvSpPr txBox="1"/>
          <p:nvPr/>
        </p:nvSpPr>
        <p:spPr>
          <a:xfrm>
            <a:off x="709386" y="309785"/>
            <a:ext cx="4378293" cy="330860"/>
          </a:xfrm>
          <a:prstGeom prst="rect">
            <a:avLst/>
          </a:prstGeom>
          <a:noFill/>
        </p:spPr>
        <p:txBody>
          <a:bodyPr wrap="square" lIns="68580" tIns="34290" rIns="68580" bIns="34290" rtlCol="0">
            <a:spAutoFit/>
          </a:bodyPr>
          <a:lstStyle/>
          <a:p>
            <a:r>
              <a:rPr lang="en-US" altLang="zh-CN" sz="1700" b="1" dirty="0">
                <a:solidFill>
                  <a:srgbClr val="1B4367"/>
                </a:solidFill>
                <a:latin typeface="Arial" panose="020B0604020202020204" pitchFamily="34" charset="0"/>
                <a:cs typeface="Arial" panose="020B0604020202020204" pitchFamily="34" charset="0"/>
                <a:sym typeface="+mn-lt"/>
              </a:rPr>
              <a:t>MINIMIZING THE OPERATIONAL COSTS</a:t>
            </a:r>
            <a:endParaRPr lang="zh-CN" altLang="en-US" sz="1700" b="1" dirty="0">
              <a:solidFill>
                <a:srgbClr val="1B4367"/>
              </a:solidFill>
              <a:latin typeface="Arial" panose="020B0604020202020204" pitchFamily="34" charset="0"/>
              <a:cs typeface="Arial" panose="020B0604020202020204" pitchFamily="34" charset="0"/>
              <a:sym typeface="+mn-lt"/>
            </a:endParaRPr>
          </a:p>
        </p:txBody>
      </p:sp>
      <p:cxnSp>
        <p:nvCxnSpPr>
          <p:cNvPr id="29" name="直接连接符 28"/>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709386" y="731589"/>
            <a:ext cx="7732865" cy="737235"/>
          </a:xfrm>
          <a:prstGeom prst="rect">
            <a:avLst/>
          </a:prstGeom>
          <a:noFill/>
        </p:spPr>
        <p:txBody>
          <a:bodyPr wrap="square" rtlCol="0">
            <a:spAutoFit/>
          </a:bodyPr>
          <a:lstStyle/>
          <a:p>
            <a:pPr indent="0" algn="l" fontAlgn="auto">
              <a:lnSpc>
                <a:spcPct val="100000"/>
              </a:lnSpc>
              <a:buClrTx/>
              <a:buSzTx/>
              <a:buFontTx/>
            </a:pPr>
            <a:r>
              <a:rPr lang="en-US" altLang="zh-CN" kern="0" dirty="0">
                <a:latin typeface="Arial" panose="020B0604020202020204" pitchFamily="34" charset="0"/>
                <a:cs typeface="Arial" panose="020B0604020202020204" pitchFamily="34" charset="0"/>
              </a:rPr>
              <a:t>Energy management greatly helps to</a:t>
            </a:r>
            <a:r>
              <a:rPr lang="en-US" altLang="zh-CN" kern="0" dirty="0">
                <a:solidFill>
                  <a:schemeClr val="tx1">
                    <a:lumMod val="75000"/>
                    <a:lumOff val="25000"/>
                  </a:schemeClr>
                </a:solidFill>
                <a:latin typeface="Arial" panose="020B0604020202020204" pitchFamily="34" charset="0"/>
                <a:cs typeface="Arial" panose="020B0604020202020204" pitchFamily="34" charset="0"/>
              </a:rPr>
              <a:t> </a:t>
            </a:r>
            <a:r>
              <a:rPr lang="en-US" altLang="zh-CN" dirty="0">
                <a:solidFill>
                  <a:srgbClr val="C00000"/>
                </a:solidFill>
                <a:latin typeface="Arial" panose="020B0604020202020204" pitchFamily="34" charset="0"/>
                <a:cs typeface="Arial" panose="020B0604020202020204" pitchFamily="34" charset="0"/>
              </a:rPr>
              <a:t>reduce the system’s operational costs</a:t>
            </a:r>
            <a:r>
              <a:rPr lang="en-US" altLang="zh-CN" kern="0" dirty="0">
                <a:solidFill>
                  <a:schemeClr val="tx1">
                    <a:lumMod val="75000"/>
                    <a:lumOff val="25000"/>
                  </a:schemeClr>
                </a:solidFill>
                <a:latin typeface="Arial" panose="020B0604020202020204" pitchFamily="34" charset="0"/>
                <a:cs typeface="Arial" panose="020B0604020202020204" pitchFamily="34" charset="0"/>
              </a:rPr>
              <a:t>.</a:t>
            </a:r>
            <a:r>
              <a:rPr lang="en-US" altLang="zh-CN" kern="0" dirty="0">
                <a:latin typeface="Arial" panose="020B0604020202020204" pitchFamily="34" charset="0"/>
                <a:cs typeface="Arial" panose="020B0604020202020204" pitchFamily="34" charset="0"/>
              </a:rPr>
              <a:t> It can optimize the share of energy generation for the generators and avoid expensive energy sources based on the demand requirements, especially during peak hours.</a:t>
            </a:r>
            <a:endParaRPr lang="en-US" altLang="zh-CN" kern="0" dirty="0">
              <a:latin typeface="Arial" panose="020B0604020202020204" pitchFamily="34" charset="0"/>
              <a:cs typeface="Arial" panose="020B0604020202020204" pitchFamily="34" charset="0"/>
            </a:endParaRPr>
          </a:p>
        </p:txBody>
      </p:sp>
      <p:pic>
        <p:nvPicPr>
          <p:cNvPr id="5" name="图片 4"/>
          <p:cNvPicPr>
            <a:picLocks noChangeAspect="1"/>
          </p:cNvPicPr>
          <p:nvPr/>
        </p:nvPicPr>
        <p:blipFill rotWithShape="1">
          <a:blip r:embed="rId1">
            <a:extLst>
              <a:ext uri="{28A0092B-C50C-407E-A947-70E740481C1C}">
                <a14:useLocalDpi xmlns:a14="http://schemas.microsoft.com/office/drawing/2010/main" val="0"/>
              </a:ext>
            </a:extLst>
          </a:blip>
          <a:srcRect l="2119" t="4289" r="3107" b="5196"/>
          <a:stretch>
            <a:fillRect/>
          </a:stretch>
        </p:blipFill>
        <p:spPr>
          <a:xfrm>
            <a:off x="2020181" y="1543586"/>
            <a:ext cx="5103629" cy="2609545"/>
          </a:xfrm>
          <a:prstGeom prst="rect">
            <a:avLst/>
          </a:prstGeom>
        </p:spPr>
      </p:pic>
      <p:sp>
        <p:nvSpPr>
          <p:cNvPr id="12" name="文本框 11"/>
          <p:cNvSpPr txBox="1"/>
          <p:nvPr/>
        </p:nvSpPr>
        <p:spPr>
          <a:xfrm>
            <a:off x="2480039" y="4231813"/>
            <a:ext cx="4183911" cy="276999"/>
          </a:xfrm>
          <a:prstGeom prst="rect">
            <a:avLst/>
          </a:prstGeom>
          <a:noFill/>
        </p:spPr>
        <p:txBody>
          <a:bodyPr wrap="square" rtlCol="0">
            <a:spAutoFit/>
          </a:bodyPr>
          <a:lstStyle/>
          <a:p>
            <a:r>
              <a:rPr lang="en-US" altLang="zh-CN" sz="1200" dirty="0">
                <a:latin typeface="Arial" panose="020B0604020202020204" pitchFamily="34" charset="0"/>
                <a:cs typeface="Arial" panose="020B0604020202020204" pitchFamily="34" charset="0"/>
              </a:rPr>
              <a:t>Fig. 1. </a:t>
            </a:r>
            <a:r>
              <a:rPr lang="en-US" altLang="zh-CN" sz="1200" b="0" i="0" u="none" strike="noStrike" baseline="0" dirty="0">
                <a:solidFill>
                  <a:srgbClr val="231F20"/>
                </a:solidFill>
                <a:latin typeface="Arial" panose="020B0604020202020204" pitchFamily="34" charset="0"/>
                <a:cs typeface="Arial" panose="020B0604020202020204" pitchFamily="34" charset="0"/>
              </a:rPr>
              <a:t>Block diagram of the proposed online EMS system.</a:t>
            </a:r>
            <a:endParaRPr lang="zh-CN" altLang="en-US" sz="1200" dirty="0">
              <a:latin typeface="Arial" panose="020B0604020202020204" pitchFamily="34" charset="0"/>
              <a:cs typeface="Arial" panose="020B0604020202020204" pitchFamily="34" charset="0"/>
            </a:endParaRPr>
          </a:p>
        </p:txBody>
      </p:sp>
      <p:sp>
        <p:nvSpPr>
          <p:cNvPr id="13" name="文本框 12"/>
          <p:cNvSpPr txBox="1"/>
          <p:nvPr/>
        </p:nvSpPr>
        <p:spPr>
          <a:xfrm>
            <a:off x="709386" y="4587494"/>
            <a:ext cx="7928271" cy="400110"/>
          </a:xfrm>
          <a:prstGeom prst="rect">
            <a:avLst/>
          </a:prstGeom>
          <a:noFill/>
        </p:spPr>
        <p:txBody>
          <a:bodyPr wrap="square" rtlCol="0">
            <a:spAutoFit/>
          </a:bodyPr>
          <a:lstStyle/>
          <a:p>
            <a:pPr algn="just"/>
            <a:r>
              <a:rPr lang="en-US" altLang="zh-CN" sz="1000" b="0" i="0" u="none" strike="noStrike" baseline="0" dirty="0">
                <a:latin typeface="Arial" panose="020B0604020202020204" pitchFamily="34" charset="0"/>
                <a:cs typeface="Arial" panose="020B0604020202020204" pitchFamily="34" charset="0"/>
              </a:rPr>
              <a:t>M. S. Taha, H. H. </a:t>
            </a:r>
            <a:r>
              <a:rPr lang="en-US" altLang="zh-CN" sz="1000" b="0" i="0" u="none" strike="noStrike" baseline="0" dirty="0" err="1">
                <a:latin typeface="Arial" panose="020B0604020202020204" pitchFamily="34" charset="0"/>
                <a:cs typeface="Arial" panose="020B0604020202020204" pitchFamily="34" charset="0"/>
              </a:rPr>
              <a:t>Abdeltawab</a:t>
            </a:r>
            <a:r>
              <a:rPr lang="en-US" altLang="zh-CN" sz="1000" b="0" i="0" u="none" strike="noStrike" baseline="0" dirty="0">
                <a:latin typeface="Arial" panose="020B0604020202020204" pitchFamily="34" charset="0"/>
                <a:cs typeface="Arial" panose="020B0604020202020204" pitchFamily="34" charset="0"/>
              </a:rPr>
              <a:t>, and Y. A.-I. Mohamed, ``An online energy management system for a grid-connected hybrid energy source,'' </a:t>
            </a:r>
            <a:r>
              <a:rPr lang="en-US" altLang="zh-CN" sz="1000" b="0" i="1" u="none" strike="noStrike" baseline="0" dirty="0">
                <a:latin typeface="Arial" panose="020B0604020202020204" pitchFamily="34" charset="0"/>
                <a:cs typeface="Arial" panose="020B0604020202020204" pitchFamily="34" charset="0"/>
              </a:rPr>
              <a:t>IEEE J. Emerging Sel. Topics Power Electron.</a:t>
            </a:r>
            <a:r>
              <a:rPr lang="en-US" altLang="zh-CN" sz="1000" b="0" i="0" u="none" strike="noStrike" baseline="0" dirty="0">
                <a:latin typeface="Arial" panose="020B0604020202020204" pitchFamily="34" charset="0"/>
                <a:cs typeface="Arial" panose="020B0604020202020204" pitchFamily="34" charset="0"/>
              </a:rPr>
              <a:t>, vol. 6, no. 4, pp. 20152030, Dec. 2018.</a:t>
            </a:r>
            <a:endParaRPr lang="zh-CN" altLang="en-US" sz="1000" dirty="0">
              <a:latin typeface="Arial" panose="020B0604020202020204" pitchFamily="34" charset="0"/>
              <a:cs typeface="Arial" panose="020B0604020202020204" pitchFamily="34" charset="0"/>
            </a:endParaRPr>
          </a:p>
        </p:txBody>
      </p:sp>
    </p:spTree>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框 15"/>
          <p:cNvSpPr txBox="1"/>
          <p:nvPr/>
        </p:nvSpPr>
        <p:spPr>
          <a:xfrm>
            <a:off x="709386" y="309785"/>
            <a:ext cx="4973716" cy="330860"/>
          </a:xfrm>
          <a:prstGeom prst="rect">
            <a:avLst/>
          </a:prstGeom>
          <a:noFill/>
        </p:spPr>
        <p:txBody>
          <a:bodyPr wrap="square" lIns="68580" tIns="34290" rIns="68580" bIns="34290" rtlCol="0">
            <a:spAutoFit/>
          </a:bodyPr>
          <a:lstStyle/>
          <a:p>
            <a:r>
              <a:rPr lang="en-US" altLang="zh-CN" sz="1700" b="1" dirty="0">
                <a:solidFill>
                  <a:srgbClr val="1B4367"/>
                </a:solidFill>
                <a:latin typeface="Arial" panose="020B0604020202020204" pitchFamily="34" charset="0"/>
                <a:cs typeface="Arial" panose="020B0604020202020204" pitchFamily="34" charset="0"/>
                <a:sym typeface="+mn-lt"/>
              </a:rPr>
              <a:t>MINIMIZING THE POLLUTANT EMISSIONS</a:t>
            </a:r>
            <a:endParaRPr lang="zh-CN" altLang="en-US" sz="1700" b="1" dirty="0">
              <a:solidFill>
                <a:srgbClr val="1B4367"/>
              </a:solidFill>
              <a:latin typeface="Arial" panose="020B0604020202020204" pitchFamily="34" charset="0"/>
              <a:cs typeface="Arial" panose="020B0604020202020204" pitchFamily="34" charset="0"/>
              <a:sym typeface="+mn-lt"/>
            </a:endParaRPr>
          </a:p>
        </p:txBody>
      </p:sp>
      <p:cxnSp>
        <p:nvCxnSpPr>
          <p:cNvPr id="20" name="直接连接符 19"/>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709386" y="728330"/>
            <a:ext cx="7392624" cy="668020"/>
          </a:xfrm>
          <a:prstGeom prst="rect">
            <a:avLst/>
          </a:prstGeom>
          <a:noFill/>
        </p:spPr>
        <p:txBody>
          <a:bodyPr wrap="square" rtlCol="0">
            <a:spAutoFit/>
          </a:bodyPr>
          <a:lstStyle/>
          <a:p>
            <a:pPr algn="l">
              <a:lnSpc>
                <a:spcPts val="1500"/>
              </a:lnSpc>
              <a:buClrTx/>
              <a:buSzTx/>
              <a:buFontTx/>
            </a:pPr>
            <a:r>
              <a:rPr lang="en-US" altLang="zh-CN" kern="0" dirty="0">
                <a:solidFill>
                  <a:schemeClr val="tx1">
                    <a:lumMod val="75000"/>
                    <a:lumOff val="25000"/>
                  </a:schemeClr>
                </a:solidFill>
                <a:latin typeface="Arial" panose="020B0604020202020204" pitchFamily="34" charset="0"/>
                <a:cs typeface="Arial" panose="020B0604020202020204" pitchFamily="34" charset="0"/>
              </a:rPr>
              <a:t>T</a:t>
            </a:r>
            <a:r>
              <a:rPr lang="en-US" altLang="zh-CN" kern="0" dirty="0">
                <a:latin typeface="Arial" panose="020B0604020202020204" pitchFamily="34" charset="0"/>
                <a:cs typeface="Arial" panose="020B0604020202020204" pitchFamily="34" charset="0"/>
              </a:rPr>
              <a:t>he energy management system has a significant role in minimising the greenhouse gas effects by properly managing and controlling energy sources in distribution systems while concentrating on the system’s reliability and efficiency.</a:t>
            </a:r>
            <a:endParaRPr lang="en-US" altLang="zh-CN" kern="0" dirty="0">
              <a:latin typeface="Arial" panose="020B0604020202020204" pitchFamily="34" charset="0"/>
              <a:cs typeface="Arial" panose="020B0604020202020204" pitchFamily="34" charset="0"/>
            </a:endParaRPr>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466157" y="1554779"/>
            <a:ext cx="3879082" cy="2700000"/>
          </a:xfrm>
          <a:prstGeom prst="rect">
            <a:avLst/>
          </a:prstGeom>
        </p:spPr>
      </p:pic>
      <p:sp>
        <p:nvSpPr>
          <p:cNvPr id="8" name="文本框 7"/>
          <p:cNvSpPr txBox="1"/>
          <p:nvPr/>
        </p:nvSpPr>
        <p:spPr>
          <a:xfrm>
            <a:off x="2969722" y="4340465"/>
            <a:ext cx="3204556" cy="276999"/>
          </a:xfrm>
          <a:prstGeom prst="rect">
            <a:avLst/>
          </a:prstGeom>
          <a:noFill/>
        </p:spPr>
        <p:txBody>
          <a:bodyPr wrap="square" rtlCol="0">
            <a:spAutoFit/>
          </a:bodyPr>
          <a:lstStyle/>
          <a:p>
            <a:r>
              <a:rPr lang="en-US" altLang="zh-CN" sz="1200" dirty="0">
                <a:latin typeface="Arial" panose="020B0604020202020204" pitchFamily="34" charset="0"/>
                <a:cs typeface="Arial" panose="020B0604020202020204" pitchFamily="34" charset="0"/>
              </a:rPr>
              <a:t>Fig. 2. </a:t>
            </a:r>
            <a:r>
              <a:rPr lang="en-US" altLang="zh-CN" sz="1200" b="0" i="0" u="none" strike="noStrike" baseline="0" dirty="0">
                <a:solidFill>
                  <a:srgbClr val="231F20"/>
                </a:solidFill>
                <a:latin typeface="Arial" panose="020B0604020202020204" pitchFamily="34" charset="0"/>
                <a:cs typeface="Arial" panose="020B0604020202020204" pitchFamily="34" charset="0"/>
              </a:rPr>
              <a:t>Configuration of the proposed system.</a:t>
            </a:r>
            <a:endParaRPr lang="zh-CN" altLang="en-US" sz="1200" dirty="0">
              <a:latin typeface="Arial" panose="020B0604020202020204" pitchFamily="34" charset="0"/>
              <a:cs typeface="Arial" panose="020B0604020202020204" pitchFamily="34" charset="0"/>
            </a:endParaRPr>
          </a:p>
        </p:txBody>
      </p:sp>
      <p:sp>
        <p:nvSpPr>
          <p:cNvPr id="10" name="文本框 9"/>
          <p:cNvSpPr txBox="1"/>
          <p:nvPr/>
        </p:nvSpPr>
        <p:spPr>
          <a:xfrm>
            <a:off x="709386" y="4617464"/>
            <a:ext cx="7928271" cy="400110"/>
          </a:xfrm>
          <a:prstGeom prst="rect">
            <a:avLst/>
          </a:prstGeom>
          <a:noFill/>
        </p:spPr>
        <p:txBody>
          <a:bodyPr wrap="square" rtlCol="0">
            <a:spAutoFit/>
          </a:bodyPr>
          <a:lstStyle/>
          <a:p>
            <a:pPr algn="just"/>
            <a:r>
              <a:rPr lang="en-US" altLang="zh-CN" sz="1000" b="0" i="0" u="none" strike="noStrike" baseline="0" dirty="0">
                <a:latin typeface="Arial" panose="020B0604020202020204" pitchFamily="34" charset="0"/>
                <a:cs typeface="Arial" panose="020B0604020202020204" pitchFamily="34" charset="0"/>
              </a:rPr>
              <a:t>S. A. </a:t>
            </a:r>
            <a:r>
              <a:rPr lang="en-US" altLang="zh-CN" sz="1000" b="0" i="0" u="none" strike="noStrike" baseline="0" dirty="0" err="1">
                <a:latin typeface="Arial" panose="020B0604020202020204" pitchFamily="34" charset="0"/>
                <a:cs typeface="Arial" panose="020B0604020202020204" pitchFamily="34" charset="0"/>
              </a:rPr>
              <a:t>Pourmousavi</a:t>
            </a:r>
            <a:r>
              <a:rPr lang="en-US" altLang="zh-CN" sz="1000" b="0" i="0" u="none" strike="noStrike" baseline="0" dirty="0">
                <a:latin typeface="Arial" panose="020B0604020202020204" pitchFamily="34" charset="0"/>
                <a:cs typeface="Arial" panose="020B0604020202020204" pitchFamily="34" charset="0"/>
              </a:rPr>
              <a:t>, M. H. </a:t>
            </a:r>
            <a:r>
              <a:rPr lang="en-US" altLang="zh-CN" sz="1000" b="0" i="0" u="none" strike="noStrike" baseline="0" dirty="0" err="1">
                <a:latin typeface="Arial" panose="020B0604020202020204" pitchFamily="34" charset="0"/>
                <a:cs typeface="Arial" panose="020B0604020202020204" pitchFamily="34" charset="0"/>
              </a:rPr>
              <a:t>Nehrir</a:t>
            </a:r>
            <a:r>
              <a:rPr lang="en-US" altLang="zh-CN" sz="1000" b="0" i="0" u="none" strike="noStrike" baseline="0" dirty="0">
                <a:latin typeface="Arial" panose="020B0604020202020204" pitchFamily="34" charset="0"/>
                <a:cs typeface="Arial" panose="020B0604020202020204" pitchFamily="34" charset="0"/>
              </a:rPr>
              <a:t>, C. M. Colson, and </a:t>
            </a:r>
            <a:r>
              <a:rPr lang="en-US" altLang="zh-CN" sz="1000" b="0" i="0" u="none" strike="noStrike" baseline="0" dirty="0" err="1">
                <a:latin typeface="Arial" panose="020B0604020202020204" pitchFamily="34" charset="0"/>
                <a:cs typeface="Arial" panose="020B0604020202020204" pitchFamily="34" charset="0"/>
              </a:rPr>
              <a:t>C.Wang</a:t>
            </a:r>
            <a:r>
              <a:rPr lang="en-US" altLang="zh-CN" sz="1000" b="0" i="0" u="none" strike="noStrike" baseline="0" dirty="0">
                <a:latin typeface="Arial" panose="020B0604020202020204" pitchFamily="34" charset="0"/>
                <a:cs typeface="Arial" panose="020B0604020202020204" pitchFamily="34" charset="0"/>
              </a:rPr>
              <a:t>, ``Real-time energy management of a stand-alone hybrid wind-microturbine energy system using particle swarm optimization,'' IEEE Trans. Sustain. Energy, vol. 1, no. 3, pp. 193201, Oct. 2010.</a:t>
            </a:r>
            <a:endParaRPr lang="zh-CN" altLang="en-US" sz="1000" dirty="0">
              <a:latin typeface="Arial" panose="020B0604020202020204" pitchFamily="34" charset="0"/>
              <a:cs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文本框 15"/>
          <p:cNvSpPr txBox="1"/>
          <p:nvPr/>
        </p:nvSpPr>
        <p:spPr>
          <a:xfrm>
            <a:off x="709386" y="309785"/>
            <a:ext cx="5098960" cy="330860"/>
          </a:xfrm>
          <a:prstGeom prst="rect">
            <a:avLst/>
          </a:prstGeom>
          <a:noFill/>
        </p:spPr>
        <p:txBody>
          <a:bodyPr wrap="square" lIns="68580" tIns="34290" rIns="68580" bIns="34290" rtlCol="0">
            <a:spAutoFit/>
          </a:bodyPr>
          <a:lstStyle/>
          <a:p>
            <a:r>
              <a:rPr lang="en-US" altLang="zh-CN" sz="1700" b="1" dirty="0">
                <a:solidFill>
                  <a:srgbClr val="1B4367"/>
                </a:solidFill>
                <a:latin typeface="Arial" panose="020B0604020202020204" pitchFamily="34" charset="0"/>
                <a:cs typeface="Arial" panose="020B0604020202020204" pitchFamily="34" charset="0"/>
                <a:sym typeface="+mn-lt"/>
              </a:rPr>
              <a:t>IMPROVING STABILITY OF VOLTAGE PROFILE</a:t>
            </a:r>
            <a:endParaRPr lang="zh-CN" altLang="en-US" sz="1700" b="1" dirty="0">
              <a:solidFill>
                <a:srgbClr val="1B4367"/>
              </a:solidFill>
              <a:latin typeface="Arial" panose="020B0604020202020204" pitchFamily="34" charset="0"/>
              <a:cs typeface="Arial" panose="020B0604020202020204" pitchFamily="34" charset="0"/>
              <a:sym typeface="+mn-lt"/>
            </a:endParaRPr>
          </a:p>
        </p:txBody>
      </p:sp>
      <p:cxnSp>
        <p:nvCxnSpPr>
          <p:cNvPr id="69" name="直接连接符 68"/>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709386" y="712382"/>
            <a:ext cx="7242471" cy="808555"/>
          </a:xfrm>
          <a:prstGeom prst="rect">
            <a:avLst/>
          </a:prstGeom>
          <a:noFill/>
        </p:spPr>
        <p:txBody>
          <a:bodyPr wrap="square" rtlCol="0">
            <a:spAutoFit/>
          </a:bodyPr>
          <a:lstStyle/>
          <a:p>
            <a:pPr algn="just">
              <a:lnSpc>
                <a:spcPct val="114000"/>
              </a:lnSpc>
            </a:pPr>
            <a:r>
              <a:rPr lang="en-US" altLang="zh-CN" kern="0" dirty="0">
                <a:solidFill>
                  <a:schemeClr val="tx1"/>
                </a:solidFill>
                <a:latin typeface="Arial" panose="020B0604020202020204" pitchFamily="34" charset="0"/>
                <a:cs typeface="Arial" panose="020B0604020202020204" pitchFamily="34" charset="0"/>
              </a:rPr>
              <a:t>Voltage stability is a concern in distribution systems which could happen due to the fluctuation of loads or generator outage. In a modern distribution system, the demand response program allows the utility to take the load in an optimized way. </a:t>
            </a:r>
            <a:endParaRPr lang="en-US" altLang="zh-CN" kern="0" dirty="0">
              <a:solidFill>
                <a:schemeClr val="tx1"/>
              </a:solidFill>
              <a:latin typeface="Arial" panose="020B0604020202020204" pitchFamily="34" charset="0"/>
              <a:cs typeface="Arial" panose="020B0604020202020204" pitchFamily="34" charset="0"/>
            </a:endParaRPr>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813954" y="1718883"/>
            <a:ext cx="3516091" cy="2114153"/>
          </a:xfrm>
          <a:prstGeom prst="rect">
            <a:avLst/>
          </a:prstGeom>
        </p:spPr>
      </p:pic>
      <p:sp>
        <p:nvSpPr>
          <p:cNvPr id="5" name="文本框 4"/>
          <p:cNvSpPr txBox="1"/>
          <p:nvPr/>
        </p:nvSpPr>
        <p:spPr>
          <a:xfrm>
            <a:off x="2813953" y="4030982"/>
            <a:ext cx="3516091" cy="276999"/>
          </a:xfrm>
          <a:prstGeom prst="rect">
            <a:avLst/>
          </a:prstGeom>
          <a:noFill/>
        </p:spPr>
        <p:txBody>
          <a:bodyPr wrap="square" rtlCol="0">
            <a:spAutoFit/>
          </a:bodyPr>
          <a:lstStyle/>
          <a:p>
            <a:r>
              <a:rPr lang="en-US" altLang="zh-CN" sz="1200" dirty="0">
                <a:latin typeface="Arial" panose="020B0604020202020204" pitchFamily="34" charset="0"/>
                <a:cs typeface="Arial" panose="020B0604020202020204" pitchFamily="34" charset="0"/>
              </a:rPr>
              <a:t>Fig. 3. </a:t>
            </a:r>
            <a:r>
              <a:rPr lang="en-US" altLang="zh-CN" sz="1200" b="0" i="0" u="none" strike="noStrike" baseline="0" dirty="0">
                <a:solidFill>
                  <a:srgbClr val="231F20"/>
                </a:solidFill>
                <a:latin typeface="Arial" panose="020B0604020202020204" pitchFamily="34" charset="0"/>
                <a:cs typeface="Arial" panose="020B0604020202020204" pitchFamily="34" charset="0"/>
              </a:rPr>
              <a:t>Thevenin equivalent of a system with DG.</a:t>
            </a:r>
            <a:endParaRPr lang="zh-CN" altLang="en-US" sz="1200" dirty="0">
              <a:latin typeface="Arial" panose="020B0604020202020204" pitchFamily="34" charset="0"/>
              <a:cs typeface="Arial" panose="020B0604020202020204" pitchFamily="34" charset="0"/>
            </a:endParaRPr>
          </a:p>
        </p:txBody>
      </p:sp>
      <p:sp>
        <p:nvSpPr>
          <p:cNvPr id="6" name="文本框 5"/>
          <p:cNvSpPr txBox="1"/>
          <p:nvPr/>
        </p:nvSpPr>
        <p:spPr>
          <a:xfrm>
            <a:off x="709386" y="4617464"/>
            <a:ext cx="7928271" cy="400110"/>
          </a:xfrm>
          <a:prstGeom prst="rect">
            <a:avLst/>
          </a:prstGeom>
          <a:noFill/>
        </p:spPr>
        <p:txBody>
          <a:bodyPr wrap="square" rtlCol="0">
            <a:spAutoFit/>
          </a:bodyPr>
          <a:lstStyle/>
          <a:p>
            <a:pPr algn="just"/>
            <a:r>
              <a:rPr lang="en-US" altLang="zh-CN" sz="1000" b="0" i="0" u="none" strike="noStrike" baseline="0" dirty="0">
                <a:latin typeface="Arial" panose="020B0604020202020204" pitchFamily="34" charset="0"/>
                <a:cs typeface="Arial" panose="020B0604020202020204" pitchFamily="34" charset="0"/>
              </a:rPr>
              <a:t>K. M. </a:t>
            </a:r>
            <a:r>
              <a:rPr lang="en-US" altLang="zh-CN" sz="1000" b="0" i="0" u="none" strike="noStrike" baseline="0" dirty="0" err="1">
                <a:latin typeface="Arial" panose="020B0604020202020204" pitchFamily="34" charset="0"/>
                <a:cs typeface="Arial" panose="020B0604020202020204" pitchFamily="34" charset="0"/>
              </a:rPr>
              <a:t>Muttaqi</a:t>
            </a:r>
            <a:r>
              <a:rPr lang="en-US" altLang="zh-CN" sz="1000" b="0" i="0" u="none" strike="noStrike" baseline="0" dirty="0">
                <a:latin typeface="Arial" panose="020B0604020202020204" pitchFamily="34" charset="0"/>
                <a:cs typeface="Arial" panose="020B0604020202020204" pitchFamily="34" charset="0"/>
              </a:rPr>
              <a:t>, A. D. T. Le, M. </a:t>
            </a:r>
            <a:r>
              <a:rPr lang="en-US" altLang="zh-CN" sz="1000" b="0" i="0" u="none" strike="noStrike" baseline="0" dirty="0" err="1">
                <a:latin typeface="Arial" panose="020B0604020202020204" pitchFamily="34" charset="0"/>
                <a:cs typeface="Arial" panose="020B0604020202020204" pitchFamily="34" charset="0"/>
              </a:rPr>
              <a:t>Negnevitsky</a:t>
            </a:r>
            <a:r>
              <a:rPr lang="en-US" altLang="zh-CN" sz="1000" b="0" i="0" u="none" strike="noStrike" baseline="0" dirty="0">
                <a:latin typeface="Arial" panose="020B0604020202020204" pitchFamily="34" charset="0"/>
                <a:cs typeface="Arial" panose="020B0604020202020204" pitchFamily="34" charset="0"/>
              </a:rPr>
              <a:t>, and G. </a:t>
            </a:r>
            <a:r>
              <a:rPr lang="en-US" altLang="zh-CN" sz="1000" b="0" i="0" u="none" strike="noStrike" baseline="0" dirty="0" err="1">
                <a:latin typeface="Arial" panose="020B0604020202020204" pitchFamily="34" charset="0"/>
                <a:cs typeface="Arial" panose="020B0604020202020204" pitchFamily="34" charset="0"/>
              </a:rPr>
              <a:t>Ledwich</a:t>
            </a:r>
            <a:r>
              <a:rPr lang="en-US" altLang="zh-CN" sz="1000" b="0" i="0" u="none" strike="noStrike" baseline="0" dirty="0">
                <a:latin typeface="Arial" panose="020B0604020202020204" pitchFamily="34" charset="0"/>
                <a:cs typeface="Arial" panose="020B0604020202020204" pitchFamily="34" charset="0"/>
              </a:rPr>
              <a:t>, ``An algebraic approach for determination </a:t>
            </a:r>
            <a:r>
              <a:rPr lang="en-US" altLang="zh-CN" sz="1000" b="0" i="0" u="none" strike="noStrike" baseline="0" dirty="0" err="1">
                <a:latin typeface="Arial" panose="020B0604020202020204" pitchFamily="34" charset="0"/>
                <a:cs typeface="Arial" panose="020B0604020202020204" pitchFamily="34" charset="0"/>
              </a:rPr>
              <a:t>ofDGparameters</a:t>
            </a:r>
            <a:r>
              <a:rPr lang="en-US" altLang="zh-CN" sz="1000" b="0" i="0" u="none" strike="noStrike" baseline="0" dirty="0">
                <a:latin typeface="Arial" panose="020B0604020202020204" pitchFamily="34" charset="0"/>
                <a:cs typeface="Arial" panose="020B0604020202020204" pitchFamily="34" charset="0"/>
              </a:rPr>
              <a:t> to support voltage</a:t>
            </a:r>
            <a:endParaRPr lang="en-US" altLang="zh-CN" sz="1000" b="0" i="0" u="none" strike="noStrike" baseline="0" dirty="0">
              <a:latin typeface="Arial" panose="020B0604020202020204" pitchFamily="34" charset="0"/>
              <a:cs typeface="Arial" panose="020B0604020202020204" pitchFamily="34" charset="0"/>
            </a:endParaRPr>
          </a:p>
          <a:p>
            <a:pPr algn="just"/>
            <a:r>
              <a:rPr lang="en-US" altLang="zh-CN" sz="1000" b="0" i="0" u="none" strike="noStrike" baseline="0" dirty="0" err="1">
                <a:latin typeface="Arial" panose="020B0604020202020204" pitchFamily="34" charset="0"/>
                <a:cs typeface="Arial" panose="020B0604020202020204" pitchFamily="34" charset="0"/>
              </a:rPr>
              <a:t>pro</a:t>
            </a:r>
            <a:r>
              <a:rPr lang="en-US" altLang="zh-CN" sz="1000" dirty="0" err="1">
                <a:latin typeface="Arial" panose="020B0604020202020204" pitchFamily="34" charset="0"/>
                <a:cs typeface="Arial" panose="020B0604020202020204" pitchFamily="34" charset="0"/>
              </a:rPr>
              <a:t>files</a:t>
            </a:r>
            <a:r>
              <a:rPr lang="en-US" altLang="zh-CN" sz="1000" b="0" i="0" u="none" strike="noStrike" baseline="0" dirty="0">
                <a:latin typeface="Arial" panose="020B0604020202020204" pitchFamily="34" charset="0"/>
                <a:cs typeface="Arial" panose="020B0604020202020204" pitchFamily="34" charset="0"/>
              </a:rPr>
              <a:t> in radial distribution networks,'' IEEE Trans. Smart Grid, vol. 5, no. 3, pp. 13511360, May 2014.</a:t>
            </a:r>
            <a:endParaRPr lang="zh-CN" altLang="en-US" sz="1000" dirty="0">
              <a:latin typeface="Arial" panose="020B0604020202020204" pitchFamily="34" charset="0"/>
              <a:cs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100">
        <p14:switch dir="r"/>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5"/>
          <p:cNvSpPr txBox="1"/>
          <p:nvPr/>
        </p:nvSpPr>
        <p:spPr>
          <a:xfrm>
            <a:off x="709386" y="309785"/>
            <a:ext cx="8397399" cy="330860"/>
          </a:xfrm>
          <a:prstGeom prst="rect">
            <a:avLst/>
          </a:prstGeom>
          <a:noFill/>
        </p:spPr>
        <p:txBody>
          <a:bodyPr wrap="square" lIns="68580" tIns="34290" rIns="68580" bIns="34290" rtlCol="0">
            <a:spAutoFit/>
          </a:bodyPr>
          <a:lstStyle/>
          <a:p>
            <a:r>
              <a:rPr lang="en-US" altLang="zh-CN" sz="1700" b="1" dirty="0">
                <a:solidFill>
                  <a:srgbClr val="1B4367"/>
                </a:solidFill>
                <a:latin typeface="Arial" panose="020B0604020202020204" pitchFamily="34" charset="0"/>
                <a:cs typeface="Arial" panose="020B0604020202020204" pitchFamily="34" charset="0"/>
                <a:sym typeface="+mn-lt"/>
              </a:rPr>
              <a:t>INCREASING THE SYSTEM RELIABILITY AND MINIMIZING OUTAGE DURATION</a:t>
            </a:r>
            <a:endParaRPr lang="zh-CN" altLang="en-US" sz="1700" b="1" dirty="0">
              <a:solidFill>
                <a:srgbClr val="1B4367"/>
              </a:solidFill>
              <a:latin typeface="Arial" panose="020B0604020202020204" pitchFamily="34" charset="0"/>
              <a:cs typeface="Arial" panose="020B0604020202020204" pitchFamily="34" charset="0"/>
              <a:sym typeface="+mn-lt"/>
            </a:endParaRPr>
          </a:p>
        </p:txBody>
      </p:sp>
      <p:cxnSp>
        <p:nvCxnSpPr>
          <p:cNvPr id="28" name="直接连接符 27"/>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09387" y="956930"/>
            <a:ext cx="3517055" cy="2056130"/>
          </a:xfrm>
          <a:prstGeom prst="rect">
            <a:avLst/>
          </a:prstGeom>
          <a:noFill/>
        </p:spPr>
        <p:txBody>
          <a:bodyPr wrap="square" rtlCol="0">
            <a:spAutoFit/>
          </a:bodyPr>
          <a:lstStyle/>
          <a:p>
            <a:pPr algn="just">
              <a:lnSpc>
                <a:spcPct val="114000"/>
              </a:lnSpc>
            </a:pPr>
            <a:r>
              <a:rPr lang="en-US" altLang="zh-CN" kern="0" dirty="0">
                <a:latin typeface="Arial" panose="020B0604020202020204" pitchFamily="34" charset="0"/>
                <a:cs typeface="Arial" panose="020B0604020202020204" pitchFamily="34" charset="0"/>
              </a:rPr>
              <a:t>EMS reviews the data for all the devices connected to the power network by</a:t>
            </a:r>
            <a:r>
              <a:rPr lang="en-US" altLang="zh-CN" kern="0" dirty="0">
                <a:solidFill>
                  <a:schemeClr val="tx1">
                    <a:lumMod val="75000"/>
                    <a:lumOff val="25000"/>
                  </a:schemeClr>
                </a:solidFill>
                <a:latin typeface="Arial" panose="020B0604020202020204" pitchFamily="34" charset="0"/>
                <a:cs typeface="Arial" panose="020B0604020202020204" pitchFamily="34" charset="0"/>
              </a:rPr>
              <a:t> </a:t>
            </a:r>
            <a:r>
              <a:rPr lang="en-US" altLang="zh-CN" dirty="0">
                <a:solidFill>
                  <a:srgbClr val="C00000"/>
                </a:solidFill>
                <a:latin typeface="Arial" panose="020B0604020202020204" pitchFamily="34" charset="0"/>
                <a:cs typeface="Arial" panose="020B0604020202020204" pitchFamily="34" charset="0"/>
              </a:rPr>
              <a:t>data </a:t>
            </a:r>
            <a:r>
              <a:rPr lang="en-US" altLang="zh-CN" dirty="0" err="1">
                <a:solidFill>
                  <a:srgbClr val="C00000"/>
                </a:solidFill>
                <a:latin typeface="Arial" panose="020B0604020202020204" pitchFamily="34" charset="0"/>
                <a:cs typeface="Arial" panose="020B0604020202020204" pitchFamily="34" charset="0"/>
              </a:rPr>
              <a:t>centre</a:t>
            </a:r>
            <a:r>
              <a:rPr lang="en-US" altLang="zh-CN" dirty="0">
                <a:solidFill>
                  <a:srgbClr val="C00000"/>
                </a:solidFill>
                <a:latin typeface="Arial" panose="020B0604020202020204" pitchFamily="34" charset="0"/>
                <a:cs typeface="Arial" panose="020B0604020202020204" pitchFamily="34" charset="0"/>
              </a:rPr>
              <a:t> </a:t>
            </a:r>
            <a:r>
              <a:rPr lang="en-US" altLang="zh-CN" kern="0" dirty="0">
                <a:latin typeface="Arial" panose="020B0604020202020204" pitchFamily="34" charset="0"/>
                <a:cs typeface="Arial" panose="020B0604020202020204" pitchFamily="34" charset="0"/>
              </a:rPr>
              <a:t>utilization and identifies the zones with peak capacity or underperforming capacity. The system reliability could be improved by optimally managing the</a:t>
            </a:r>
            <a:r>
              <a:rPr lang="en-US" altLang="zh-CN" kern="0" dirty="0">
                <a:solidFill>
                  <a:schemeClr val="tx1">
                    <a:lumMod val="75000"/>
                    <a:lumOff val="25000"/>
                  </a:schemeClr>
                </a:solidFill>
                <a:latin typeface="Arial" panose="020B0604020202020204" pitchFamily="34" charset="0"/>
                <a:cs typeface="Arial" panose="020B0604020202020204" pitchFamily="34" charset="0"/>
              </a:rPr>
              <a:t> </a:t>
            </a:r>
            <a:r>
              <a:rPr lang="en-US" altLang="zh-CN" dirty="0">
                <a:solidFill>
                  <a:srgbClr val="C00000"/>
                </a:solidFill>
                <a:latin typeface="Arial" panose="020B0604020202020204" pitchFamily="34" charset="0"/>
                <a:cs typeface="Arial" panose="020B0604020202020204" pitchFamily="34" charset="0"/>
              </a:rPr>
              <a:t>ESS, DR, and EV</a:t>
            </a:r>
            <a:r>
              <a:rPr lang="en-US" altLang="zh-CN" dirty="0">
                <a:latin typeface="Arial" panose="020B0604020202020204" pitchFamily="34" charset="0"/>
                <a:cs typeface="Arial" panose="020B0604020202020204" pitchFamily="34" charset="0"/>
              </a:rPr>
              <a:t> </a:t>
            </a:r>
            <a:r>
              <a:rPr lang="en-US" altLang="zh-CN" kern="0" dirty="0">
                <a:latin typeface="Arial" panose="020B0604020202020204" pitchFamily="34" charset="0"/>
                <a:cs typeface="Arial" panose="020B0604020202020204" pitchFamily="34" charset="0"/>
              </a:rPr>
              <a:t>using EMS in a distribution system.</a:t>
            </a:r>
            <a:endParaRPr lang="en-US" altLang="zh-CN" kern="0" dirty="0">
              <a:latin typeface="Arial" panose="020B0604020202020204" pitchFamily="34" charset="0"/>
              <a:cs typeface="Arial" panose="020B0604020202020204" pitchFamily="34" charset="0"/>
            </a:endParaRPr>
          </a:p>
        </p:txBody>
      </p:sp>
      <p:pic>
        <p:nvPicPr>
          <p:cNvPr id="2" name="图片 1"/>
          <p:cNvPicPr>
            <a:picLocks noChangeAspect="1"/>
          </p:cNvPicPr>
          <p:nvPr/>
        </p:nvPicPr>
        <p:blipFill>
          <a:blip r:embed="rId1"/>
          <a:stretch>
            <a:fillRect/>
          </a:stretch>
        </p:blipFill>
        <p:spPr>
          <a:xfrm>
            <a:off x="4477467" y="956930"/>
            <a:ext cx="4113639" cy="3253302"/>
          </a:xfrm>
          <a:prstGeom prst="rect">
            <a:avLst/>
          </a:prstGeom>
        </p:spPr>
      </p:pic>
      <p:sp>
        <p:nvSpPr>
          <p:cNvPr id="4" name="文本框 3"/>
          <p:cNvSpPr txBox="1"/>
          <p:nvPr/>
        </p:nvSpPr>
        <p:spPr>
          <a:xfrm>
            <a:off x="4477467" y="4290292"/>
            <a:ext cx="4183911" cy="276999"/>
          </a:xfrm>
          <a:prstGeom prst="rect">
            <a:avLst/>
          </a:prstGeom>
          <a:noFill/>
        </p:spPr>
        <p:txBody>
          <a:bodyPr wrap="square" rtlCol="0">
            <a:spAutoFit/>
          </a:bodyPr>
          <a:lstStyle/>
          <a:p>
            <a:r>
              <a:rPr lang="en-US" altLang="zh-CN" sz="1200" dirty="0">
                <a:latin typeface="Arial" panose="020B0604020202020204" pitchFamily="34" charset="0"/>
                <a:cs typeface="Arial" panose="020B0604020202020204" pitchFamily="34" charset="0"/>
              </a:rPr>
              <a:t>Fig. 4. </a:t>
            </a:r>
            <a:r>
              <a:rPr lang="en-US" altLang="zh-CN" sz="1200" b="0" i="0" u="none" strike="noStrike" baseline="0" dirty="0">
                <a:solidFill>
                  <a:srgbClr val="231F20"/>
                </a:solidFill>
                <a:latin typeface="Arial" panose="020B0604020202020204" pitchFamily="34" charset="0"/>
                <a:cs typeface="Arial" panose="020B0604020202020204" pitchFamily="34" charset="0"/>
              </a:rPr>
              <a:t>Optimized energy management system architecture.</a:t>
            </a:r>
            <a:endParaRPr lang="zh-CN" altLang="en-US" sz="1200" dirty="0">
              <a:latin typeface="Arial" panose="020B0604020202020204" pitchFamily="34" charset="0"/>
              <a:cs typeface="Arial" panose="020B0604020202020204" pitchFamily="34" charset="0"/>
            </a:endParaRPr>
          </a:p>
        </p:txBody>
      </p:sp>
      <p:sp>
        <p:nvSpPr>
          <p:cNvPr id="5" name="文本框 4"/>
          <p:cNvSpPr txBox="1"/>
          <p:nvPr/>
        </p:nvSpPr>
        <p:spPr>
          <a:xfrm>
            <a:off x="709386" y="4567898"/>
            <a:ext cx="7928271" cy="400110"/>
          </a:xfrm>
          <a:prstGeom prst="rect">
            <a:avLst/>
          </a:prstGeom>
          <a:noFill/>
        </p:spPr>
        <p:txBody>
          <a:bodyPr wrap="square" rtlCol="0">
            <a:spAutoFit/>
          </a:bodyPr>
          <a:lstStyle/>
          <a:p>
            <a:pPr algn="just"/>
            <a:r>
              <a:rPr lang="en-US" altLang="zh-CN" sz="1000" b="0" i="0" u="none" strike="noStrike" baseline="0" dirty="0">
                <a:latin typeface="Arial" panose="020B0604020202020204" pitchFamily="34" charset="0"/>
                <a:cs typeface="Arial" panose="020B0604020202020204" pitchFamily="34" charset="0"/>
              </a:rPr>
              <a:t>N. </a:t>
            </a:r>
            <a:r>
              <a:rPr lang="en-US" altLang="zh-CN" sz="1000" b="0" i="0" u="none" strike="noStrike" baseline="0" dirty="0" err="1">
                <a:latin typeface="Arial" panose="020B0604020202020204" pitchFamily="34" charset="0"/>
                <a:cs typeface="Arial" panose="020B0604020202020204" pitchFamily="34" charset="0"/>
              </a:rPr>
              <a:t>Anglani</a:t>
            </a:r>
            <a:r>
              <a:rPr lang="en-US" altLang="zh-CN" sz="1000" b="0" i="0" u="none" strike="noStrike" baseline="0" dirty="0">
                <a:latin typeface="Arial" panose="020B0604020202020204" pitchFamily="34" charset="0"/>
                <a:cs typeface="Arial" panose="020B0604020202020204" pitchFamily="34" charset="0"/>
              </a:rPr>
              <a:t>, G. </a:t>
            </a:r>
            <a:r>
              <a:rPr lang="en-US" altLang="zh-CN" sz="1000" b="0" i="0" u="none" strike="noStrike" baseline="0" dirty="0" err="1">
                <a:latin typeface="Arial" panose="020B0604020202020204" pitchFamily="34" charset="0"/>
                <a:cs typeface="Arial" panose="020B0604020202020204" pitchFamily="34" charset="0"/>
              </a:rPr>
              <a:t>Oriti</a:t>
            </a:r>
            <a:r>
              <a:rPr lang="en-US" altLang="zh-CN" sz="1000" b="0" i="0" u="none" strike="noStrike" baseline="0" dirty="0">
                <a:latin typeface="Arial" panose="020B0604020202020204" pitchFamily="34" charset="0"/>
                <a:cs typeface="Arial" panose="020B0604020202020204" pitchFamily="34" charset="0"/>
              </a:rPr>
              <a:t>, and M. </a:t>
            </a:r>
            <a:r>
              <a:rPr lang="en-US" altLang="zh-CN" sz="1000" b="0" i="0" u="none" strike="noStrike" baseline="0" dirty="0" err="1">
                <a:latin typeface="Arial" panose="020B0604020202020204" pitchFamily="34" charset="0"/>
                <a:cs typeface="Arial" panose="020B0604020202020204" pitchFamily="34" charset="0"/>
              </a:rPr>
              <a:t>Colombini</a:t>
            </a:r>
            <a:r>
              <a:rPr lang="en-US" altLang="zh-CN" sz="1000" b="0" i="0" u="none" strike="noStrike" baseline="0" dirty="0">
                <a:latin typeface="Arial" panose="020B0604020202020204" pitchFamily="34" charset="0"/>
                <a:cs typeface="Arial" panose="020B0604020202020204" pitchFamily="34" charset="0"/>
              </a:rPr>
              <a:t>, ``Optimized energy management system to reduce fuel consumption in remote military microgrids,'' IEEE Trans. Ind. Appl., vol. 53, no. 6, pp. 57775785, Nov./Dec. 2017.</a:t>
            </a:r>
            <a:endParaRPr lang="zh-CN" altLang="en-US" sz="1000" dirty="0">
              <a:latin typeface="Arial" panose="020B0604020202020204" pitchFamily="34" charset="0"/>
              <a:cs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flip dir="r"/>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15"/>
          <p:cNvSpPr txBox="1"/>
          <p:nvPr/>
        </p:nvSpPr>
        <p:spPr>
          <a:xfrm>
            <a:off x="709386" y="309785"/>
            <a:ext cx="5335223" cy="377026"/>
          </a:xfrm>
          <a:prstGeom prst="rect">
            <a:avLst/>
          </a:prstGeom>
        </p:spPr>
        <p:txBody>
          <a:bodyPr wrap="square" lIns="68580" tIns="34290" rIns="68580" bIns="34290" rtlCol="0">
            <a:spAutoFit/>
          </a:bodyPr>
          <a:lstStyle>
            <a:defPPr>
              <a:defRPr lang="zh-CN"/>
            </a:defPPr>
            <a:lvl1pPr>
              <a:defRPr sz="1700" b="1">
                <a:solidFill>
                  <a:srgbClr val="1B4367"/>
                </a:solidFill>
                <a:latin typeface="Arial" panose="020B0604020202020204" pitchFamily="34" charset="0"/>
                <a:cs typeface="Arial" panose="020B0604020202020204" pitchFamily="34" charset="0"/>
              </a:defRPr>
            </a:lvl1pPr>
          </a:lstStyle>
          <a:p>
            <a:r>
              <a:rPr lang="en-US" altLang="zh-CN" sz="2000" dirty="0">
                <a:latin typeface="+mn-lt"/>
                <a:cs typeface="+mn-ea"/>
                <a:sym typeface="+mn-lt"/>
              </a:rPr>
              <a:t>INCREASING THE SYSTEM EFFICIENCY</a:t>
            </a:r>
            <a:endParaRPr lang="zh-CN" altLang="en-US" sz="2000" dirty="0">
              <a:latin typeface="+mn-lt"/>
              <a:cs typeface="+mn-ea"/>
              <a:sym typeface="+mn-lt"/>
            </a:endParaRPr>
          </a:p>
        </p:txBody>
      </p:sp>
      <p:cxnSp>
        <p:nvCxnSpPr>
          <p:cNvPr id="15" name="直接连接符 14"/>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709386" y="898445"/>
            <a:ext cx="7711600" cy="1383665"/>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u"/>
            </a:pPr>
            <a:r>
              <a:rPr lang="en-US" altLang="zh-CN" kern="0" dirty="0">
                <a:latin typeface="Arial" panose="020B0604020202020204" pitchFamily="34" charset="0"/>
                <a:cs typeface="Arial" panose="020B0604020202020204" pitchFamily="34" charset="0"/>
              </a:rPr>
              <a:t>Energy management helps utility companies to</a:t>
            </a:r>
            <a:r>
              <a:rPr lang="en-US" altLang="zh-CN" kern="0" dirty="0">
                <a:solidFill>
                  <a:schemeClr val="tx1">
                    <a:lumMod val="75000"/>
                    <a:lumOff val="25000"/>
                  </a:schemeClr>
                </a:solidFill>
                <a:latin typeface="Arial" panose="020B0604020202020204" pitchFamily="34" charset="0"/>
                <a:cs typeface="Arial" panose="020B0604020202020204" pitchFamily="34" charset="0"/>
              </a:rPr>
              <a:t> </a:t>
            </a:r>
            <a:r>
              <a:rPr lang="en-US" altLang="zh-CN" dirty="0">
                <a:solidFill>
                  <a:srgbClr val="FF0000"/>
                </a:solidFill>
              </a:rPr>
              <a:t>monitor the energy distribution</a:t>
            </a:r>
            <a:r>
              <a:rPr lang="en-US" altLang="zh-CN" kern="0" dirty="0">
                <a:latin typeface="Arial" panose="020B0604020202020204" pitchFamily="34" charset="0"/>
                <a:cs typeface="Arial" panose="020B0604020202020204" pitchFamily="34" charset="0"/>
              </a:rPr>
              <a:t> in an optimized way. With the development of technology (IOT sensors), the consumer can get updated energy usage data from the system and optimize energy saving by re-scheduling the energy-consuming devices, or in some cases upgrading the energy-inefficient devices.</a:t>
            </a:r>
            <a:endParaRPr lang="en-US" altLang="zh-CN" kern="0" dirty="0">
              <a:latin typeface="Arial" panose="020B0604020202020204" pitchFamily="34" charset="0"/>
              <a:cs typeface="Arial" panose="020B0604020202020204" pitchFamily="34" charset="0"/>
            </a:endParaRPr>
          </a:p>
        </p:txBody>
      </p:sp>
      <p:sp>
        <p:nvSpPr>
          <p:cNvPr id="3" name="文本框 2"/>
          <p:cNvSpPr txBox="1"/>
          <p:nvPr/>
        </p:nvSpPr>
        <p:spPr>
          <a:xfrm>
            <a:off x="774478" y="2501293"/>
            <a:ext cx="7711600" cy="1060450"/>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u"/>
            </a:pPr>
            <a:r>
              <a:rPr lang="en-US" altLang="zh-CN" kern="0" dirty="0">
                <a:latin typeface="Arial" panose="020B0604020202020204" pitchFamily="34" charset="0"/>
                <a:cs typeface="Arial" panose="020B0604020202020204" pitchFamily="34" charset="0"/>
              </a:rPr>
              <a:t>In addition, energy management can</a:t>
            </a:r>
            <a:r>
              <a:rPr lang="en-US" altLang="zh-CN" kern="0" dirty="0">
                <a:solidFill>
                  <a:schemeClr val="tx1">
                    <a:lumMod val="75000"/>
                    <a:lumOff val="25000"/>
                  </a:schemeClr>
                </a:solidFill>
                <a:latin typeface="Arial" panose="020B0604020202020204" pitchFamily="34" charset="0"/>
                <a:cs typeface="Arial" panose="020B0604020202020204" pitchFamily="34" charset="0"/>
              </a:rPr>
              <a:t> </a:t>
            </a:r>
            <a:r>
              <a:rPr lang="en-US" altLang="zh-CN" dirty="0">
                <a:solidFill>
                  <a:srgbClr val="FF0000"/>
                </a:solidFill>
              </a:rPr>
              <a:t>monitor and control the energy resources </a:t>
            </a:r>
            <a:r>
              <a:rPr lang="en-US" altLang="zh-CN" kern="0" dirty="0">
                <a:solidFill>
                  <a:schemeClr val="tx1">
                    <a:lumMod val="75000"/>
                    <a:lumOff val="25000"/>
                  </a:schemeClr>
                </a:solidFill>
                <a:latin typeface="Arial" panose="020B0604020202020204" pitchFamily="34" charset="0"/>
                <a:cs typeface="Arial" panose="020B0604020202020204" pitchFamily="34" charset="0"/>
              </a:rPr>
              <a:t>located </a:t>
            </a:r>
            <a:r>
              <a:rPr lang="en-US" altLang="zh-CN" kern="0" dirty="0">
                <a:latin typeface="Arial" panose="020B0604020202020204" pitchFamily="34" charset="0"/>
                <a:cs typeface="Arial" panose="020B0604020202020204" pitchFamily="34" charset="0"/>
              </a:rPr>
              <a:t>at the consumer side, help to reduce the transmission line stress, and reduces the system loss, which ultimately increases the system efficiency.</a:t>
            </a:r>
            <a:endParaRPr lang="en-US" altLang="zh-CN" kern="0" dirty="0">
              <a:latin typeface="Arial" panose="020B0604020202020204" pitchFamily="34" charset="0"/>
              <a:cs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flip dir="r"/>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椭圆 1"/>
          <p:cNvSpPr/>
          <p:nvPr/>
        </p:nvSpPr>
        <p:spPr>
          <a:xfrm>
            <a:off x="3819635" y="1089058"/>
            <a:ext cx="1500028" cy="1500028"/>
          </a:xfrm>
          <a:prstGeom prst="ellipse">
            <a:avLst/>
          </a:prstGeom>
          <a:solidFill>
            <a:srgbClr val="1B43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文本框 11"/>
          <p:cNvSpPr txBox="1"/>
          <p:nvPr/>
        </p:nvSpPr>
        <p:spPr>
          <a:xfrm>
            <a:off x="1386967" y="2649409"/>
            <a:ext cx="6385912" cy="1114425"/>
          </a:xfrm>
          <a:prstGeom prst="rect">
            <a:avLst/>
          </a:prstGeom>
          <a:noFill/>
        </p:spPr>
        <p:txBody>
          <a:bodyPr wrap="square" lIns="68580" tIns="34290" rIns="68580" bIns="34290" rtlCol="0">
            <a:spAutoFit/>
          </a:bodyPr>
          <a:lstStyle/>
          <a:p>
            <a:pPr algn="ctr"/>
            <a:r>
              <a:rPr lang="en-US" altLang="zh-CN" sz="3400" b="1" dirty="0">
                <a:solidFill>
                  <a:srgbClr val="1B4367"/>
                </a:solidFill>
                <a:cs typeface="+mn-ea"/>
              </a:rPr>
              <a:t>BASED ON OPTIMIZATON A</a:t>
            </a:r>
            <a:r>
              <a:rPr lang="en-US" sz="3400" b="1" dirty="0">
                <a:solidFill>
                  <a:srgbClr val="1B4367"/>
                </a:solidFill>
                <a:cs typeface="+mn-ea"/>
              </a:rPr>
              <a:t>PPROACH</a:t>
            </a:r>
            <a:endParaRPr lang="en-US" sz="3400" b="1" dirty="0">
              <a:solidFill>
                <a:srgbClr val="1B4367"/>
              </a:solidFill>
              <a:cs typeface="+mn-ea"/>
              <a:sym typeface="+mn-lt"/>
            </a:endParaRPr>
          </a:p>
        </p:txBody>
      </p:sp>
      <p:sp>
        <p:nvSpPr>
          <p:cNvPr id="95" name="文本框 11"/>
          <p:cNvSpPr txBox="1"/>
          <p:nvPr/>
        </p:nvSpPr>
        <p:spPr>
          <a:xfrm>
            <a:off x="3713476" y="1575042"/>
            <a:ext cx="1732894" cy="815736"/>
          </a:xfrm>
          <a:prstGeom prst="rect">
            <a:avLst/>
          </a:prstGeom>
          <a:noFill/>
        </p:spPr>
        <p:txBody>
          <a:bodyPr wrap="square" lIns="68580" tIns="34290" rIns="68580" bIns="34290" rtlCol="0">
            <a:spAutoFit/>
          </a:bodyPr>
          <a:lstStyle/>
          <a:p>
            <a:pPr algn="ctr">
              <a:lnSpc>
                <a:spcPts val="3000"/>
              </a:lnSpc>
            </a:pPr>
            <a:r>
              <a:rPr lang="en-US" altLang="zh-CN" sz="5400" dirty="0">
                <a:solidFill>
                  <a:schemeClr val="bg1"/>
                </a:solidFill>
                <a:cs typeface="+mn-ea"/>
                <a:sym typeface="+mn-lt"/>
              </a:rPr>
              <a:t>03</a:t>
            </a:r>
            <a:endParaRPr lang="zh-CN" altLang="en-US" sz="5400" dirty="0">
              <a:solidFill>
                <a:schemeClr val="bg1"/>
              </a:solidFill>
              <a:cs typeface="+mn-ea"/>
              <a:sym typeface="+mn-lt"/>
            </a:endParaRPr>
          </a:p>
          <a:p>
            <a:pPr algn="ctr">
              <a:lnSpc>
                <a:spcPts val="3000"/>
              </a:lnSpc>
            </a:pPr>
            <a:r>
              <a:rPr lang="en-US" altLang="zh-CN" sz="2400" dirty="0">
                <a:solidFill>
                  <a:schemeClr val="bg1"/>
                </a:solidFill>
                <a:cs typeface="+mn-ea"/>
                <a:sym typeface="+mn-lt"/>
              </a:rPr>
              <a:t>PART </a:t>
            </a:r>
            <a:endParaRPr lang="en-US" altLang="zh-CN" sz="2400" dirty="0">
              <a:solidFill>
                <a:schemeClr val="bg1"/>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600"/>
                                        <p:tgtEl>
                                          <p:spTgt spid="2"/>
                                        </p:tgtEl>
                                      </p:cBhvr>
                                    </p:animEffect>
                                  </p:childTnLst>
                                </p:cTn>
                              </p:par>
                            </p:childTnLst>
                          </p:cTn>
                        </p:par>
                        <p:par>
                          <p:cTn id="8" fill="hold">
                            <p:stCondLst>
                              <p:cond delay="1000"/>
                            </p:stCondLst>
                            <p:childTnLst>
                              <p:par>
                                <p:cTn id="9" presetID="53" presetClass="entr" presetSubtype="16" fill="hold" grpId="0" nodeType="afterEffect">
                                  <p:stCondLst>
                                    <p:cond delay="0"/>
                                  </p:stCondLst>
                                  <p:childTnLst>
                                    <p:set>
                                      <p:cBhvr>
                                        <p:cTn id="10" dur="1" fill="hold">
                                          <p:stCondLst>
                                            <p:cond delay="0"/>
                                          </p:stCondLst>
                                        </p:cTn>
                                        <p:tgtEl>
                                          <p:spTgt spid="95"/>
                                        </p:tgtEl>
                                        <p:attrNameLst>
                                          <p:attrName>style.visibility</p:attrName>
                                        </p:attrNameLst>
                                      </p:cBhvr>
                                      <p:to>
                                        <p:strVal val="visible"/>
                                      </p:to>
                                    </p:set>
                                    <p:anim calcmode="lin" valueType="num">
                                      <p:cBhvr>
                                        <p:cTn id="11" dur="500" fill="hold"/>
                                        <p:tgtEl>
                                          <p:spTgt spid="95"/>
                                        </p:tgtEl>
                                        <p:attrNameLst>
                                          <p:attrName>ppt_w</p:attrName>
                                        </p:attrNameLst>
                                      </p:cBhvr>
                                      <p:tavLst>
                                        <p:tav tm="0">
                                          <p:val>
                                            <p:fltVal val="0"/>
                                          </p:val>
                                        </p:tav>
                                        <p:tav tm="100000">
                                          <p:val>
                                            <p:strVal val="#ppt_w"/>
                                          </p:val>
                                        </p:tav>
                                      </p:tavLst>
                                    </p:anim>
                                    <p:anim calcmode="lin" valueType="num">
                                      <p:cBhvr>
                                        <p:cTn id="12" dur="500" fill="hold"/>
                                        <p:tgtEl>
                                          <p:spTgt spid="95"/>
                                        </p:tgtEl>
                                        <p:attrNameLst>
                                          <p:attrName>ppt_h</p:attrName>
                                        </p:attrNameLst>
                                      </p:cBhvr>
                                      <p:tavLst>
                                        <p:tav tm="0">
                                          <p:val>
                                            <p:fltVal val="0"/>
                                          </p:val>
                                        </p:tav>
                                        <p:tav tm="100000">
                                          <p:val>
                                            <p:strVal val="#ppt_h"/>
                                          </p:val>
                                        </p:tav>
                                      </p:tavLst>
                                    </p:anim>
                                    <p:animEffect transition="in" filter="fade">
                                      <p:cBhvr>
                                        <p:cTn id="13" dur="500"/>
                                        <p:tgtEl>
                                          <p:spTgt spid="95"/>
                                        </p:tgtEl>
                                      </p:cBhvr>
                                    </p:animEffect>
                                  </p:childTnLst>
                                </p:cTn>
                              </p:par>
                            </p:childTnLst>
                          </p:cTn>
                        </p:par>
                        <p:par>
                          <p:cTn id="14" fill="hold">
                            <p:stCondLst>
                              <p:cond delay="1500"/>
                            </p:stCondLst>
                            <p:childTnLst>
                              <p:par>
                                <p:cTn id="15" presetID="41" presetClass="entr" presetSubtype="0" fill="hold" grpId="0" nodeType="afterEffect">
                                  <p:stCondLst>
                                    <p:cond delay="0"/>
                                  </p:stCondLst>
                                  <p:iterate type="lt">
                                    <p:tmPct val="10000"/>
                                  </p:iterate>
                                  <p:childTnLst>
                                    <p:set>
                                      <p:cBhvr>
                                        <p:cTn id="16" dur="1" fill="hold">
                                          <p:stCondLst>
                                            <p:cond delay="0"/>
                                          </p:stCondLst>
                                        </p:cTn>
                                        <p:tgtEl>
                                          <p:spTgt spid="12"/>
                                        </p:tgtEl>
                                        <p:attrNameLst>
                                          <p:attrName>style.visibility</p:attrName>
                                        </p:attrNameLst>
                                      </p:cBhvr>
                                      <p:to>
                                        <p:strVal val="visible"/>
                                      </p:to>
                                    </p:set>
                                    <p:anim calcmode="lin" valueType="num">
                                      <p:cBhvr>
                                        <p:cTn id="17" dur="500" fill="hold"/>
                                        <p:tgtEl>
                                          <p:spTgt spid="12"/>
                                        </p:tgtEl>
                                        <p:attrNameLst>
                                          <p:attrName>ppt_x</p:attrName>
                                        </p:attrNameLst>
                                      </p:cBhvr>
                                      <p:tavLst>
                                        <p:tav tm="0">
                                          <p:val>
                                            <p:strVal val="#ppt_x"/>
                                          </p:val>
                                        </p:tav>
                                        <p:tav tm="50000">
                                          <p:val>
                                            <p:strVal val="#ppt_x+.1"/>
                                          </p:val>
                                        </p:tav>
                                        <p:tav tm="100000">
                                          <p:val>
                                            <p:strVal val="#ppt_x"/>
                                          </p:val>
                                        </p:tav>
                                      </p:tavLst>
                                    </p:anim>
                                    <p:anim calcmode="lin" valueType="num">
                                      <p:cBhvr>
                                        <p:cTn id="18" dur="500" fill="hold"/>
                                        <p:tgtEl>
                                          <p:spTgt spid="12"/>
                                        </p:tgtEl>
                                        <p:attrNameLst>
                                          <p:attrName>ppt_y</p:attrName>
                                        </p:attrNameLst>
                                      </p:cBhvr>
                                      <p:tavLst>
                                        <p:tav tm="0">
                                          <p:val>
                                            <p:strVal val="#ppt_y"/>
                                          </p:val>
                                        </p:tav>
                                        <p:tav tm="100000">
                                          <p:val>
                                            <p:strVal val="#ppt_y"/>
                                          </p:val>
                                        </p:tav>
                                      </p:tavLst>
                                    </p:anim>
                                    <p:anim calcmode="lin" valueType="num">
                                      <p:cBhvr>
                                        <p:cTn id="19" dur="500" fill="hold"/>
                                        <p:tgtEl>
                                          <p:spTgt spid="12"/>
                                        </p:tgtEl>
                                        <p:attrNameLst>
                                          <p:attrName>ppt_h</p:attrName>
                                        </p:attrNameLst>
                                      </p:cBhvr>
                                      <p:tavLst>
                                        <p:tav tm="0">
                                          <p:val>
                                            <p:strVal val="#ppt_h/10"/>
                                          </p:val>
                                        </p:tav>
                                        <p:tav tm="50000">
                                          <p:val>
                                            <p:strVal val="#ppt_h+.01"/>
                                          </p:val>
                                        </p:tav>
                                        <p:tav tm="100000">
                                          <p:val>
                                            <p:strVal val="#ppt_h"/>
                                          </p:val>
                                        </p:tav>
                                      </p:tavLst>
                                    </p:anim>
                                    <p:anim calcmode="lin" valueType="num">
                                      <p:cBhvr>
                                        <p:cTn id="20" dur="500" fill="hold"/>
                                        <p:tgtEl>
                                          <p:spTgt spid="12"/>
                                        </p:tgtEl>
                                        <p:attrNameLst>
                                          <p:attrName>ppt_w</p:attrName>
                                        </p:attrNameLst>
                                      </p:cBhvr>
                                      <p:tavLst>
                                        <p:tav tm="0">
                                          <p:val>
                                            <p:strVal val="#ppt_w/10"/>
                                          </p:val>
                                        </p:tav>
                                        <p:tav tm="50000">
                                          <p:val>
                                            <p:strVal val="#ppt_w+.01"/>
                                          </p:val>
                                        </p:tav>
                                        <p:tav tm="100000">
                                          <p:val>
                                            <p:strVal val="#ppt_w"/>
                                          </p:val>
                                        </p:tav>
                                      </p:tavLst>
                                    </p:anim>
                                    <p:animEffect transition="in" filter="fade">
                                      <p:cBhvr>
                                        <p:cTn id="21" dur="500" tmFilter="0,0; .5, 1; 1, 1"/>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2" grpId="0"/>
      <p:bldP spid="9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矩形 30"/>
          <p:cNvSpPr/>
          <p:nvPr/>
        </p:nvSpPr>
        <p:spPr>
          <a:xfrm>
            <a:off x="3712369" y="1993901"/>
            <a:ext cx="1736723" cy="1162052"/>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t>Based on Optimization Approach</a:t>
            </a:r>
            <a:endParaRPr lang="en-US" altLang="zh-CN" sz="2000" b="1" dirty="0"/>
          </a:p>
        </p:txBody>
      </p:sp>
      <p:sp>
        <p:nvSpPr>
          <p:cNvPr id="32" name="矩形 31"/>
          <p:cNvSpPr/>
          <p:nvPr/>
        </p:nvSpPr>
        <p:spPr>
          <a:xfrm>
            <a:off x="6305549" y="250825"/>
            <a:ext cx="1987540" cy="62230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altLang="zh-CN" sz="1600" b="1" dirty="0"/>
              <a:t>PSO</a:t>
            </a:r>
            <a:endParaRPr lang="en-US" altLang="zh-CN" sz="1600" b="1" dirty="0"/>
          </a:p>
          <a:p>
            <a:pPr algn="ctr"/>
            <a:r>
              <a:rPr lang="en-US" altLang="zh-CN" sz="1200" dirty="0">
                <a:solidFill>
                  <a:srgbClr val="191B1F"/>
                </a:solidFill>
                <a:latin typeface="+mn-ea"/>
              </a:rPr>
              <a:t>Particle Swarm Optimization</a:t>
            </a:r>
            <a:endParaRPr lang="zh-CN" altLang="en-US" sz="1200" dirty="0"/>
          </a:p>
        </p:txBody>
      </p:sp>
      <p:sp>
        <p:nvSpPr>
          <p:cNvPr id="33" name="矩形 32"/>
          <p:cNvSpPr/>
          <p:nvPr/>
        </p:nvSpPr>
        <p:spPr>
          <a:xfrm>
            <a:off x="6305550" y="1038225"/>
            <a:ext cx="1987542" cy="6223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altLang="zh-CN" sz="1600" b="1" dirty="0"/>
              <a:t>MILP</a:t>
            </a:r>
            <a:endParaRPr lang="en-US" altLang="zh-CN" sz="1600" b="1" dirty="0"/>
          </a:p>
          <a:p>
            <a:pPr algn="ctr"/>
            <a:r>
              <a:rPr lang="en-US" altLang="zh-CN" sz="1200" dirty="0">
                <a:solidFill>
                  <a:srgbClr val="191B1F"/>
                </a:solidFill>
                <a:latin typeface="+mn-ea"/>
              </a:rPr>
              <a:t>Mixed-Integer Linear Programming</a:t>
            </a:r>
            <a:endParaRPr lang="en-US" altLang="zh-CN" sz="1200" dirty="0">
              <a:solidFill>
                <a:srgbClr val="191B1F"/>
              </a:solidFill>
              <a:latin typeface="+mn-ea"/>
            </a:endParaRPr>
          </a:p>
        </p:txBody>
      </p:sp>
      <p:sp>
        <p:nvSpPr>
          <p:cNvPr id="34" name="矩形 33"/>
          <p:cNvSpPr/>
          <p:nvPr/>
        </p:nvSpPr>
        <p:spPr>
          <a:xfrm>
            <a:off x="6305549" y="1857375"/>
            <a:ext cx="1987543" cy="6223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altLang="zh-CN" sz="1600" b="1" dirty="0"/>
              <a:t>TS</a:t>
            </a:r>
            <a:endParaRPr lang="en-US" altLang="zh-CN" sz="1600" b="1" dirty="0"/>
          </a:p>
          <a:p>
            <a:pPr algn="ctr"/>
            <a:r>
              <a:rPr lang="en-US" altLang="zh-CN" sz="1200" dirty="0">
                <a:solidFill>
                  <a:srgbClr val="191B1F"/>
                </a:solidFill>
                <a:latin typeface="+mn-ea"/>
              </a:rPr>
              <a:t>Tabu Search</a:t>
            </a:r>
            <a:endParaRPr lang="en-US" altLang="zh-CN" sz="1200" dirty="0">
              <a:solidFill>
                <a:srgbClr val="191B1F"/>
              </a:solidFill>
              <a:latin typeface="+mn-ea"/>
            </a:endParaRPr>
          </a:p>
        </p:txBody>
      </p:sp>
      <p:sp>
        <p:nvSpPr>
          <p:cNvPr id="35" name="矩形 34"/>
          <p:cNvSpPr/>
          <p:nvPr/>
        </p:nvSpPr>
        <p:spPr>
          <a:xfrm>
            <a:off x="6305549" y="2670175"/>
            <a:ext cx="1987547" cy="62230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1600" b="1" dirty="0"/>
              <a:t>Fuzzy Logic</a:t>
            </a:r>
            <a:endParaRPr lang="zh-CN" altLang="en-US" sz="1600" b="1" dirty="0"/>
          </a:p>
        </p:txBody>
      </p:sp>
      <p:sp>
        <p:nvSpPr>
          <p:cNvPr id="36" name="矩形 35"/>
          <p:cNvSpPr/>
          <p:nvPr/>
        </p:nvSpPr>
        <p:spPr>
          <a:xfrm>
            <a:off x="6305549" y="3476625"/>
            <a:ext cx="1987549" cy="6223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altLang="zh-CN" sz="1600" b="1" dirty="0"/>
              <a:t>Multi Agent</a:t>
            </a:r>
            <a:endParaRPr lang="zh-CN" altLang="en-US" sz="1600" b="1" dirty="0"/>
          </a:p>
        </p:txBody>
      </p:sp>
      <p:sp>
        <p:nvSpPr>
          <p:cNvPr id="37" name="矩形 36"/>
          <p:cNvSpPr/>
          <p:nvPr/>
        </p:nvSpPr>
        <p:spPr>
          <a:xfrm>
            <a:off x="6305549" y="4283075"/>
            <a:ext cx="1987549" cy="6223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altLang="zh-CN" sz="1600" b="1" dirty="0"/>
              <a:t>MINLP</a:t>
            </a:r>
            <a:endParaRPr lang="en-US" altLang="zh-CN" sz="1600" b="1" dirty="0"/>
          </a:p>
          <a:p>
            <a:pPr lvl="0" algn="ctr"/>
            <a:r>
              <a:rPr lang="en-US" altLang="zh-CN" sz="1200" dirty="0">
                <a:solidFill>
                  <a:srgbClr val="191B1F"/>
                </a:solidFill>
                <a:latin typeface="+mn-ea"/>
              </a:rPr>
              <a:t>Mixed-Integer Nonlinear Programming</a:t>
            </a:r>
            <a:endParaRPr lang="zh-CN" altLang="en-US" sz="1200" dirty="0">
              <a:solidFill>
                <a:srgbClr val="191B1F"/>
              </a:solidFill>
              <a:latin typeface="+mn-ea"/>
            </a:endParaRPr>
          </a:p>
        </p:txBody>
      </p:sp>
      <p:sp>
        <p:nvSpPr>
          <p:cNvPr id="38" name="矩形 37"/>
          <p:cNvSpPr/>
          <p:nvPr/>
        </p:nvSpPr>
        <p:spPr>
          <a:xfrm>
            <a:off x="971552" y="25403"/>
            <a:ext cx="1879598" cy="6223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b="1" dirty="0"/>
              <a:t>GA</a:t>
            </a:r>
            <a:endParaRPr lang="en-US" altLang="zh-CN" sz="1600" b="1" dirty="0"/>
          </a:p>
          <a:p>
            <a:pPr algn="ctr"/>
            <a:r>
              <a:rPr lang="en-US" altLang="zh-CN" sz="1200" dirty="0">
                <a:solidFill>
                  <a:srgbClr val="191B1F"/>
                </a:solidFill>
                <a:latin typeface="+mn-ea"/>
              </a:rPr>
              <a:t>Genetic algorithm</a:t>
            </a:r>
            <a:endParaRPr lang="zh-CN" altLang="en-US" sz="1200" dirty="0">
              <a:solidFill>
                <a:srgbClr val="191B1F"/>
              </a:solidFill>
              <a:latin typeface="+mn-ea"/>
            </a:endParaRPr>
          </a:p>
        </p:txBody>
      </p:sp>
      <p:sp>
        <p:nvSpPr>
          <p:cNvPr id="39" name="矩形 38"/>
          <p:cNvSpPr/>
          <p:nvPr/>
        </p:nvSpPr>
        <p:spPr>
          <a:xfrm>
            <a:off x="977902" y="774703"/>
            <a:ext cx="1873248" cy="6223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b="1" dirty="0"/>
              <a:t>UC</a:t>
            </a:r>
            <a:endParaRPr lang="en-US" altLang="zh-CN" sz="1600" b="1" dirty="0"/>
          </a:p>
          <a:p>
            <a:pPr algn="ctr"/>
            <a:r>
              <a:rPr lang="en-US" altLang="zh-CN" sz="1200" dirty="0">
                <a:solidFill>
                  <a:srgbClr val="191B1F"/>
                </a:solidFill>
                <a:latin typeface="+mn-ea"/>
              </a:rPr>
              <a:t>Unit Commitment</a:t>
            </a:r>
            <a:endParaRPr lang="zh-CN" altLang="en-US" sz="1200" dirty="0">
              <a:solidFill>
                <a:srgbClr val="191B1F"/>
              </a:solidFill>
              <a:latin typeface="+mn-ea"/>
            </a:endParaRPr>
          </a:p>
        </p:txBody>
      </p:sp>
      <p:sp>
        <p:nvSpPr>
          <p:cNvPr id="40" name="矩形 39"/>
          <p:cNvSpPr/>
          <p:nvPr/>
        </p:nvSpPr>
        <p:spPr>
          <a:xfrm>
            <a:off x="977902" y="1524003"/>
            <a:ext cx="1879598" cy="6223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b="1" dirty="0"/>
              <a:t>ABC</a:t>
            </a:r>
            <a:endParaRPr lang="en-US" altLang="zh-CN" sz="1600" b="1" dirty="0"/>
          </a:p>
          <a:p>
            <a:pPr algn="ctr"/>
            <a:r>
              <a:rPr lang="en-US" altLang="zh-CN" sz="1200" dirty="0">
                <a:solidFill>
                  <a:srgbClr val="191B1F"/>
                </a:solidFill>
                <a:latin typeface="+mn-ea"/>
              </a:rPr>
              <a:t>Artificial bee colony</a:t>
            </a:r>
            <a:endParaRPr lang="zh-CN" altLang="en-US" sz="1200" dirty="0">
              <a:solidFill>
                <a:srgbClr val="191B1F"/>
              </a:solidFill>
              <a:latin typeface="+mn-ea"/>
            </a:endParaRPr>
          </a:p>
        </p:txBody>
      </p:sp>
      <p:sp>
        <p:nvSpPr>
          <p:cNvPr id="41" name="矩形 40"/>
          <p:cNvSpPr/>
          <p:nvPr/>
        </p:nvSpPr>
        <p:spPr>
          <a:xfrm>
            <a:off x="977903" y="2273303"/>
            <a:ext cx="1879598" cy="6223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b="1" dirty="0"/>
              <a:t>ACO</a:t>
            </a:r>
            <a:endParaRPr lang="en-US" altLang="zh-CN" sz="1600" b="1" dirty="0"/>
          </a:p>
          <a:p>
            <a:pPr algn="ctr"/>
            <a:r>
              <a:rPr lang="en-US" altLang="zh-CN" sz="1200" dirty="0">
                <a:solidFill>
                  <a:srgbClr val="191B1F"/>
                </a:solidFill>
                <a:latin typeface="+mn-ea"/>
              </a:rPr>
              <a:t>Ant Colony </a:t>
            </a:r>
            <a:endParaRPr lang="en-US" altLang="zh-CN" sz="1200" dirty="0">
              <a:solidFill>
                <a:srgbClr val="191B1F"/>
              </a:solidFill>
              <a:latin typeface="+mn-ea"/>
            </a:endParaRPr>
          </a:p>
          <a:p>
            <a:pPr algn="ctr"/>
            <a:r>
              <a:rPr lang="en-US" altLang="zh-CN" sz="1200" dirty="0">
                <a:solidFill>
                  <a:srgbClr val="191B1F"/>
                </a:solidFill>
                <a:latin typeface="+mn-ea"/>
              </a:rPr>
              <a:t>Optimization</a:t>
            </a:r>
            <a:endParaRPr lang="zh-CN" altLang="en-US" sz="1200" dirty="0">
              <a:solidFill>
                <a:srgbClr val="191B1F"/>
              </a:solidFill>
              <a:latin typeface="+mn-ea"/>
            </a:endParaRPr>
          </a:p>
        </p:txBody>
      </p:sp>
      <p:sp>
        <p:nvSpPr>
          <p:cNvPr id="42" name="矩形 41"/>
          <p:cNvSpPr/>
          <p:nvPr/>
        </p:nvSpPr>
        <p:spPr>
          <a:xfrm>
            <a:off x="971552" y="3022602"/>
            <a:ext cx="1879598" cy="6223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altLang="zh-CN" sz="1600" b="1" dirty="0"/>
              <a:t>Heuristic</a:t>
            </a:r>
            <a:endParaRPr lang="en-US" altLang="zh-CN" sz="1600" b="1" dirty="0"/>
          </a:p>
          <a:p>
            <a:pPr lvl="0" algn="ctr"/>
            <a:r>
              <a:rPr lang="en-US" altLang="zh-CN" sz="1200" dirty="0">
                <a:solidFill>
                  <a:srgbClr val="191B1F"/>
                </a:solidFill>
                <a:latin typeface="+mn-ea"/>
              </a:rPr>
              <a:t>Heuristic Optimization</a:t>
            </a:r>
            <a:endParaRPr lang="zh-CN" altLang="en-US" sz="1200" dirty="0">
              <a:solidFill>
                <a:srgbClr val="191B1F"/>
              </a:solidFill>
              <a:latin typeface="+mn-ea"/>
            </a:endParaRPr>
          </a:p>
        </p:txBody>
      </p:sp>
      <p:sp>
        <p:nvSpPr>
          <p:cNvPr id="43" name="矩形 42"/>
          <p:cNvSpPr/>
          <p:nvPr/>
        </p:nvSpPr>
        <p:spPr>
          <a:xfrm>
            <a:off x="977902" y="3771901"/>
            <a:ext cx="1879598" cy="6223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altLang="zh-CN" sz="1600" b="1" dirty="0"/>
              <a:t>MPC</a:t>
            </a:r>
            <a:endParaRPr lang="en-US" altLang="zh-CN" sz="1600" b="1" dirty="0"/>
          </a:p>
          <a:p>
            <a:pPr algn="ctr"/>
            <a:r>
              <a:rPr lang="en-US" altLang="zh-CN" sz="1200" dirty="0">
                <a:solidFill>
                  <a:srgbClr val="191B1F"/>
                </a:solidFill>
                <a:latin typeface="+mn-ea"/>
              </a:rPr>
              <a:t>Model Predictive Control</a:t>
            </a:r>
            <a:endParaRPr lang="en-US" altLang="zh-CN" sz="1200" dirty="0">
              <a:solidFill>
                <a:srgbClr val="191B1F"/>
              </a:solidFill>
              <a:latin typeface="+mn-ea"/>
            </a:endParaRPr>
          </a:p>
        </p:txBody>
      </p:sp>
      <p:sp>
        <p:nvSpPr>
          <p:cNvPr id="44" name="矩形 43"/>
          <p:cNvSpPr/>
          <p:nvPr/>
        </p:nvSpPr>
        <p:spPr>
          <a:xfrm>
            <a:off x="971552" y="4521200"/>
            <a:ext cx="1885948" cy="6223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altLang="zh-CN" sz="1600" b="1" dirty="0"/>
              <a:t>Game Theory</a:t>
            </a:r>
            <a:endParaRPr lang="zh-CN" altLang="en-US" sz="1600" b="1" dirty="0"/>
          </a:p>
        </p:txBody>
      </p:sp>
      <p:cxnSp>
        <p:nvCxnSpPr>
          <p:cNvPr id="46" name="直接连接符 45"/>
          <p:cNvCxnSpPr>
            <a:stCxn id="32" idx="1"/>
          </p:cNvCxnSpPr>
          <p:nvPr/>
        </p:nvCxnSpPr>
        <p:spPr>
          <a:xfrm flipH="1" flipV="1">
            <a:off x="5899150" y="558800"/>
            <a:ext cx="406399" cy="3175"/>
          </a:xfrm>
          <a:prstGeom prst="line">
            <a:avLst/>
          </a:prstGeom>
          <a:ln w="19050"/>
        </p:spPr>
        <p:style>
          <a:lnRef idx="1">
            <a:schemeClr val="dk1"/>
          </a:lnRef>
          <a:fillRef idx="0">
            <a:schemeClr val="dk1"/>
          </a:fillRef>
          <a:effectRef idx="0">
            <a:schemeClr val="dk1"/>
          </a:effectRef>
          <a:fontRef idx="minor">
            <a:schemeClr val="tx1"/>
          </a:fontRef>
        </p:style>
      </p:cxnSp>
      <p:cxnSp>
        <p:nvCxnSpPr>
          <p:cNvPr id="48" name="直接连接符 47"/>
          <p:cNvCxnSpPr>
            <a:stCxn id="37" idx="1"/>
          </p:cNvCxnSpPr>
          <p:nvPr/>
        </p:nvCxnSpPr>
        <p:spPr>
          <a:xfrm flipH="1">
            <a:off x="5899150" y="4594225"/>
            <a:ext cx="406399"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51" name="直接连接符 50"/>
          <p:cNvCxnSpPr/>
          <p:nvPr/>
        </p:nvCxnSpPr>
        <p:spPr>
          <a:xfrm flipV="1">
            <a:off x="5899150" y="558800"/>
            <a:ext cx="0" cy="4035425"/>
          </a:xfrm>
          <a:prstGeom prst="line">
            <a:avLst/>
          </a:prstGeom>
          <a:ln w="19050"/>
        </p:spPr>
        <p:style>
          <a:lnRef idx="1">
            <a:schemeClr val="dk1"/>
          </a:lnRef>
          <a:fillRef idx="0">
            <a:schemeClr val="dk1"/>
          </a:fillRef>
          <a:effectRef idx="0">
            <a:schemeClr val="dk1"/>
          </a:effectRef>
          <a:fontRef idx="minor">
            <a:schemeClr val="tx1"/>
          </a:fontRef>
        </p:style>
      </p:cxnSp>
      <p:cxnSp>
        <p:nvCxnSpPr>
          <p:cNvPr id="54" name="直接连接符 53"/>
          <p:cNvCxnSpPr/>
          <p:nvPr/>
        </p:nvCxnSpPr>
        <p:spPr>
          <a:xfrm flipV="1">
            <a:off x="3262311" y="327025"/>
            <a:ext cx="0" cy="4516834"/>
          </a:xfrm>
          <a:prstGeom prst="line">
            <a:avLst/>
          </a:prstGeom>
          <a:ln w="19050"/>
        </p:spPr>
        <p:style>
          <a:lnRef idx="1">
            <a:schemeClr val="dk1"/>
          </a:lnRef>
          <a:fillRef idx="0">
            <a:schemeClr val="dk1"/>
          </a:fillRef>
          <a:effectRef idx="0">
            <a:schemeClr val="dk1"/>
          </a:effectRef>
          <a:fontRef idx="minor">
            <a:schemeClr val="tx1"/>
          </a:fontRef>
        </p:style>
      </p:cxnSp>
      <p:cxnSp>
        <p:nvCxnSpPr>
          <p:cNvPr id="55" name="直接连接符 54"/>
          <p:cNvCxnSpPr>
            <a:endCxn id="31" idx="3"/>
          </p:cNvCxnSpPr>
          <p:nvPr/>
        </p:nvCxnSpPr>
        <p:spPr>
          <a:xfrm flipH="1" flipV="1">
            <a:off x="5449092" y="2574927"/>
            <a:ext cx="450058" cy="1587"/>
          </a:xfrm>
          <a:prstGeom prst="line">
            <a:avLst/>
          </a:prstGeom>
          <a:ln w="19050"/>
        </p:spPr>
        <p:style>
          <a:lnRef idx="1">
            <a:schemeClr val="dk1"/>
          </a:lnRef>
          <a:fillRef idx="0">
            <a:schemeClr val="dk1"/>
          </a:fillRef>
          <a:effectRef idx="0">
            <a:schemeClr val="dk1"/>
          </a:effectRef>
          <a:fontRef idx="minor">
            <a:schemeClr val="tx1"/>
          </a:fontRef>
        </p:style>
      </p:cxnSp>
      <p:cxnSp>
        <p:nvCxnSpPr>
          <p:cNvPr id="58" name="直接连接符 57"/>
          <p:cNvCxnSpPr/>
          <p:nvPr/>
        </p:nvCxnSpPr>
        <p:spPr>
          <a:xfrm flipH="1" flipV="1">
            <a:off x="5899150" y="1368425"/>
            <a:ext cx="406400" cy="3175"/>
          </a:xfrm>
          <a:prstGeom prst="line">
            <a:avLst/>
          </a:prstGeom>
          <a:ln w="19050"/>
        </p:spPr>
        <p:style>
          <a:lnRef idx="1">
            <a:schemeClr val="dk1"/>
          </a:lnRef>
          <a:fillRef idx="0">
            <a:schemeClr val="dk1"/>
          </a:fillRef>
          <a:effectRef idx="0">
            <a:schemeClr val="dk1"/>
          </a:effectRef>
          <a:fontRef idx="minor">
            <a:schemeClr val="tx1"/>
          </a:fontRef>
        </p:style>
      </p:cxnSp>
      <p:cxnSp>
        <p:nvCxnSpPr>
          <p:cNvPr id="59" name="直接连接符 58"/>
          <p:cNvCxnSpPr/>
          <p:nvPr/>
        </p:nvCxnSpPr>
        <p:spPr>
          <a:xfrm flipH="1" flipV="1">
            <a:off x="5899150" y="2174875"/>
            <a:ext cx="406400" cy="3175"/>
          </a:xfrm>
          <a:prstGeom prst="line">
            <a:avLst/>
          </a:prstGeom>
          <a:ln w="19050"/>
        </p:spPr>
        <p:style>
          <a:lnRef idx="1">
            <a:schemeClr val="dk1"/>
          </a:lnRef>
          <a:fillRef idx="0">
            <a:schemeClr val="dk1"/>
          </a:fillRef>
          <a:effectRef idx="0">
            <a:schemeClr val="dk1"/>
          </a:effectRef>
          <a:fontRef idx="minor">
            <a:schemeClr val="tx1"/>
          </a:fontRef>
        </p:style>
      </p:cxnSp>
      <p:cxnSp>
        <p:nvCxnSpPr>
          <p:cNvPr id="60" name="直接连接符 59"/>
          <p:cNvCxnSpPr/>
          <p:nvPr/>
        </p:nvCxnSpPr>
        <p:spPr>
          <a:xfrm flipH="1" flipV="1">
            <a:off x="5899150" y="2981325"/>
            <a:ext cx="406400" cy="3175"/>
          </a:xfrm>
          <a:prstGeom prst="line">
            <a:avLst/>
          </a:prstGeom>
          <a:ln w="19050"/>
        </p:spPr>
        <p:style>
          <a:lnRef idx="1">
            <a:schemeClr val="dk1"/>
          </a:lnRef>
          <a:fillRef idx="0">
            <a:schemeClr val="dk1"/>
          </a:fillRef>
          <a:effectRef idx="0">
            <a:schemeClr val="dk1"/>
          </a:effectRef>
          <a:fontRef idx="minor">
            <a:schemeClr val="tx1"/>
          </a:fontRef>
        </p:style>
      </p:cxnSp>
      <p:cxnSp>
        <p:nvCxnSpPr>
          <p:cNvPr id="61" name="直接连接符 60"/>
          <p:cNvCxnSpPr/>
          <p:nvPr/>
        </p:nvCxnSpPr>
        <p:spPr>
          <a:xfrm flipH="1" flipV="1">
            <a:off x="5899150" y="3781425"/>
            <a:ext cx="406400" cy="3175"/>
          </a:xfrm>
          <a:prstGeom prst="line">
            <a:avLst/>
          </a:prstGeom>
          <a:ln w="19050"/>
        </p:spPr>
        <p:style>
          <a:lnRef idx="1">
            <a:schemeClr val="dk1"/>
          </a:lnRef>
          <a:fillRef idx="0">
            <a:schemeClr val="dk1"/>
          </a:fillRef>
          <a:effectRef idx="0">
            <a:schemeClr val="dk1"/>
          </a:effectRef>
          <a:fontRef idx="minor">
            <a:schemeClr val="tx1"/>
          </a:fontRef>
        </p:style>
      </p:cxnSp>
      <p:cxnSp>
        <p:nvCxnSpPr>
          <p:cNvPr id="62" name="直接连接符 61"/>
          <p:cNvCxnSpPr>
            <a:stCxn id="31" idx="1"/>
          </p:cNvCxnSpPr>
          <p:nvPr/>
        </p:nvCxnSpPr>
        <p:spPr>
          <a:xfrm flipH="1" flipV="1">
            <a:off x="3259931" y="2571750"/>
            <a:ext cx="452438" cy="3177"/>
          </a:xfrm>
          <a:prstGeom prst="line">
            <a:avLst/>
          </a:prstGeom>
          <a:ln w="19050"/>
        </p:spPr>
        <p:style>
          <a:lnRef idx="1">
            <a:schemeClr val="dk1"/>
          </a:lnRef>
          <a:fillRef idx="0">
            <a:schemeClr val="dk1"/>
          </a:fillRef>
          <a:effectRef idx="0">
            <a:schemeClr val="dk1"/>
          </a:effectRef>
          <a:fontRef idx="minor">
            <a:schemeClr val="tx1"/>
          </a:fontRef>
        </p:style>
      </p:cxnSp>
      <p:cxnSp>
        <p:nvCxnSpPr>
          <p:cNvPr id="63" name="直接连接符 62"/>
          <p:cNvCxnSpPr/>
          <p:nvPr/>
        </p:nvCxnSpPr>
        <p:spPr>
          <a:xfrm flipH="1" flipV="1">
            <a:off x="2857499" y="333378"/>
            <a:ext cx="406400" cy="3175"/>
          </a:xfrm>
          <a:prstGeom prst="line">
            <a:avLst/>
          </a:prstGeom>
          <a:ln w="19050"/>
        </p:spPr>
        <p:style>
          <a:lnRef idx="1">
            <a:schemeClr val="dk1"/>
          </a:lnRef>
          <a:fillRef idx="0">
            <a:schemeClr val="dk1"/>
          </a:fillRef>
          <a:effectRef idx="0">
            <a:schemeClr val="dk1"/>
          </a:effectRef>
          <a:fontRef idx="minor">
            <a:schemeClr val="tx1"/>
          </a:fontRef>
        </p:style>
      </p:cxnSp>
      <p:cxnSp>
        <p:nvCxnSpPr>
          <p:cNvPr id="65" name="直接连接符 64"/>
          <p:cNvCxnSpPr/>
          <p:nvPr/>
        </p:nvCxnSpPr>
        <p:spPr>
          <a:xfrm flipH="1" flipV="1">
            <a:off x="2857499" y="1082675"/>
            <a:ext cx="406400" cy="3175"/>
          </a:xfrm>
          <a:prstGeom prst="line">
            <a:avLst/>
          </a:prstGeom>
          <a:ln w="19050"/>
        </p:spPr>
        <p:style>
          <a:lnRef idx="1">
            <a:schemeClr val="dk1"/>
          </a:lnRef>
          <a:fillRef idx="0">
            <a:schemeClr val="dk1"/>
          </a:fillRef>
          <a:effectRef idx="0">
            <a:schemeClr val="dk1"/>
          </a:effectRef>
          <a:fontRef idx="minor">
            <a:schemeClr val="tx1"/>
          </a:fontRef>
        </p:style>
      </p:cxnSp>
      <p:cxnSp>
        <p:nvCxnSpPr>
          <p:cNvPr id="66" name="直接连接符 65"/>
          <p:cNvCxnSpPr/>
          <p:nvPr/>
        </p:nvCxnSpPr>
        <p:spPr>
          <a:xfrm flipH="1" flipV="1">
            <a:off x="2857500" y="1833559"/>
            <a:ext cx="406400" cy="3175"/>
          </a:xfrm>
          <a:prstGeom prst="line">
            <a:avLst/>
          </a:prstGeom>
          <a:ln w="19050"/>
        </p:spPr>
        <p:style>
          <a:lnRef idx="1">
            <a:schemeClr val="dk1"/>
          </a:lnRef>
          <a:fillRef idx="0">
            <a:schemeClr val="dk1"/>
          </a:fillRef>
          <a:effectRef idx="0">
            <a:schemeClr val="dk1"/>
          </a:effectRef>
          <a:fontRef idx="minor">
            <a:schemeClr val="tx1"/>
          </a:fontRef>
        </p:style>
      </p:cxnSp>
      <p:cxnSp>
        <p:nvCxnSpPr>
          <p:cNvPr id="67" name="直接连接符 66"/>
          <p:cNvCxnSpPr/>
          <p:nvPr/>
        </p:nvCxnSpPr>
        <p:spPr>
          <a:xfrm flipH="1" flipV="1">
            <a:off x="2857500" y="2572547"/>
            <a:ext cx="406400" cy="3175"/>
          </a:xfrm>
          <a:prstGeom prst="line">
            <a:avLst/>
          </a:prstGeom>
          <a:ln w="19050"/>
        </p:spPr>
        <p:style>
          <a:lnRef idx="1">
            <a:schemeClr val="dk1"/>
          </a:lnRef>
          <a:fillRef idx="0">
            <a:schemeClr val="dk1"/>
          </a:fillRef>
          <a:effectRef idx="0">
            <a:schemeClr val="dk1"/>
          </a:effectRef>
          <a:fontRef idx="minor">
            <a:schemeClr val="tx1"/>
          </a:fontRef>
        </p:style>
      </p:cxnSp>
      <p:cxnSp>
        <p:nvCxnSpPr>
          <p:cNvPr id="68" name="直接连接符 67"/>
          <p:cNvCxnSpPr/>
          <p:nvPr/>
        </p:nvCxnSpPr>
        <p:spPr>
          <a:xfrm flipH="1" flipV="1">
            <a:off x="2847181" y="3332164"/>
            <a:ext cx="406400" cy="3175"/>
          </a:xfrm>
          <a:prstGeom prst="line">
            <a:avLst/>
          </a:prstGeom>
          <a:ln w="19050"/>
        </p:spPr>
        <p:style>
          <a:lnRef idx="1">
            <a:schemeClr val="dk1"/>
          </a:lnRef>
          <a:fillRef idx="0">
            <a:schemeClr val="dk1"/>
          </a:fillRef>
          <a:effectRef idx="0">
            <a:schemeClr val="dk1"/>
          </a:effectRef>
          <a:fontRef idx="minor">
            <a:schemeClr val="tx1"/>
          </a:fontRef>
        </p:style>
      </p:cxnSp>
      <p:cxnSp>
        <p:nvCxnSpPr>
          <p:cNvPr id="69" name="直接连接符 68"/>
          <p:cNvCxnSpPr/>
          <p:nvPr/>
        </p:nvCxnSpPr>
        <p:spPr>
          <a:xfrm flipH="1" flipV="1">
            <a:off x="2853531" y="4091385"/>
            <a:ext cx="406400" cy="3175"/>
          </a:xfrm>
          <a:prstGeom prst="line">
            <a:avLst/>
          </a:prstGeom>
          <a:ln w="19050"/>
        </p:spPr>
        <p:style>
          <a:lnRef idx="1">
            <a:schemeClr val="dk1"/>
          </a:lnRef>
          <a:fillRef idx="0">
            <a:schemeClr val="dk1"/>
          </a:fillRef>
          <a:effectRef idx="0">
            <a:schemeClr val="dk1"/>
          </a:effectRef>
          <a:fontRef idx="minor">
            <a:schemeClr val="tx1"/>
          </a:fontRef>
        </p:style>
      </p:cxnSp>
      <p:cxnSp>
        <p:nvCxnSpPr>
          <p:cNvPr id="70" name="直接连接符 69"/>
          <p:cNvCxnSpPr/>
          <p:nvPr/>
        </p:nvCxnSpPr>
        <p:spPr>
          <a:xfrm flipH="1" flipV="1">
            <a:off x="2857499" y="4843859"/>
            <a:ext cx="406400" cy="3175"/>
          </a:xfrm>
          <a:prstGeom prst="line">
            <a:avLst/>
          </a:prstGeom>
          <a:ln w="19050"/>
        </p:spPr>
        <p:style>
          <a:lnRef idx="1">
            <a:schemeClr val="dk1"/>
          </a:lnRef>
          <a:fillRef idx="0">
            <a:schemeClr val="dk1"/>
          </a:fillRef>
          <a:effectRef idx="0">
            <a:schemeClr val="dk1"/>
          </a:effectRef>
          <a:fontRef idx="minor">
            <a:schemeClr val="tx1"/>
          </a:fontRef>
        </p:style>
      </p:cxn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3"/>
          <p:cNvSpPr>
            <a:spLocks noChangeArrowheads="1"/>
          </p:cNvSpPr>
          <p:nvPr/>
        </p:nvSpPr>
        <p:spPr bwMode="auto">
          <a:xfrm>
            <a:off x="4572001" y="803383"/>
            <a:ext cx="4572000" cy="2230103"/>
          </a:xfrm>
          <a:prstGeom prst="rect">
            <a:avLst/>
          </a:prstGeom>
          <a:solidFill>
            <a:srgbClr val="1B4367"/>
          </a:solidFill>
          <a:ln w="9525">
            <a:noFill/>
            <a:bevel/>
          </a:ln>
        </p:spPr>
        <p:txBody>
          <a:bodyPr lIns="68580" tIns="34290" rIns="68580" bIns="34290"/>
          <a:lstStyle/>
          <a:p>
            <a:pPr eaLnBrk="1" hangingPunct="1"/>
            <a:endParaRPr lang="zh-CN" altLang="en-US">
              <a:cs typeface="+mn-ea"/>
              <a:sym typeface="+mn-lt"/>
            </a:endParaRPr>
          </a:p>
        </p:txBody>
      </p:sp>
      <p:sp>
        <p:nvSpPr>
          <p:cNvPr id="18" name="矩形 23"/>
          <p:cNvSpPr>
            <a:spLocks noChangeArrowheads="1"/>
          </p:cNvSpPr>
          <p:nvPr/>
        </p:nvSpPr>
        <p:spPr bwMode="auto">
          <a:xfrm>
            <a:off x="1" y="803383"/>
            <a:ext cx="4571999" cy="2230103"/>
          </a:xfrm>
          <a:prstGeom prst="rect">
            <a:avLst/>
          </a:prstGeom>
          <a:blipFill dpi="0" rotWithShape="1">
            <a:blip r:embed="rId1" cstate="print"/>
            <a:srcRect/>
            <a:stretch>
              <a:fillRect/>
            </a:stretch>
          </a:blipFill>
          <a:ln w="9525">
            <a:noFill/>
            <a:bevel/>
          </a:ln>
        </p:spPr>
        <p:txBody>
          <a:bodyPr lIns="68580" tIns="34290" rIns="68580" bIns="34290"/>
          <a:lstStyle/>
          <a:p>
            <a:pPr eaLnBrk="1" hangingPunct="1"/>
            <a:endParaRPr lang="zh-CN" altLang="en-US">
              <a:cs typeface="+mn-ea"/>
              <a:sym typeface="+mn-lt"/>
            </a:endParaRPr>
          </a:p>
        </p:txBody>
      </p:sp>
      <p:sp>
        <p:nvSpPr>
          <p:cNvPr id="16" name="文本框 15"/>
          <p:cNvSpPr txBox="1"/>
          <p:nvPr/>
        </p:nvSpPr>
        <p:spPr>
          <a:xfrm>
            <a:off x="716110" y="316509"/>
            <a:ext cx="4599257" cy="375920"/>
          </a:xfrm>
          <a:prstGeom prst="rect">
            <a:avLst/>
          </a:prstGeom>
          <a:noFill/>
        </p:spPr>
        <p:txBody>
          <a:bodyPr wrap="square" lIns="68580" tIns="34290" rIns="68580" bIns="34290" rtlCol="0">
            <a:spAutoFit/>
          </a:bodyPr>
          <a:lstStyle/>
          <a:p>
            <a:r>
              <a:rPr lang="en-US" altLang="zh-CN" sz="2000" b="1" dirty="0">
                <a:solidFill>
                  <a:srgbClr val="1B4367"/>
                </a:solidFill>
                <a:cs typeface="+mn-ea"/>
                <a:sym typeface="+mn-lt"/>
              </a:rPr>
              <a:t>Based on Optimization Approach</a:t>
            </a:r>
            <a:endParaRPr lang="en-US" altLang="zh-CN" sz="2000" b="1" dirty="0">
              <a:solidFill>
                <a:srgbClr val="1B4367"/>
              </a:solidFill>
              <a:cs typeface="+mn-ea"/>
              <a:sym typeface="+mn-lt"/>
            </a:endParaRPr>
          </a:p>
        </p:txBody>
      </p:sp>
      <p:sp>
        <p:nvSpPr>
          <p:cNvPr id="106" name="TextBox 1210"/>
          <p:cNvSpPr/>
          <p:nvPr/>
        </p:nvSpPr>
        <p:spPr>
          <a:xfrm>
            <a:off x="673673" y="3355562"/>
            <a:ext cx="612775" cy="345440"/>
          </a:xfrm>
          <a:prstGeom prst="rect">
            <a:avLst/>
          </a:prstGeom>
          <a:noFill/>
          <a:ln w="9525">
            <a:noFill/>
            <a:miter/>
          </a:ln>
          <a:extLst>
            <a:ext uri="{909E8E84-426E-40DD-AFC4-6F175D3DCCD1}">
              <a14:hiddenFill xmlns:a14="http://schemas.microsoft.com/office/drawing/2010/main">
                <a:solidFill>
                  <a:srgbClr val="5CA0B4"/>
                </a:solidFill>
              </a14:hiddenFill>
            </a:ext>
          </a:extLst>
        </p:spPr>
        <p:txBody>
          <a:bodyPr wrap="none" lIns="68580" tIns="34290" rIns="68580" bIns="34290">
            <a:spAutoFit/>
          </a:bodyPr>
          <a:lstStyle/>
          <a:p>
            <a:pPr lvl="0"/>
            <a:r>
              <a:rPr lang="en-US" altLang="zh-CN" sz="1800" b="1" dirty="0">
                <a:solidFill>
                  <a:srgbClr val="1B4367"/>
                </a:solidFill>
                <a:cs typeface="+mn-ea"/>
              </a:rPr>
              <a:t>PSO</a:t>
            </a:r>
            <a:endParaRPr lang="en-US" altLang="zh-CN" sz="1800" b="1" dirty="0">
              <a:solidFill>
                <a:srgbClr val="1B4367"/>
              </a:solidFill>
              <a:cs typeface="+mn-ea"/>
              <a:sym typeface="+mn-lt"/>
            </a:endParaRPr>
          </a:p>
        </p:txBody>
      </p:sp>
      <p:grpSp>
        <p:nvGrpSpPr>
          <p:cNvPr id="108" name="组合 107"/>
          <p:cNvGrpSpPr/>
          <p:nvPr/>
        </p:nvGrpSpPr>
        <p:grpSpPr>
          <a:xfrm>
            <a:off x="225509" y="3341069"/>
            <a:ext cx="448164" cy="368593"/>
            <a:chOff x="5630584" y="966369"/>
            <a:chExt cx="476097" cy="391567"/>
          </a:xfrm>
          <a:solidFill>
            <a:srgbClr val="1B4367"/>
          </a:solidFill>
        </p:grpSpPr>
        <p:sp>
          <p:nvSpPr>
            <p:cNvPr id="109" name="椭圆 108"/>
            <p:cNvSpPr/>
            <p:nvPr/>
          </p:nvSpPr>
          <p:spPr>
            <a:xfrm>
              <a:off x="5673454" y="966369"/>
              <a:ext cx="391567" cy="391567"/>
            </a:xfrm>
            <a:prstGeom prst="ellipse">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solidFill>
                  <a:schemeClr val="bg1"/>
                </a:solidFill>
                <a:cs typeface="+mn-ea"/>
                <a:sym typeface="+mn-lt"/>
              </a:endParaRPr>
            </a:p>
          </p:txBody>
        </p:sp>
        <p:sp>
          <p:nvSpPr>
            <p:cNvPr id="110" name="文本框 17"/>
            <p:cNvSpPr txBox="1"/>
            <p:nvPr/>
          </p:nvSpPr>
          <p:spPr>
            <a:xfrm>
              <a:off x="5630584" y="1004390"/>
              <a:ext cx="476097" cy="343308"/>
            </a:xfrm>
            <a:prstGeom prst="rect">
              <a:avLst/>
            </a:prstGeom>
            <a:noFill/>
            <a:ln>
              <a:noFill/>
            </a:ln>
          </p:spPr>
          <p:txBody>
            <a:bodyPr wrap="square" rtlCol="0">
              <a:spAutoFit/>
            </a:bodyPr>
            <a:lstStyle/>
            <a:p>
              <a:pPr algn="ctr">
                <a:defRPr/>
              </a:pPr>
              <a:r>
                <a:rPr lang="en-US" altLang="zh-CN" sz="1500" dirty="0">
                  <a:solidFill>
                    <a:schemeClr val="bg1"/>
                  </a:solidFill>
                  <a:cs typeface="+mn-ea"/>
                  <a:sym typeface="+mn-lt"/>
                </a:rPr>
                <a:t>01</a:t>
              </a:r>
              <a:endParaRPr lang="en-US" altLang="zh-CN" sz="1500" dirty="0">
                <a:solidFill>
                  <a:schemeClr val="bg1"/>
                </a:solidFill>
                <a:cs typeface="+mn-ea"/>
                <a:sym typeface="+mn-lt"/>
              </a:endParaRPr>
            </a:p>
          </p:txBody>
        </p:sp>
      </p:grpSp>
      <p:sp>
        <p:nvSpPr>
          <p:cNvPr id="111" name="TextBox 1210"/>
          <p:cNvSpPr/>
          <p:nvPr/>
        </p:nvSpPr>
        <p:spPr>
          <a:xfrm>
            <a:off x="5315719" y="3341460"/>
            <a:ext cx="1460500" cy="345440"/>
          </a:xfrm>
          <a:prstGeom prst="rect">
            <a:avLst/>
          </a:prstGeom>
          <a:noFill/>
          <a:ln w="9525">
            <a:noFill/>
            <a:miter/>
          </a:ln>
          <a:extLst>
            <a:ext uri="{909E8E84-426E-40DD-AFC4-6F175D3DCCD1}">
              <a14:hiddenFill xmlns:a14="http://schemas.microsoft.com/office/drawing/2010/main">
                <a:solidFill>
                  <a:srgbClr val="5CA0B4"/>
                </a:solidFill>
              </a14:hiddenFill>
            </a:ext>
          </a:extLst>
        </p:spPr>
        <p:txBody>
          <a:bodyPr wrap="none" lIns="68580" tIns="34290" rIns="68580" bIns="34290">
            <a:spAutoFit/>
          </a:bodyPr>
          <a:lstStyle/>
          <a:p>
            <a:pPr fontAlgn="base"/>
            <a:r>
              <a:rPr lang="en-US" altLang="zh-CN" sz="1800" b="1" dirty="0">
                <a:solidFill>
                  <a:srgbClr val="1B4367"/>
                </a:solidFill>
                <a:cs typeface="+mn-ea"/>
              </a:rPr>
              <a:t>Fuzzy Logic</a:t>
            </a:r>
            <a:endParaRPr lang="en-US" altLang="zh-CN" sz="1800" b="1" dirty="0">
              <a:solidFill>
                <a:srgbClr val="1B4367"/>
              </a:solidFill>
              <a:cs typeface="+mn-ea"/>
            </a:endParaRPr>
          </a:p>
        </p:txBody>
      </p:sp>
      <p:sp>
        <p:nvSpPr>
          <p:cNvPr id="112" name="文本框 11"/>
          <p:cNvSpPr txBox="1"/>
          <p:nvPr/>
        </p:nvSpPr>
        <p:spPr>
          <a:xfrm>
            <a:off x="4852790" y="3699837"/>
            <a:ext cx="4025346" cy="930275"/>
          </a:xfrm>
          <a:prstGeom prst="rect">
            <a:avLst/>
          </a:prstGeom>
          <a:noFill/>
          <a:ln>
            <a:noFill/>
          </a:ln>
          <a:extLst>
            <a:ext uri="{909E8E84-426E-40DD-AFC4-6F175D3DCCD1}">
              <a14:hiddenFill xmlns:a14="http://schemas.microsoft.com/office/drawing/2010/main">
                <a:solidFill>
                  <a:srgbClr val="5CA0B4"/>
                </a:solidFill>
              </a14:hiddenFill>
            </a:ext>
          </a:extLst>
        </p:spPr>
        <p:txBody>
          <a:bodyPr wrap="square" lIns="68580" tIns="34290" rIns="68580" bIns="34290" rtlCol="0">
            <a:spAutoFit/>
          </a:bodyPr>
          <a:lstStyle/>
          <a:p>
            <a:pPr indent="457200" algn="just"/>
            <a:r>
              <a:rPr lang="en-US" altLang="zh-CN" kern="0" dirty="0">
                <a:latin typeface="Arial" panose="020B0604020202020204" pitchFamily="34" charset="0"/>
                <a:cs typeface="Arial" panose="020B0604020202020204" pitchFamily="34" charset="0"/>
              </a:rPr>
              <a:t>In the real world many times we encounter a situation when we can’t determine whether the state is true or false, their fuzzy logic provides very valuable flexibility for reasoning.</a:t>
            </a:r>
            <a:endParaRPr lang="en-US" altLang="zh-CN" kern="0" dirty="0">
              <a:latin typeface="Arial" panose="020B0604020202020204" pitchFamily="34" charset="0"/>
              <a:cs typeface="Arial" panose="020B0604020202020204" pitchFamily="34" charset="0"/>
              <a:sym typeface="+mn-lt"/>
            </a:endParaRPr>
          </a:p>
        </p:txBody>
      </p:sp>
      <p:grpSp>
        <p:nvGrpSpPr>
          <p:cNvPr id="113" name="组合 112"/>
          <p:cNvGrpSpPr/>
          <p:nvPr/>
        </p:nvGrpSpPr>
        <p:grpSpPr>
          <a:xfrm>
            <a:off x="4785290" y="3340883"/>
            <a:ext cx="448164" cy="368593"/>
            <a:chOff x="5630584" y="966369"/>
            <a:chExt cx="476097" cy="391567"/>
          </a:xfrm>
          <a:solidFill>
            <a:srgbClr val="1B4367"/>
          </a:solidFill>
        </p:grpSpPr>
        <p:sp>
          <p:nvSpPr>
            <p:cNvPr id="114" name="椭圆 113"/>
            <p:cNvSpPr/>
            <p:nvPr/>
          </p:nvSpPr>
          <p:spPr>
            <a:xfrm>
              <a:off x="5673454" y="966369"/>
              <a:ext cx="391567" cy="391567"/>
            </a:xfrm>
            <a:prstGeom prst="ellipse">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solidFill>
                  <a:schemeClr val="bg1"/>
                </a:solidFill>
                <a:cs typeface="+mn-ea"/>
                <a:sym typeface="+mn-lt"/>
              </a:endParaRPr>
            </a:p>
          </p:txBody>
        </p:sp>
        <p:sp>
          <p:nvSpPr>
            <p:cNvPr id="115" name="文本框 17"/>
            <p:cNvSpPr txBox="1"/>
            <p:nvPr/>
          </p:nvSpPr>
          <p:spPr>
            <a:xfrm>
              <a:off x="5630584" y="1004389"/>
              <a:ext cx="476097" cy="343308"/>
            </a:xfrm>
            <a:prstGeom prst="rect">
              <a:avLst/>
            </a:prstGeom>
            <a:noFill/>
            <a:ln>
              <a:noFill/>
            </a:ln>
          </p:spPr>
          <p:txBody>
            <a:bodyPr wrap="square" rtlCol="0">
              <a:spAutoFit/>
            </a:bodyPr>
            <a:lstStyle/>
            <a:p>
              <a:pPr algn="ctr">
                <a:defRPr/>
              </a:pPr>
              <a:r>
                <a:rPr lang="en-US" altLang="zh-CN" sz="1500" dirty="0">
                  <a:solidFill>
                    <a:schemeClr val="bg1"/>
                  </a:solidFill>
                  <a:cs typeface="+mn-ea"/>
                  <a:sym typeface="+mn-lt"/>
                </a:rPr>
                <a:t>02</a:t>
              </a:r>
              <a:endParaRPr lang="en-US" altLang="zh-CN" sz="1500" dirty="0">
                <a:solidFill>
                  <a:schemeClr val="bg1"/>
                </a:solidFill>
                <a:cs typeface="+mn-ea"/>
                <a:sym typeface="+mn-lt"/>
              </a:endParaRPr>
            </a:p>
          </p:txBody>
        </p:sp>
      </p:grpSp>
      <p:cxnSp>
        <p:nvCxnSpPr>
          <p:cNvPr id="3" name="直接连接符 2"/>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4571999" y="1319235"/>
            <a:ext cx="4572000" cy="1076325"/>
          </a:xfrm>
          <a:prstGeom prst="rect">
            <a:avLst/>
          </a:prstGeom>
          <a:noFill/>
        </p:spPr>
        <p:txBody>
          <a:bodyPr wrap="square">
            <a:spAutoFit/>
          </a:bodyPr>
          <a:lstStyle/>
          <a:p>
            <a:pPr indent="457200" algn="just"/>
            <a:r>
              <a:rPr lang="en-US" altLang="zh-CN" sz="1600" dirty="0">
                <a:solidFill>
                  <a:schemeClr val="bg1"/>
                </a:solidFill>
                <a:latin typeface="Arial" panose="020B0604020202020204" pitchFamily="34" charset="0"/>
                <a:cs typeface="Arial" panose="020B0604020202020204" pitchFamily="34" charset="0"/>
              </a:rPr>
              <a:t>The Particle Swarm Optimization and the Fuzzy Logic are the two mostly used and efficient techniques used for solving energy management problems. </a:t>
            </a:r>
            <a:endParaRPr lang="en-US" altLang="zh-CN" sz="1600" dirty="0">
              <a:solidFill>
                <a:schemeClr val="bg1"/>
              </a:solidFill>
              <a:latin typeface="Arial" panose="020B0604020202020204" pitchFamily="34" charset="0"/>
              <a:cs typeface="Arial" panose="020B0604020202020204" pitchFamily="34" charset="0"/>
            </a:endParaRPr>
          </a:p>
        </p:txBody>
      </p:sp>
      <p:sp>
        <p:nvSpPr>
          <p:cNvPr id="6" name="文本框 5"/>
          <p:cNvSpPr txBox="1"/>
          <p:nvPr/>
        </p:nvSpPr>
        <p:spPr>
          <a:xfrm>
            <a:off x="405765" y="3649345"/>
            <a:ext cx="4025346" cy="738664"/>
          </a:xfrm>
          <a:prstGeom prst="rect">
            <a:avLst/>
          </a:prstGeom>
          <a:noFill/>
        </p:spPr>
        <p:txBody>
          <a:bodyPr wrap="square">
            <a:spAutoFit/>
          </a:bodyPr>
          <a:lstStyle/>
          <a:p>
            <a:pPr indent="457200" algn="just" fontAlgn="auto"/>
            <a:r>
              <a:rPr lang="en-US" altLang="zh-CN" kern="0" dirty="0">
                <a:latin typeface="Arial" panose="020B0604020202020204" pitchFamily="34" charset="0"/>
                <a:cs typeface="Arial" panose="020B0604020202020204" pitchFamily="34" charset="0"/>
              </a:rPr>
              <a:t>Developed a simplified algorithmic model, which was improved over the years culminating in the Particle Swarm Optimization(PSO).</a:t>
            </a:r>
            <a:endParaRPr lang="en-US" altLang="zh-CN" kern="0" dirty="0">
              <a:latin typeface="Arial" panose="020B0604020202020204" pitchFamily="34" charset="0"/>
              <a:cs typeface="Arial" panose="020B0604020202020204" pitchFamily="34" charset="0"/>
            </a:endParaRP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6"/>
                                        </p:tgtEl>
                                        <p:attrNameLst>
                                          <p:attrName>ppt_y</p:attrName>
                                        </p:attrNameLst>
                                      </p:cBhvr>
                                      <p:tavLst>
                                        <p:tav tm="0">
                                          <p:val>
                                            <p:strVal val="#ppt_y"/>
                                          </p:val>
                                        </p:tav>
                                        <p:tav tm="100000">
                                          <p:val>
                                            <p:strVal val="#ppt_y"/>
                                          </p:val>
                                        </p:tav>
                                      </p:tavLst>
                                    </p:anim>
                                    <p:anim calcmode="lin" valueType="num">
                                      <p:cBhvr>
                                        <p:cTn id="9"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6"/>
                                        </p:tgtEl>
                                      </p:cBhvr>
                                    </p:animEffect>
                                  </p:childTnLst>
                                </p:cTn>
                              </p:par>
                            </p:childTnLst>
                          </p:cTn>
                        </p:par>
                        <p:par>
                          <p:cTn id="12" fill="hold">
                            <p:stCondLst>
                              <p:cond delay="1950"/>
                            </p:stCondLst>
                            <p:childTnLst>
                              <p:par>
                                <p:cTn id="13" presetID="22" presetClass="entr" presetSubtype="8"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300"/>
                                        <p:tgtEl>
                                          <p:spTgt spid="3"/>
                                        </p:tgtEl>
                                      </p:cBhvr>
                                    </p:animEffect>
                                  </p:childTnLst>
                                </p:cTn>
                              </p:par>
                            </p:childTnLst>
                          </p:cTn>
                        </p:par>
                        <p:par>
                          <p:cTn id="16" fill="hold">
                            <p:stCondLst>
                              <p:cond delay="2450"/>
                            </p:stCondLst>
                            <p:childTnLst>
                              <p:par>
                                <p:cTn id="17" presetID="2" presetClass="entr" presetSubtype="8" fill="hold" grpId="0" nodeType="afterEffect">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anim calcmode="lin" valueType="num">
                                      <p:cBhvr additive="base">
                                        <p:cTn id="23" dur="500" fill="hold"/>
                                        <p:tgtEl>
                                          <p:spTgt spid="23"/>
                                        </p:tgtEl>
                                        <p:attrNameLst>
                                          <p:attrName>ppt_x</p:attrName>
                                        </p:attrNameLst>
                                      </p:cBhvr>
                                      <p:tavLst>
                                        <p:tav tm="0">
                                          <p:val>
                                            <p:strVal val="1+#ppt_w/2"/>
                                          </p:val>
                                        </p:tav>
                                        <p:tav tm="100000">
                                          <p:val>
                                            <p:strVal val="#ppt_x"/>
                                          </p:val>
                                        </p:tav>
                                      </p:tavLst>
                                    </p:anim>
                                    <p:anim calcmode="lin" valueType="num">
                                      <p:cBhvr additive="base">
                                        <p:cTn id="24" dur="500" fill="hold"/>
                                        <p:tgtEl>
                                          <p:spTgt spid="23"/>
                                        </p:tgtEl>
                                        <p:attrNameLst>
                                          <p:attrName>ppt_y</p:attrName>
                                        </p:attrNameLst>
                                      </p:cBhvr>
                                      <p:tavLst>
                                        <p:tav tm="0">
                                          <p:val>
                                            <p:strVal val="#ppt_y"/>
                                          </p:val>
                                        </p:tav>
                                        <p:tav tm="100000">
                                          <p:val>
                                            <p:strVal val="#ppt_y"/>
                                          </p:val>
                                        </p:tav>
                                      </p:tavLst>
                                    </p:anim>
                                  </p:childTnLst>
                                </p:cTn>
                              </p:par>
                            </p:childTnLst>
                          </p:cTn>
                        </p:par>
                        <p:par>
                          <p:cTn id="25" fill="hold">
                            <p:stCondLst>
                              <p:cond delay="2950"/>
                            </p:stCondLst>
                            <p:childTnLst>
                              <p:par>
                                <p:cTn id="26" presetID="53" presetClass="entr" presetSubtype="16" fill="hold" nodeType="afterEffect">
                                  <p:stCondLst>
                                    <p:cond delay="0"/>
                                  </p:stCondLst>
                                  <p:childTnLst>
                                    <p:set>
                                      <p:cBhvr>
                                        <p:cTn id="27" dur="1" fill="hold">
                                          <p:stCondLst>
                                            <p:cond delay="0"/>
                                          </p:stCondLst>
                                        </p:cTn>
                                        <p:tgtEl>
                                          <p:spTgt spid="108"/>
                                        </p:tgtEl>
                                        <p:attrNameLst>
                                          <p:attrName>style.visibility</p:attrName>
                                        </p:attrNameLst>
                                      </p:cBhvr>
                                      <p:to>
                                        <p:strVal val="visible"/>
                                      </p:to>
                                    </p:set>
                                    <p:anim calcmode="lin" valueType="num">
                                      <p:cBhvr>
                                        <p:cTn id="28" dur="500" fill="hold"/>
                                        <p:tgtEl>
                                          <p:spTgt spid="108"/>
                                        </p:tgtEl>
                                        <p:attrNameLst>
                                          <p:attrName>ppt_w</p:attrName>
                                        </p:attrNameLst>
                                      </p:cBhvr>
                                      <p:tavLst>
                                        <p:tav tm="0">
                                          <p:val>
                                            <p:fltVal val="0"/>
                                          </p:val>
                                        </p:tav>
                                        <p:tav tm="100000">
                                          <p:val>
                                            <p:strVal val="#ppt_w"/>
                                          </p:val>
                                        </p:tav>
                                      </p:tavLst>
                                    </p:anim>
                                    <p:anim calcmode="lin" valueType="num">
                                      <p:cBhvr>
                                        <p:cTn id="29" dur="500" fill="hold"/>
                                        <p:tgtEl>
                                          <p:spTgt spid="108"/>
                                        </p:tgtEl>
                                        <p:attrNameLst>
                                          <p:attrName>ppt_h</p:attrName>
                                        </p:attrNameLst>
                                      </p:cBhvr>
                                      <p:tavLst>
                                        <p:tav tm="0">
                                          <p:val>
                                            <p:fltVal val="0"/>
                                          </p:val>
                                        </p:tav>
                                        <p:tav tm="100000">
                                          <p:val>
                                            <p:strVal val="#ppt_h"/>
                                          </p:val>
                                        </p:tav>
                                      </p:tavLst>
                                    </p:anim>
                                    <p:animEffect transition="in" filter="fade">
                                      <p:cBhvr>
                                        <p:cTn id="30" dur="500"/>
                                        <p:tgtEl>
                                          <p:spTgt spid="108"/>
                                        </p:tgtEl>
                                      </p:cBhvr>
                                    </p:animEffect>
                                  </p:childTnLst>
                                </p:cTn>
                              </p:par>
                            </p:childTnLst>
                          </p:cTn>
                        </p:par>
                        <p:par>
                          <p:cTn id="31" fill="hold">
                            <p:stCondLst>
                              <p:cond delay="3450"/>
                            </p:stCondLst>
                            <p:childTnLst>
                              <p:par>
                                <p:cTn id="32" presetID="12" presetClass="entr" presetSubtype="1" fill="hold" grpId="0" nodeType="afterEffect">
                                  <p:stCondLst>
                                    <p:cond delay="0"/>
                                  </p:stCondLst>
                                  <p:childTnLst>
                                    <p:set>
                                      <p:cBhvr>
                                        <p:cTn id="33" dur="1" fill="hold">
                                          <p:stCondLst>
                                            <p:cond delay="0"/>
                                          </p:stCondLst>
                                        </p:cTn>
                                        <p:tgtEl>
                                          <p:spTgt spid="106"/>
                                        </p:tgtEl>
                                        <p:attrNameLst>
                                          <p:attrName>style.visibility</p:attrName>
                                        </p:attrNameLst>
                                      </p:cBhvr>
                                      <p:to>
                                        <p:strVal val="visible"/>
                                      </p:to>
                                    </p:set>
                                    <p:anim calcmode="lin" valueType="num">
                                      <p:cBhvr additive="base">
                                        <p:cTn id="34" dur="500"/>
                                        <p:tgtEl>
                                          <p:spTgt spid="106"/>
                                        </p:tgtEl>
                                        <p:attrNameLst>
                                          <p:attrName>ppt_y</p:attrName>
                                        </p:attrNameLst>
                                      </p:cBhvr>
                                      <p:tavLst>
                                        <p:tav tm="0">
                                          <p:val>
                                            <p:strVal val="#ppt_y-#ppt_h*1.125000"/>
                                          </p:val>
                                        </p:tav>
                                        <p:tav tm="100000">
                                          <p:val>
                                            <p:strVal val="#ppt_y"/>
                                          </p:val>
                                        </p:tav>
                                      </p:tavLst>
                                    </p:anim>
                                    <p:animEffect transition="in" filter="wipe(down)">
                                      <p:cBhvr>
                                        <p:cTn id="35" dur="500"/>
                                        <p:tgtEl>
                                          <p:spTgt spid="106"/>
                                        </p:tgtEl>
                                      </p:cBhvr>
                                    </p:animEffect>
                                  </p:childTnLst>
                                </p:cTn>
                              </p:par>
                            </p:childTnLst>
                          </p:cTn>
                        </p:par>
                        <p:par>
                          <p:cTn id="36" fill="hold">
                            <p:stCondLst>
                              <p:cond delay="3950"/>
                            </p:stCondLst>
                            <p:childTnLst>
                              <p:par>
                                <p:cTn id="37" presetID="53" presetClass="entr" presetSubtype="16" fill="hold" nodeType="afterEffect">
                                  <p:stCondLst>
                                    <p:cond delay="0"/>
                                  </p:stCondLst>
                                  <p:childTnLst>
                                    <p:set>
                                      <p:cBhvr>
                                        <p:cTn id="38" dur="1" fill="hold">
                                          <p:stCondLst>
                                            <p:cond delay="0"/>
                                          </p:stCondLst>
                                        </p:cTn>
                                        <p:tgtEl>
                                          <p:spTgt spid="113"/>
                                        </p:tgtEl>
                                        <p:attrNameLst>
                                          <p:attrName>style.visibility</p:attrName>
                                        </p:attrNameLst>
                                      </p:cBhvr>
                                      <p:to>
                                        <p:strVal val="visible"/>
                                      </p:to>
                                    </p:set>
                                    <p:anim calcmode="lin" valueType="num">
                                      <p:cBhvr>
                                        <p:cTn id="39" dur="500" fill="hold"/>
                                        <p:tgtEl>
                                          <p:spTgt spid="113"/>
                                        </p:tgtEl>
                                        <p:attrNameLst>
                                          <p:attrName>ppt_w</p:attrName>
                                        </p:attrNameLst>
                                      </p:cBhvr>
                                      <p:tavLst>
                                        <p:tav tm="0">
                                          <p:val>
                                            <p:fltVal val="0"/>
                                          </p:val>
                                        </p:tav>
                                        <p:tav tm="100000">
                                          <p:val>
                                            <p:strVal val="#ppt_w"/>
                                          </p:val>
                                        </p:tav>
                                      </p:tavLst>
                                    </p:anim>
                                    <p:anim calcmode="lin" valueType="num">
                                      <p:cBhvr>
                                        <p:cTn id="40" dur="500" fill="hold"/>
                                        <p:tgtEl>
                                          <p:spTgt spid="113"/>
                                        </p:tgtEl>
                                        <p:attrNameLst>
                                          <p:attrName>ppt_h</p:attrName>
                                        </p:attrNameLst>
                                      </p:cBhvr>
                                      <p:tavLst>
                                        <p:tav tm="0">
                                          <p:val>
                                            <p:fltVal val="0"/>
                                          </p:val>
                                        </p:tav>
                                        <p:tav tm="100000">
                                          <p:val>
                                            <p:strVal val="#ppt_h"/>
                                          </p:val>
                                        </p:tav>
                                      </p:tavLst>
                                    </p:anim>
                                    <p:animEffect transition="in" filter="fade">
                                      <p:cBhvr>
                                        <p:cTn id="41" dur="500"/>
                                        <p:tgtEl>
                                          <p:spTgt spid="113"/>
                                        </p:tgtEl>
                                      </p:cBhvr>
                                    </p:animEffect>
                                  </p:childTnLst>
                                </p:cTn>
                              </p:par>
                            </p:childTnLst>
                          </p:cTn>
                        </p:par>
                        <p:par>
                          <p:cTn id="42" fill="hold">
                            <p:stCondLst>
                              <p:cond delay="4450"/>
                            </p:stCondLst>
                            <p:childTnLst>
                              <p:par>
                                <p:cTn id="43" presetID="12" presetClass="entr" presetSubtype="1" fill="hold" grpId="0" nodeType="afterEffect">
                                  <p:stCondLst>
                                    <p:cond delay="0"/>
                                  </p:stCondLst>
                                  <p:childTnLst>
                                    <p:set>
                                      <p:cBhvr>
                                        <p:cTn id="44" dur="1" fill="hold">
                                          <p:stCondLst>
                                            <p:cond delay="0"/>
                                          </p:stCondLst>
                                        </p:cTn>
                                        <p:tgtEl>
                                          <p:spTgt spid="111"/>
                                        </p:tgtEl>
                                        <p:attrNameLst>
                                          <p:attrName>style.visibility</p:attrName>
                                        </p:attrNameLst>
                                      </p:cBhvr>
                                      <p:to>
                                        <p:strVal val="visible"/>
                                      </p:to>
                                    </p:set>
                                    <p:anim calcmode="lin" valueType="num">
                                      <p:cBhvr additive="base">
                                        <p:cTn id="45" dur="500"/>
                                        <p:tgtEl>
                                          <p:spTgt spid="111"/>
                                        </p:tgtEl>
                                        <p:attrNameLst>
                                          <p:attrName>ppt_y</p:attrName>
                                        </p:attrNameLst>
                                      </p:cBhvr>
                                      <p:tavLst>
                                        <p:tav tm="0">
                                          <p:val>
                                            <p:strVal val="#ppt_y-#ppt_h*1.125000"/>
                                          </p:val>
                                        </p:tav>
                                        <p:tav tm="100000">
                                          <p:val>
                                            <p:strVal val="#ppt_y"/>
                                          </p:val>
                                        </p:tav>
                                      </p:tavLst>
                                    </p:anim>
                                    <p:animEffect transition="in" filter="wipe(down)">
                                      <p:cBhvr>
                                        <p:cTn id="46" dur="500"/>
                                        <p:tgtEl>
                                          <p:spTgt spid="111"/>
                                        </p:tgtEl>
                                      </p:cBhvr>
                                    </p:animEffect>
                                  </p:childTnLst>
                                </p:cTn>
                              </p:par>
                            </p:childTnLst>
                          </p:cTn>
                        </p:par>
                        <p:par>
                          <p:cTn id="47" fill="hold">
                            <p:stCondLst>
                              <p:cond delay="4950"/>
                            </p:stCondLst>
                            <p:childTnLst>
                              <p:par>
                                <p:cTn id="48" presetID="2" presetClass="entr" presetSubtype="2" fill="hold" grpId="0" nodeType="afterEffect">
                                  <p:stCondLst>
                                    <p:cond delay="0"/>
                                  </p:stCondLst>
                                  <p:childTnLst>
                                    <p:set>
                                      <p:cBhvr>
                                        <p:cTn id="49" dur="1" fill="hold">
                                          <p:stCondLst>
                                            <p:cond delay="0"/>
                                          </p:stCondLst>
                                        </p:cTn>
                                        <p:tgtEl>
                                          <p:spTgt spid="112"/>
                                        </p:tgtEl>
                                        <p:attrNameLst>
                                          <p:attrName>style.visibility</p:attrName>
                                        </p:attrNameLst>
                                      </p:cBhvr>
                                      <p:to>
                                        <p:strVal val="visible"/>
                                      </p:to>
                                    </p:set>
                                    <p:anim calcmode="lin" valueType="num">
                                      <p:cBhvr additive="base">
                                        <p:cTn id="50" dur="500" fill="hold"/>
                                        <p:tgtEl>
                                          <p:spTgt spid="112"/>
                                        </p:tgtEl>
                                        <p:attrNameLst>
                                          <p:attrName>ppt_x</p:attrName>
                                        </p:attrNameLst>
                                      </p:cBhvr>
                                      <p:tavLst>
                                        <p:tav tm="0">
                                          <p:val>
                                            <p:strVal val="1+#ppt_w/2"/>
                                          </p:val>
                                        </p:tav>
                                        <p:tav tm="100000">
                                          <p:val>
                                            <p:strVal val="#ppt_x"/>
                                          </p:val>
                                        </p:tav>
                                      </p:tavLst>
                                    </p:anim>
                                    <p:anim calcmode="lin" valueType="num">
                                      <p:cBhvr additive="base">
                                        <p:cTn id="51" dur="500" fill="hold"/>
                                        <p:tgtEl>
                                          <p:spTgt spid="1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autoUpdateAnimBg="0"/>
      <p:bldP spid="18" grpId="0" animBg="1" autoUpdateAnimBg="0"/>
      <p:bldP spid="16" grpId="0"/>
      <p:bldP spid="106" grpId="0"/>
      <p:bldP spid="111" grpId="0"/>
      <p:bldP spid="11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5" name="组合 74"/>
          <p:cNvGrpSpPr/>
          <p:nvPr/>
        </p:nvGrpSpPr>
        <p:grpSpPr>
          <a:xfrm>
            <a:off x="4740069" y="740042"/>
            <a:ext cx="3684423" cy="1026160"/>
            <a:chOff x="6178340" y="1360769"/>
            <a:chExt cx="5914549" cy="1368209"/>
          </a:xfrm>
        </p:grpSpPr>
        <p:sp>
          <p:nvSpPr>
            <p:cNvPr id="86" name="文本框 85"/>
            <p:cNvSpPr txBox="1"/>
            <p:nvPr/>
          </p:nvSpPr>
          <p:spPr>
            <a:xfrm>
              <a:off x="6178340" y="1746001"/>
              <a:ext cx="5914549" cy="982977"/>
            </a:xfrm>
            <a:prstGeom prst="rect">
              <a:avLst/>
            </a:prstGeom>
            <a:noFill/>
          </p:spPr>
          <p:txBody>
            <a:bodyPr wrap="square" rtlCol="0">
              <a:spAutoFit/>
            </a:bodyPr>
            <a:lstStyle/>
            <a:p>
              <a:pPr indent="457200" algn="just" fontAlgn="base"/>
              <a:r>
                <a:rPr lang="en-US" altLang="zh-CN" dirty="0">
                  <a:solidFill>
                    <a:srgbClr val="1F1F1F"/>
                  </a:solidFill>
                  <a:latin typeface="Arial" panose="020B0604020202020204" pitchFamily="34" charset="0"/>
                  <a:cs typeface="Arial" panose="020B0604020202020204" pitchFamily="34" charset="0"/>
                </a:rPr>
                <a:t>Unlike GA, PSO does not have evolutionary operators such as crossover and mutation</a:t>
              </a:r>
              <a:r>
                <a:rPr lang="en-US" altLang="zh-CN" dirty="0">
                  <a:solidFill>
                    <a:srgbClr val="1F1F1F"/>
                  </a:solidFill>
                  <a:latin typeface="+mn-ea"/>
                </a:rPr>
                <a:t>. </a:t>
              </a:r>
              <a:endParaRPr lang="en-US" altLang="zh-CN" dirty="0">
                <a:solidFill>
                  <a:srgbClr val="1F1F1F"/>
                </a:solidFill>
                <a:latin typeface="+mn-ea"/>
              </a:endParaRPr>
            </a:p>
          </p:txBody>
        </p:sp>
        <p:sp>
          <p:nvSpPr>
            <p:cNvPr id="8" name="TextBox 1956"/>
            <p:cNvSpPr/>
            <p:nvPr/>
          </p:nvSpPr>
          <p:spPr>
            <a:xfrm>
              <a:off x="6179471" y="1360769"/>
              <a:ext cx="3090342" cy="377612"/>
            </a:xfrm>
            <a:prstGeom prst="rect">
              <a:avLst/>
            </a:prstGeom>
            <a:noFill/>
            <a:ln w="9525">
              <a:noFill/>
              <a:miter/>
            </a:ln>
          </p:spPr>
          <p:txBody>
            <a:bodyPr wrap="square">
              <a:spAutoFit/>
            </a:bodyPr>
            <a:lstStyle/>
            <a:p>
              <a:pPr lvl="0" algn="l">
                <a:lnSpc>
                  <a:spcPts val="1500"/>
                </a:lnSpc>
              </a:pPr>
              <a:r>
                <a:rPr lang="en-US" altLang="zh-CN" sz="1800" b="1" dirty="0">
                  <a:solidFill>
                    <a:srgbClr val="1B4367"/>
                  </a:solidFill>
                  <a:cs typeface="+mn-ea"/>
                  <a:sym typeface="+mn-lt"/>
                </a:rPr>
                <a:t>Comparative</a:t>
              </a:r>
              <a:endParaRPr lang="en-US" altLang="zh-CN" sz="1800" b="1" dirty="0">
                <a:solidFill>
                  <a:srgbClr val="1B4367"/>
                </a:solidFill>
                <a:cs typeface="+mn-ea"/>
                <a:sym typeface="+mn-lt"/>
              </a:endParaRPr>
            </a:p>
          </p:txBody>
        </p:sp>
      </p:grpSp>
      <p:grpSp>
        <p:nvGrpSpPr>
          <p:cNvPr id="74" name="组合 73"/>
          <p:cNvGrpSpPr/>
          <p:nvPr/>
        </p:nvGrpSpPr>
        <p:grpSpPr>
          <a:xfrm>
            <a:off x="4738830" y="2434196"/>
            <a:ext cx="3601300" cy="1237317"/>
            <a:chOff x="6132680" y="3817621"/>
            <a:chExt cx="4801732" cy="1649753"/>
          </a:xfrm>
        </p:grpSpPr>
        <p:sp>
          <p:nvSpPr>
            <p:cNvPr id="6" name="文本框 5"/>
            <p:cNvSpPr txBox="1"/>
            <p:nvPr/>
          </p:nvSpPr>
          <p:spPr>
            <a:xfrm>
              <a:off x="6132680" y="4195234"/>
              <a:ext cx="4801732" cy="1272140"/>
            </a:xfrm>
            <a:prstGeom prst="rect">
              <a:avLst/>
            </a:prstGeom>
            <a:noFill/>
          </p:spPr>
          <p:txBody>
            <a:bodyPr wrap="square" rtlCol="0">
              <a:spAutoFit/>
            </a:bodyPr>
            <a:lstStyle/>
            <a:p>
              <a:pPr algn="l" fontAlgn="base">
                <a:buFont typeface="+mj-lt"/>
                <a:buAutoNum type="arabicPeriod"/>
              </a:pPr>
              <a:r>
                <a:rPr lang="en-US" altLang="zh-CN" kern="0" dirty="0">
                  <a:latin typeface="Arial" panose="020B0604020202020204" pitchFamily="34" charset="0"/>
                  <a:cs typeface="Arial" panose="020B0604020202020204" pitchFamily="34" charset="0"/>
                </a:rPr>
                <a:t>The algorithm has very few parameters.</a:t>
              </a:r>
              <a:endParaRPr lang="en-US" altLang="zh-CN" kern="0" dirty="0">
                <a:latin typeface="Arial" panose="020B0604020202020204" pitchFamily="34" charset="0"/>
                <a:cs typeface="Arial" panose="020B0604020202020204" pitchFamily="34" charset="0"/>
              </a:endParaRPr>
            </a:p>
            <a:p>
              <a:pPr algn="l" fontAlgn="base">
                <a:buFont typeface="+mj-lt"/>
                <a:buAutoNum type="arabicPeriod"/>
              </a:pPr>
              <a:r>
                <a:rPr lang="en-US" altLang="zh-CN" kern="0" dirty="0">
                  <a:latin typeface="Arial" panose="020B0604020202020204" pitchFamily="34" charset="0"/>
                  <a:cs typeface="Arial" panose="020B0604020202020204" pitchFamily="34" charset="0"/>
                </a:rPr>
                <a:t>Very efficient global search algorithm.</a:t>
              </a:r>
              <a:endParaRPr lang="en-US" altLang="zh-CN" kern="0" dirty="0">
                <a:latin typeface="Arial" panose="020B0604020202020204" pitchFamily="34" charset="0"/>
                <a:cs typeface="Arial" panose="020B0604020202020204" pitchFamily="34" charset="0"/>
              </a:endParaRPr>
            </a:p>
            <a:p>
              <a:pPr algn="l" fontAlgn="base">
                <a:buFont typeface="+mj-lt"/>
                <a:buAutoNum type="arabicPeriod"/>
              </a:pPr>
              <a:r>
                <a:rPr lang="en-US" altLang="zh-CN" kern="0" dirty="0">
                  <a:latin typeface="Arial" panose="020B0604020202020204" pitchFamily="34" charset="0"/>
                  <a:cs typeface="Arial" panose="020B0604020202020204" pitchFamily="34" charset="0"/>
                </a:rPr>
                <a:t>Easy </a:t>
              </a:r>
              <a:r>
                <a:rPr lang="en-US" altLang="zh-CN" kern="0" dirty="0" err="1">
                  <a:latin typeface="Arial" panose="020B0604020202020204" pitchFamily="34" charset="0"/>
                  <a:cs typeface="Arial" panose="020B0604020202020204" pitchFamily="34" charset="0"/>
                </a:rPr>
                <a:t>parallelisation</a:t>
              </a:r>
              <a:r>
                <a:rPr lang="en-US" altLang="zh-CN" kern="0" dirty="0">
                  <a:latin typeface="Arial" panose="020B0604020202020204" pitchFamily="34" charset="0"/>
                  <a:cs typeface="Arial" panose="020B0604020202020204" pitchFamily="34" charset="0"/>
                </a:rPr>
                <a:t> for concurrent processing</a:t>
              </a:r>
              <a:endParaRPr lang="en-US" altLang="zh-CN" kern="0" dirty="0">
                <a:latin typeface="Arial" panose="020B0604020202020204" pitchFamily="34" charset="0"/>
                <a:cs typeface="Arial" panose="020B0604020202020204" pitchFamily="34" charset="0"/>
                <a:sym typeface="+mn-lt"/>
              </a:endParaRPr>
            </a:p>
          </p:txBody>
        </p:sp>
        <p:sp>
          <p:nvSpPr>
            <p:cNvPr id="7" name="TextBox 1956"/>
            <p:cNvSpPr/>
            <p:nvPr/>
          </p:nvSpPr>
          <p:spPr>
            <a:xfrm>
              <a:off x="6169523" y="3817621"/>
              <a:ext cx="2859142" cy="377613"/>
            </a:xfrm>
            <a:prstGeom prst="rect">
              <a:avLst/>
            </a:prstGeom>
            <a:noFill/>
            <a:ln w="9525">
              <a:noFill/>
              <a:miter/>
            </a:ln>
          </p:spPr>
          <p:txBody>
            <a:bodyPr wrap="square">
              <a:spAutoFit/>
            </a:bodyPr>
            <a:lstStyle/>
            <a:p>
              <a:pPr lvl="0" algn="l">
                <a:lnSpc>
                  <a:spcPts val="1500"/>
                </a:lnSpc>
                <a:buClrTx/>
                <a:buSzTx/>
                <a:buFontTx/>
              </a:pPr>
              <a:r>
                <a:rPr lang="en-US" altLang="zh-CN" sz="1800" b="1" dirty="0">
                  <a:solidFill>
                    <a:srgbClr val="1B4367"/>
                  </a:solidFill>
                  <a:cs typeface="+mn-ea"/>
                  <a:sym typeface="+mn-lt"/>
                </a:rPr>
                <a:t>Advantages</a:t>
              </a:r>
              <a:endParaRPr lang="en-US" altLang="zh-CN" sz="1800" b="1" dirty="0">
                <a:solidFill>
                  <a:srgbClr val="1B4367"/>
                </a:solidFill>
                <a:cs typeface="+mn-ea"/>
                <a:sym typeface="+mn-lt"/>
              </a:endParaRPr>
            </a:p>
          </p:txBody>
        </p:sp>
      </p:grpSp>
      <p:cxnSp>
        <p:nvCxnSpPr>
          <p:cNvPr id="11" name="直接连接符 10"/>
          <p:cNvCxnSpPr>
            <a:stCxn id="56" idx="0"/>
          </p:cNvCxnSpPr>
          <p:nvPr/>
        </p:nvCxnSpPr>
        <p:spPr>
          <a:xfrm>
            <a:off x="4334007" y="643795"/>
            <a:ext cx="0" cy="3349214"/>
          </a:xfrm>
          <a:prstGeom prst="line">
            <a:avLst/>
          </a:prstGeom>
          <a:ln w="9525">
            <a:solidFill>
              <a:srgbClr val="1B4367"/>
            </a:solidFill>
            <a:prstDash val="solid"/>
          </a:ln>
        </p:spPr>
        <p:style>
          <a:lnRef idx="1">
            <a:schemeClr val="accent1"/>
          </a:lnRef>
          <a:fillRef idx="0">
            <a:schemeClr val="accent1"/>
          </a:fillRef>
          <a:effectRef idx="0">
            <a:schemeClr val="accent1"/>
          </a:effectRef>
          <a:fontRef idx="minor">
            <a:schemeClr val="tx1"/>
          </a:fontRef>
        </p:style>
      </p:cxnSp>
      <p:grpSp>
        <p:nvGrpSpPr>
          <p:cNvPr id="73" name="组合 72"/>
          <p:cNvGrpSpPr/>
          <p:nvPr/>
        </p:nvGrpSpPr>
        <p:grpSpPr>
          <a:xfrm>
            <a:off x="3973461" y="3369224"/>
            <a:ext cx="686184" cy="694853"/>
            <a:chOff x="5237224" y="4937554"/>
            <a:chExt cx="914912" cy="926470"/>
          </a:xfrm>
          <a:solidFill>
            <a:schemeClr val="bg1"/>
          </a:solidFill>
        </p:grpSpPr>
        <p:sp>
          <p:nvSpPr>
            <p:cNvPr id="65" name="Freeform 1812"/>
            <p:cNvSpPr/>
            <p:nvPr/>
          </p:nvSpPr>
          <p:spPr>
            <a:xfrm>
              <a:off x="5237224" y="4937554"/>
              <a:ext cx="914912" cy="926470"/>
            </a:xfrm>
            <a:custGeom>
              <a:avLst/>
              <a:gdLst>
                <a:gd name="txL" fmla="*/ 0 w 91"/>
                <a:gd name="txT" fmla="*/ 0 h 92"/>
                <a:gd name="txR" fmla="*/ 91 w 91"/>
                <a:gd name="txB" fmla="*/ 92 h 92"/>
              </a:gdLst>
              <a:ahLst/>
              <a:cxnLst>
                <a:cxn ang="0">
                  <a:pos x="463341" y="150743"/>
                </a:cxn>
                <a:cxn ang="0">
                  <a:pos x="376464" y="463826"/>
                </a:cxn>
                <a:cxn ang="0">
                  <a:pos x="63709" y="382657"/>
                </a:cxn>
                <a:cxn ang="0">
                  <a:pos x="150586" y="63776"/>
                </a:cxn>
                <a:cxn ang="0">
                  <a:pos x="463341" y="150743"/>
                </a:cxn>
              </a:cxnLst>
              <a:rect l="txL" t="txT" r="txR" b="txB"/>
              <a:pathLst>
                <a:path w="91" h="92">
                  <a:moveTo>
                    <a:pt x="80" y="26"/>
                  </a:moveTo>
                  <a:cubicBezTo>
                    <a:pt x="91" y="45"/>
                    <a:pt x="84" y="69"/>
                    <a:pt x="65" y="80"/>
                  </a:cubicBezTo>
                  <a:cubicBezTo>
                    <a:pt x="46" y="92"/>
                    <a:pt x="22" y="85"/>
                    <a:pt x="11" y="66"/>
                  </a:cubicBezTo>
                  <a:cubicBezTo>
                    <a:pt x="0" y="47"/>
                    <a:pt x="6" y="22"/>
                    <a:pt x="26" y="11"/>
                  </a:cubicBezTo>
                  <a:cubicBezTo>
                    <a:pt x="45" y="0"/>
                    <a:pt x="69" y="7"/>
                    <a:pt x="80" y="26"/>
                  </a:cubicBezTo>
                </a:path>
              </a:pathLst>
            </a:custGeom>
            <a:solidFill>
              <a:srgbClr val="1B4367"/>
            </a:solidFill>
            <a:ln w="9525">
              <a:solidFill>
                <a:schemeClr val="bg1"/>
              </a:solidFill>
            </a:ln>
          </p:spPr>
          <p:txBody>
            <a:bodyPr/>
            <a:lstStyle/>
            <a:p>
              <a:endParaRPr lang="zh-CN" altLang="en-US">
                <a:cs typeface="+mn-ea"/>
                <a:sym typeface="+mn-lt"/>
              </a:endParaRPr>
            </a:p>
          </p:txBody>
        </p:sp>
        <p:grpSp>
          <p:nvGrpSpPr>
            <p:cNvPr id="25" name="组合 24"/>
            <p:cNvGrpSpPr/>
            <p:nvPr/>
          </p:nvGrpSpPr>
          <p:grpSpPr>
            <a:xfrm>
              <a:off x="5474309" y="5184293"/>
              <a:ext cx="438631" cy="441328"/>
              <a:chOff x="5595939" y="4999038"/>
              <a:chExt cx="515938" cy="519113"/>
            </a:xfrm>
            <a:grpFill/>
          </p:grpSpPr>
          <p:sp>
            <p:nvSpPr>
              <p:cNvPr id="49" name="Freeform 5"/>
              <p:cNvSpPr/>
              <p:nvPr/>
            </p:nvSpPr>
            <p:spPr bwMode="auto">
              <a:xfrm>
                <a:off x="5599114" y="4999038"/>
                <a:ext cx="430213" cy="303213"/>
              </a:xfrm>
              <a:custGeom>
                <a:avLst/>
                <a:gdLst>
                  <a:gd name="T0" fmla="*/ 298 w 298"/>
                  <a:gd name="T1" fmla="*/ 81 h 211"/>
                  <a:gd name="T2" fmla="*/ 292 w 298"/>
                  <a:gd name="T3" fmla="*/ 0 h 211"/>
                  <a:gd name="T4" fmla="*/ 210 w 298"/>
                  <a:gd name="T5" fmla="*/ 30 h 211"/>
                  <a:gd name="T6" fmla="*/ 242 w 298"/>
                  <a:gd name="T7" fmla="*/ 48 h 211"/>
                  <a:gd name="T8" fmla="*/ 100 w 298"/>
                  <a:gd name="T9" fmla="*/ 155 h 211"/>
                  <a:gd name="T10" fmla="*/ 1 w 298"/>
                  <a:gd name="T11" fmla="*/ 169 h 211"/>
                  <a:gd name="T12" fmla="*/ 1 w 298"/>
                  <a:gd name="T13" fmla="*/ 188 h 211"/>
                  <a:gd name="T14" fmla="*/ 1 w 298"/>
                  <a:gd name="T15" fmla="*/ 207 h 211"/>
                  <a:gd name="T16" fmla="*/ 1 w 298"/>
                  <a:gd name="T17" fmla="*/ 207 h 211"/>
                  <a:gd name="T18" fmla="*/ 112 w 298"/>
                  <a:gd name="T19" fmla="*/ 191 h 211"/>
                  <a:gd name="T20" fmla="*/ 208 w 298"/>
                  <a:gd name="T21" fmla="*/ 139 h 211"/>
                  <a:gd name="T22" fmla="*/ 275 w 298"/>
                  <a:gd name="T23" fmla="*/ 68 h 211"/>
                  <a:gd name="T24" fmla="*/ 298 w 298"/>
                  <a:gd name="T25" fmla="*/ 81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98" h="211">
                    <a:moveTo>
                      <a:pt x="298" y="81"/>
                    </a:moveTo>
                    <a:cubicBezTo>
                      <a:pt x="292" y="0"/>
                      <a:pt x="292" y="0"/>
                      <a:pt x="292" y="0"/>
                    </a:cubicBezTo>
                    <a:cubicBezTo>
                      <a:pt x="210" y="30"/>
                      <a:pt x="210" y="30"/>
                      <a:pt x="210" y="30"/>
                    </a:cubicBezTo>
                    <a:cubicBezTo>
                      <a:pt x="242" y="48"/>
                      <a:pt x="242" y="48"/>
                      <a:pt x="242" y="48"/>
                    </a:cubicBezTo>
                    <a:cubicBezTo>
                      <a:pt x="208" y="98"/>
                      <a:pt x="160" y="133"/>
                      <a:pt x="100" y="155"/>
                    </a:cubicBezTo>
                    <a:cubicBezTo>
                      <a:pt x="46" y="174"/>
                      <a:pt x="1" y="169"/>
                      <a:pt x="1" y="169"/>
                    </a:cubicBezTo>
                    <a:cubicBezTo>
                      <a:pt x="1" y="188"/>
                      <a:pt x="1" y="188"/>
                      <a:pt x="1" y="188"/>
                    </a:cubicBezTo>
                    <a:cubicBezTo>
                      <a:pt x="1" y="207"/>
                      <a:pt x="1" y="207"/>
                      <a:pt x="1" y="207"/>
                    </a:cubicBezTo>
                    <a:cubicBezTo>
                      <a:pt x="1" y="207"/>
                      <a:pt x="0" y="207"/>
                      <a:pt x="1" y="207"/>
                    </a:cubicBezTo>
                    <a:cubicBezTo>
                      <a:pt x="8" y="207"/>
                      <a:pt x="55" y="211"/>
                      <a:pt x="112" y="191"/>
                    </a:cubicBezTo>
                    <a:cubicBezTo>
                      <a:pt x="147" y="179"/>
                      <a:pt x="180" y="161"/>
                      <a:pt x="208" y="139"/>
                    </a:cubicBezTo>
                    <a:cubicBezTo>
                      <a:pt x="234" y="119"/>
                      <a:pt x="256" y="95"/>
                      <a:pt x="275" y="68"/>
                    </a:cubicBezTo>
                    <a:lnTo>
                      <a:pt x="298" y="81"/>
                    </a:lnTo>
                    <a:close/>
                  </a:path>
                </a:pathLst>
              </a:custGeom>
              <a:grpFill/>
              <a:ln w="9525">
                <a:solidFill>
                  <a:schemeClr val="bg1"/>
                </a:solidFill>
                <a:round/>
              </a:ln>
            </p:spPr>
            <p:txBody>
              <a:bodyPr/>
              <a:lstStyle/>
              <a:p>
                <a:pPr>
                  <a:defRPr/>
                </a:pPr>
                <a:endParaRPr lang="zh-CN" altLang="en-US">
                  <a:cs typeface="+mn-ea"/>
                  <a:sym typeface="+mn-lt"/>
                </a:endParaRPr>
              </a:p>
            </p:txBody>
          </p:sp>
          <p:sp>
            <p:nvSpPr>
              <p:cNvPr id="50" name="Rectangle 6"/>
              <p:cNvSpPr>
                <a:spLocks noChangeArrowheads="1"/>
              </p:cNvSpPr>
              <p:nvPr/>
            </p:nvSpPr>
            <p:spPr bwMode="auto">
              <a:xfrm>
                <a:off x="5595939" y="5345113"/>
                <a:ext cx="100013" cy="109538"/>
              </a:xfrm>
              <a:prstGeom prst="rect">
                <a:avLst/>
              </a:prstGeom>
              <a:grpFill/>
              <a:ln w="9525">
                <a:solidFill>
                  <a:schemeClr val="bg1"/>
                </a:solidFill>
                <a:miter lim="800000"/>
              </a:ln>
            </p:spPr>
            <p:txBody>
              <a:bodyPr/>
              <a:lstStyle/>
              <a:p>
                <a:pPr>
                  <a:defRPr/>
                </a:pPr>
                <a:endParaRPr lang="zh-CN" altLang="en-US">
                  <a:cs typeface="+mn-ea"/>
                  <a:sym typeface="+mn-lt"/>
                </a:endParaRPr>
              </a:p>
            </p:txBody>
          </p:sp>
          <p:sp>
            <p:nvSpPr>
              <p:cNvPr id="51" name="Freeform 7"/>
              <p:cNvSpPr/>
              <p:nvPr/>
            </p:nvSpPr>
            <p:spPr bwMode="auto">
              <a:xfrm>
                <a:off x="5713414" y="5310188"/>
                <a:ext cx="98425" cy="144463"/>
              </a:xfrm>
              <a:custGeom>
                <a:avLst/>
                <a:gdLst>
                  <a:gd name="T0" fmla="*/ 62 w 62"/>
                  <a:gd name="T1" fmla="*/ 0 h 91"/>
                  <a:gd name="T2" fmla="*/ 1 w 62"/>
                  <a:gd name="T3" fmla="*/ 0 h 91"/>
                  <a:gd name="T4" fmla="*/ 0 w 62"/>
                  <a:gd name="T5" fmla="*/ 91 h 91"/>
                  <a:gd name="T6" fmla="*/ 62 w 62"/>
                  <a:gd name="T7" fmla="*/ 91 h 91"/>
                  <a:gd name="T8" fmla="*/ 62 w 62"/>
                  <a:gd name="T9" fmla="*/ 0 h 91"/>
                </a:gdLst>
                <a:ahLst/>
                <a:cxnLst>
                  <a:cxn ang="0">
                    <a:pos x="T0" y="T1"/>
                  </a:cxn>
                  <a:cxn ang="0">
                    <a:pos x="T2" y="T3"/>
                  </a:cxn>
                  <a:cxn ang="0">
                    <a:pos x="T4" y="T5"/>
                  </a:cxn>
                  <a:cxn ang="0">
                    <a:pos x="T6" y="T7"/>
                  </a:cxn>
                  <a:cxn ang="0">
                    <a:pos x="T8" y="T9"/>
                  </a:cxn>
                </a:cxnLst>
                <a:rect l="0" t="0" r="r" b="b"/>
                <a:pathLst>
                  <a:path w="62" h="91">
                    <a:moveTo>
                      <a:pt x="62" y="0"/>
                    </a:moveTo>
                    <a:lnTo>
                      <a:pt x="1" y="0"/>
                    </a:lnTo>
                    <a:lnTo>
                      <a:pt x="0" y="91"/>
                    </a:lnTo>
                    <a:lnTo>
                      <a:pt x="62" y="91"/>
                    </a:lnTo>
                    <a:lnTo>
                      <a:pt x="62" y="0"/>
                    </a:lnTo>
                    <a:close/>
                  </a:path>
                </a:pathLst>
              </a:custGeom>
              <a:grpFill/>
              <a:ln w="9525">
                <a:solidFill>
                  <a:schemeClr val="bg1"/>
                </a:solidFill>
                <a:round/>
              </a:ln>
            </p:spPr>
            <p:txBody>
              <a:bodyPr/>
              <a:lstStyle/>
              <a:p>
                <a:pPr>
                  <a:defRPr/>
                </a:pPr>
                <a:endParaRPr lang="zh-CN" altLang="en-US">
                  <a:cs typeface="+mn-ea"/>
                  <a:sym typeface="+mn-lt"/>
                </a:endParaRPr>
              </a:p>
            </p:txBody>
          </p:sp>
          <p:sp>
            <p:nvSpPr>
              <p:cNvPr id="52" name="Rectangle 8"/>
              <p:cNvSpPr>
                <a:spLocks noChangeArrowheads="1"/>
              </p:cNvSpPr>
              <p:nvPr/>
            </p:nvSpPr>
            <p:spPr bwMode="auto">
              <a:xfrm>
                <a:off x="5830889" y="5260976"/>
                <a:ext cx="98425" cy="193675"/>
              </a:xfrm>
              <a:prstGeom prst="rect">
                <a:avLst/>
              </a:prstGeom>
              <a:grpFill/>
              <a:ln w="9525">
                <a:solidFill>
                  <a:schemeClr val="bg1"/>
                </a:solidFill>
                <a:miter lim="800000"/>
              </a:ln>
            </p:spPr>
            <p:txBody>
              <a:bodyPr/>
              <a:lstStyle/>
              <a:p>
                <a:pPr>
                  <a:defRPr/>
                </a:pPr>
                <a:endParaRPr lang="zh-CN" altLang="en-US">
                  <a:cs typeface="+mn-ea"/>
                  <a:sym typeface="+mn-lt"/>
                </a:endParaRPr>
              </a:p>
            </p:txBody>
          </p:sp>
          <p:sp>
            <p:nvSpPr>
              <p:cNvPr id="53" name="Rectangle 9"/>
              <p:cNvSpPr>
                <a:spLocks noChangeArrowheads="1"/>
              </p:cNvSpPr>
              <p:nvPr/>
            </p:nvSpPr>
            <p:spPr bwMode="auto">
              <a:xfrm>
                <a:off x="5948364" y="5183188"/>
                <a:ext cx="98425" cy="271463"/>
              </a:xfrm>
              <a:prstGeom prst="rect">
                <a:avLst/>
              </a:prstGeom>
              <a:grpFill/>
              <a:ln w="9525">
                <a:solidFill>
                  <a:schemeClr val="bg1"/>
                </a:solidFill>
                <a:miter lim="800000"/>
              </a:ln>
            </p:spPr>
            <p:txBody>
              <a:bodyPr/>
              <a:lstStyle/>
              <a:p>
                <a:pPr>
                  <a:defRPr/>
                </a:pPr>
                <a:endParaRPr lang="zh-CN" altLang="en-US">
                  <a:cs typeface="+mn-ea"/>
                  <a:sym typeface="+mn-lt"/>
                </a:endParaRPr>
              </a:p>
            </p:txBody>
          </p:sp>
          <p:sp>
            <p:nvSpPr>
              <p:cNvPr id="54" name="Freeform 10"/>
              <p:cNvSpPr/>
              <p:nvPr/>
            </p:nvSpPr>
            <p:spPr bwMode="auto">
              <a:xfrm>
                <a:off x="5595939" y="4999038"/>
                <a:ext cx="515938" cy="519113"/>
              </a:xfrm>
              <a:custGeom>
                <a:avLst/>
                <a:gdLst>
                  <a:gd name="T0" fmla="*/ 343 w 358"/>
                  <a:gd name="T1" fmla="*/ 0 h 361"/>
                  <a:gd name="T2" fmla="*/ 343 w 358"/>
                  <a:gd name="T3" fmla="*/ 0 h 361"/>
                  <a:gd name="T4" fmla="*/ 343 w 358"/>
                  <a:gd name="T5" fmla="*/ 0 h 361"/>
                  <a:gd name="T6" fmla="*/ 334 w 358"/>
                  <a:gd name="T7" fmla="*/ 4 h 361"/>
                  <a:gd name="T8" fmla="*/ 329 w 358"/>
                  <a:gd name="T9" fmla="*/ 14 h 361"/>
                  <a:gd name="T10" fmla="*/ 339 w 358"/>
                  <a:gd name="T11" fmla="*/ 28 h 361"/>
                  <a:gd name="T12" fmla="*/ 339 w 358"/>
                  <a:gd name="T13" fmla="*/ 343 h 361"/>
                  <a:gd name="T14" fmla="*/ 29 w 358"/>
                  <a:gd name="T15" fmla="*/ 343 h 361"/>
                  <a:gd name="T16" fmla="*/ 15 w 358"/>
                  <a:gd name="T17" fmla="*/ 332 h 361"/>
                  <a:gd name="T18" fmla="*/ 0 w 358"/>
                  <a:gd name="T19" fmla="*/ 347 h 361"/>
                  <a:gd name="T20" fmla="*/ 0 w 358"/>
                  <a:gd name="T21" fmla="*/ 348 h 361"/>
                  <a:gd name="T22" fmla="*/ 15 w 358"/>
                  <a:gd name="T23" fmla="*/ 361 h 361"/>
                  <a:gd name="T24" fmla="*/ 29 w 358"/>
                  <a:gd name="T25" fmla="*/ 351 h 361"/>
                  <a:gd name="T26" fmla="*/ 347 w 358"/>
                  <a:gd name="T27" fmla="*/ 351 h 361"/>
                  <a:gd name="T28" fmla="*/ 347 w 358"/>
                  <a:gd name="T29" fmla="*/ 28 h 361"/>
                  <a:gd name="T30" fmla="*/ 358 w 358"/>
                  <a:gd name="T31" fmla="*/ 14 h 361"/>
                  <a:gd name="T32" fmla="*/ 343 w 358"/>
                  <a:gd name="T33" fmla="*/ 0 h 3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58" h="361">
                    <a:moveTo>
                      <a:pt x="343" y="0"/>
                    </a:moveTo>
                    <a:cubicBezTo>
                      <a:pt x="343" y="0"/>
                      <a:pt x="343" y="0"/>
                      <a:pt x="343" y="0"/>
                    </a:cubicBezTo>
                    <a:cubicBezTo>
                      <a:pt x="343" y="0"/>
                      <a:pt x="343" y="0"/>
                      <a:pt x="343" y="0"/>
                    </a:cubicBezTo>
                    <a:cubicBezTo>
                      <a:pt x="339" y="0"/>
                      <a:pt x="336" y="1"/>
                      <a:pt x="334" y="4"/>
                    </a:cubicBezTo>
                    <a:cubicBezTo>
                      <a:pt x="331" y="6"/>
                      <a:pt x="329" y="10"/>
                      <a:pt x="329" y="14"/>
                    </a:cubicBezTo>
                    <a:cubicBezTo>
                      <a:pt x="329" y="21"/>
                      <a:pt x="333" y="26"/>
                      <a:pt x="339" y="28"/>
                    </a:cubicBezTo>
                    <a:cubicBezTo>
                      <a:pt x="339" y="343"/>
                      <a:pt x="339" y="343"/>
                      <a:pt x="339" y="343"/>
                    </a:cubicBezTo>
                    <a:cubicBezTo>
                      <a:pt x="29" y="343"/>
                      <a:pt x="29" y="343"/>
                      <a:pt x="29" y="343"/>
                    </a:cubicBezTo>
                    <a:cubicBezTo>
                      <a:pt x="27" y="337"/>
                      <a:pt x="21" y="332"/>
                      <a:pt x="15" y="332"/>
                    </a:cubicBezTo>
                    <a:cubicBezTo>
                      <a:pt x="7" y="332"/>
                      <a:pt x="0" y="339"/>
                      <a:pt x="0" y="347"/>
                    </a:cubicBezTo>
                    <a:cubicBezTo>
                      <a:pt x="0" y="347"/>
                      <a:pt x="0" y="348"/>
                      <a:pt x="0" y="348"/>
                    </a:cubicBezTo>
                    <a:cubicBezTo>
                      <a:pt x="1" y="355"/>
                      <a:pt x="7" y="361"/>
                      <a:pt x="15" y="361"/>
                    </a:cubicBezTo>
                    <a:cubicBezTo>
                      <a:pt x="21" y="361"/>
                      <a:pt x="27" y="357"/>
                      <a:pt x="29" y="351"/>
                    </a:cubicBezTo>
                    <a:cubicBezTo>
                      <a:pt x="347" y="351"/>
                      <a:pt x="347" y="351"/>
                      <a:pt x="347" y="351"/>
                    </a:cubicBezTo>
                    <a:cubicBezTo>
                      <a:pt x="347" y="28"/>
                      <a:pt x="347" y="28"/>
                      <a:pt x="347" y="28"/>
                    </a:cubicBezTo>
                    <a:cubicBezTo>
                      <a:pt x="353" y="27"/>
                      <a:pt x="358" y="21"/>
                      <a:pt x="358" y="14"/>
                    </a:cubicBezTo>
                    <a:cubicBezTo>
                      <a:pt x="358" y="6"/>
                      <a:pt x="351" y="0"/>
                      <a:pt x="343" y="0"/>
                    </a:cubicBezTo>
                    <a:close/>
                  </a:path>
                </a:pathLst>
              </a:custGeom>
              <a:grpFill/>
              <a:ln w="9525">
                <a:solidFill>
                  <a:schemeClr val="bg1"/>
                </a:solidFill>
                <a:round/>
              </a:ln>
            </p:spPr>
            <p:txBody>
              <a:bodyPr/>
              <a:lstStyle/>
              <a:p>
                <a:pPr>
                  <a:defRPr/>
                </a:pPr>
                <a:endParaRPr lang="zh-CN" altLang="en-US">
                  <a:cs typeface="+mn-ea"/>
                  <a:sym typeface="+mn-lt"/>
                </a:endParaRPr>
              </a:p>
            </p:txBody>
          </p:sp>
        </p:grpSp>
      </p:grpSp>
      <p:grpSp>
        <p:nvGrpSpPr>
          <p:cNvPr id="70" name="组合 69"/>
          <p:cNvGrpSpPr/>
          <p:nvPr/>
        </p:nvGrpSpPr>
        <p:grpSpPr>
          <a:xfrm>
            <a:off x="3986501" y="530738"/>
            <a:ext cx="686184" cy="694853"/>
            <a:chOff x="5237224" y="1404429"/>
            <a:chExt cx="914912" cy="926470"/>
          </a:xfrm>
          <a:solidFill>
            <a:schemeClr val="bg1"/>
          </a:solidFill>
        </p:grpSpPr>
        <p:sp>
          <p:nvSpPr>
            <p:cNvPr id="56" name="Freeform 1812"/>
            <p:cNvSpPr/>
            <p:nvPr/>
          </p:nvSpPr>
          <p:spPr>
            <a:xfrm>
              <a:off x="5237224" y="1404429"/>
              <a:ext cx="914912" cy="926470"/>
            </a:xfrm>
            <a:custGeom>
              <a:avLst/>
              <a:gdLst>
                <a:gd name="txL" fmla="*/ 0 w 91"/>
                <a:gd name="txT" fmla="*/ 0 h 92"/>
                <a:gd name="txR" fmla="*/ 91 w 91"/>
                <a:gd name="txB" fmla="*/ 92 h 92"/>
              </a:gdLst>
              <a:ahLst/>
              <a:cxnLst>
                <a:cxn ang="0">
                  <a:pos x="463341" y="150743"/>
                </a:cxn>
                <a:cxn ang="0">
                  <a:pos x="376464" y="463826"/>
                </a:cxn>
                <a:cxn ang="0">
                  <a:pos x="63709" y="382657"/>
                </a:cxn>
                <a:cxn ang="0">
                  <a:pos x="150586" y="63776"/>
                </a:cxn>
                <a:cxn ang="0">
                  <a:pos x="463341" y="150743"/>
                </a:cxn>
              </a:cxnLst>
              <a:rect l="txL" t="txT" r="txR" b="txB"/>
              <a:pathLst>
                <a:path w="91" h="92">
                  <a:moveTo>
                    <a:pt x="80" y="26"/>
                  </a:moveTo>
                  <a:cubicBezTo>
                    <a:pt x="91" y="45"/>
                    <a:pt x="84" y="69"/>
                    <a:pt x="65" y="80"/>
                  </a:cubicBezTo>
                  <a:cubicBezTo>
                    <a:pt x="46" y="92"/>
                    <a:pt x="22" y="85"/>
                    <a:pt x="11" y="66"/>
                  </a:cubicBezTo>
                  <a:cubicBezTo>
                    <a:pt x="0" y="47"/>
                    <a:pt x="6" y="22"/>
                    <a:pt x="26" y="11"/>
                  </a:cubicBezTo>
                  <a:cubicBezTo>
                    <a:pt x="45" y="0"/>
                    <a:pt x="69" y="7"/>
                    <a:pt x="80" y="26"/>
                  </a:cubicBezTo>
                </a:path>
              </a:pathLst>
            </a:custGeom>
            <a:solidFill>
              <a:srgbClr val="1B4367"/>
            </a:solidFill>
            <a:ln w="9525">
              <a:solidFill>
                <a:schemeClr val="bg1"/>
              </a:solidFill>
            </a:ln>
          </p:spPr>
          <p:txBody>
            <a:bodyPr/>
            <a:lstStyle/>
            <a:p>
              <a:endParaRPr lang="zh-CN" altLang="en-US">
                <a:cs typeface="+mn-ea"/>
                <a:sym typeface="+mn-lt"/>
              </a:endParaRPr>
            </a:p>
          </p:txBody>
        </p:sp>
        <p:grpSp>
          <p:nvGrpSpPr>
            <p:cNvPr id="26" name="组合 25"/>
            <p:cNvGrpSpPr/>
            <p:nvPr/>
          </p:nvGrpSpPr>
          <p:grpSpPr>
            <a:xfrm>
              <a:off x="5414070" y="1669201"/>
              <a:ext cx="567104" cy="386174"/>
              <a:chOff x="5842315" y="2065986"/>
              <a:chExt cx="592138" cy="403225"/>
            </a:xfrm>
            <a:grpFill/>
          </p:grpSpPr>
          <p:sp>
            <p:nvSpPr>
              <p:cNvPr id="36" name="Oval 14"/>
              <p:cNvSpPr>
                <a:spLocks noChangeArrowheads="1"/>
              </p:cNvSpPr>
              <p:nvPr/>
            </p:nvSpPr>
            <p:spPr bwMode="auto">
              <a:xfrm>
                <a:off x="6050278" y="2065986"/>
                <a:ext cx="174625" cy="171450"/>
              </a:xfrm>
              <a:prstGeom prst="ellipse">
                <a:avLst/>
              </a:prstGeom>
              <a:grpFill/>
              <a:ln w="9525">
                <a:solidFill>
                  <a:schemeClr val="bg1"/>
                </a:solidFill>
                <a:round/>
              </a:ln>
            </p:spPr>
            <p:txBody>
              <a:bodyPr/>
              <a:lstStyle/>
              <a:p>
                <a:pPr>
                  <a:defRPr/>
                </a:pPr>
                <a:endParaRPr lang="zh-CN" altLang="en-US">
                  <a:cs typeface="+mn-ea"/>
                  <a:sym typeface="+mn-lt"/>
                </a:endParaRPr>
              </a:p>
            </p:txBody>
          </p:sp>
          <p:grpSp>
            <p:nvGrpSpPr>
              <p:cNvPr id="37" name="组合 36"/>
              <p:cNvGrpSpPr/>
              <p:nvPr/>
            </p:nvGrpSpPr>
            <p:grpSpPr>
              <a:xfrm>
                <a:off x="5842315" y="2112023"/>
                <a:ext cx="592138" cy="357188"/>
                <a:chOff x="5543551" y="2033588"/>
                <a:chExt cx="592138" cy="357188"/>
              </a:xfrm>
              <a:grpFill/>
            </p:grpSpPr>
            <p:sp>
              <p:nvSpPr>
                <p:cNvPr id="38" name="Freeform 15"/>
                <p:cNvSpPr/>
                <p:nvPr/>
              </p:nvSpPr>
              <p:spPr bwMode="auto">
                <a:xfrm>
                  <a:off x="5681664" y="2170113"/>
                  <a:ext cx="315913" cy="220663"/>
                </a:xfrm>
                <a:custGeom>
                  <a:avLst/>
                  <a:gdLst>
                    <a:gd name="T0" fmla="*/ 219 w 219"/>
                    <a:gd name="T1" fmla="*/ 93 h 154"/>
                    <a:gd name="T2" fmla="*/ 156 w 219"/>
                    <a:gd name="T3" fmla="*/ 0 h 154"/>
                    <a:gd name="T4" fmla="*/ 110 w 219"/>
                    <a:gd name="T5" fmla="*/ 125 h 154"/>
                    <a:gd name="T6" fmla="*/ 64 w 219"/>
                    <a:gd name="T7" fmla="*/ 0 h 154"/>
                    <a:gd name="T8" fmla="*/ 0 w 219"/>
                    <a:gd name="T9" fmla="*/ 93 h 154"/>
                    <a:gd name="T10" fmla="*/ 0 w 219"/>
                    <a:gd name="T11" fmla="*/ 96 h 154"/>
                    <a:gd name="T12" fmla="*/ 0 w 219"/>
                    <a:gd name="T13" fmla="*/ 97 h 154"/>
                    <a:gd name="T14" fmla="*/ 110 w 219"/>
                    <a:gd name="T15" fmla="*/ 154 h 154"/>
                    <a:gd name="T16" fmla="*/ 219 w 219"/>
                    <a:gd name="T17" fmla="*/ 97 h 154"/>
                    <a:gd name="T18" fmla="*/ 219 w 219"/>
                    <a:gd name="T19" fmla="*/ 96 h 154"/>
                    <a:gd name="T20" fmla="*/ 219 w 219"/>
                    <a:gd name="T21" fmla="*/ 93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9" h="154">
                      <a:moveTo>
                        <a:pt x="219" y="93"/>
                      </a:moveTo>
                      <a:cubicBezTo>
                        <a:pt x="217" y="52"/>
                        <a:pt x="191" y="16"/>
                        <a:pt x="156" y="0"/>
                      </a:cubicBezTo>
                      <a:cubicBezTo>
                        <a:pt x="110" y="125"/>
                        <a:pt x="110" y="125"/>
                        <a:pt x="110" y="125"/>
                      </a:cubicBezTo>
                      <a:cubicBezTo>
                        <a:pt x="64" y="0"/>
                        <a:pt x="64" y="0"/>
                        <a:pt x="64" y="0"/>
                      </a:cubicBezTo>
                      <a:cubicBezTo>
                        <a:pt x="28" y="16"/>
                        <a:pt x="2" y="52"/>
                        <a:pt x="0" y="93"/>
                      </a:cubicBezTo>
                      <a:cubicBezTo>
                        <a:pt x="0" y="94"/>
                        <a:pt x="0" y="95"/>
                        <a:pt x="0" y="96"/>
                      </a:cubicBezTo>
                      <a:cubicBezTo>
                        <a:pt x="0" y="96"/>
                        <a:pt x="0" y="97"/>
                        <a:pt x="0" y="97"/>
                      </a:cubicBezTo>
                      <a:cubicBezTo>
                        <a:pt x="1" y="122"/>
                        <a:pt x="50" y="154"/>
                        <a:pt x="110" y="154"/>
                      </a:cubicBezTo>
                      <a:cubicBezTo>
                        <a:pt x="169" y="154"/>
                        <a:pt x="218" y="122"/>
                        <a:pt x="219" y="97"/>
                      </a:cubicBezTo>
                      <a:cubicBezTo>
                        <a:pt x="219" y="97"/>
                        <a:pt x="219" y="96"/>
                        <a:pt x="219" y="96"/>
                      </a:cubicBezTo>
                      <a:cubicBezTo>
                        <a:pt x="219" y="95"/>
                        <a:pt x="219" y="94"/>
                        <a:pt x="219" y="93"/>
                      </a:cubicBezTo>
                      <a:close/>
                    </a:path>
                  </a:pathLst>
                </a:custGeom>
                <a:grpFill/>
                <a:ln w="9525">
                  <a:solidFill>
                    <a:schemeClr val="bg1"/>
                  </a:solidFill>
                  <a:round/>
                </a:ln>
              </p:spPr>
              <p:txBody>
                <a:bodyPr/>
                <a:lstStyle/>
                <a:p>
                  <a:pPr>
                    <a:defRPr/>
                  </a:pPr>
                  <a:endParaRPr lang="zh-CN" altLang="en-US">
                    <a:cs typeface="+mn-ea"/>
                    <a:sym typeface="+mn-lt"/>
                  </a:endParaRPr>
                </a:p>
              </p:txBody>
            </p:sp>
            <p:sp>
              <p:nvSpPr>
                <p:cNvPr id="39" name="Freeform 16"/>
                <p:cNvSpPr/>
                <p:nvPr/>
              </p:nvSpPr>
              <p:spPr bwMode="auto">
                <a:xfrm>
                  <a:off x="5824539" y="2165351"/>
                  <a:ext cx="31750" cy="31750"/>
                </a:xfrm>
                <a:custGeom>
                  <a:avLst/>
                  <a:gdLst>
                    <a:gd name="T0" fmla="*/ 10 w 20"/>
                    <a:gd name="T1" fmla="*/ 0 h 20"/>
                    <a:gd name="T2" fmla="*/ 20 w 20"/>
                    <a:gd name="T3" fmla="*/ 10 h 20"/>
                    <a:gd name="T4" fmla="*/ 10 w 20"/>
                    <a:gd name="T5" fmla="*/ 20 h 20"/>
                    <a:gd name="T6" fmla="*/ 0 w 20"/>
                    <a:gd name="T7" fmla="*/ 10 h 20"/>
                    <a:gd name="T8" fmla="*/ 10 w 20"/>
                    <a:gd name="T9" fmla="*/ 0 h 20"/>
                  </a:gdLst>
                  <a:ahLst/>
                  <a:cxnLst>
                    <a:cxn ang="0">
                      <a:pos x="T0" y="T1"/>
                    </a:cxn>
                    <a:cxn ang="0">
                      <a:pos x="T2" y="T3"/>
                    </a:cxn>
                    <a:cxn ang="0">
                      <a:pos x="T4" y="T5"/>
                    </a:cxn>
                    <a:cxn ang="0">
                      <a:pos x="T6" y="T7"/>
                    </a:cxn>
                    <a:cxn ang="0">
                      <a:pos x="T8" y="T9"/>
                    </a:cxn>
                  </a:cxnLst>
                  <a:rect l="0" t="0" r="r" b="b"/>
                  <a:pathLst>
                    <a:path w="20" h="20">
                      <a:moveTo>
                        <a:pt x="10" y="0"/>
                      </a:moveTo>
                      <a:lnTo>
                        <a:pt x="20" y="10"/>
                      </a:lnTo>
                      <a:lnTo>
                        <a:pt x="10" y="20"/>
                      </a:lnTo>
                      <a:lnTo>
                        <a:pt x="0" y="10"/>
                      </a:lnTo>
                      <a:lnTo>
                        <a:pt x="10" y="0"/>
                      </a:lnTo>
                      <a:close/>
                    </a:path>
                  </a:pathLst>
                </a:custGeom>
                <a:grpFill/>
                <a:ln w="9525">
                  <a:solidFill>
                    <a:schemeClr val="bg1"/>
                  </a:solidFill>
                  <a:round/>
                </a:ln>
              </p:spPr>
              <p:txBody>
                <a:bodyPr/>
                <a:lstStyle/>
                <a:p>
                  <a:pPr>
                    <a:defRPr/>
                  </a:pPr>
                  <a:endParaRPr lang="zh-CN" altLang="en-US">
                    <a:cs typeface="+mn-ea"/>
                    <a:sym typeface="+mn-lt"/>
                  </a:endParaRPr>
                </a:p>
              </p:txBody>
            </p:sp>
            <p:sp>
              <p:nvSpPr>
                <p:cNvPr id="40" name="Freeform 17"/>
                <p:cNvSpPr/>
                <p:nvPr/>
              </p:nvSpPr>
              <p:spPr bwMode="auto">
                <a:xfrm>
                  <a:off x="5816601" y="2197101"/>
                  <a:ext cx="46038" cy="117475"/>
                </a:xfrm>
                <a:custGeom>
                  <a:avLst/>
                  <a:gdLst>
                    <a:gd name="T0" fmla="*/ 21 w 29"/>
                    <a:gd name="T1" fmla="*/ 6 h 74"/>
                    <a:gd name="T2" fmla="*/ 15 w 29"/>
                    <a:gd name="T3" fmla="*/ 0 h 74"/>
                    <a:gd name="T4" fmla="*/ 7 w 29"/>
                    <a:gd name="T5" fmla="*/ 6 h 74"/>
                    <a:gd name="T6" fmla="*/ 0 w 29"/>
                    <a:gd name="T7" fmla="*/ 37 h 74"/>
                    <a:gd name="T8" fmla="*/ 15 w 29"/>
                    <a:gd name="T9" fmla="*/ 74 h 74"/>
                    <a:gd name="T10" fmla="*/ 29 w 29"/>
                    <a:gd name="T11" fmla="*/ 37 h 74"/>
                    <a:gd name="T12" fmla="*/ 21 w 29"/>
                    <a:gd name="T13" fmla="*/ 6 h 74"/>
                  </a:gdLst>
                  <a:ahLst/>
                  <a:cxnLst>
                    <a:cxn ang="0">
                      <a:pos x="T0" y="T1"/>
                    </a:cxn>
                    <a:cxn ang="0">
                      <a:pos x="T2" y="T3"/>
                    </a:cxn>
                    <a:cxn ang="0">
                      <a:pos x="T4" y="T5"/>
                    </a:cxn>
                    <a:cxn ang="0">
                      <a:pos x="T6" y="T7"/>
                    </a:cxn>
                    <a:cxn ang="0">
                      <a:pos x="T8" y="T9"/>
                    </a:cxn>
                    <a:cxn ang="0">
                      <a:pos x="T10" y="T11"/>
                    </a:cxn>
                    <a:cxn ang="0">
                      <a:pos x="T12" y="T13"/>
                    </a:cxn>
                  </a:cxnLst>
                  <a:rect l="0" t="0" r="r" b="b"/>
                  <a:pathLst>
                    <a:path w="29" h="74">
                      <a:moveTo>
                        <a:pt x="21" y="6"/>
                      </a:moveTo>
                      <a:lnTo>
                        <a:pt x="15" y="0"/>
                      </a:lnTo>
                      <a:lnTo>
                        <a:pt x="7" y="6"/>
                      </a:lnTo>
                      <a:lnTo>
                        <a:pt x="0" y="37"/>
                      </a:lnTo>
                      <a:lnTo>
                        <a:pt x="15" y="74"/>
                      </a:lnTo>
                      <a:lnTo>
                        <a:pt x="29" y="37"/>
                      </a:lnTo>
                      <a:lnTo>
                        <a:pt x="21" y="6"/>
                      </a:lnTo>
                      <a:close/>
                    </a:path>
                  </a:pathLst>
                </a:custGeom>
                <a:grpFill/>
                <a:ln w="9525">
                  <a:solidFill>
                    <a:schemeClr val="bg1"/>
                  </a:solidFill>
                  <a:round/>
                </a:ln>
              </p:spPr>
              <p:txBody>
                <a:bodyPr/>
                <a:lstStyle/>
                <a:p>
                  <a:pPr>
                    <a:defRPr/>
                  </a:pPr>
                  <a:endParaRPr lang="zh-CN" altLang="en-US">
                    <a:cs typeface="+mn-ea"/>
                    <a:sym typeface="+mn-lt"/>
                  </a:endParaRPr>
                </a:p>
              </p:txBody>
            </p:sp>
            <p:sp>
              <p:nvSpPr>
                <p:cNvPr id="41" name="Freeform 18"/>
                <p:cNvSpPr/>
                <p:nvPr/>
              </p:nvSpPr>
              <p:spPr bwMode="auto">
                <a:xfrm>
                  <a:off x="5956301" y="2033588"/>
                  <a:ext cx="127000" cy="125413"/>
                </a:xfrm>
                <a:custGeom>
                  <a:avLst/>
                  <a:gdLst>
                    <a:gd name="T0" fmla="*/ 88 w 88"/>
                    <a:gd name="T1" fmla="*/ 44 h 87"/>
                    <a:gd name="T2" fmla="*/ 44 w 88"/>
                    <a:gd name="T3" fmla="*/ 0 h 87"/>
                    <a:gd name="T4" fmla="*/ 0 w 88"/>
                    <a:gd name="T5" fmla="*/ 44 h 87"/>
                    <a:gd name="T6" fmla="*/ 44 w 88"/>
                    <a:gd name="T7" fmla="*/ 87 h 87"/>
                    <a:gd name="T8" fmla="*/ 88 w 88"/>
                    <a:gd name="T9" fmla="*/ 44 h 87"/>
                  </a:gdLst>
                  <a:ahLst/>
                  <a:cxnLst>
                    <a:cxn ang="0">
                      <a:pos x="T0" y="T1"/>
                    </a:cxn>
                    <a:cxn ang="0">
                      <a:pos x="T2" y="T3"/>
                    </a:cxn>
                    <a:cxn ang="0">
                      <a:pos x="T4" y="T5"/>
                    </a:cxn>
                    <a:cxn ang="0">
                      <a:pos x="T6" y="T7"/>
                    </a:cxn>
                    <a:cxn ang="0">
                      <a:pos x="T8" y="T9"/>
                    </a:cxn>
                  </a:cxnLst>
                  <a:rect l="0" t="0" r="r" b="b"/>
                  <a:pathLst>
                    <a:path w="88" h="87">
                      <a:moveTo>
                        <a:pt x="88" y="44"/>
                      </a:moveTo>
                      <a:cubicBezTo>
                        <a:pt x="88" y="19"/>
                        <a:pt x="68" y="0"/>
                        <a:pt x="44" y="0"/>
                      </a:cubicBezTo>
                      <a:cubicBezTo>
                        <a:pt x="20" y="0"/>
                        <a:pt x="1" y="19"/>
                        <a:pt x="0" y="44"/>
                      </a:cubicBezTo>
                      <a:cubicBezTo>
                        <a:pt x="0" y="68"/>
                        <a:pt x="20" y="87"/>
                        <a:pt x="44" y="87"/>
                      </a:cubicBezTo>
                      <a:cubicBezTo>
                        <a:pt x="68" y="87"/>
                        <a:pt x="88" y="68"/>
                        <a:pt x="88" y="44"/>
                      </a:cubicBezTo>
                      <a:close/>
                    </a:path>
                  </a:pathLst>
                </a:custGeom>
                <a:grpFill/>
                <a:ln w="9525">
                  <a:solidFill>
                    <a:schemeClr val="bg1"/>
                  </a:solidFill>
                  <a:round/>
                </a:ln>
              </p:spPr>
              <p:txBody>
                <a:bodyPr/>
                <a:lstStyle/>
                <a:p>
                  <a:pPr>
                    <a:defRPr/>
                  </a:pPr>
                  <a:endParaRPr lang="zh-CN" altLang="en-US">
                    <a:cs typeface="+mn-ea"/>
                    <a:sym typeface="+mn-lt"/>
                  </a:endParaRPr>
                </a:p>
              </p:txBody>
            </p:sp>
            <p:sp>
              <p:nvSpPr>
                <p:cNvPr id="42" name="Freeform 19"/>
                <p:cNvSpPr/>
                <p:nvPr/>
              </p:nvSpPr>
              <p:spPr bwMode="auto">
                <a:xfrm>
                  <a:off x="6008689" y="2162176"/>
                  <a:ext cx="23813" cy="23813"/>
                </a:xfrm>
                <a:custGeom>
                  <a:avLst/>
                  <a:gdLst>
                    <a:gd name="T0" fmla="*/ 7 w 15"/>
                    <a:gd name="T1" fmla="*/ 0 h 15"/>
                    <a:gd name="T2" fmla="*/ 15 w 15"/>
                    <a:gd name="T3" fmla="*/ 7 h 15"/>
                    <a:gd name="T4" fmla="*/ 7 w 15"/>
                    <a:gd name="T5" fmla="*/ 15 h 15"/>
                    <a:gd name="T6" fmla="*/ 0 w 15"/>
                    <a:gd name="T7" fmla="*/ 7 h 15"/>
                    <a:gd name="T8" fmla="*/ 7 w 15"/>
                    <a:gd name="T9" fmla="*/ 0 h 15"/>
                  </a:gdLst>
                  <a:ahLst/>
                  <a:cxnLst>
                    <a:cxn ang="0">
                      <a:pos x="T0" y="T1"/>
                    </a:cxn>
                    <a:cxn ang="0">
                      <a:pos x="T2" y="T3"/>
                    </a:cxn>
                    <a:cxn ang="0">
                      <a:pos x="T4" y="T5"/>
                    </a:cxn>
                    <a:cxn ang="0">
                      <a:pos x="T6" y="T7"/>
                    </a:cxn>
                    <a:cxn ang="0">
                      <a:pos x="T8" y="T9"/>
                    </a:cxn>
                  </a:cxnLst>
                  <a:rect l="0" t="0" r="r" b="b"/>
                  <a:pathLst>
                    <a:path w="15" h="15">
                      <a:moveTo>
                        <a:pt x="7" y="0"/>
                      </a:moveTo>
                      <a:lnTo>
                        <a:pt x="15" y="7"/>
                      </a:lnTo>
                      <a:lnTo>
                        <a:pt x="7" y="15"/>
                      </a:lnTo>
                      <a:lnTo>
                        <a:pt x="0" y="7"/>
                      </a:lnTo>
                      <a:lnTo>
                        <a:pt x="7" y="0"/>
                      </a:lnTo>
                      <a:close/>
                    </a:path>
                  </a:pathLst>
                </a:custGeom>
                <a:grpFill/>
                <a:ln w="9525">
                  <a:solidFill>
                    <a:schemeClr val="bg1"/>
                  </a:solidFill>
                  <a:round/>
                </a:ln>
              </p:spPr>
              <p:txBody>
                <a:bodyPr/>
                <a:lstStyle/>
                <a:p>
                  <a:pPr>
                    <a:defRPr/>
                  </a:pPr>
                  <a:endParaRPr lang="zh-CN" altLang="en-US">
                    <a:cs typeface="+mn-ea"/>
                    <a:sym typeface="+mn-lt"/>
                  </a:endParaRPr>
                </a:p>
              </p:txBody>
            </p:sp>
            <p:sp>
              <p:nvSpPr>
                <p:cNvPr id="43" name="Freeform 20"/>
                <p:cNvSpPr/>
                <p:nvPr/>
              </p:nvSpPr>
              <p:spPr bwMode="auto">
                <a:xfrm>
                  <a:off x="6003926" y="2185988"/>
                  <a:ext cx="33338" cy="85725"/>
                </a:xfrm>
                <a:custGeom>
                  <a:avLst/>
                  <a:gdLst>
                    <a:gd name="T0" fmla="*/ 16 w 21"/>
                    <a:gd name="T1" fmla="*/ 4 h 54"/>
                    <a:gd name="T2" fmla="*/ 10 w 21"/>
                    <a:gd name="T3" fmla="*/ 0 h 54"/>
                    <a:gd name="T4" fmla="*/ 6 w 21"/>
                    <a:gd name="T5" fmla="*/ 4 h 54"/>
                    <a:gd name="T6" fmla="*/ 0 w 21"/>
                    <a:gd name="T7" fmla="*/ 27 h 54"/>
                    <a:gd name="T8" fmla="*/ 10 w 21"/>
                    <a:gd name="T9" fmla="*/ 54 h 54"/>
                    <a:gd name="T10" fmla="*/ 21 w 21"/>
                    <a:gd name="T11" fmla="*/ 27 h 54"/>
                    <a:gd name="T12" fmla="*/ 16 w 21"/>
                    <a:gd name="T13" fmla="*/ 4 h 54"/>
                  </a:gdLst>
                  <a:ahLst/>
                  <a:cxnLst>
                    <a:cxn ang="0">
                      <a:pos x="T0" y="T1"/>
                    </a:cxn>
                    <a:cxn ang="0">
                      <a:pos x="T2" y="T3"/>
                    </a:cxn>
                    <a:cxn ang="0">
                      <a:pos x="T4" y="T5"/>
                    </a:cxn>
                    <a:cxn ang="0">
                      <a:pos x="T6" y="T7"/>
                    </a:cxn>
                    <a:cxn ang="0">
                      <a:pos x="T8" y="T9"/>
                    </a:cxn>
                    <a:cxn ang="0">
                      <a:pos x="T10" y="T11"/>
                    </a:cxn>
                    <a:cxn ang="0">
                      <a:pos x="T12" y="T13"/>
                    </a:cxn>
                  </a:cxnLst>
                  <a:rect l="0" t="0" r="r" b="b"/>
                  <a:pathLst>
                    <a:path w="21" h="54">
                      <a:moveTo>
                        <a:pt x="16" y="4"/>
                      </a:moveTo>
                      <a:lnTo>
                        <a:pt x="10" y="0"/>
                      </a:lnTo>
                      <a:lnTo>
                        <a:pt x="6" y="4"/>
                      </a:lnTo>
                      <a:lnTo>
                        <a:pt x="0" y="27"/>
                      </a:lnTo>
                      <a:lnTo>
                        <a:pt x="10" y="54"/>
                      </a:lnTo>
                      <a:lnTo>
                        <a:pt x="21" y="27"/>
                      </a:lnTo>
                      <a:lnTo>
                        <a:pt x="16" y="4"/>
                      </a:lnTo>
                      <a:close/>
                    </a:path>
                  </a:pathLst>
                </a:custGeom>
                <a:grpFill/>
                <a:ln w="9525">
                  <a:solidFill>
                    <a:schemeClr val="bg1"/>
                  </a:solidFill>
                  <a:round/>
                </a:ln>
              </p:spPr>
              <p:txBody>
                <a:bodyPr/>
                <a:lstStyle/>
                <a:p>
                  <a:pPr>
                    <a:defRPr/>
                  </a:pPr>
                  <a:endParaRPr lang="zh-CN" altLang="en-US">
                    <a:cs typeface="+mn-ea"/>
                    <a:sym typeface="+mn-lt"/>
                  </a:endParaRPr>
                </a:p>
              </p:txBody>
            </p:sp>
            <p:sp>
              <p:nvSpPr>
                <p:cNvPr id="44" name="Oval 21"/>
                <p:cNvSpPr>
                  <a:spLocks noChangeArrowheads="1"/>
                </p:cNvSpPr>
                <p:nvPr/>
              </p:nvSpPr>
              <p:spPr bwMode="auto">
                <a:xfrm>
                  <a:off x="5594351" y="2033588"/>
                  <a:ext cx="127000" cy="125413"/>
                </a:xfrm>
                <a:prstGeom prst="ellipse">
                  <a:avLst/>
                </a:prstGeom>
                <a:grpFill/>
                <a:ln w="9525">
                  <a:solidFill>
                    <a:schemeClr val="bg1"/>
                  </a:solidFill>
                  <a:round/>
                </a:ln>
              </p:spPr>
              <p:txBody>
                <a:bodyPr/>
                <a:lstStyle/>
                <a:p>
                  <a:pPr>
                    <a:defRPr/>
                  </a:pPr>
                  <a:endParaRPr lang="zh-CN" altLang="en-US">
                    <a:cs typeface="+mn-ea"/>
                    <a:sym typeface="+mn-lt"/>
                  </a:endParaRPr>
                </a:p>
              </p:txBody>
            </p:sp>
            <p:sp>
              <p:nvSpPr>
                <p:cNvPr id="45" name="Freeform 22"/>
                <p:cNvSpPr/>
                <p:nvPr/>
              </p:nvSpPr>
              <p:spPr bwMode="auto">
                <a:xfrm>
                  <a:off x="5543551" y="2165351"/>
                  <a:ext cx="190500" cy="161925"/>
                </a:xfrm>
                <a:custGeom>
                  <a:avLst/>
                  <a:gdLst>
                    <a:gd name="T0" fmla="*/ 91 w 133"/>
                    <a:gd name="T1" fmla="*/ 100 h 112"/>
                    <a:gd name="T2" fmla="*/ 91 w 133"/>
                    <a:gd name="T3" fmla="*/ 100 h 112"/>
                    <a:gd name="T4" fmla="*/ 91 w 133"/>
                    <a:gd name="T5" fmla="*/ 99 h 112"/>
                    <a:gd name="T6" fmla="*/ 91 w 133"/>
                    <a:gd name="T7" fmla="*/ 96 h 112"/>
                    <a:gd name="T8" fmla="*/ 133 w 133"/>
                    <a:gd name="T9" fmla="*/ 13 h 112"/>
                    <a:gd name="T10" fmla="*/ 114 w 133"/>
                    <a:gd name="T11" fmla="*/ 0 h 112"/>
                    <a:gd name="T12" fmla="*/ 80 w 133"/>
                    <a:gd name="T13" fmla="*/ 92 h 112"/>
                    <a:gd name="T14" fmla="*/ 47 w 133"/>
                    <a:gd name="T15" fmla="*/ 0 h 112"/>
                    <a:gd name="T16" fmla="*/ 0 w 133"/>
                    <a:gd name="T17" fmla="*/ 68 h 112"/>
                    <a:gd name="T18" fmla="*/ 0 w 133"/>
                    <a:gd name="T19" fmla="*/ 70 h 112"/>
                    <a:gd name="T20" fmla="*/ 0 w 133"/>
                    <a:gd name="T21" fmla="*/ 71 h 112"/>
                    <a:gd name="T22" fmla="*/ 80 w 133"/>
                    <a:gd name="T23" fmla="*/ 112 h 112"/>
                    <a:gd name="T24" fmla="*/ 94 w 133"/>
                    <a:gd name="T25" fmla="*/ 112 h 112"/>
                    <a:gd name="T26" fmla="*/ 91 w 133"/>
                    <a:gd name="T27" fmla="*/ 100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112">
                      <a:moveTo>
                        <a:pt x="91" y="100"/>
                      </a:moveTo>
                      <a:cubicBezTo>
                        <a:pt x="91" y="100"/>
                        <a:pt x="91" y="100"/>
                        <a:pt x="91" y="100"/>
                      </a:cubicBezTo>
                      <a:cubicBezTo>
                        <a:pt x="91" y="100"/>
                        <a:pt x="91" y="100"/>
                        <a:pt x="91" y="99"/>
                      </a:cubicBezTo>
                      <a:cubicBezTo>
                        <a:pt x="91" y="98"/>
                        <a:pt x="91" y="97"/>
                        <a:pt x="91" y="96"/>
                      </a:cubicBezTo>
                      <a:cubicBezTo>
                        <a:pt x="93" y="63"/>
                        <a:pt x="108" y="33"/>
                        <a:pt x="133" y="13"/>
                      </a:cubicBezTo>
                      <a:cubicBezTo>
                        <a:pt x="127" y="8"/>
                        <a:pt x="121" y="4"/>
                        <a:pt x="114" y="0"/>
                      </a:cubicBezTo>
                      <a:cubicBezTo>
                        <a:pt x="80" y="92"/>
                        <a:pt x="80" y="92"/>
                        <a:pt x="80" y="92"/>
                      </a:cubicBezTo>
                      <a:cubicBezTo>
                        <a:pt x="47" y="0"/>
                        <a:pt x="47" y="0"/>
                        <a:pt x="47" y="0"/>
                      </a:cubicBezTo>
                      <a:cubicBezTo>
                        <a:pt x="21" y="12"/>
                        <a:pt x="2" y="38"/>
                        <a:pt x="0" y="68"/>
                      </a:cubicBezTo>
                      <a:cubicBezTo>
                        <a:pt x="0" y="69"/>
                        <a:pt x="0" y="70"/>
                        <a:pt x="0" y="70"/>
                      </a:cubicBezTo>
                      <a:cubicBezTo>
                        <a:pt x="0" y="71"/>
                        <a:pt x="0" y="71"/>
                        <a:pt x="0" y="71"/>
                      </a:cubicBezTo>
                      <a:cubicBezTo>
                        <a:pt x="1" y="90"/>
                        <a:pt x="37" y="112"/>
                        <a:pt x="80" y="112"/>
                      </a:cubicBezTo>
                      <a:cubicBezTo>
                        <a:pt x="85" y="112"/>
                        <a:pt x="89" y="112"/>
                        <a:pt x="94" y="112"/>
                      </a:cubicBezTo>
                      <a:cubicBezTo>
                        <a:pt x="92" y="108"/>
                        <a:pt x="91" y="104"/>
                        <a:pt x="91" y="100"/>
                      </a:cubicBezTo>
                      <a:close/>
                    </a:path>
                  </a:pathLst>
                </a:custGeom>
                <a:grpFill/>
                <a:ln w="9525">
                  <a:solidFill>
                    <a:schemeClr val="bg1"/>
                  </a:solidFill>
                  <a:round/>
                </a:ln>
              </p:spPr>
              <p:txBody>
                <a:bodyPr/>
                <a:lstStyle/>
                <a:p>
                  <a:pPr>
                    <a:defRPr/>
                  </a:pPr>
                  <a:endParaRPr lang="zh-CN" altLang="en-US">
                    <a:cs typeface="+mn-ea"/>
                    <a:sym typeface="+mn-lt"/>
                  </a:endParaRPr>
                </a:p>
              </p:txBody>
            </p:sp>
            <p:sp>
              <p:nvSpPr>
                <p:cNvPr id="46" name="Freeform 23"/>
                <p:cNvSpPr/>
                <p:nvPr/>
              </p:nvSpPr>
              <p:spPr bwMode="auto">
                <a:xfrm>
                  <a:off x="5646739" y="2162176"/>
                  <a:ext cx="23813" cy="23813"/>
                </a:xfrm>
                <a:custGeom>
                  <a:avLst/>
                  <a:gdLst>
                    <a:gd name="T0" fmla="*/ 7 w 15"/>
                    <a:gd name="T1" fmla="*/ 0 h 15"/>
                    <a:gd name="T2" fmla="*/ 15 w 15"/>
                    <a:gd name="T3" fmla="*/ 7 h 15"/>
                    <a:gd name="T4" fmla="*/ 7 w 15"/>
                    <a:gd name="T5" fmla="*/ 15 h 15"/>
                    <a:gd name="T6" fmla="*/ 0 w 15"/>
                    <a:gd name="T7" fmla="*/ 7 h 15"/>
                    <a:gd name="T8" fmla="*/ 7 w 15"/>
                    <a:gd name="T9" fmla="*/ 0 h 15"/>
                  </a:gdLst>
                  <a:ahLst/>
                  <a:cxnLst>
                    <a:cxn ang="0">
                      <a:pos x="T0" y="T1"/>
                    </a:cxn>
                    <a:cxn ang="0">
                      <a:pos x="T2" y="T3"/>
                    </a:cxn>
                    <a:cxn ang="0">
                      <a:pos x="T4" y="T5"/>
                    </a:cxn>
                    <a:cxn ang="0">
                      <a:pos x="T6" y="T7"/>
                    </a:cxn>
                    <a:cxn ang="0">
                      <a:pos x="T8" y="T9"/>
                    </a:cxn>
                  </a:cxnLst>
                  <a:rect l="0" t="0" r="r" b="b"/>
                  <a:pathLst>
                    <a:path w="15" h="15">
                      <a:moveTo>
                        <a:pt x="7" y="0"/>
                      </a:moveTo>
                      <a:lnTo>
                        <a:pt x="15" y="7"/>
                      </a:lnTo>
                      <a:lnTo>
                        <a:pt x="7" y="15"/>
                      </a:lnTo>
                      <a:lnTo>
                        <a:pt x="0" y="7"/>
                      </a:lnTo>
                      <a:lnTo>
                        <a:pt x="7" y="0"/>
                      </a:lnTo>
                      <a:close/>
                    </a:path>
                  </a:pathLst>
                </a:custGeom>
                <a:grpFill/>
                <a:ln w="9525">
                  <a:solidFill>
                    <a:schemeClr val="bg1"/>
                  </a:solidFill>
                  <a:round/>
                </a:ln>
              </p:spPr>
              <p:txBody>
                <a:bodyPr/>
                <a:lstStyle/>
                <a:p>
                  <a:pPr>
                    <a:defRPr/>
                  </a:pPr>
                  <a:endParaRPr lang="zh-CN" altLang="en-US">
                    <a:cs typeface="+mn-ea"/>
                    <a:sym typeface="+mn-lt"/>
                  </a:endParaRPr>
                </a:p>
              </p:txBody>
            </p:sp>
            <p:sp>
              <p:nvSpPr>
                <p:cNvPr id="47" name="Freeform 24"/>
                <p:cNvSpPr/>
                <p:nvPr/>
              </p:nvSpPr>
              <p:spPr bwMode="auto">
                <a:xfrm>
                  <a:off x="5641976" y="2185988"/>
                  <a:ext cx="33338" cy="85725"/>
                </a:xfrm>
                <a:custGeom>
                  <a:avLst/>
                  <a:gdLst>
                    <a:gd name="T0" fmla="*/ 16 w 21"/>
                    <a:gd name="T1" fmla="*/ 4 h 54"/>
                    <a:gd name="T2" fmla="*/ 10 w 21"/>
                    <a:gd name="T3" fmla="*/ 0 h 54"/>
                    <a:gd name="T4" fmla="*/ 5 w 21"/>
                    <a:gd name="T5" fmla="*/ 4 h 54"/>
                    <a:gd name="T6" fmla="*/ 0 w 21"/>
                    <a:gd name="T7" fmla="*/ 27 h 54"/>
                    <a:gd name="T8" fmla="*/ 10 w 21"/>
                    <a:gd name="T9" fmla="*/ 54 h 54"/>
                    <a:gd name="T10" fmla="*/ 21 w 21"/>
                    <a:gd name="T11" fmla="*/ 27 h 54"/>
                    <a:gd name="T12" fmla="*/ 16 w 21"/>
                    <a:gd name="T13" fmla="*/ 4 h 54"/>
                  </a:gdLst>
                  <a:ahLst/>
                  <a:cxnLst>
                    <a:cxn ang="0">
                      <a:pos x="T0" y="T1"/>
                    </a:cxn>
                    <a:cxn ang="0">
                      <a:pos x="T2" y="T3"/>
                    </a:cxn>
                    <a:cxn ang="0">
                      <a:pos x="T4" y="T5"/>
                    </a:cxn>
                    <a:cxn ang="0">
                      <a:pos x="T6" y="T7"/>
                    </a:cxn>
                    <a:cxn ang="0">
                      <a:pos x="T8" y="T9"/>
                    </a:cxn>
                    <a:cxn ang="0">
                      <a:pos x="T10" y="T11"/>
                    </a:cxn>
                    <a:cxn ang="0">
                      <a:pos x="T12" y="T13"/>
                    </a:cxn>
                  </a:cxnLst>
                  <a:rect l="0" t="0" r="r" b="b"/>
                  <a:pathLst>
                    <a:path w="21" h="54">
                      <a:moveTo>
                        <a:pt x="16" y="4"/>
                      </a:moveTo>
                      <a:lnTo>
                        <a:pt x="10" y="0"/>
                      </a:lnTo>
                      <a:lnTo>
                        <a:pt x="5" y="4"/>
                      </a:lnTo>
                      <a:lnTo>
                        <a:pt x="0" y="27"/>
                      </a:lnTo>
                      <a:lnTo>
                        <a:pt x="10" y="54"/>
                      </a:lnTo>
                      <a:lnTo>
                        <a:pt x="21" y="27"/>
                      </a:lnTo>
                      <a:lnTo>
                        <a:pt x="16" y="4"/>
                      </a:lnTo>
                      <a:close/>
                    </a:path>
                  </a:pathLst>
                </a:custGeom>
                <a:grpFill/>
                <a:ln w="9525">
                  <a:solidFill>
                    <a:schemeClr val="bg1"/>
                  </a:solidFill>
                  <a:round/>
                </a:ln>
              </p:spPr>
              <p:txBody>
                <a:bodyPr/>
                <a:lstStyle/>
                <a:p>
                  <a:pPr>
                    <a:defRPr/>
                  </a:pPr>
                  <a:endParaRPr lang="zh-CN" altLang="en-US">
                    <a:cs typeface="+mn-ea"/>
                    <a:sym typeface="+mn-lt"/>
                  </a:endParaRPr>
                </a:p>
              </p:txBody>
            </p:sp>
            <p:sp>
              <p:nvSpPr>
                <p:cNvPr id="48" name="Freeform 25"/>
                <p:cNvSpPr/>
                <p:nvPr/>
              </p:nvSpPr>
              <p:spPr bwMode="auto">
                <a:xfrm>
                  <a:off x="5943601" y="2165351"/>
                  <a:ext cx="192088" cy="161925"/>
                </a:xfrm>
                <a:custGeom>
                  <a:avLst/>
                  <a:gdLst>
                    <a:gd name="T0" fmla="*/ 133 w 133"/>
                    <a:gd name="T1" fmla="*/ 69 h 113"/>
                    <a:gd name="T2" fmla="*/ 87 w 133"/>
                    <a:gd name="T3" fmla="*/ 0 h 113"/>
                    <a:gd name="T4" fmla="*/ 53 w 133"/>
                    <a:gd name="T5" fmla="*/ 92 h 113"/>
                    <a:gd name="T6" fmla="*/ 20 w 133"/>
                    <a:gd name="T7" fmla="*/ 0 h 113"/>
                    <a:gd name="T8" fmla="*/ 0 w 133"/>
                    <a:gd name="T9" fmla="*/ 13 h 113"/>
                    <a:gd name="T10" fmla="*/ 22 w 133"/>
                    <a:gd name="T11" fmla="*/ 37 h 113"/>
                    <a:gd name="T12" fmla="*/ 43 w 133"/>
                    <a:gd name="T13" fmla="*/ 96 h 113"/>
                    <a:gd name="T14" fmla="*/ 43 w 133"/>
                    <a:gd name="T15" fmla="*/ 99 h 113"/>
                    <a:gd name="T16" fmla="*/ 43 w 133"/>
                    <a:gd name="T17" fmla="*/ 100 h 113"/>
                    <a:gd name="T18" fmla="*/ 43 w 133"/>
                    <a:gd name="T19" fmla="*/ 100 h 113"/>
                    <a:gd name="T20" fmla="*/ 40 w 133"/>
                    <a:gd name="T21" fmla="*/ 112 h 113"/>
                    <a:gd name="T22" fmla="*/ 53 w 133"/>
                    <a:gd name="T23" fmla="*/ 113 h 113"/>
                    <a:gd name="T24" fmla="*/ 133 w 133"/>
                    <a:gd name="T25" fmla="*/ 71 h 113"/>
                    <a:gd name="T26" fmla="*/ 133 w 133"/>
                    <a:gd name="T27" fmla="*/ 70 h 113"/>
                    <a:gd name="T28" fmla="*/ 133 w 133"/>
                    <a:gd name="T29" fmla="*/ 69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3" h="113">
                      <a:moveTo>
                        <a:pt x="133" y="69"/>
                      </a:moveTo>
                      <a:cubicBezTo>
                        <a:pt x="131" y="38"/>
                        <a:pt x="113" y="12"/>
                        <a:pt x="87" y="0"/>
                      </a:cubicBezTo>
                      <a:cubicBezTo>
                        <a:pt x="53" y="92"/>
                        <a:pt x="53" y="92"/>
                        <a:pt x="53" y="92"/>
                      </a:cubicBezTo>
                      <a:cubicBezTo>
                        <a:pt x="20" y="0"/>
                        <a:pt x="20" y="0"/>
                        <a:pt x="20" y="0"/>
                      </a:cubicBezTo>
                      <a:cubicBezTo>
                        <a:pt x="13" y="4"/>
                        <a:pt x="6" y="8"/>
                        <a:pt x="0" y="13"/>
                      </a:cubicBezTo>
                      <a:cubicBezTo>
                        <a:pt x="9" y="20"/>
                        <a:pt x="16" y="28"/>
                        <a:pt x="22" y="37"/>
                      </a:cubicBezTo>
                      <a:cubicBezTo>
                        <a:pt x="34" y="55"/>
                        <a:pt x="41" y="75"/>
                        <a:pt x="43" y="96"/>
                      </a:cubicBezTo>
                      <a:cubicBezTo>
                        <a:pt x="43" y="97"/>
                        <a:pt x="43" y="98"/>
                        <a:pt x="43" y="99"/>
                      </a:cubicBezTo>
                      <a:cubicBezTo>
                        <a:pt x="43" y="100"/>
                        <a:pt x="43" y="100"/>
                        <a:pt x="43" y="100"/>
                      </a:cubicBezTo>
                      <a:cubicBezTo>
                        <a:pt x="43" y="100"/>
                        <a:pt x="43" y="100"/>
                        <a:pt x="43" y="100"/>
                      </a:cubicBezTo>
                      <a:cubicBezTo>
                        <a:pt x="43" y="104"/>
                        <a:pt x="41" y="108"/>
                        <a:pt x="40" y="112"/>
                      </a:cubicBezTo>
                      <a:cubicBezTo>
                        <a:pt x="44" y="112"/>
                        <a:pt x="49" y="113"/>
                        <a:pt x="53" y="113"/>
                      </a:cubicBezTo>
                      <a:cubicBezTo>
                        <a:pt x="97" y="112"/>
                        <a:pt x="132" y="90"/>
                        <a:pt x="133" y="71"/>
                      </a:cubicBezTo>
                      <a:cubicBezTo>
                        <a:pt x="133" y="71"/>
                        <a:pt x="133" y="71"/>
                        <a:pt x="133" y="70"/>
                      </a:cubicBezTo>
                      <a:cubicBezTo>
                        <a:pt x="133" y="70"/>
                        <a:pt x="133" y="69"/>
                        <a:pt x="133" y="69"/>
                      </a:cubicBezTo>
                      <a:close/>
                    </a:path>
                  </a:pathLst>
                </a:custGeom>
                <a:grpFill/>
                <a:ln w="9525">
                  <a:solidFill>
                    <a:schemeClr val="bg1"/>
                  </a:solidFill>
                  <a:round/>
                </a:ln>
              </p:spPr>
              <p:txBody>
                <a:bodyPr/>
                <a:lstStyle/>
                <a:p>
                  <a:pPr>
                    <a:defRPr/>
                  </a:pPr>
                  <a:endParaRPr lang="zh-CN" altLang="en-US">
                    <a:cs typeface="+mn-ea"/>
                    <a:sym typeface="+mn-lt"/>
                  </a:endParaRPr>
                </a:p>
              </p:txBody>
            </p:sp>
          </p:grpSp>
        </p:grpSp>
      </p:grpSp>
      <p:grpSp>
        <p:nvGrpSpPr>
          <p:cNvPr id="71" name="组合 70"/>
          <p:cNvGrpSpPr/>
          <p:nvPr/>
        </p:nvGrpSpPr>
        <p:grpSpPr>
          <a:xfrm>
            <a:off x="3986501" y="1394277"/>
            <a:ext cx="686184" cy="694853"/>
            <a:chOff x="5237226" y="2582137"/>
            <a:chExt cx="914912" cy="926470"/>
          </a:xfrm>
          <a:solidFill>
            <a:schemeClr val="bg1"/>
          </a:solidFill>
        </p:grpSpPr>
        <p:sp>
          <p:nvSpPr>
            <p:cNvPr id="63" name="Freeform 1812"/>
            <p:cNvSpPr/>
            <p:nvPr/>
          </p:nvSpPr>
          <p:spPr>
            <a:xfrm>
              <a:off x="5237226" y="2582137"/>
              <a:ext cx="914912" cy="926470"/>
            </a:xfrm>
            <a:custGeom>
              <a:avLst/>
              <a:gdLst>
                <a:gd name="txL" fmla="*/ 0 w 91"/>
                <a:gd name="txT" fmla="*/ 0 h 92"/>
                <a:gd name="txR" fmla="*/ 91 w 91"/>
                <a:gd name="txB" fmla="*/ 92 h 92"/>
              </a:gdLst>
              <a:ahLst/>
              <a:cxnLst>
                <a:cxn ang="0">
                  <a:pos x="463341" y="150743"/>
                </a:cxn>
                <a:cxn ang="0">
                  <a:pos x="376464" y="463826"/>
                </a:cxn>
                <a:cxn ang="0">
                  <a:pos x="63709" y="382657"/>
                </a:cxn>
                <a:cxn ang="0">
                  <a:pos x="150586" y="63776"/>
                </a:cxn>
                <a:cxn ang="0">
                  <a:pos x="463341" y="150743"/>
                </a:cxn>
              </a:cxnLst>
              <a:rect l="txL" t="txT" r="txR" b="txB"/>
              <a:pathLst>
                <a:path w="91" h="92">
                  <a:moveTo>
                    <a:pt x="80" y="26"/>
                  </a:moveTo>
                  <a:cubicBezTo>
                    <a:pt x="91" y="45"/>
                    <a:pt x="84" y="69"/>
                    <a:pt x="65" y="80"/>
                  </a:cubicBezTo>
                  <a:cubicBezTo>
                    <a:pt x="46" y="92"/>
                    <a:pt x="22" y="85"/>
                    <a:pt x="11" y="66"/>
                  </a:cubicBezTo>
                  <a:cubicBezTo>
                    <a:pt x="0" y="47"/>
                    <a:pt x="6" y="22"/>
                    <a:pt x="26" y="11"/>
                  </a:cubicBezTo>
                  <a:cubicBezTo>
                    <a:pt x="45" y="0"/>
                    <a:pt x="69" y="7"/>
                    <a:pt x="80" y="26"/>
                  </a:cubicBezTo>
                </a:path>
              </a:pathLst>
            </a:custGeom>
            <a:solidFill>
              <a:srgbClr val="1B4367"/>
            </a:solidFill>
            <a:ln w="9525">
              <a:solidFill>
                <a:schemeClr val="bg1"/>
              </a:solidFill>
            </a:ln>
          </p:spPr>
          <p:txBody>
            <a:bodyPr/>
            <a:lstStyle/>
            <a:p>
              <a:endParaRPr lang="zh-CN" altLang="en-US">
                <a:cs typeface="+mn-ea"/>
                <a:sym typeface="+mn-lt"/>
              </a:endParaRPr>
            </a:p>
          </p:txBody>
        </p:sp>
        <p:grpSp>
          <p:nvGrpSpPr>
            <p:cNvPr id="27" name="组合 26"/>
            <p:cNvGrpSpPr/>
            <p:nvPr/>
          </p:nvGrpSpPr>
          <p:grpSpPr>
            <a:xfrm>
              <a:off x="5443702" y="2786512"/>
              <a:ext cx="478851" cy="491868"/>
              <a:chOff x="5572126" y="3962401"/>
              <a:chExt cx="525463" cy="539750"/>
            </a:xfrm>
            <a:grpFill/>
          </p:grpSpPr>
          <p:sp>
            <p:nvSpPr>
              <p:cNvPr id="33" name="Freeform 26"/>
              <p:cNvSpPr>
                <a:spLocks noEditPoints="1"/>
              </p:cNvSpPr>
              <p:nvPr/>
            </p:nvSpPr>
            <p:spPr bwMode="auto">
              <a:xfrm>
                <a:off x="5572126" y="4130676"/>
                <a:ext cx="371475" cy="371475"/>
              </a:xfrm>
              <a:custGeom>
                <a:avLst/>
                <a:gdLst>
                  <a:gd name="T0" fmla="*/ 258 w 258"/>
                  <a:gd name="T1" fmla="*/ 156 h 259"/>
                  <a:gd name="T2" fmla="*/ 258 w 258"/>
                  <a:gd name="T3" fmla="*/ 104 h 259"/>
                  <a:gd name="T4" fmla="*/ 239 w 258"/>
                  <a:gd name="T5" fmla="*/ 94 h 259"/>
                  <a:gd name="T6" fmla="*/ 232 w 258"/>
                  <a:gd name="T7" fmla="*/ 78 h 259"/>
                  <a:gd name="T8" fmla="*/ 239 w 258"/>
                  <a:gd name="T9" fmla="*/ 57 h 259"/>
                  <a:gd name="T10" fmla="*/ 202 w 258"/>
                  <a:gd name="T11" fmla="*/ 20 h 259"/>
                  <a:gd name="T12" fmla="*/ 180 w 258"/>
                  <a:gd name="T13" fmla="*/ 27 h 259"/>
                  <a:gd name="T14" fmla="*/ 166 w 258"/>
                  <a:gd name="T15" fmla="*/ 21 h 259"/>
                  <a:gd name="T16" fmla="*/ 155 w 258"/>
                  <a:gd name="T17" fmla="*/ 0 h 259"/>
                  <a:gd name="T18" fmla="*/ 103 w 258"/>
                  <a:gd name="T19" fmla="*/ 0 h 259"/>
                  <a:gd name="T20" fmla="*/ 92 w 258"/>
                  <a:gd name="T21" fmla="*/ 21 h 259"/>
                  <a:gd name="T22" fmla="*/ 79 w 258"/>
                  <a:gd name="T23" fmla="*/ 26 h 259"/>
                  <a:gd name="T24" fmla="*/ 56 w 258"/>
                  <a:gd name="T25" fmla="*/ 19 h 259"/>
                  <a:gd name="T26" fmla="*/ 19 w 258"/>
                  <a:gd name="T27" fmla="*/ 56 h 259"/>
                  <a:gd name="T28" fmla="*/ 26 w 258"/>
                  <a:gd name="T29" fmla="*/ 79 h 259"/>
                  <a:gd name="T30" fmla="*/ 21 w 258"/>
                  <a:gd name="T31" fmla="*/ 92 h 259"/>
                  <a:gd name="T32" fmla="*/ 0 w 258"/>
                  <a:gd name="T33" fmla="*/ 103 h 259"/>
                  <a:gd name="T34" fmla="*/ 0 w 258"/>
                  <a:gd name="T35" fmla="*/ 155 h 259"/>
                  <a:gd name="T36" fmla="*/ 20 w 258"/>
                  <a:gd name="T37" fmla="*/ 166 h 259"/>
                  <a:gd name="T38" fmla="*/ 26 w 258"/>
                  <a:gd name="T39" fmla="*/ 180 h 259"/>
                  <a:gd name="T40" fmla="*/ 19 w 258"/>
                  <a:gd name="T41" fmla="*/ 202 h 259"/>
                  <a:gd name="T42" fmla="*/ 56 w 258"/>
                  <a:gd name="T43" fmla="*/ 239 h 259"/>
                  <a:gd name="T44" fmla="*/ 76 w 258"/>
                  <a:gd name="T45" fmla="*/ 233 h 259"/>
                  <a:gd name="T46" fmla="*/ 92 w 258"/>
                  <a:gd name="T47" fmla="*/ 240 h 259"/>
                  <a:gd name="T48" fmla="*/ 102 w 258"/>
                  <a:gd name="T49" fmla="*/ 259 h 259"/>
                  <a:gd name="T50" fmla="*/ 155 w 258"/>
                  <a:gd name="T51" fmla="*/ 259 h 259"/>
                  <a:gd name="T52" fmla="*/ 164 w 258"/>
                  <a:gd name="T53" fmla="*/ 240 h 259"/>
                  <a:gd name="T54" fmla="*/ 181 w 258"/>
                  <a:gd name="T55" fmla="*/ 233 h 259"/>
                  <a:gd name="T56" fmla="*/ 201 w 258"/>
                  <a:gd name="T57" fmla="*/ 240 h 259"/>
                  <a:gd name="T58" fmla="*/ 238 w 258"/>
                  <a:gd name="T59" fmla="*/ 202 h 259"/>
                  <a:gd name="T60" fmla="*/ 232 w 258"/>
                  <a:gd name="T61" fmla="*/ 183 h 259"/>
                  <a:gd name="T62" fmla="*/ 239 w 258"/>
                  <a:gd name="T63" fmla="*/ 166 h 259"/>
                  <a:gd name="T64" fmla="*/ 258 w 258"/>
                  <a:gd name="T65" fmla="*/ 156 h 259"/>
                  <a:gd name="T66" fmla="*/ 187 w 258"/>
                  <a:gd name="T67" fmla="*/ 130 h 259"/>
                  <a:gd name="T68" fmla="*/ 130 w 258"/>
                  <a:gd name="T69" fmla="*/ 188 h 259"/>
                  <a:gd name="T70" fmla="*/ 71 w 258"/>
                  <a:gd name="T71" fmla="*/ 130 h 259"/>
                  <a:gd name="T72" fmla="*/ 130 w 258"/>
                  <a:gd name="T73" fmla="*/ 72 h 259"/>
                  <a:gd name="T74" fmla="*/ 187 w 258"/>
                  <a:gd name="T75" fmla="*/ 130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58" h="259">
                    <a:moveTo>
                      <a:pt x="258" y="156"/>
                    </a:moveTo>
                    <a:cubicBezTo>
                      <a:pt x="258" y="104"/>
                      <a:pt x="258" y="104"/>
                      <a:pt x="258" y="104"/>
                    </a:cubicBezTo>
                    <a:cubicBezTo>
                      <a:pt x="239" y="94"/>
                      <a:pt x="239" y="94"/>
                      <a:pt x="239" y="94"/>
                    </a:cubicBezTo>
                    <a:cubicBezTo>
                      <a:pt x="237" y="88"/>
                      <a:pt x="235" y="83"/>
                      <a:pt x="232" y="78"/>
                    </a:cubicBezTo>
                    <a:cubicBezTo>
                      <a:pt x="239" y="57"/>
                      <a:pt x="239" y="57"/>
                      <a:pt x="239" y="57"/>
                    </a:cubicBezTo>
                    <a:cubicBezTo>
                      <a:pt x="202" y="20"/>
                      <a:pt x="202" y="20"/>
                      <a:pt x="202" y="20"/>
                    </a:cubicBezTo>
                    <a:cubicBezTo>
                      <a:pt x="180" y="27"/>
                      <a:pt x="180" y="27"/>
                      <a:pt x="180" y="27"/>
                    </a:cubicBezTo>
                    <a:cubicBezTo>
                      <a:pt x="175" y="25"/>
                      <a:pt x="171" y="23"/>
                      <a:pt x="166" y="21"/>
                    </a:cubicBezTo>
                    <a:cubicBezTo>
                      <a:pt x="155" y="0"/>
                      <a:pt x="155" y="0"/>
                      <a:pt x="155" y="0"/>
                    </a:cubicBezTo>
                    <a:cubicBezTo>
                      <a:pt x="103" y="0"/>
                      <a:pt x="103" y="0"/>
                      <a:pt x="103" y="0"/>
                    </a:cubicBezTo>
                    <a:cubicBezTo>
                      <a:pt x="92" y="21"/>
                      <a:pt x="92" y="21"/>
                      <a:pt x="92" y="21"/>
                    </a:cubicBezTo>
                    <a:cubicBezTo>
                      <a:pt x="88" y="23"/>
                      <a:pt x="83" y="25"/>
                      <a:pt x="79" y="26"/>
                    </a:cubicBezTo>
                    <a:cubicBezTo>
                      <a:pt x="56" y="19"/>
                      <a:pt x="56" y="19"/>
                      <a:pt x="56" y="19"/>
                    </a:cubicBezTo>
                    <a:cubicBezTo>
                      <a:pt x="19" y="56"/>
                      <a:pt x="19" y="56"/>
                      <a:pt x="19" y="56"/>
                    </a:cubicBezTo>
                    <a:cubicBezTo>
                      <a:pt x="26" y="79"/>
                      <a:pt x="26" y="79"/>
                      <a:pt x="26" y="79"/>
                    </a:cubicBezTo>
                    <a:cubicBezTo>
                      <a:pt x="24" y="83"/>
                      <a:pt x="22" y="87"/>
                      <a:pt x="21" y="92"/>
                    </a:cubicBezTo>
                    <a:cubicBezTo>
                      <a:pt x="0" y="103"/>
                      <a:pt x="0" y="103"/>
                      <a:pt x="0" y="103"/>
                    </a:cubicBezTo>
                    <a:cubicBezTo>
                      <a:pt x="0" y="155"/>
                      <a:pt x="0" y="155"/>
                      <a:pt x="0" y="155"/>
                    </a:cubicBezTo>
                    <a:cubicBezTo>
                      <a:pt x="20" y="166"/>
                      <a:pt x="20" y="166"/>
                      <a:pt x="20" y="166"/>
                    </a:cubicBezTo>
                    <a:cubicBezTo>
                      <a:pt x="21" y="171"/>
                      <a:pt x="23" y="176"/>
                      <a:pt x="26" y="180"/>
                    </a:cubicBezTo>
                    <a:cubicBezTo>
                      <a:pt x="19" y="202"/>
                      <a:pt x="19" y="202"/>
                      <a:pt x="19" y="202"/>
                    </a:cubicBezTo>
                    <a:cubicBezTo>
                      <a:pt x="56" y="239"/>
                      <a:pt x="56" y="239"/>
                      <a:pt x="56" y="239"/>
                    </a:cubicBezTo>
                    <a:cubicBezTo>
                      <a:pt x="76" y="233"/>
                      <a:pt x="76" y="233"/>
                      <a:pt x="76" y="233"/>
                    </a:cubicBezTo>
                    <a:cubicBezTo>
                      <a:pt x="81" y="235"/>
                      <a:pt x="87" y="238"/>
                      <a:pt x="92" y="240"/>
                    </a:cubicBezTo>
                    <a:cubicBezTo>
                      <a:pt x="102" y="259"/>
                      <a:pt x="102" y="259"/>
                      <a:pt x="102" y="259"/>
                    </a:cubicBezTo>
                    <a:cubicBezTo>
                      <a:pt x="155" y="259"/>
                      <a:pt x="155" y="259"/>
                      <a:pt x="155" y="259"/>
                    </a:cubicBezTo>
                    <a:cubicBezTo>
                      <a:pt x="164" y="240"/>
                      <a:pt x="164" y="240"/>
                      <a:pt x="164" y="240"/>
                    </a:cubicBezTo>
                    <a:cubicBezTo>
                      <a:pt x="170" y="239"/>
                      <a:pt x="176" y="236"/>
                      <a:pt x="181" y="233"/>
                    </a:cubicBezTo>
                    <a:cubicBezTo>
                      <a:pt x="201" y="240"/>
                      <a:pt x="201" y="240"/>
                      <a:pt x="201" y="240"/>
                    </a:cubicBezTo>
                    <a:cubicBezTo>
                      <a:pt x="238" y="202"/>
                      <a:pt x="238" y="202"/>
                      <a:pt x="238" y="202"/>
                    </a:cubicBezTo>
                    <a:cubicBezTo>
                      <a:pt x="232" y="183"/>
                      <a:pt x="232" y="183"/>
                      <a:pt x="232" y="183"/>
                    </a:cubicBezTo>
                    <a:cubicBezTo>
                      <a:pt x="235" y="177"/>
                      <a:pt x="237" y="172"/>
                      <a:pt x="239" y="166"/>
                    </a:cubicBezTo>
                    <a:lnTo>
                      <a:pt x="258" y="156"/>
                    </a:lnTo>
                    <a:close/>
                    <a:moveTo>
                      <a:pt x="187" y="130"/>
                    </a:moveTo>
                    <a:cubicBezTo>
                      <a:pt x="187" y="162"/>
                      <a:pt x="161" y="188"/>
                      <a:pt x="130" y="188"/>
                    </a:cubicBezTo>
                    <a:cubicBezTo>
                      <a:pt x="97" y="188"/>
                      <a:pt x="71" y="162"/>
                      <a:pt x="71" y="130"/>
                    </a:cubicBezTo>
                    <a:cubicBezTo>
                      <a:pt x="71" y="98"/>
                      <a:pt x="97" y="72"/>
                      <a:pt x="130" y="72"/>
                    </a:cubicBezTo>
                    <a:cubicBezTo>
                      <a:pt x="161" y="72"/>
                      <a:pt x="187" y="98"/>
                      <a:pt x="187" y="130"/>
                    </a:cubicBezTo>
                    <a:close/>
                  </a:path>
                </a:pathLst>
              </a:cu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cs typeface="+mn-ea"/>
                  <a:sym typeface="+mn-lt"/>
                </a:endParaRPr>
              </a:p>
            </p:txBody>
          </p:sp>
          <p:sp>
            <p:nvSpPr>
              <p:cNvPr id="34" name="Freeform 27"/>
              <p:cNvSpPr>
                <a:spLocks noEditPoints="1"/>
              </p:cNvSpPr>
              <p:nvPr/>
            </p:nvSpPr>
            <p:spPr bwMode="auto">
              <a:xfrm>
                <a:off x="5818189" y="3962401"/>
                <a:ext cx="192088" cy="188913"/>
              </a:xfrm>
              <a:custGeom>
                <a:avLst/>
                <a:gdLst>
                  <a:gd name="T0" fmla="*/ 133 w 133"/>
                  <a:gd name="T1" fmla="*/ 80 h 132"/>
                  <a:gd name="T2" fmla="*/ 133 w 133"/>
                  <a:gd name="T3" fmla="*/ 53 h 132"/>
                  <a:gd name="T4" fmla="*/ 123 w 133"/>
                  <a:gd name="T5" fmla="*/ 48 h 132"/>
                  <a:gd name="T6" fmla="*/ 120 w 133"/>
                  <a:gd name="T7" fmla="*/ 40 h 132"/>
                  <a:gd name="T8" fmla="*/ 123 w 133"/>
                  <a:gd name="T9" fmla="*/ 29 h 132"/>
                  <a:gd name="T10" fmla="*/ 104 w 133"/>
                  <a:gd name="T11" fmla="*/ 9 h 132"/>
                  <a:gd name="T12" fmla="*/ 93 w 133"/>
                  <a:gd name="T13" fmla="*/ 13 h 132"/>
                  <a:gd name="T14" fmla="*/ 86 w 133"/>
                  <a:gd name="T15" fmla="*/ 10 h 132"/>
                  <a:gd name="T16" fmla="*/ 80 w 133"/>
                  <a:gd name="T17" fmla="*/ 0 h 132"/>
                  <a:gd name="T18" fmla="*/ 53 w 133"/>
                  <a:gd name="T19" fmla="*/ 0 h 132"/>
                  <a:gd name="T20" fmla="*/ 48 w 133"/>
                  <a:gd name="T21" fmla="*/ 10 h 132"/>
                  <a:gd name="T22" fmla="*/ 41 w 133"/>
                  <a:gd name="T23" fmla="*/ 13 h 132"/>
                  <a:gd name="T24" fmla="*/ 29 w 133"/>
                  <a:gd name="T25" fmla="*/ 9 h 132"/>
                  <a:gd name="T26" fmla="*/ 10 w 133"/>
                  <a:gd name="T27" fmla="*/ 28 h 132"/>
                  <a:gd name="T28" fmla="*/ 14 w 133"/>
                  <a:gd name="T29" fmla="*/ 40 h 132"/>
                  <a:gd name="T30" fmla="*/ 11 w 133"/>
                  <a:gd name="T31" fmla="*/ 47 h 132"/>
                  <a:gd name="T32" fmla="*/ 0 w 133"/>
                  <a:gd name="T33" fmla="*/ 52 h 132"/>
                  <a:gd name="T34" fmla="*/ 0 w 133"/>
                  <a:gd name="T35" fmla="*/ 79 h 132"/>
                  <a:gd name="T36" fmla="*/ 11 w 133"/>
                  <a:gd name="T37" fmla="*/ 85 h 132"/>
                  <a:gd name="T38" fmla="*/ 13 w 133"/>
                  <a:gd name="T39" fmla="*/ 92 h 132"/>
                  <a:gd name="T40" fmla="*/ 10 w 133"/>
                  <a:gd name="T41" fmla="*/ 103 h 132"/>
                  <a:gd name="T42" fmla="*/ 29 w 133"/>
                  <a:gd name="T43" fmla="*/ 122 h 132"/>
                  <a:gd name="T44" fmla="*/ 39 w 133"/>
                  <a:gd name="T45" fmla="*/ 119 h 132"/>
                  <a:gd name="T46" fmla="*/ 48 w 133"/>
                  <a:gd name="T47" fmla="*/ 122 h 132"/>
                  <a:gd name="T48" fmla="*/ 53 w 133"/>
                  <a:gd name="T49" fmla="*/ 132 h 132"/>
                  <a:gd name="T50" fmla="*/ 80 w 133"/>
                  <a:gd name="T51" fmla="*/ 132 h 132"/>
                  <a:gd name="T52" fmla="*/ 85 w 133"/>
                  <a:gd name="T53" fmla="*/ 123 h 132"/>
                  <a:gd name="T54" fmla="*/ 94 w 133"/>
                  <a:gd name="T55" fmla="*/ 119 h 132"/>
                  <a:gd name="T56" fmla="*/ 104 w 133"/>
                  <a:gd name="T57" fmla="*/ 122 h 132"/>
                  <a:gd name="T58" fmla="*/ 123 w 133"/>
                  <a:gd name="T59" fmla="*/ 103 h 132"/>
                  <a:gd name="T60" fmla="*/ 120 w 133"/>
                  <a:gd name="T61" fmla="*/ 93 h 132"/>
                  <a:gd name="T62" fmla="*/ 123 w 133"/>
                  <a:gd name="T63" fmla="*/ 85 h 132"/>
                  <a:gd name="T64" fmla="*/ 133 w 133"/>
                  <a:gd name="T65" fmla="*/ 80 h 132"/>
                  <a:gd name="T66" fmla="*/ 97 w 133"/>
                  <a:gd name="T67" fmla="*/ 66 h 132"/>
                  <a:gd name="T68" fmla="*/ 67 w 133"/>
                  <a:gd name="T69" fmla="*/ 96 h 132"/>
                  <a:gd name="T70" fmla="*/ 37 w 133"/>
                  <a:gd name="T71" fmla="*/ 66 h 132"/>
                  <a:gd name="T72" fmla="*/ 67 w 133"/>
                  <a:gd name="T73" fmla="*/ 37 h 132"/>
                  <a:gd name="T74" fmla="*/ 97 w 133"/>
                  <a:gd name="T75" fmla="*/ 66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33" h="132">
                    <a:moveTo>
                      <a:pt x="133" y="80"/>
                    </a:moveTo>
                    <a:cubicBezTo>
                      <a:pt x="133" y="53"/>
                      <a:pt x="133" y="53"/>
                      <a:pt x="133" y="53"/>
                    </a:cubicBezTo>
                    <a:cubicBezTo>
                      <a:pt x="123" y="48"/>
                      <a:pt x="123" y="48"/>
                      <a:pt x="123" y="48"/>
                    </a:cubicBezTo>
                    <a:cubicBezTo>
                      <a:pt x="122" y="45"/>
                      <a:pt x="121" y="42"/>
                      <a:pt x="120" y="40"/>
                    </a:cubicBezTo>
                    <a:cubicBezTo>
                      <a:pt x="123" y="29"/>
                      <a:pt x="123" y="29"/>
                      <a:pt x="123" y="29"/>
                    </a:cubicBezTo>
                    <a:cubicBezTo>
                      <a:pt x="104" y="9"/>
                      <a:pt x="104" y="9"/>
                      <a:pt x="104" y="9"/>
                    </a:cubicBezTo>
                    <a:cubicBezTo>
                      <a:pt x="93" y="13"/>
                      <a:pt x="93" y="13"/>
                      <a:pt x="93" y="13"/>
                    </a:cubicBezTo>
                    <a:cubicBezTo>
                      <a:pt x="91" y="12"/>
                      <a:pt x="88" y="11"/>
                      <a:pt x="86" y="10"/>
                    </a:cubicBezTo>
                    <a:cubicBezTo>
                      <a:pt x="80" y="0"/>
                      <a:pt x="80" y="0"/>
                      <a:pt x="80" y="0"/>
                    </a:cubicBezTo>
                    <a:cubicBezTo>
                      <a:pt x="53" y="0"/>
                      <a:pt x="53" y="0"/>
                      <a:pt x="53" y="0"/>
                    </a:cubicBezTo>
                    <a:cubicBezTo>
                      <a:pt x="48" y="10"/>
                      <a:pt x="48" y="10"/>
                      <a:pt x="48" y="10"/>
                    </a:cubicBezTo>
                    <a:cubicBezTo>
                      <a:pt x="46" y="11"/>
                      <a:pt x="43" y="12"/>
                      <a:pt x="41" y="13"/>
                    </a:cubicBezTo>
                    <a:cubicBezTo>
                      <a:pt x="29" y="9"/>
                      <a:pt x="29" y="9"/>
                      <a:pt x="29" y="9"/>
                    </a:cubicBezTo>
                    <a:cubicBezTo>
                      <a:pt x="10" y="28"/>
                      <a:pt x="10" y="28"/>
                      <a:pt x="10" y="28"/>
                    </a:cubicBezTo>
                    <a:cubicBezTo>
                      <a:pt x="14" y="40"/>
                      <a:pt x="14" y="40"/>
                      <a:pt x="14" y="40"/>
                    </a:cubicBezTo>
                    <a:cubicBezTo>
                      <a:pt x="13" y="42"/>
                      <a:pt x="12" y="44"/>
                      <a:pt x="11" y="47"/>
                    </a:cubicBezTo>
                    <a:cubicBezTo>
                      <a:pt x="0" y="52"/>
                      <a:pt x="0" y="52"/>
                      <a:pt x="0" y="52"/>
                    </a:cubicBezTo>
                    <a:cubicBezTo>
                      <a:pt x="0" y="79"/>
                      <a:pt x="0" y="79"/>
                      <a:pt x="0" y="79"/>
                    </a:cubicBezTo>
                    <a:cubicBezTo>
                      <a:pt x="11" y="85"/>
                      <a:pt x="11" y="85"/>
                      <a:pt x="11" y="85"/>
                    </a:cubicBezTo>
                    <a:cubicBezTo>
                      <a:pt x="11" y="87"/>
                      <a:pt x="12" y="90"/>
                      <a:pt x="13" y="92"/>
                    </a:cubicBezTo>
                    <a:cubicBezTo>
                      <a:pt x="10" y="103"/>
                      <a:pt x="10" y="103"/>
                      <a:pt x="10" y="103"/>
                    </a:cubicBezTo>
                    <a:cubicBezTo>
                      <a:pt x="29" y="122"/>
                      <a:pt x="29" y="122"/>
                      <a:pt x="29" y="122"/>
                    </a:cubicBezTo>
                    <a:cubicBezTo>
                      <a:pt x="39" y="119"/>
                      <a:pt x="39" y="119"/>
                      <a:pt x="39" y="119"/>
                    </a:cubicBezTo>
                    <a:cubicBezTo>
                      <a:pt x="42" y="120"/>
                      <a:pt x="45" y="122"/>
                      <a:pt x="48" y="122"/>
                    </a:cubicBezTo>
                    <a:cubicBezTo>
                      <a:pt x="53" y="132"/>
                      <a:pt x="53" y="132"/>
                      <a:pt x="53" y="132"/>
                    </a:cubicBezTo>
                    <a:cubicBezTo>
                      <a:pt x="80" y="132"/>
                      <a:pt x="80" y="132"/>
                      <a:pt x="80" y="132"/>
                    </a:cubicBezTo>
                    <a:cubicBezTo>
                      <a:pt x="85" y="123"/>
                      <a:pt x="85" y="123"/>
                      <a:pt x="85" y="123"/>
                    </a:cubicBezTo>
                    <a:cubicBezTo>
                      <a:pt x="88" y="122"/>
                      <a:pt x="91" y="121"/>
                      <a:pt x="94" y="119"/>
                    </a:cubicBezTo>
                    <a:cubicBezTo>
                      <a:pt x="104" y="122"/>
                      <a:pt x="104" y="122"/>
                      <a:pt x="104" y="122"/>
                    </a:cubicBezTo>
                    <a:cubicBezTo>
                      <a:pt x="123" y="103"/>
                      <a:pt x="123" y="103"/>
                      <a:pt x="123" y="103"/>
                    </a:cubicBezTo>
                    <a:cubicBezTo>
                      <a:pt x="120" y="93"/>
                      <a:pt x="120" y="93"/>
                      <a:pt x="120" y="93"/>
                    </a:cubicBezTo>
                    <a:cubicBezTo>
                      <a:pt x="121" y="90"/>
                      <a:pt x="122" y="88"/>
                      <a:pt x="123" y="85"/>
                    </a:cubicBezTo>
                    <a:lnTo>
                      <a:pt x="133" y="80"/>
                    </a:lnTo>
                    <a:close/>
                    <a:moveTo>
                      <a:pt x="97" y="66"/>
                    </a:moveTo>
                    <a:cubicBezTo>
                      <a:pt x="97" y="83"/>
                      <a:pt x="83" y="96"/>
                      <a:pt x="67" y="96"/>
                    </a:cubicBezTo>
                    <a:cubicBezTo>
                      <a:pt x="50" y="96"/>
                      <a:pt x="37" y="83"/>
                      <a:pt x="37" y="66"/>
                    </a:cubicBezTo>
                    <a:cubicBezTo>
                      <a:pt x="37" y="50"/>
                      <a:pt x="50" y="37"/>
                      <a:pt x="67" y="37"/>
                    </a:cubicBezTo>
                    <a:cubicBezTo>
                      <a:pt x="83" y="37"/>
                      <a:pt x="97" y="50"/>
                      <a:pt x="97" y="66"/>
                    </a:cubicBezTo>
                    <a:close/>
                  </a:path>
                </a:pathLst>
              </a:cu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cs typeface="+mn-ea"/>
                  <a:sym typeface="+mn-lt"/>
                </a:endParaRPr>
              </a:p>
            </p:txBody>
          </p:sp>
          <p:sp>
            <p:nvSpPr>
              <p:cNvPr id="35" name="Freeform 28"/>
              <p:cNvSpPr>
                <a:spLocks noEditPoints="1"/>
              </p:cNvSpPr>
              <p:nvPr/>
            </p:nvSpPr>
            <p:spPr bwMode="auto">
              <a:xfrm>
                <a:off x="5942014" y="4138613"/>
                <a:ext cx="155575" cy="155575"/>
              </a:xfrm>
              <a:custGeom>
                <a:avLst/>
                <a:gdLst>
                  <a:gd name="T0" fmla="*/ 108 w 108"/>
                  <a:gd name="T1" fmla="*/ 65 h 108"/>
                  <a:gd name="T2" fmla="*/ 108 w 108"/>
                  <a:gd name="T3" fmla="*/ 43 h 108"/>
                  <a:gd name="T4" fmla="*/ 100 w 108"/>
                  <a:gd name="T5" fmla="*/ 39 h 108"/>
                  <a:gd name="T6" fmla="*/ 97 w 108"/>
                  <a:gd name="T7" fmla="*/ 33 h 108"/>
                  <a:gd name="T8" fmla="*/ 100 w 108"/>
                  <a:gd name="T9" fmla="*/ 24 h 108"/>
                  <a:gd name="T10" fmla="*/ 84 w 108"/>
                  <a:gd name="T11" fmla="*/ 8 h 108"/>
                  <a:gd name="T12" fmla="*/ 75 w 108"/>
                  <a:gd name="T13" fmla="*/ 11 h 108"/>
                  <a:gd name="T14" fmla="*/ 70 w 108"/>
                  <a:gd name="T15" fmla="*/ 9 h 108"/>
                  <a:gd name="T16" fmla="*/ 65 w 108"/>
                  <a:gd name="T17" fmla="*/ 0 h 108"/>
                  <a:gd name="T18" fmla="*/ 43 w 108"/>
                  <a:gd name="T19" fmla="*/ 0 h 108"/>
                  <a:gd name="T20" fmla="*/ 39 w 108"/>
                  <a:gd name="T21" fmla="*/ 9 h 108"/>
                  <a:gd name="T22" fmla="*/ 33 w 108"/>
                  <a:gd name="T23" fmla="*/ 11 h 108"/>
                  <a:gd name="T24" fmla="*/ 24 w 108"/>
                  <a:gd name="T25" fmla="*/ 8 h 108"/>
                  <a:gd name="T26" fmla="*/ 8 w 108"/>
                  <a:gd name="T27" fmla="*/ 24 h 108"/>
                  <a:gd name="T28" fmla="*/ 11 w 108"/>
                  <a:gd name="T29" fmla="*/ 33 h 108"/>
                  <a:gd name="T30" fmla="*/ 9 w 108"/>
                  <a:gd name="T31" fmla="*/ 39 h 108"/>
                  <a:gd name="T32" fmla="*/ 0 w 108"/>
                  <a:gd name="T33" fmla="*/ 43 h 108"/>
                  <a:gd name="T34" fmla="*/ 0 w 108"/>
                  <a:gd name="T35" fmla="*/ 65 h 108"/>
                  <a:gd name="T36" fmla="*/ 8 w 108"/>
                  <a:gd name="T37" fmla="*/ 69 h 108"/>
                  <a:gd name="T38" fmla="*/ 11 w 108"/>
                  <a:gd name="T39" fmla="*/ 76 h 108"/>
                  <a:gd name="T40" fmla="*/ 8 w 108"/>
                  <a:gd name="T41" fmla="*/ 84 h 108"/>
                  <a:gd name="T42" fmla="*/ 23 w 108"/>
                  <a:gd name="T43" fmla="*/ 100 h 108"/>
                  <a:gd name="T44" fmla="*/ 32 w 108"/>
                  <a:gd name="T45" fmla="*/ 97 h 108"/>
                  <a:gd name="T46" fmla="*/ 39 w 108"/>
                  <a:gd name="T47" fmla="*/ 100 h 108"/>
                  <a:gd name="T48" fmla="*/ 43 w 108"/>
                  <a:gd name="T49" fmla="*/ 108 h 108"/>
                  <a:gd name="T50" fmla="*/ 65 w 108"/>
                  <a:gd name="T51" fmla="*/ 108 h 108"/>
                  <a:gd name="T52" fmla="*/ 69 w 108"/>
                  <a:gd name="T53" fmla="*/ 100 h 108"/>
                  <a:gd name="T54" fmla="*/ 76 w 108"/>
                  <a:gd name="T55" fmla="*/ 98 h 108"/>
                  <a:gd name="T56" fmla="*/ 84 w 108"/>
                  <a:gd name="T57" fmla="*/ 100 h 108"/>
                  <a:gd name="T58" fmla="*/ 100 w 108"/>
                  <a:gd name="T59" fmla="*/ 85 h 108"/>
                  <a:gd name="T60" fmla="*/ 97 w 108"/>
                  <a:gd name="T61" fmla="*/ 76 h 108"/>
                  <a:gd name="T62" fmla="*/ 100 w 108"/>
                  <a:gd name="T63" fmla="*/ 69 h 108"/>
                  <a:gd name="T64" fmla="*/ 108 w 108"/>
                  <a:gd name="T65" fmla="*/ 65 h 108"/>
                  <a:gd name="T66" fmla="*/ 78 w 108"/>
                  <a:gd name="T67" fmla="*/ 54 h 108"/>
                  <a:gd name="T68" fmla="*/ 54 w 108"/>
                  <a:gd name="T69" fmla="*/ 79 h 108"/>
                  <a:gd name="T70" fmla="*/ 30 w 108"/>
                  <a:gd name="T71" fmla="*/ 54 h 108"/>
                  <a:gd name="T72" fmla="*/ 54 w 108"/>
                  <a:gd name="T73" fmla="*/ 30 h 108"/>
                  <a:gd name="T74" fmla="*/ 78 w 108"/>
                  <a:gd name="T75" fmla="*/ 54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08" h="108">
                    <a:moveTo>
                      <a:pt x="108" y="65"/>
                    </a:moveTo>
                    <a:cubicBezTo>
                      <a:pt x="108" y="43"/>
                      <a:pt x="108" y="43"/>
                      <a:pt x="108" y="43"/>
                    </a:cubicBezTo>
                    <a:cubicBezTo>
                      <a:pt x="100" y="39"/>
                      <a:pt x="100" y="39"/>
                      <a:pt x="100" y="39"/>
                    </a:cubicBezTo>
                    <a:cubicBezTo>
                      <a:pt x="99" y="37"/>
                      <a:pt x="98" y="35"/>
                      <a:pt x="97" y="33"/>
                    </a:cubicBezTo>
                    <a:cubicBezTo>
                      <a:pt x="100" y="24"/>
                      <a:pt x="100" y="24"/>
                      <a:pt x="100" y="24"/>
                    </a:cubicBezTo>
                    <a:cubicBezTo>
                      <a:pt x="84" y="8"/>
                      <a:pt x="84" y="8"/>
                      <a:pt x="84" y="8"/>
                    </a:cubicBezTo>
                    <a:cubicBezTo>
                      <a:pt x="75" y="11"/>
                      <a:pt x="75" y="11"/>
                      <a:pt x="75" y="11"/>
                    </a:cubicBezTo>
                    <a:cubicBezTo>
                      <a:pt x="73" y="10"/>
                      <a:pt x="72" y="10"/>
                      <a:pt x="70" y="9"/>
                    </a:cubicBezTo>
                    <a:cubicBezTo>
                      <a:pt x="65" y="0"/>
                      <a:pt x="65" y="0"/>
                      <a:pt x="65" y="0"/>
                    </a:cubicBezTo>
                    <a:cubicBezTo>
                      <a:pt x="43" y="0"/>
                      <a:pt x="43" y="0"/>
                      <a:pt x="43" y="0"/>
                    </a:cubicBezTo>
                    <a:cubicBezTo>
                      <a:pt x="39" y="9"/>
                      <a:pt x="39" y="9"/>
                      <a:pt x="39" y="9"/>
                    </a:cubicBezTo>
                    <a:cubicBezTo>
                      <a:pt x="37" y="10"/>
                      <a:pt x="35" y="10"/>
                      <a:pt x="33" y="11"/>
                    </a:cubicBezTo>
                    <a:cubicBezTo>
                      <a:pt x="24" y="8"/>
                      <a:pt x="24" y="8"/>
                      <a:pt x="24" y="8"/>
                    </a:cubicBezTo>
                    <a:cubicBezTo>
                      <a:pt x="8" y="24"/>
                      <a:pt x="8" y="24"/>
                      <a:pt x="8" y="24"/>
                    </a:cubicBezTo>
                    <a:cubicBezTo>
                      <a:pt x="11" y="33"/>
                      <a:pt x="11" y="33"/>
                      <a:pt x="11" y="33"/>
                    </a:cubicBezTo>
                    <a:cubicBezTo>
                      <a:pt x="10" y="35"/>
                      <a:pt x="9" y="37"/>
                      <a:pt x="9" y="39"/>
                    </a:cubicBezTo>
                    <a:cubicBezTo>
                      <a:pt x="0" y="43"/>
                      <a:pt x="0" y="43"/>
                      <a:pt x="0" y="43"/>
                    </a:cubicBezTo>
                    <a:cubicBezTo>
                      <a:pt x="0" y="65"/>
                      <a:pt x="0" y="65"/>
                      <a:pt x="0" y="65"/>
                    </a:cubicBezTo>
                    <a:cubicBezTo>
                      <a:pt x="8" y="69"/>
                      <a:pt x="8" y="69"/>
                      <a:pt x="8" y="69"/>
                    </a:cubicBezTo>
                    <a:cubicBezTo>
                      <a:pt x="9" y="71"/>
                      <a:pt x="10" y="73"/>
                      <a:pt x="11" y="76"/>
                    </a:cubicBezTo>
                    <a:cubicBezTo>
                      <a:pt x="8" y="84"/>
                      <a:pt x="8" y="84"/>
                      <a:pt x="8" y="84"/>
                    </a:cubicBezTo>
                    <a:cubicBezTo>
                      <a:pt x="23" y="100"/>
                      <a:pt x="23" y="100"/>
                      <a:pt x="23" y="100"/>
                    </a:cubicBezTo>
                    <a:cubicBezTo>
                      <a:pt x="32" y="97"/>
                      <a:pt x="32" y="97"/>
                      <a:pt x="32" y="97"/>
                    </a:cubicBezTo>
                    <a:cubicBezTo>
                      <a:pt x="34" y="98"/>
                      <a:pt x="36" y="99"/>
                      <a:pt x="39" y="100"/>
                    </a:cubicBezTo>
                    <a:cubicBezTo>
                      <a:pt x="43" y="108"/>
                      <a:pt x="43" y="108"/>
                      <a:pt x="43" y="108"/>
                    </a:cubicBezTo>
                    <a:cubicBezTo>
                      <a:pt x="65" y="108"/>
                      <a:pt x="65" y="108"/>
                      <a:pt x="65" y="108"/>
                    </a:cubicBezTo>
                    <a:cubicBezTo>
                      <a:pt x="69" y="100"/>
                      <a:pt x="69" y="100"/>
                      <a:pt x="69" y="100"/>
                    </a:cubicBezTo>
                    <a:cubicBezTo>
                      <a:pt x="71" y="100"/>
                      <a:pt x="74" y="99"/>
                      <a:pt x="76" y="98"/>
                    </a:cubicBezTo>
                    <a:cubicBezTo>
                      <a:pt x="84" y="100"/>
                      <a:pt x="84" y="100"/>
                      <a:pt x="84" y="100"/>
                    </a:cubicBezTo>
                    <a:cubicBezTo>
                      <a:pt x="100" y="85"/>
                      <a:pt x="100" y="85"/>
                      <a:pt x="100" y="85"/>
                    </a:cubicBezTo>
                    <a:cubicBezTo>
                      <a:pt x="97" y="76"/>
                      <a:pt x="97" y="76"/>
                      <a:pt x="97" y="76"/>
                    </a:cubicBezTo>
                    <a:cubicBezTo>
                      <a:pt x="98" y="74"/>
                      <a:pt x="99" y="72"/>
                      <a:pt x="100" y="69"/>
                    </a:cubicBezTo>
                    <a:lnTo>
                      <a:pt x="108" y="65"/>
                    </a:lnTo>
                    <a:close/>
                    <a:moveTo>
                      <a:pt x="78" y="54"/>
                    </a:moveTo>
                    <a:cubicBezTo>
                      <a:pt x="78" y="68"/>
                      <a:pt x="68" y="79"/>
                      <a:pt x="54" y="79"/>
                    </a:cubicBezTo>
                    <a:cubicBezTo>
                      <a:pt x="41" y="79"/>
                      <a:pt x="30" y="68"/>
                      <a:pt x="30" y="54"/>
                    </a:cubicBezTo>
                    <a:cubicBezTo>
                      <a:pt x="30" y="41"/>
                      <a:pt x="41" y="30"/>
                      <a:pt x="54" y="30"/>
                    </a:cubicBezTo>
                    <a:cubicBezTo>
                      <a:pt x="68" y="30"/>
                      <a:pt x="78" y="41"/>
                      <a:pt x="78" y="54"/>
                    </a:cubicBezTo>
                    <a:close/>
                  </a:path>
                </a:pathLst>
              </a:cu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cs typeface="+mn-ea"/>
                  <a:sym typeface="+mn-lt"/>
                </a:endParaRPr>
              </a:p>
            </p:txBody>
          </p:sp>
        </p:grpSp>
      </p:grpSp>
      <p:grpSp>
        <p:nvGrpSpPr>
          <p:cNvPr id="72" name="组合 71"/>
          <p:cNvGrpSpPr/>
          <p:nvPr/>
        </p:nvGrpSpPr>
        <p:grpSpPr>
          <a:xfrm>
            <a:off x="4001420" y="2354636"/>
            <a:ext cx="686184" cy="694853"/>
            <a:chOff x="5237224" y="3759845"/>
            <a:chExt cx="914912" cy="926470"/>
          </a:xfrm>
          <a:solidFill>
            <a:schemeClr val="bg1"/>
          </a:solidFill>
        </p:grpSpPr>
        <p:sp>
          <p:nvSpPr>
            <p:cNvPr id="64" name="Freeform 1812"/>
            <p:cNvSpPr/>
            <p:nvPr/>
          </p:nvSpPr>
          <p:spPr>
            <a:xfrm>
              <a:off x="5237224" y="3759845"/>
              <a:ext cx="914912" cy="926470"/>
            </a:xfrm>
            <a:custGeom>
              <a:avLst/>
              <a:gdLst>
                <a:gd name="txL" fmla="*/ 0 w 91"/>
                <a:gd name="txT" fmla="*/ 0 h 92"/>
                <a:gd name="txR" fmla="*/ 91 w 91"/>
                <a:gd name="txB" fmla="*/ 92 h 92"/>
              </a:gdLst>
              <a:ahLst/>
              <a:cxnLst>
                <a:cxn ang="0">
                  <a:pos x="463341" y="150743"/>
                </a:cxn>
                <a:cxn ang="0">
                  <a:pos x="376464" y="463826"/>
                </a:cxn>
                <a:cxn ang="0">
                  <a:pos x="63709" y="382657"/>
                </a:cxn>
                <a:cxn ang="0">
                  <a:pos x="150586" y="63776"/>
                </a:cxn>
                <a:cxn ang="0">
                  <a:pos x="463341" y="150743"/>
                </a:cxn>
              </a:cxnLst>
              <a:rect l="txL" t="txT" r="txR" b="txB"/>
              <a:pathLst>
                <a:path w="91" h="92">
                  <a:moveTo>
                    <a:pt x="80" y="26"/>
                  </a:moveTo>
                  <a:cubicBezTo>
                    <a:pt x="91" y="45"/>
                    <a:pt x="84" y="69"/>
                    <a:pt x="65" y="80"/>
                  </a:cubicBezTo>
                  <a:cubicBezTo>
                    <a:pt x="46" y="92"/>
                    <a:pt x="22" y="85"/>
                    <a:pt x="11" y="66"/>
                  </a:cubicBezTo>
                  <a:cubicBezTo>
                    <a:pt x="0" y="47"/>
                    <a:pt x="6" y="22"/>
                    <a:pt x="26" y="11"/>
                  </a:cubicBezTo>
                  <a:cubicBezTo>
                    <a:pt x="45" y="0"/>
                    <a:pt x="69" y="7"/>
                    <a:pt x="80" y="26"/>
                  </a:cubicBezTo>
                </a:path>
              </a:pathLst>
            </a:custGeom>
            <a:solidFill>
              <a:srgbClr val="1B4367"/>
            </a:solidFill>
            <a:ln w="9525">
              <a:solidFill>
                <a:schemeClr val="bg1"/>
              </a:solidFill>
            </a:ln>
          </p:spPr>
          <p:txBody>
            <a:bodyPr/>
            <a:lstStyle/>
            <a:p>
              <a:endParaRPr lang="zh-CN" altLang="en-US">
                <a:cs typeface="+mn-ea"/>
                <a:sym typeface="+mn-lt"/>
              </a:endParaRPr>
            </a:p>
          </p:txBody>
        </p:sp>
        <p:grpSp>
          <p:nvGrpSpPr>
            <p:cNvPr id="28" name="组合 27"/>
            <p:cNvGrpSpPr/>
            <p:nvPr/>
          </p:nvGrpSpPr>
          <p:grpSpPr>
            <a:xfrm>
              <a:off x="5539564" y="3983837"/>
              <a:ext cx="345128" cy="512366"/>
              <a:chOff x="5649914" y="2946401"/>
              <a:chExt cx="360363" cy="534987"/>
            </a:xfrm>
            <a:grpFill/>
          </p:grpSpPr>
          <p:sp>
            <p:nvSpPr>
              <p:cNvPr id="29" name="Freeform 29"/>
              <p:cNvSpPr/>
              <p:nvPr/>
            </p:nvSpPr>
            <p:spPr bwMode="auto">
              <a:xfrm>
                <a:off x="5776914" y="3424238"/>
                <a:ext cx="106363" cy="57150"/>
              </a:xfrm>
              <a:custGeom>
                <a:avLst/>
                <a:gdLst>
                  <a:gd name="T0" fmla="*/ 0 w 74"/>
                  <a:gd name="T1" fmla="*/ 0 h 40"/>
                  <a:gd name="T2" fmla="*/ 37 w 74"/>
                  <a:gd name="T3" fmla="*/ 40 h 40"/>
                  <a:gd name="T4" fmla="*/ 74 w 74"/>
                  <a:gd name="T5" fmla="*/ 0 h 40"/>
                  <a:gd name="T6" fmla="*/ 0 w 74"/>
                  <a:gd name="T7" fmla="*/ 0 h 40"/>
                </a:gdLst>
                <a:ahLst/>
                <a:cxnLst>
                  <a:cxn ang="0">
                    <a:pos x="T0" y="T1"/>
                  </a:cxn>
                  <a:cxn ang="0">
                    <a:pos x="T2" y="T3"/>
                  </a:cxn>
                  <a:cxn ang="0">
                    <a:pos x="T4" y="T5"/>
                  </a:cxn>
                  <a:cxn ang="0">
                    <a:pos x="T6" y="T7"/>
                  </a:cxn>
                </a:cxnLst>
                <a:rect l="0" t="0" r="r" b="b"/>
                <a:pathLst>
                  <a:path w="74" h="40">
                    <a:moveTo>
                      <a:pt x="0" y="0"/>
                    </a:moveTo>
                    <a:cubicBezTo>
                      <a:pt x="0" y="22"/>
                      <a:pt x="17" y="40"/>
                      <a:pt x="37" y="40"/>
                    </a:cubicBezTo>
                    <a:cubicBezTo>
                      <a:pt x="57" y="40"/>
                      <a:pt x="74" y="22"/>
                      <a:pt x="74" y="0"/>
                    </a:cubicBezTo>
                    <a:lnTo>
                      <a:pt x="0" y="0"/>
                    </a:lnTo>
                    <a:close/>
                  </a:path>
                </a:pathLst>
              </a:custGeom>
              <a:grpFill/>
              <a:ln w="9525">
                <a:solidFill>
                  <a:schemeClr val="bg1"/>
                </a:solidFill>
                <a:round/>
              </a:ln>
            </p:spPr>
            <p:txBody>
              <a:bodyPr/>
              <a:lstStyle/>
              <a:p>
                <a:pPr>
                  <a:defRPr/>
                </a:pPr>
                <a:endParaRPr lang="zh-CN" altLang="en-US">
                  <a:cs typeface="+mn-ea"/>
                  <a:sym typeface="+mn-lt"/>
                </a:endParaRPr>
              </a:p>
            </p:txBody>
          </p:sp>
          <p:sp>
            <p:nvSpPr>
              <p:cNvPr id="30" name="Freeform 30"/>
              <p:cNvSpPr/>
              <p:nvPr/>
            </p:nvSpPr>
            <p:spPr bwMode="auto">
              <a:xfrm>
                <a:off x="5753101" y="3346451"/>
                <a:ext cx="153988" cy="26988"/>
              </a:xfrm>
              <a:custGeom>
                <a:avLst/>
                <a:gdLst>
                  <a:gd name="T0" fmla="*/ 106 w 106"/>
                  <a:gd name="T1" fmla="*/ 11 h 19"/>
                  <a:gd name="T2" fmla="*/ 98 w 106"/>
                  <a:gd name="T3" fmla="*/ 19 h 19"/>
                  <a:gd name="T4" fmla="*/ 8 w 106"/>
                  <a:gd name="T5" fmla="*/ 19 h 19"/>
                  <a:gd name="T6" fmla="*/ 0 w 106"/>
                  <a:gd name="T7" fmla="*/ 11 h 19"/>
                  <a:gd name="T8" fmla="*/ 0 w 106"/>
                  <a:gd name="T9" fmla="*/ 8 h 19"/>
                  <a:gd name="T10" fmla="*/ 8 w 106"/>
                  <a:gd name="T11" fmla="*/ 0 h 19"/>
                  <a:gd name="T12" fmla="*/ 98 w 106"/>
                  <a:gd name="T13" fmla="*/ 0 h 19"/>
                  <a:gd name="T14" fmla="*/ 106 w 106"/>
                  <a:gd name="T15" fmla="*/ 8 h 19"/>
                  <a:gd name="T16" fmla="*/ 106 w 106"/>
                  <a:gd name="T17" fmla="*/ 11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6" h="19">
                    <a:moveTo>
                      <a:pt x="106" y="11"/>
                    </a:moveTo>
                    <a:cubicBezTo>
                      <a:pt x="106" y="16"/>
                      <a:pt x="103" y="19"/>
                      <a:pt x="98" y="19"/>
                    </a:cubicBezTo>
                    <a:cubicBezTo>
                      <a:pt x="8" y="19"/>
                      <a:pt x="8" y="19"/>
                      <a:pt x="8" y="19"/>
                    </a:cubicBezTo>
                    <a:cubicBezTo>
                      <a:pt x="3" y="19"/>
                      <a:pt x="0" y="16"/>
                      <a:pt x="0" y="11"/>
                    </a:cubicBezTo>
                    <a:cubicBezTo>
                      <a:pt x="0" y="8"/>
                      <a:pt x="0" y="8"/>
                      <a:pt x="0" y="8"/>
                    </a:cubicBezTo>
                    <a:cubicBezTo>
                      <a:pt x="0" y="4"/>
                      <a:pt x="3" y="0"/>
                      <a:pt x="8" y="0"/>
                    </a:cubicBezTo>
                    <a:cubicBezTo>
                      <a:pt x="98" y="0"/>
                      <a:pt x="98" y="0"/>
                      <a:pt x="98" y="0"/>
                    </a:cubicBezTo>
                    <a:cubicBezTo>
                      <a:pt x="103" y="0"/>
                      <a:pt x="106" y="4"/>
                      <a:pt x="106" y="8"/>
                    </a:cubicBezTo>
                    <a:lnTo>
                      <a:pt x="106" y="11"/>
                    </a:lnTo>
                    <a:close/>
                  </a:path>
                </a:pathLst>
              </a:custGeom>
              <a:grpFill/>
              <a:ln w="9525">
                <a:solidFill>
                  <a:schemeClr val="bg1"/>
                </a:solidFill>
                <a:round/>
              </a:ln>
            </p:spPr>
            <p:txBody>
              <a:bodyPr/>
              <a:lstStyle/>
              <a:p>
                <a:pPr>
                  <a:defRPr/>
                </a:pPr>
                <a:endParaRPr lang="zh-CN" altLang="en-US">
                  <a:cs typeface="+mn-ea"/>
                  <a:sym typeface="+mn-lt"/>
                </a:endParaRPr>
              </a:p>
            </p:txBody>
          </p:sp>
          <p:sp>
            <p:nvSpPr>
              <p:cNvPr id="31" name="Freeform 31"/>
              <p:cNvSpPr/>
              <p:nvPr/>
            </p:nvSpPr>
            <p:spPr bwMode="auto">
              <a:xfrm>
                <a:off x="5753101" y="3386138"/>
                <a:ext cx="153988" cy="26988"/>
              </a:xfrm>
              <a:custGeom>
                <a:avLst/>
                <a:gdLst>
                  <a:gd name="T0" fmla="*/ 106 w 106"/>
                  <a:gd name="T1" fmla="*/ 11 h 19"/>
                  <a:gd name="T2" fmla="*/ 98 w 106"/>
                  <a:gd name="T3" fmla="*/ 19 h 19"/>
                  <a:gd name="T4" fmla="*/ 8 w 106"/>
                  <a:gd name="T5" fmla="*/ 19 h 19"/>
                  <a:gd name="T6" fmla="*/ 0 w 106"/>
                  <a:gd name="T7" fmla="*/ 11 h 19"/>
                  <a:gd name="T8" fmla="*/ 0 w 106"/>
                  <a:gd name="T9" fmla="*/ 8 h 19"/>
                  <a:gd name="T10" fmla="*/ 8 w 106"/>
                  <a:gd name="T11" fmla="*/ 0 h 19"/>
                  <a:gd name="T12" fmla="*/ 98 w 106"/>
                  <a:gd name="T13" fmla="*/ 0 h 19"/>
                  <a:gd name="T14" fmla="*/ 106 w 106"/>
                  <a:gd name="T15" fmla="*/ 8 h 19"/>
                  <a:gd name="T16" fmla="*/ 106 w 106"/>
                  <a:gd name="T17" fmla="*/ 11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6" h="19">
                    <a:moveTo>
                      <a:pt x="106" y="11"/>
                    </a:moveTo>
                    <a:cubicBezTo>
                      <a:pt x="106" y="15"/>
                      <a:pt x="103" y="19"/>
                      <a:pt x="98" y="19"/>
                    </a:cubicBezTo>
                    <a:cubicBezTo>
                      <a:pt x="8" y="19"/>
                      <a:pt x="8" y="19"/>
                      <a:pt x="8" y="19"/>
                    </a:cubicBezTo>
                    <a:cubicBezTo>
                      <a:pt x="3" y="19"/>
                      <a:pt x="0" y="15"/>
                      <a:pt x="0" y="11"/>
                    </a:cubicBezTo>
                    <a:cubicBezTo>
                      <a:pt x="0" y="8"/>
                      <a:pt x="0" y="8"/>
                      <a:pt x="0" y="8"/>
                    </a:cubicBezTo>
                    <a:cubicBezTo>
                      <a:pt x="0" y="3"/>
                      <a:pt x="3" y="0"/>
                      <a:pt x="8" y="0"/>
                    </a:cubicBezTo>
                    <a:cubicBezTo>
                      <a:pt x="98" y="0"/>
                      <a:pt x="98" y="0"/>
                      <a:pt x="98" y="0"/>
                    </a:cubicBezTo>
                    <a:cubicBezTo>
                      <a:pt x="103" y="0"/>
                      <a:pt x="106" y="3"/>
                      <a:pt x="106" y="8"/>
                    </a:cubicBezTo>
                    <a:lnTo>
                      <a:pt x="106" y="11"/>
                    </a:lnTo>
                    <a:close/>
                  </a:path>
                </a:pathLst>
              </a:custGeom>
              <a:grpFill/>
              <a:ln w="9525">
                <a:solidFill>
                  <a:schemeClr val="bg1"/>
                </a:solidFill>
                <a:round/>
              </a:ln>
            </p:spPr>
            <p:txBody>
              <a:bodyPr/>
              <a:lstStyle/>
              <a:p>
                <a:pPr>
                  <a:defRPr/>
                </a:pPr>
                <a:endParaRPr lang="zh-CN" altLang="en-US">
                  <a:cs typeface="+mn-ea"/>
                  <a:sym typeface="+mn-lt"/>
                </a:endParaRPr>
              </a:p>
            </p:txBody>
          </p:sp>
          <p:sp>
            <p:nvSpPr>
              <p:cNvPr id="32" name="Freeform 32"/>
              <p:cNvSpPr/>
              <p:nvPr/>
            </p:nvSpPr>
            <p:spPr bwMode="auto">
              <a:xfrm>
                <a:off x="5649914" y="2946401"/>
                <a:ext cx="360363" cy="385763"/>
              </a:xfrm>
              <a:custGeom>
                <a:avLst/>
                <a:gdLst>
                  <a:gd name="T0" fmla="*/ 250 w 250"/>
                  <a:gd name="T1" fmla="*/ 125 h 268"/>
                  <a:gd name="T2" fmla="*/ 125 w 250"/>
                  <a:gd name="T3" fmla="*/ 0 h 268"/>
                  <a:gd name="T4" fmla="*/ 0 w 250"/>
                  <a:gd name="T5" fmla="*/ 125 h 268"/>
                  <a:gd name="T6" fmla="*/ 72 w 250"/>
                  <a:gd name="T7" fmla="*/ 238 h 268"/>
                  <a:gd name="T8" fmla="*/ 72 w 250"/>
                  <a:gd name="T9" fmla="*/ 244 h 268"/>
                  <a:gd name="T10" fmla="*/ 96 w 250"/>
                  <a:gd name="T11" fmla="*/ 268 h 268"/>
                  <a:gd name="T12" fmla="*/ 154 w 250"/>
                  <a:gd name="T13" fmla="*/ 268 h 268"/>
                  <a:gd name="T14" fmla="*/ 178 w 250"/>
                  <a:gd name="T15" fmla="*/ 244 h 268"/>
                  <a:gd name="T16" fmla="*/ 178 w 250"/>
                  <a:gd name="T17" fmla="*/ 238 h 268"/>
                  <a:gd name="T18" fmla="*/ 250 w 250"/>
                  <a:gd name="T19" fmla="*/ 125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0" h="268">
                    <a:moveTo>
                      <a:pt x="250" y="125"/>
                    </a:moveTo>
                    <a:cubicBezTo>
                      <a:pt x="250" y="56"/>
                      <a:pt x="194" y="0"/>
                      <a:pt x="125" y="0"/>
                    </a:cubicBezTo>
                    <a:cubicBezTo>
                      <a:pt x="56" y="0"/>
                      <a:pt x="0" y="56"/>
                      <a:pt x="0" y="125"/>
                    </a:cubicBezTo>
                    <a:cubicBezTo>
                      <a:pt x="0" y="175"/>
                      <a:pt x="30" y="218"/>
                      <a:pt x="72" y="238"/>
                    </a:cubicBezTo>
                    <a:cubicBezTo>
                      <a:pt x="72" y="244"/>
                      <a:pt x="72" y="244"/>
                      <a:pt x="72" y="244"/>
                    </a:cubicBezTo>
                    <a:cubicBezTo>
                      <a:pt x="72" y="257"/>
                      <a:pt x="83" y="268"/>
                      <a:pt x="96" y="268"/>
                    </a:cubicBezTo>
                    <a:cubicBezTo>
                      <a:pt x="154" y="268"/>
                      <a:pt x="154" y="268"/>
                      <a:pt x="154" y="268"/>
                    </a:cubicBezTo>
                    <a:cubicBezTo>
                      <a:pt x="167" y="268"/>
                      <a:pt x="178" y="257"/>
                      <a:pt x="178" y="244"/>
                    </a:cubicBezTo>
                    <a:cubicBezTo>
                      <a:pt x="178" y="238"/>
                      <a:pt x="178" y="238"/>
                      <a:pt x="178" y="238"/>
                    </a:cubicBezTo>
                    <a:cubicBezTo>
                      <a:pt x="221" y="218"/>
                      <a:pt x="250" y="175"/>
                      <a:pt x="250" y="125"/>
                    </a:cubicBezTo>
                    <a:close/>
                  </a:path>
                </a:pathLst>
              </a:custGeom>
              <a:grpFill/>
              <a:ln w="9525">
                <a:solidFill>
                  <a:schemeClr val="bg1"/>
                </a:solidFill>
                <a:round/>
              </a:ln>
            </p:spPr>
            <p:txBody>
              <a:bodyPr/>
              <a:lstStyle/>
              <a:p>
                <a:pPr>
                  <a:defRPr/>
                </a:pPr>
                <a:endParaRPr lang="zh-CN" altLang="en-US">
                  <a:cs typeface="+mn-ea"/>
                  <a:sym typeface="+mn-lt"/>
                </a:endParaRPr>
              </a:p>
            </p:txBody>
          </p:sp>
        </p:grpSp>
      </p:grpSp>
      <p:grpSp>
        <p:nvGrpSpPr>
          <p:cNvPr id="76" name="组合 75"/>
          <p:cNvGrpSpPr/>
          <p:nvPr/>
        </p:nvGrpSpPr>
        <p:grpSpPr>
          <a:xfrm>
            <a:off x="719504" y="1491722"/>
            <a:ext cx="3256915" cy="1170642"/>
            <a:chOff x="892188" y="2573986"/>
            <a:chExt cx="4342553" cy="1560852"/>
          </a:xfrm>
        </p:grpSpPr>
        <p:sp>
          <p:nvSpPr>
            <p:cNvPr id="66" name="文本框 85"/>
            <p:cNvSpPr txBox="1"/>
            <p:nvPr/>
          </p:nvSpPr>
          <p:spPr>
            <a:xfrm>
              <a:off x="892188" y="2862699"/>
              <a:ext cx="4342553" cy="1272139"/>
            </a:xfrm>
            <a:prstGeom prst="rect">
              <a:avLst/>
            </a:prstGeom>
            <a:noFill/>
          </p:spPr>
          <p:txBody>
            <a:bodyPr wrap="square" rtlCol="0">
              <a:spAutoFit/>
            </a:bodyPr>
            <a:lstStyle/>
            <a:p>
              <a:pPr indent="457200" algn="just" fontAlgn="base"/>
              <a:r>
                <a:rPr lang="en-US" altLang="zh-CN" dirty="0">
                  <a:solidFill>
                    <a:srgbClr val="1F1F1F"/>
                  </a:solidFill>
                  <a:latin typeface="Arial" panose="020B0604020202020204" pitchFamily="34" charset="0"/>
                  <a:cs typeface="Arial" panose="020B0604020202020204" pitchFamily="34" charset="0"/>
                </a:rPr>
                <a:t>When a bird flies randomly and searches for food, all the birds in the flock can share their findings and help the whole flock get the best hunt.</a:t>
              </a:r>
              <a:endParaRPr lang="en-US" altLang="zh-CN" dirty="0">
                <a:solidFill>
                  <a:srgbClr val="1F1F1F"/>
                </a:solidFill>
                <a:latin typeface="Arial" panose="020B0604020202020204" pitchFamily="34" charset="0"/>
                <a:cs typeface="Arial" panose="020B0604020202020204" pitchFamily="34" charset="0"/>
              </a:endParaRPr>
            </a:p>
          </p:txBody>
        </p:sp>
        <p:sp>
          <p:nvSpPr>
            <p:cNvPr id="67" name="TextBox 1956"/>
            <p:cNvSpPr/>
            <p:nvPr/>
          </p:nvSpPr>
          <p:spPr>
            <a:xfrm>
              <a:off x="1147049" y="2573986"/>
              <a:ext cx="4056907" cy="377612"/>
            </a:xfrm>
            <a:prstGeom prst="rect">
              <a:avLst/>
            </a:prstGeom>
            <a:noFill/>
            <a:ln w="9525">
              <a:noFill/>
              <a:miter/>
            </a:ln>
          </p:spPr>
          <p:txBody>
            <a:bodyPr wrap="square">
              <a:spAutoFit/>
            </a:bodyPr>
            <a:lstStyle/>
            <a:p>
              <a:pPr lvl="0" algn="r">
                <a:lnSpc>
                  <a:spcPts val="1500"/>
                </a:lnSpc>
              </a:pPr>
              <a:r>
                <a:rPr lang="en-US" altLang="zh-CN" sz="1800" b="1" dirty="0">
                  <a:solidFill>
                    <a:srgbClr val="1B4367"/>
                  </a:solidFill>
                  <a:cs typeface="+mn-ea"/>
                  <a:sym typeface="+mn-lt"/>
                </a:rPr>
                <a:t>Source of inspiration</a:t>
              </a:r>
              <a:endParaRPr lang="en-US" altLang="zh-CN" sz="1800" b="1" dirty="0">
                <a:solidFill>
                  <a:srgbClr val="1B4367"/>
                </a:solidFill>
                <a:cs typeface="+mn-ea"/>
                <a:sym typeface="+mn-lt"/>
              </a:endParaRPr>
            </a:p>
          </p:txBody>
        </p:sp>
      </p:grpSp>
      <p:grpSp>
        <p:nvGrpSpPr>
          <p:cNvPr id="77" name="组合 76"/>
          <p:cNvGrpSpPr/>
          <p:nvPr/>
        </p:nvGrpSpPr>
        <p:grpSpPr>
          <a:xfrm>
            <a:off x="844498" y="3466591"/>
            <a:ext cx="3145790" cy="1169035"/>
            <a:chOff x="994867" y="4873181"/>
            <a:chExt cx="4194386" cy="1558713"/>
          </a:xfrm>
        </p:grpSpPr>
        <p:sp>
          <p:nvSpPr>
            <p:cNvPr id="68" name="文本框 5"/>
            <p:cNvSpPr txBox="1"/>
            <p:nvPr/>
          </p:nvSpPr>
          <p:spPr>
            <a:xfrm>
              <a:off x="994867" y="5161048"/>
              <a:ext cx="4194386" cy="1270846"/>
            </a:xfrm>
            <a:prstGeom prst="rect">
              <a:avLst/>
            </a:prstGeom>
            <a:noFill/>
          </p:spPr>
          <p:txBody>
            <a:bodyPr wrap="square" rtlCol="0">
              <a:spAutoFit/>
            </a:bodyPr>
            <a:lstStyle/>
            <a:p>
              <a:pPr indent="457200" algn="just" fontAlgn="base">
                <a:buClrTx/>
                <a:buSzTx/>
                <a:buFontTx/>
              </a:pPr>
              <a:r>
                <a:rPr lang="en-US" altLang="zh-CN" kern="0" dirty="0">
                  <a:latin typeface="Arial" panose="020B0604020202020204" pitchFamily="34" charset="0"/>
                  <a:cs typeface="Arial" panose="020B0604020202020204" pitchFamily="34" charset="0"/>
                  <a:sym typeface="+mn-lt"/>
                </a:rPr>
                <a:t>This is a </a:t>
              </a:r>
              <a:r>
                <a:rPr lang="en-US" altLang="zh-CN" sz="1400" dirty="0">
                  <a:solidFill>
                    <a:srgbClr val="FF0000"/>
                  </a:solidFill>
                  <a:latin typeface="+mn-ea"/>
                  <a:sym typeface="+mn-lt"/>
                </a:rPr>
                <a:t>heuristic solution </a:t>
              </a:r>
              <a:r>
                <a:rPr lang="en-US" altLang="zh-CN" kern="0" dirty="0">
                  <a:latin typeface="Arial" panose="020B0604020202020204" pitchFamily="34" charset="0"/>
                  <a:cs typeface="Arial" panose="020B0604020202020204" pitchFamily="34" charset="0"/>
                  <a:sym typeface="+mn-lt"/>
                </a:rPr>
                <a:t>because we can never prove that a true global optimal solution can be found.</a:t>
              </a:r>
              <a:endParaRPr lang="en-US" altLang="zh-CN" kern="0" dirty="0">
                <a:latin typeface="Arial" panose="020B0604020202020204" pitchFamily="34" charset="0"/>
                <a:cs typeface="Arial" panose="020B0604020202020204" pitchFamily="34" charset="0"/>
                <a:sym typeface="+mn-lt"/>
              </a:endParaRPr>
            </a:p>
          </p:txBody>
        </p:sp>
        <p:sp>
          <p:nvSpPr>
            <p:cNvPr id="69" name="TextBox 1956"/>
            <p:cNvSpPr/>
            <p:nvPr/>
          </p:nvSpPr>
          <p:spPr>
            <a:xfrm>
              <a:off x="2391635" y="4873181"/>
              <a:ext cx="2742911" cy="377613"/>
            </a:xfrm>
            <a:prstGeom prst="rect">
              <a:avLst/>
            </a:prstGeom>
            <a:noFill/>
            <a:ln w="9525">
              <a:noFill/>
              <a:miter/>
            </a:ln>
          </p:spPr>
          <p:txBody>
            <a:bodyPr wrap="square">
              <a:spAutoFit/>
            </a:bodyPr>
            <a:lstStyle/>
            <a:p>
              <a:pPr lvl="0" algn="r">
                <a:lnSpc>
                  <a:spcPts val="1500"/>
                </a:lnSpc>
                <a:buClrTx/>
                <a:buSzTx/>
                <a:buFontTx/>
              </a:pPr>
              <a:r>
                <a:rPr lang="en-US" altLang="zh-CN" sz="1800" b="1" dirty="0">
                  <a:solidFill>
                    <a:srgbClr val="1B4367"/>
                  </a:solidFill>
                  <a:cs typeface="+mn-ea"/>
                  <a:sym typeface="+mn-lt"/>
                </a:rPr>
                <a:t>Limitation</a:t>
              </a:r>
              <a:endParaRPr lang="en-US" altLang="zh-CN" sz="1800" b="1" dirty="0">
                <a:solidFill>
                  <a:srgbClr val="1B4367"/>
                </a:solidFill>
                <a:cs typeface="+mn-ea"/>
                <a:sym typeface="+mn-lt"/>
              </a:endParaRPr>
            </a:p>
          </p:txBody>
        </p:sp>
      </p:grpSp>
      <p:sp>
        <p:nvSpPr>
          <p:cNvPr id="55" name="文本框 15"/>
          <p:cNvSpPr txBox="1"/>
          <p:nvPr/>
        </p:nvSpPr>
        <p:spPr>
          <a:xfrm>
            <a:off x="709386" y="309785"/>
            <a:ext cx="2261711" cy="375920"/>
          </a:xfrm>
          <a:prstGeom prst="rect">
            <a:avLst/>
          </a:prstGeom>
          <a:noFill/>
        </p:spPr>
        <p:txBody>
          <a:bodyPr wrap="square" lIns="68580" tIns="34290" rIns="68580" bIns="34290" rtlCol="0">
            <a:spAutoFit/>
          </a:bodyPr>
          <a:lstStyle/>
          <a:p>
            <a:r>
              <a:rPr lang="en-US" altLang="zh-CN" sz="2000" b="1" dirty="0">
                <a:solidFill>
                  <a:srgbClr val="1B4367"/>
                </a:solidFill>
                <a:cs typeface="+mn-ea"/>
                <a:sym typeface="+mn-lt"/>
              </a:rPr>
              <a:t>PSO</a:t>
            </a:r>
            <a:endParaRPr lang="en-US" altLang="zh-CN" sz="2000" b="1" dirty="0">
              <a:solidFill>
                <a:srgbClr val="1B4367"/>
              </a:solidFill>
              <a:cs typeface="+mn-ea"/>
              <a:sym typeface="+mn-lt"/>
            </a:endParaRPr>
          </a:p>
        </p:txBody>
      </p:sp>
      <p:cxnSp>
        <p:nvCxnSpPr>
          <p:cNvPr id="57" name="直接连接符 56"/>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55"/>
                                        </p:tgtEl>
                                        <p:attrNameLst>
                                          <p:attrName>ppt_y</p:attrName>
                                        </p:attrNameLst>
                                      </p:cBhvr>
                                      <p:tavLst>
                                        <p:tav tm="0">
                                          <p:val>
                                            <p:strVal val="#ppt_y"/>
                                          </p:val>
                                        </p:tav>
                                        <p:tav tm="100000">
                                          <p:val>
                                            <p:strVal val="#ppt_y"/>
                                          </p:val>
                                        </p:tav>
                                      </p:tavLst>
                                    </p:anim>
                                    <p:anim calcmode="lin" valueType="num">
                                      <p:cBhvr>
                                        <p:cTn id="9" dur="500" fill="hold"/>
                                        <p:tgtEl>
                                          <p:spTgt spid="5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5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55"/>
                                        </p:tgtEl>
                                      </p:cBhvr>
                                    </p:animEffect>
                                  </p:childTnLst>
                                </p:cTn>
                              </p:par>
                            </p:childTnLst>
                          </p:cTn>
                        </p:par>
                        <p:par>
                          <p:cTn id="12" fill="hold">
                            <p:stCondLst>
                              <p:cond delay="600"/>
                            </p:stCondLst>
                            <p:childTnLst>
                              <p:par>
                                <p:cTn id="13" presetID="22" presetClass="entr" presetSubtype="8" fill="hold" nodeType="afterEffect">
                                  <p:stCondLst>
                                    <p:cond delay="0"/>
                                  </p:stCondLst>
                                  <p:childTnLst>
                                    <p:set>
                                      <p:cBhvr>
                                        <p:cTn id="14" dur="1" fill="hold">
                                          <p:stCondLst>
                                            <p:cond delay="0"/>
                                          </p:stCondLst>
                                        </p:cTn>
                                        <p:tgtEl>
                                          <p:spTgt spid="57"/>
                                        </p:tgtEl>
                                        <p:attrNameLst>
                                          <p:attrName>style.visibility</p:attrName>
                                        </p:attrNameLst>
                                      </p:cBhvr>
                                      <p:to>
                                        <p:strVal val="visible"/>
                                      </p:to>
                                    </p:set>
                                    <p:animEffect transition="in" filter="wipe(left)">
                                      <p:cBhvr>
                                        <p:cTn id="15" dur="300"/>
                                        <p:tgtEl>
                                          <p:spTgt spid="57"/>
                                        </p:tgtEl>
                                      </p:cBhvr>
                                    </p:animEffect>
                                  </p:childTnLst>
                                </p:cTn>
                              </p:par>
                            </p:childTnLst>
                          </p:cTn>
                        </p:par>
                        <p:par>
                          <p:cTn id="16" fill="hold">
                            <p:stCondLst>
                              <p:cond delay="1100"/>
                            </p:stCondLst>
                            <p:childTnLst>
                              <p:par>
                                <p:cTn id="17" presetID="22" presetClass="entr" presetSubtype="1" fill="hold"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up)">
                                      <p:cBhvr>
                                        <p:cTn id="19" dur="500"/>
                                        <p:tgtEl>
                                          <p:spTgt spid="11"/>
                                        </p:tgtEl>
                                      </p:cBhvr>
                                    </p:animEffect>
                                  </p:childTnLst>
                                </p:cTn>
                              </p:par>
                            </p:childTnLst>
                          </p:cTn>
                        </p:par>
                        <p:par>
                          <p:cTn id="20" fill="hold">
                            <p:stCondLst>
                              <p:cond delay="1600"/>
                            </p:stCondLst>
                            <p:childTnLst>
                              <p:par>
                                <p:cTn id="21" presetID="53" presetClass="entr" presetSubtype="16" fill="hold" nodeType="afterEffect">
                                  <p:stCondLst>
                                    <p:cond delay="0"/>
                                  </p:stCondLst>
                                  <p:childTnLst>
                                    <p:set>
                                      <p:cBhvr>
                                        <p:cTn id="22" dur="1" fill="hold">
                                          <p:stCondLst>
                                            <p:cond delay="0"/>
                                          </p:stCondLst>
                                        </p:cTn>
                                        <p:tgtEl>
                                          <p:spTgt spid="70"/>
                                        </p:tgtEl>
                                        <p:attrNameLst>
                                          <p:attrName>style.visibility</p:attrName>
                                        </p:attrNameLst>
                                      </p:cBhvr>
                                      <p:to>
                                        <p:strVal val="visible"/>
                                      </p:to>
                                    </p:set>
                                    <p:anim calcmode="lin" valueType="num">
                                      <p:cBhvr>
                                        <p:cTn id="23" dur="500" fill="hold"/>
                                        <p:tgtEl>
                                          <p:spTgt spid="70"/>
                                        </p:tgtEl>
                                        <p:attrNameLst>
                                          <p:attrName>ppt_w</p:attrName>
                                        </p:attrNameLst>
                                      </p:cBhvr>
                                      <p:tavLst>
                                        <p:tav tm="0">
                                          <p:val>
                                            <p:fltVal val="0"/>
                                          </p:val>
                                        </p:tav>
                                        <p:tav tm="100000">
                                          <p:val>
                                            <p:strVal val="#ppt_w"/>
                                          </p:val>
                                        </p:tav>
                                      </p:tavLst>
                                    </p:anim>
                                    <p:anim calcmode="lin" valueType="num">
                                      <p:cBhvr>
                                        <p:cTn id="24" dur="500" fill="hold"/>
                                        <p:tgtEl>
                                          <p:spTgt spid="70"/>
                                        </p:tgtEl>
                                        <p:attrNameLst>
                                          <p:attrName>ppt_h</p:attrName>
                                        </p:attrNameLst>
                                      </p:cBhvr>
                                      <p:tavLst>
                                        <p:tav tm="0">
                                          <p:val>
                                            <p:fltVal val="0"/>
                                          </p:val>
                                        </p:tav>
                                        <p:tav tm="100000">
                                          <p:val>
                                            <p:strVal val="#ppt_h"/>
                                          </p:val>
                                        </p:tav>
                                      </p:tavLst>
                                    </p:anim>
                                    <p:animEffect transition="in" filter="fade">
                                      <p:cBhvr>
                                        <p:cTn id="25" dur="500"/>
                                        <p:tgtEl>
                                          <p:spTgt spid="70"/>
                                        </p:tgtEl>
                                      </p:cBhvr>
                                    </p:animEffect>
                                  </p:childTnLst>
                                </p:cTn>
                              </p:par>
                            </p:childTnLst>
                          </p:cTn>
                        </p:par>
                        <p:par>
                          <p:cTn id="26" fill="hold">
                            <p:stCondLst>
                              <p:cond delay="2100"/>
                            </p:stCondLst>
                            <p:childTnLst>
                              <p:par>
                                <p:cTn id="27" presetID="2" presetClass="entr" presetSubtype="2" fill="hold" nodeType="afterEffect">
                                  <p:stCondLst>
                                    <p:cond delay="0"/>
                                  </p:stCondLst>
                                  <p:childTnLst>
                                    <p:set>
                                      <p:cBhvr>
                                        <p:cTn id="28" dur="1" fill="hold">
                                          <p:stCondLst>
                                            <p:cond delay="0"/>
                                          </p:stCondLst>
                                        </p:cTn>
                                        <p:tgtEl>
                                          <p:spTgt spid="75"/>
                                        </p:tgtEl>
                                        <p:attrNameLst>
                                          <p:attrName>style.visibility</p:attrName>
                                        </p:attrNameLst>
                                      </p:cBhvr>
                                      <p:to>
                                        <p:strVal val="visible"/>
                                      </p:to>
                                    </p:set>
                                    <p:anim calcmode="lin" valueType="num">
                                      <p:cBhvr additive="base">
                                        <p:cTn id="29" dur="500" fill="hold"/>
                                        <p:tgtEl>
                                          <p:spTgt spid="75"/>
                                        </p:tgtEl>
                                        <p:attrNameLst>
                                          <p:attrName>ppt_x</p:attrName>
                                        </p:attrNameLst>
                                      </p:cBhvr>
                                      <p:tavLst>
                                        <p:tav tm="0">
                                          <p:val>
                                            <p:strVal val="1+#ppt_w/2"/>
                                          </p:val>
                                        </p:tav>
                                        <p:tav tm="100000">
                                          <p:val>
                                            <p:strVal val="#ppt_x"/>
                                          </p:val>
                                        </p:tav>
                                      </p:tavLst>
                                    </p:anim>
                                    <p:anim calcmode="lin" valueType="num">
                                      <p:cBhvr additive="base">
                                        <p:cTn id="30" dur="500" fill="hold"/>
                                        <p:tgtEl>
                                          <p:spTgt spid="75"/>
                                        </p:tgtEl>
                                        <p:attrNameLst>
                                          <p:attrName>ppt_y</p:attrName>
                                        </p:attrNameLst>
                                      </p:cBhvr>
                                      <p:tavLst>
                                        <p:tav tm="0">
                                          <p:val>
                                            <p:strVal val="#ppt_y"/>
                                          </p:val>
                                        </p:tav>
                                        <p:tav tm="100000">
                                          <p:val>
                                            <p:strVal val="#ppt_y"/>
                                          </p:val>
                                        </p:tav>
                                      </p:tavLst>
                                    </p:anim>
                                  </p:childTnLst>
                                </p:cTn>
                              </p:par>
                            </p:childTnLst>
                          </p:cTn>
                        </p:par>
                        <p:par>
                          <p:cTn id="31" fill="hold">
                            <p:stCondLst>
                              <p:cond delay="2600"/>
                            </p:stCondLst>
                            <p:childTnLst>
                              <p:par>
                                <p:cTn id="32" presetID="53" presetClass="entr" presetSubtype="16" fill="hold" nodeType="afterEffect">
                                  <p:stCondLst>
                                    <p:cond delay="0"/>
                                  </p:stCondLst>
                                  <p:childTnLst>
                                    <p:set>
                                      <p:cBhvr>
                                        <p:cTn id="33" dur="1" fill="hold">
                                          <p:stCondLst>
                                            <p:cond delay="0"/>
                                          </p:stCondLst>
                                        </p:cTn>
                                        <p:tgtEl>
                                          <p:spTgt spid="71"/>
                                        </p:tgtEl>
                                        <p:attrNameLst>
                                          <p:attrName>style.visibility</p:attrName>
                                        </p:attrNameLst>
                                      </p:cBhvr>
                                      <p:to>
                                        <p:strVal val="visible"/>
                                      </p:to>
                                    </p:set>
                                    <p:anim calcmode="lin" valueType="num">
                                      <p:cBhvr>
                                        <p:cTn id="34" dur="500" fill="hold"/>
                                        <p:tgtEl>
                                          <p:spTgt spid="71"/>
                                        </p:tgtEl>
                                        <p:attrNameLst>
                                          <p:attrName>ppt_w</p:attrName>
                                        </p:attrNameLst>
                                      </p:cBhvr>
                                      <p:tavLst>
                                        <p:tav tm="0">
                                          <p:val>
                                            <p:fltVal val="0"/>
                                          </p:val>
                                        </p:tav>
                                        <p:tav tm="100000">
                                          <p:val>
                                            <p:strVal val="#ppt_w"/>
                                          </p:val>
                                        </p:tav>
                                      </p:tavLst>
                                    </p:anim>
                                    <p:anim calcmode="lin" valueType="num">
                                      <p:cBhvr>
                                        <p:cTn id="35" dur="500" fill="hold"/>
                                        <p:tgtEl>
                                          <p:spTgt spid="71"/>
                                        </p:tgtEl>
                                        <p:attrNameLst>
                                          <p:attrName>ppt_h</p:attrName>
                                        </p:attrNameLst>
                                      </p:cBhvr>
                                      <p:tavLst>
                                        <p:tav tm="0">
                                          <p:val>
                                            <p:fltVal val="0"/>
                                          </p:val>
                                        </p:tav>
                                        <p:tav tm="100000">
                                          <p:val>
                                            <p:strVal val="#ppt_h"/>
                                          </p:val>
                                        </p:tav>
                                      </p:tavLst>
                                    </p:anim>
                                    <p:animEffect transition="in" filter="fade">
                                      <p:cBhvr>
                                        <p:cTn id="36" dur="500"/>
                                        <p:tgtEl>
                                          <p:spTgt spid="71"/>
                                        </p:tgtEl>
                                      </p:cBhvr>
                                    </p:animEffect>
                                  </p:childTnLst>
                                </p:cTn>
                              </p:par>
                            </p:childTnLst>
                          </p:cTn>
                        </p:par>
                        <p:par>
                          <p:cTn id="37" fill="hold">
                            <p:stCondLst>
                              <p:cond delay="3100"/>
                            </p:stCondLst>
                            <p:childTnLst>
                              <p:par>
                                <p:cTn id="38" presetID="2" presetClass="entr" presetSubtype="8" fill="hold" nodeType="afterEffect">
                                  <p:stCondLst>
                                    <p:cond delay="0"/>
                                  </p:stCondLst>
                                  <p:childTnLst>
                                    <p:set>
                                      <p:cBhvr>
                                        <p:cTn id="39" dur="1" fill="hold">
                                          <p:stCondLst>
                                            <p:cond delay="0"/>
                                          </p:stCondLst>
                                        </p:cTn>
                                        <p:tgtEl>
                                          <p:spTgt spid="76"/>
                                        </p:tgtEl>
                                        <p:attrNameLst>
                                          <p:attrName>style.visibility</p:attrName>
                                        </p:attrNameLst>
                                      </p:cBhvr>
                                      <p:to>
                                        <p:strVal val="visible"/>
                                      </p:to>
                                    </p:set>
                                    <p:anim calcmode="lin" valueType="num">
                                      <p:cBhvr additive="base">
                                        <p:cTn id="40" dur="500" fill="hold"/>
                                        <p:tgtEl>
                                          <p:spTgt spid="76"/>
                                        </p:tgtEl>
                                        <p:attrNameLst>
                                          <p:attrName>ppt_x</p:attrName>
                                        </p:attrNameLst>
                                      </p:cBhvr>
                                      <p:tavLst>
                                        <p:tav tm="0">
                                          <p:val>
                                            <p:strVal val="0-#ppt_w/2"/>
                                          </p:val>
                                        </p:tav>
                                        <p:tav tm="100000">
                                          <p:val>
                                            <p:strVal val="#ppt_x"/>
                                          </p:val>
                                        </p:tav>
                                      </p:tavLst>
                                    </p:anim>
                                    <p:anim calcmode="lin" valueType="num">
                                      <p:cBhvr additive="base">
                                        <p:cTn id="41" dur="500" fill="hold"/>
                                        <p:tgtEl>
                                          <p:spTgt spid="76"/>
                                        </p:tgtEl>
                                        <p:attrNameLst>
                                          <p:attrName>ppt_y</p:attrName>
                                        </p:attrNameLst>
                                      </p:cBhvr>
                                      <p:tavLst>
                                        <p:tav tm="0">
                                          <p:val>
                                            <p:strVal val="#ppt_y"/>
                                          </p:val>
                                        </p:tav>
                                        <p:tav tm="100000">
                                          <p:val>
                                            <p:strVal val="#ppt_y"/>
                                          </p:val>
                                        </p:tav>
                                      </p:tavLst>
                                    </p:anim>
                                  </p:childTnLst>
                                </p:cTn>
                              </p:par>
                            </p:childTnLst>
                          </p:cTn>
                        </p:par>
                        <p:par>
                          <p:cTn id="42" fill="hold">
                            <p:stCondLst>
                              <p:cond delay="3600"/>
                            </p:stCondLst>
                            <p:childTnLst>
                              <p:par>
                                <p:cTn id="43" presetID="53" presetClass="entr" presetSubtype="16" fill="hold" nodeType="afterEffect">
                                  <p:stCondLst>
                                    <p:cond delay="0"/>
                                  </p:stCondLst>
                                  <p:childTnLst>
                                    <p:set>
                                      <p:cBhvr>
                                        <p:cTn id="44" dur="1" fill="hold">
                                          <p:stCondLst>
                                            <p:cond delay="0"/>
                                          </p:stCondLst>
                                        </p:cTn>
                                        <p:tgtEl>
                                          <p:spTgt spid="72"/>
                                        </p:tgtEl>
                                        <p:attrNameLst>
                                          <p:attrName>style.visibility</p:attrName>
                                        </p:attrNameLst>
                                      </p:cBhvr>
                                      <p:to>
                                        <p:strVal val="visible"/>
                                      </p:to>
                                    </p:set>
                                    <p:anim calcmode="lin" valueType="num">
                                      <p:cBhvr>
                                        <p:cTn id="45" dur="500" fill="hold"/>
                                        <p:tgtEl>
                                          <p:spTgt spid="72"/>
                                        </p:tgtEl>
                                        <p:attrNameLst>
                                          <p:attrName>ppt_w</p:attrName>
                                        </p:attrNameLst>
                                      </p:cBhvr>
                                      <p:tavLst>
                                        <p:tav tm="0">
                                          <p:val>
                                            <p:fltVal val="0"/>
                                          </p:val>
                                        </p:tav>
                                        <p:tav tm="100000">
                                          <p:val>
                                            <p:strVal val="#ppt_w"/>
                                          </p:val>
                                        </p:tav>
                                      </p:tavLst>
                                    </p:anim>
                                    <p:anim calcmode="lin" valueType="num">
                                      <p:cBhvr>
                                        <p:cTn id="46" dur="500" fill="hold"/>
                                        <p:tgtEl>
                                          <p:spTgt spid="72"/>
                                        </p:tgtEl>
                                        <p:attrNameLst>
                                          <p:attrName>ppt_h</p:attrName>
                                        </p:attrNameLst>
                                      </p:cBhvr>
                                      <p:tavLst>
                                        <p:tav tm="0">
                                          <p:val>
                                            <p:fltVal val="0"/>
                                          </p:val>
                                        </p:tav>
                                        <p:tav tm="100000">
                                          <p:val>
                                            <p:strVal val="#ppt_h"/>
                                          </p:val>
                                        </p:tav>
                                      </p:tavLst>
                                    </p:anim>
                                    <p:animEffect transition="in" filter="fade">
                                      <p:cBhvr>
                                        <p:cTn id="47" dur="500"/>
                                        <p:tgtEl>
                                          <p:spTgt spid="72"/>
                                        </p:tgtEl>
                                      </p:cBhvr>
                                    </p:animEffect>
                                  </p:childTnLst>
                                </p:cTn>
                              </p:par>
                            </p:childTnLst>
                          </p:cTn>
                        </p:par>
                        <p:par>
                          <p:cTn id="48" fill="hold">
                            <p:stCondLst>
                              <p:cond delay="4100"/>
                            </p:stCondLst>
                            <p:childTnLst>
                              <p:par>
                                <p:cTn id="49" presetID="2" presetClass="entr" presetSubtype="2" fill="hold" nodeType="afterEffect">
                                  <p:stCondLst>
                                    <p:cond delay="0"/>
                                  </p:stCondLst>
                                  <p:childTnLst>
                                    <p:set>
                                      <p:cBhvr>
                                        <p:cTn id="50" dur="1" fill="hold">
                                          <p:stCondLst>
                                            <p:cond delay="0"/>
                                          </p:stCondLst>
                                        </p:cTn>
                                        <p:tgtEl>
                                          <p:spTgt spid="74"/>
                                        </p:tgtEl>
                                        <p:attrNameLst>
                                          <p:attrName>style.visibility</p:attrName>
                                        </p:attrNameLst>
                                      </p:cBhvr>
                                      <p:to>
                                        <p:strVal val="visible"/>
                                      </p:to>
                                    </p:set>
                                    <p:anim calcmode="lin" valueType="num">
                                      <p:cBhvr additive="base">
                                        <p:cTn id="51" dur="500" fill="hold"/>
                                        <p:tgtEl>
                                          <p:spTgt spid="74"/>
                                        </p:tgtEl>
                                        <p:attrNameLst>
                                          <p:attrName>ppt_x</p:attrName>
                                        </p:attrNameLst>
                                      </p:cBhvr>
                                      <p:tavLst>
                                        <p:tav tm="0">
                                          <p:val>
                                            <p:strVal val="1+#ppt_w/2"/>
                                          </p:val>
                                        </p:tav>
                                        <p:tav tm="100000">
                                          <p:val>
                                            <p:strVal val="#ppt_x"/>
                                          </p:val>
                                        </p:tav>
                                      </p:tavLst>
                                    </p:anim>
                                    <p:anim calcmode="lin" valueType="num">
                                      <p:cBhvr additive="base">
                                        <p:cTn id="52" dur="500" fill="hold"/>
                                        <p:tgtEl>
                                          <p:spTgt spid="74"/>
                                        </p:tgtEl>
                                        <p:attrNameLst>
                                          <p:attrName>ppt_y</p:attrName>
                                        </p:attrNameLst>
                                      </p:cBhvr>
                                      <p:tavLst>
                                        <p:tav tm="0">
                                          <p:val>
                                            <p:strVal val="#ppt_y"/>
                                          </p:val>
                                        </p:tav>
                                        <p:tav tm="100000">
                                          <p:val>
                                            <p:strVal val="#ppt_y"/>
                                          </p:val>
                                        </p:tav>
                                      </p:tavLst>
                                    </p:anim>
                                  </p:childTnLst>
                                </p:cTn>
                              </p:par>
                            </p:childTnLst>
                          </p:cTn>
                        </p:par>
                        <p:par>
                          <p:cTn id="53" fill="hold">
                            <p:stCondLst>
                              <p:cond delay="4600"/>
                            </p:stCondLst>
                            <p:childTnLst>
                              <p:par>
                                <p:cTn id="54" presetID="53" presetClass="entr" presetSubtype="16" fill="hold" nodeType="afterEffect">
                                  <p:stCondLst>
                                    <p:cond delay="0"/>
                                  </p:stCondLst>
                                  <p:childTnLst>
                                    <p:set>
                                      <p:cBhvr>
                                        <p:cTn id="55" dur="1" fill="hold">
                                          <p:stCondLst>
                                            <p:cond delay="0"/>
                                          </p:stCondLst>
                                        </p:cTn>
                                        <p:tgtEl>
                                          <p:spTgt spid="73"/>
                                        </p:tgtEl>
                                        <p:attrNameLst>
                                          <p:attrName>style.visibility</p:attrName>
                                        </p:attrNameLst>
                                      </p:cBhvr>
                                      <p:to>
                                        <p:strVal val="visible"/>
                                      </p:to>
                                    </p:set>
                                    <p:anim calcmode="lin" valueType="num">
                                      <p:cBhvr>
                                        <p:cTn id="56" dur="500" fill="hold"/>
                                        <p:tgtEl>
                                          <p:spTgt spid="73"/>
                                        </p:tgtEl>
                                        <p:attrNameLst>
                                          <p:attrName>ppt_w</p:attrName>
                                        </p:attrNameLst>
                                      </p:cBhvr>
                                      <p:tavLst>
                                        <p:tav tm="0">
                                          <p:val>
                                            <p:fltVal val="0"/>
                                          </p:val>
                                        </p:tav>
                                        <p:tav tm="100000">
                                          <p:val>
                                            <p:strVal val="#ppt_w"/>
                                          </p:val>
                                        </p:tav>
                                      </p:tavLst>
                                    </p:anim>
                                    <p:anim calcmode="lin" valueType="num">
                                      <p:cBhvr>
                                        <p:cTn id="57" dur="500" fill="hold"/>
                                        <p:tgtEl>
                                          <p:spTgt spid="73"/>
                                        </p:tgtEl>
                                        <p:attrNameLst>
                                          <p:attrName>ppt_h</p:attrName>
                                        </p:attrNameLst>
                                      </p:cBhvr>
                                      <p:tavLst>
                                        <p:tav tm="0">
                                          <p:val>
                                            <p:fltVal val="0"/>
                                          </p:val>
                                        </p:tav>
                                        <p:tav tm="100000">
                                          <p:val>
                                            <p:strVal val="#ppt_h"/>
                                          </p:val>
                                        </p:tav>
                                      </p:tavLst>
                                    </p:anim>
                                    <p:animEffect transition="in" filter="fade">
                                      <p:cBhvr>
                                        <p:cTn id="58" dur="500"/>
                                        <p:tgtEl>
                                          <p:spTgt spid="73"/>
                                        </p:tgtEl>
                                      </p:cBhvr>
                                    </p:animEffect>
                                  </p:childTnLst>
                                </p:cTn>
                              </p:par>
                            </p:childTnLst>
                          </p:cTn>
                        </p:par>
                        <p:par>
                          <p:cTn id="59" fill="hold">
                            <p:stCondLst>
                              <p:cond delay="5100"/>
                            </p:stCondLst>
                            <p:childTnLst>
                              <p:par>
                                <p:cTn id="60" presetID="2" presetClass="entr" presetSubtype="8" fill="hold" nodeType="afterEffect">
                                  <p:stCondLst>
                                    <p:cond delay="0"/>
                                  </p:stCondLst>
                                  <p:childTnLst>
                                    <p:set>
                                      <p:cBhvr>
                                        <p:cTn id="61" dur="1" fill="hold">
                                          <p:stCondLst>
                                            <p:cond delay="0"/>
                                          </p:stCondLst>
                                        </p:cTn>
                                        <p:tgtEl>
                                          <p:spTgt spid="77"/>
                                        </p:tgtEl>
                                        <p:attrNameLst>
                                          <p:attrName>style.visibility</p:attrName>
                                        </p:attrNameLst>
                                      </p:cBhvr>
                                      <p:to>
                                        <p:strVal val="visible"/>
                                      </p:to>
                                    </p:set>
                                    <p:anim calcmode="lin" valueType="num">
                                      <p:cBhvr additive="base">
                                        <p:cTn id="62" dur="500" fill="hold"/>
                                        <p:tgtEl>
                                          <p:spTgt spid="77"/>
                                        </p:tgtEl>
                                        <p:attrNameLst>
                                          <p:attrName>ppt_x</p:attrName>
                                        </p:attrNameLst>
                                      </p:cBhvr>
                                      <p:tavLst>
                                        <p:tav tm="0">
                                          <p:val>
                                            <p:strVal val="0-#ppt_w/2"/>
                                          </p:val>
                                        </p:tav>
                                        <p:tav tm="100000">
                                          <p:val>
                                            <p:strVal val="#ppt_x"/>
                                          </p:val>
                                        </p:tav>
                                      </p:tavLst>
                                    </p:anim>
                                    <p:anim calcmode="lin" valueType="num">
                                      <p:cBhvr additive="base">
                                        <p:cTn id="63" dur="500" fill="hold"/>
                                        <p:tgtEl>
                                          <p:spTgt spid="7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96522" y="1182674"/>
            <a:ext cx="7748815" cy="1014730"/>
          </a:xfrm>
          <a:prstGeom prst="rect">
            <a:avLst/>
          </a:prstGeom>
          <a:noFill/>
        </p:spPr>
        <p:txBody>
          <a:bodyPr wrap="square">
            <a:spAutoFit/>
          </a:bodyPr>
          <a:lstStyle/>
          <a:p>
            <a:r>
              <a:rPr lang="en-US" altLang="zh-CN" sz="1800" dirty="0" err="1"/>
              <a:t>Optimisation</a:t>
            </a:r>
            <a:r>
              <a:rPr lang="en-US" altLang="zh-CN" sz="1800" dirty="0"/>
              <a:t> issues in articles:</a:t>
            </a:r>
            <a:endParaRPr lang="en-US" altLang="zh-CN" sz="1800" dirty="0"/>
          </a:p>
          <a:p>
            <a:r>
              <a:rPr lang="zh-CN" altLang="en-US" dirty="0"/>
              <a:t>1. </a:t>
            </a:r>
            <a:r>
              <a:rPr lang="zh-CN" altLang="en-US" kern="0" dirty="0">
                <a:latin typeface="Arial" panose="020B0604020202020204" pitchFamily="34" charset="0"/>
                <a:cs typeface="Arial" panose="020B0604020202020204" pitchFamily="34" charset="0"/>
              </a:rPr>
              <a:t>In order to estimate the nodal voltage, a power flow</a:t>
            </a:r>
            <a:endParaRPr lang="zh-CN" altLang="en-US" kern="0" dirty="0">
              <a:latin typeface="Arial" panose="020B0604020202020204" pitchFamily="34" charset="0"/>
              <a:cs typeface="Arial" panose="020B0604020202020204" pitchFamily="34" charset="0"/>
            </a:endParaRPr>
          </a:p>
          <a:p>
            <a:r>
              <a:rPr lang="zh-CN" altLang="en-US" kern="0" dirty="0">
                <a:latin typeface="Arial" panose="020B0604020202020204" pitchFamily="34" charset="0"/>
                <a:cs typeface="Arial" panose="020B0604020202020204" pitchFamily="34" charset="0"/>
              </a:rPr>
              <a:t>analysis (which is an iterative based approach) is required;</a:t>
            </a:r>
            <a:endParaRPr lang="zh-CN" altLang="en-US" kern="0" dirty="0">
              <a:latin typeface="Arial" panose="020B0604020202020204" pitchFamily="34" charset="0"/>
              <a:cs typeface="Arial" panose="020B0604020202020204" pitchFamily="34" charset="0"/>
            </a:endParaRPr>
          </a:p>
          <a:p>
            <a:r>
              <a:rPr lang="zh-CN" altLang="en-US" kern="0" dirty="0">
                <a:latin typeface="Arial" panose="020B0604020202020204" pitchFamily="34" charset="0"/>
                <a:cs typeface="Arial" panose="020B0604020202020204" pitchFamily="34" charset="0"/>
              </a:rPr>
              <a:t>2. The </a:t>
            </a:r>
            <a:r>
              <a:rPr lang="en-US" altLang="zh-CN" kern="0" dirty="0">
                <a:latin typeface="Arial" panose="020B0604020202020204" pitchFamily="34" charset="0"/>
                <a:cs typeface="Arial" panose="020B0604020202020204" pitchFamily="34" charset="0"/>
              </a:rPr>
              <a:t>diesel generators</a:t>
            </a:r>
            <a:r>
              <a:rPr lang="zh-CN" altLang="en-US" kern="0" dirty="0">
                <a:latin typeface="Arial" panose="020B0604020202020204" pitchFamily="34" charset="0"/>
                <a:cs typeface="Arial" panose="020B0604020202020204" pitchFamily="34" charset="0"/>
              </a:rPr>
              <a:t> have two </a:t>
            </a:r>
            <a:r>
              <a:rPr lang="zh-CN" altLang="en-US" dirty="0">
                <a:solidFill>
                  <a:srgbClr val="FF0000"/>
                </a:solidFill>
              </a:rPr>
              <a:t>non-continuous</a:t>
            </a:r>
            <a:r>
              <a:rPr lang="zh-CN" altLang="en-US" dirty="0"/>
              <a:t> </a:t>
            </a:r>
            <a:r>
              <a:rPr lang="zh-CN" altLang="en-US" kern="0" dirty="0">
                <a:latin typeface="Arial" panose="020B0604020202020204" pitchFamily="34" charset="0"/>
                <a:cs typeface="Arial" panose="020B0604020202020204" pitchFamily="34" charset="0"/>
              </a:rPr>
              <a:t>states of operation(ON/OFF).</a:t>
            </a:r>
            <a:endParaRPr lang="zh-CN" altLang="en-US" kern="0" dirty="0">
              <a:latin typeface="Arial" panose="020B0604020202020204" pitchFamily="34" charset="0"/>
              <a:cs typeface="Arial" panose="020B0604020202020204" pitchFamily="34" charset="0"/>
            </a:endParaRPr>
          </a:p>
        </p:txBody>
      </p:sp>
      <p:sp>
        <p:nvSpPr>
          <p:cNvPr id="6" name="文本框 5"/>
          <p:cNvSpPr txBox="1"/>
          <p:nvPr/>
        </p:nvSpPr>
        <p:spPr>
          <a:xfrm>
            <a:off x="1096463" y="2877485"/>
            <a:ext cx="6333671" cy="369332"/>
          </a:xfrm>
          <a:prstGeom prst="rect">
            <a:avLst/>
          </a:prstGeom>
          <a:noFill/>
        </p:spPr>
        <p:txBody>
          <a:bodyPr wrap="square">
            <a:spAutoFit/>
          </a:bodyPr>
          <a:lstStyle/>
          <a:p>
            <a:r>
              <a:rPr lang="zh-CN" altLang="en-US" sz="1800" dirty="0"/>
              <a:t>Cannot be solved with </a:t>
            </a:r>
            <a:r>
              <a:rPr lang="zh-CN" altLang="en-US" sz="1800" dirty="0">
                <a:solidFill>
                  <a:srgbClr val="FF0000"/>
                </a:solidFill>
              </a:rPr>
              <a:t>precise optimisation</a:t>
            </a:r>
            <a:endParaRPr lang="zh-CN" altLang="en-US" sz="1800" dirty="0">
              <a:solidFill>
                <a:srgbClr val="FF0000"/>
              </a:solidFill>
            </a:endParaRPr>
          </a:p>
        </p:txBody>
      </p:sp>
      <p:sp>
        <p:nvSpPr>
          <p:cNvPr id="10" name="文本框 9"/>
          <p:cNvSpPr txBox="1"/>
          <p:nvPr/>
        </p:nvSpPr>
        <p:spPr>
          <a:xfrm>
            <a:off x="1179195" y="3246755"/>
            <a:ext cx="6889115" cy="737235"/>
          </a:xfrm>
          <a:prstGeom prst="rect">
            <a:avLst/>
          </a:prstGeom>
          <a:noFill/>
        </p:spPr>
        <p:txBody>
          <a:bodyPr wrap="square">
            <a:spAutoFit/>
          </a:bodyPr>
          <a:lstStyle/>
          <a:p>
            <a:pPr indent="457200" algn="just" fontAlgn="auto"/>
            <a:r>
              <a:rPr lang="zh-CN" altLang="en-US" kern="0" dirty="0">
                <a:latin typeface="Arial" panose="020B0604020202020204" pitchFamily="34" charset="0"/>
                <a:cs typeface="Arial" panose="020B0604020202020204" pitchFamily="34" charset="0"/>
              </a:rPr>
              <a:t>A two-stage particle swarm algorithm is used to solve the optimisation problem. </a:t>
            </a:r>
            <a:r>
              <a:rPr lang="en-US" altLang="zh-CN" kern="0" dirty="0">
                <a:latin typeface="Arial" panose="020B0604020202020204" pitchFamily="34" charset="0"/>
                <a:cs typeface="Arial" panose="020B0604020202020204" pitchFamily="34" charset="0"/>
              </a:rPr>
              <a:t>Set particles for multiple iterations.</a:t>
            </a:r>
            <a:r>
              <a:rPr lang="zh-CN" altLang="en-US" kern="0" dirty="0">
                <a:latin typeface="Arial" panose="020B0604020202020204" pitchFamily="34" charset="0"/>
                <a:cs typeface="Arial" panose="020B0604020202020204" pitchFamily="34" charset="0"/>
              </a:rPr>
              <a:t> </a:t>
            </a:r>
            <a:r>
              <a:rPr lang="en-US" altLang="zh-CN" kern="0" dirty="0">
                <a:latin typeface="Arial" panose="020B0604020202020204" pitchFamily="34" charset="0"/>
                <a:cs typeface="Arial" panose="020B0604020202020204" pitchFamily="34" charset="0"/>
              </a:rPr>
              <a:t>A</a:t>
            </a:r>
            <a:r>
              <a:rPr lang="zh-CN" altLang="en-US" kern="0" dirty="0">
                <a:latin typeface="Arial" panose="020B0604020202020204" pitchFamily="34" charset="0"/>
                <a:cs typeface="Arial" panose="020B0604020202020204" pitchFamily="34" charset="0"/>
              </a:rPr>
              <a:t>n external </a:t>
            </a:r>
            <a:r>
              <a:rPr lang="en-US" altLang="zh-CN" kern="0" dirty="0">
                <a:latin typeface="Arial" panose="020B0604020202020204" pitchFamily="34" charset="0"/>
                <a:cs typeface="Arial" panose="020B0604020202020204" pitchFamily="34" charset="0"/>
              </a:rPr>
              <a:t>PSO</a:t>
            </a:r>
            <a:r>
              <a:rPr lang="zh-CN" altLang="en-US" kern="0" dirty="0">
                <a:latin typeface="Arial" panose="020B0604020202020204" pitchFamily="34" charset="0"/>
                <a:cs typeface="Arial" panose="020B0604020202020204" pitchFamily="34" charset="0"/>
              </a:rPr>
              <a:t> optimises the siting and sizing of the dg, PV and battery.</a:t>
            </a:r>
            <a:endParaRPr lang="zh-CN" altLang="en-US" kern="0" dirty="0">
              <a:latin typeface="Arial" panose="020B0604020202020204" pitchFamily="34" charset="0"/>
              <a:cs typeface="Arial" panose="020B0604020202020204" pitchFamily="34" charset="0"/>
            </a:endParaRPr>
          </a:p>
        </p:txBody>
      </p:sp>
      <p:sp>
        <p:nvSpPr>
          <p:cNvPr id="11" name="文本框 15"/>
          <p:cNvSpPr txBox="1"/>
          <p:nvPr/>
        </p:nvSpPr>
        <p:spPr>
          <a:xfrm>
            <a:off x="709386" y="309785"/>
            <a:ext cx="2261711" cy="375920"/>
          </a:xfrm>
          <a:prstGeom prst="rect">
            <a:avLst/>
          </a:prstGeom>
          <a:noFill/>
        </p:spPr>
        <p:txBody>
          <a:bodyPr wrap="square" lIns="68580" tIns="34290" rIns="68580" bIns="34290" rtlCol="0">
            <a:spAutoFit/>
          </a:bodyPr>
          <a:lstStyle/>
          <a:p>
            <a:r>
              <a:rPr lang="en-US" altLang="zh-CN" sz="2000" b="1" dirty="0">
                <a:solidFill>
                  <a:srgbClr val="1B4367"/>
                </a:solidFill>
                <a:cs typeface="+mn-ea"/>
                <a:sym typeface="+mn-lt"/>
              </a:rPr>
              <a:t>PSO example</a:t>
            </a:r>
            <a:endParaRPr lang="en-US" altLang="zh-CN" sz="2000" b="1" dirty="0">
              <a:solidFill>
                <a:srgbClr val="1B4367"/>
              </a:solidFill>
              <a:cs typeface="+mn-ea"/>
              <a:sym typeface="+mn-lt"/>
            </a:endParaRPr>
          </a:p>
        </p:txBody>
      </p:sp>
      <p:cxnSp>
        <p:nvCxnSpPr>
          <p:cNvPr id="12" name="直接连接符 11"/>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1429378" y="4743390"/>
            <a:ext cx="6285244" cy="400110"/>
          </a:xfrm>
          <a:prstGeom prst="rect">
            <a:avLst/>
          </a:prstGeom>
          <a:noFill/>
        </p:spPr>
        <p:txBody>
          <a:bodyPr wrap="square">
            <a:spAutoFit/>
          </a:bodyPr>
          <a:lstStyle/>
          <a:p>
            <a:r>
              <a:rPr lang="en-US" altLang="zh-CN" sz="1000" dirty="0">
                <a:latin typeface="Arial" panose="020B0604020202020204" pitchFamily="34" charset="0"/>
                <a:cs typeface="Arial" panose="020B0604020202020204" pitchFamily="34" charset="0"/>
              </a:rPr>
              <a:t>Rodríguez-Gallegos, Carlos D., et al. "A siting and sizing optimization approach for PV–battery–diesel hybrid systems." IEEE Transactions on Industry Applications 54.3 (2017): 2637-2645.</a:t>
            </a:r>
            <a:endParaRPr lang="zh-CN" altLang="en-US" sz="1000" dirty="0">
              <a:latin typeface="Arial" panose="020B0604020202020204" pitchFamily="34" charset="0"/>
              <a:cs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1"/>
                                        </p:tgtEl>
                                        <p:attrNameLst>
                                          <p:attrName>ppt_y</p:attrName>
                                        </p:attrNameLst>
                                      </p:cBhvr>
                                      <p:tavLst>
                                        <p:tav tm="0">
                                          <p:val>
                                            <p:strVal val="#ppt_y"/>
                                          </p:val>
                                        </p:tav>
                                        <p:tav tm="100000">
                                          <p:val>
                                            <p:strVal val="#ppt_y"/>
                                          </p:val>
                                        </p:tav>
                                      </p:tavLst>
                                    </p:anim>
                                    <p:anim calcmode="lin" valueType="num">
                                      <p:cBhvr>
                                        <p:cTn id="9" dur="500" fill="hold"/>
                                        <p:tgtEl>
                                          <p:spTgt spid="11"/>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1"/>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1"/>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3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圆角 15"/>
          <p:cNvSpPr/>
          <p:nvPr/>
        </p:nvSpPr>
        <p:spPr>
          <a:xfrm>
            <a:off x="4666615" y="3101975"/>
            <a:ext cx="4269105" cy="1234440"/>
          </a:xfrm>
          <a:prstGeom prst="roundRect">
            <a:avLst/>
          </a:prstGeom>
          <a:solidFill>
            <a:schemeClr val="bg1">
              <a:lumMod val="75000"/>
            </a:schemeClr>
          </a:solidFill>
        </p:spPr>
        <p:style>
          <a:lnRef idx="2">
            <a:schemeClr val="accent3">
              <a:shade val="15000"/>
            </a:schemeClr>
          </a:lnRef>
          <a:fillRef idx="1">
            <a:schemeClr val="accent3"/>
          </a:fillRef>
          <a:effectRef idx="0">
            <a:schemeClr val="accent3"/>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5" name="矩形: 圆角 14"/>
          <p:cNvSpPr/>
          <p:nvPr/>
        </p:nvSpPr>
        <p:spPr>
          <a:xfrm>
            <a:off x="4674235" y="1282700"/>
            <a:ext cx="4269105" cy="1289050"/>
          </a:xfrm>
          <a:prstGeom prst="roundRect">
            <a:avLst/>
          </a:prstGeom>
          <a:solidFill>
            <a:schemeClr val="bg1">
              <a:lumMod val="75000"/>
            </a:schemeClr>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zh-CN" altLang="en-US"/>
          </a:p>
        </p:txBody>
      </p:sp>
      <p:pic>
        <p:nvPicPr>
          <p:cNvPr id="2" name="图片 1"/>
          <p:cNvPicPr>
            <a:picLocks noChangeAspect="1"/>
          </p:cNvPicPr>
          <p:nvPr/>
        </p:nvPicPr>
        <p:blipFill>
          <a:blip r:embed="rId1">
            <a:extLst>
              <a:ext uri="{BEBA8EAE-BF5A-486C-A8C5-ECC9F3942E4B}">
                <a14:imgProps xmlns:a14="http://schemas.microsoft.com/office/drawing/2010/main">
                  <a14:imgLayer r:embed="rId2">
                    <a14:imgEffect>
                      <a14:sharpenSoften amount="30000"/>
                    </a14:imgEffect>
                  </a14:imgLayer>
                </a14:imgProps>
              </a:ext>
            </a:extLst>
          </a:blip>
          <a:stretch>
            <a:fillRect/>
          </a:stretch>
        </p:blipFill>
        <p:spPr>
          <a:xfrm>
            <a:off x="435425" y="1102139"/>
            <a:ext cx="3900186" cy="2469349"/>
          </a:xfrm>
          <a:prstGeom prst="rect">
            <a:avLst/>
          </a:prstGeom>
        </p:spPr>
      </p:pic>
      <p:sp>
        <p:nvSpPr>
          <p:cNvPr id="4" name="文本框 3"/>
          <p:cNvSpPr txBox="1"/>
          <p:nvPr/>
        </p:nvSpPr>
        <p:spPr>
          <a:xfrm>
            <a:off x="4709426" y="1340673"/>
            <a:ext cx="4148255" cy="954107"/>
          </a:xfrm>
          <a:prstGeom prst="rect">
            <a:avLst/>
          </a:prstGeom>
          <a:noFill/>
        </p:spPr>
        <p:txBody>
          <a:bodyPr wrap="square">
            <a:spAutoFit/>
          </a:bodyPr>
          <a:lstStyle/>
          <a:p>
            <a:pPr indent="457200" algn="just"/>
            <a:r>
              <a:rPr lang="en-US" altLang="zh-CN" kern="0" dirty="0">
                <a:latin typeface="Arial" panose="020B0604020202020204" pitchFamily="34" charset="0"/>
                <a:cs typeface="Arial" panose="020B0604020202020204" pitchFamily="34" charset="0"/>
              </a:rPr>
              <a:t>In Boolean system truth value, 1.0 means absolute truth value and 0.0 means absolute false value. But in fuzzy system there is </a:t>
            </a:r>
            <a:r>
              <a:rPr lang="en-US" altLang="zh-CN" b="0" i="0" dirty="0">
                <a:solidFill>
                  <a:srgbClr val="FF0000"/>
                </a:solidFill>
                <a:effectLst/>
                <a:latin typeface="+mn-ea"/>
              </a:rPr>
              <a:t>no logic in</a:t>
            </a:r>
            <a:r>
              <a:rPr lang="en-US" altLang="zh-CN" b="0" i="0" dirty="0">
                <a:solidFill>
                  <a:srgbClr val="273239"/>
                </a:solidFill>
                <a:effectLst/>
                <a:latin typeface="+mn-ea"/>
              </a:rPr>
              <a:t> </a:t>
            </a:r>
            <a:r>
              <a:rPr lang="en-US" altLang="zh-CN" kern="0" dirty="0">
                <a:latin typeface="Arial" panose="020B0604020202020204" pitchFamily="34" charset="0"/>
                <a:cs typeface="Arial" panose="020B0604020202020204" pitchFamily="34" charset="0"/>
              </a:rPr>
              <a:t>absolute true value and absolute false value. </a:t>
            </a:r>
            <a:endParaRPr lang="en-US" altLang="zh-CN" kern="0" dirty="0">
              <a:latin typeface="Arial" panose="020B0604020202020204" pitchFamily="34" charset="0"/>
              <a:cs typeface="Arial" panose="020B0604020202020204" pitchFamily="34" charset="0"/>
            </a:endParaRPr>
          </a:p>
        </p:txBody>
      </p:sp>
      <p:sp>
        <p:nvSpPr>
          <p:cNvPr id="5" name="文本框 4"/>
          <p:cNvSpPr txBox="1"/>
          <p:nvPr/>
        </p:nvSpPr>
        <p:spPr>
          <a:xfrm>
            <a:off x="435610" y="3571240"/>
            <a:ext cx="3935095" cy="738664"/>
          </a:xfrm>
          <a:prstGeom prst="rect">
            <a:avLst/>
          </a:prstGeom>
          <a:noFill/>
        </p:spPr>
        <p:txBody>
          <a:bodyPr wrap="square">
            <a:spAutoFit/>
          </a:bodyPr>
          <a:lstStyle/>
          <a:p>
            <a:pPr indent="457200" algn="just"/>
            <a:r>
              <a:rPr lang="zh-CN" altLang="en-US" kern="0" dirty="0">
                <a:latin typeface="Arial" panose="020B0604020202020204" pitchFamily="34" charset="0"/>
                <a:cs typeface="Arial" panose="020B0604020202020204" pitchFamily="34" charset="0"/>
              </a:rPr>
              <a:t>It allows for partial truths, in which statements can be partially correct or incorrect, rather than completely correct or incorrect.</a:t>
            </a:r>
            <a:endParaRPr lang="zh-CN" altLang="en-US" kern="0" dirty="0">
              <a:latin typeface="Arial" panose="020B0604020202020204" pitchFamily="34" charset="0"/>
              <a:cs typeface="Arial" panose="020B0604020202020204" pitchFamily="34" charset="0"/>
            </a:endParaRPr>
          </a:p>
        </p:txBody>
      </p:sp>
      <p:sp>
        <p:nvSpPr>
          <p:cNvPr id="7" name="文本框 6"/>
          <p:cNvSpPr txBox="1"/>
          <p:nvPr/>
        </p:nvSpPr>
        <p:spPr>
          <a:xfrm>
            <a:off x="4660265" y="3219450"/>
            <a:ext cx="4269105" cy="967740"/>
          </a:xfrm>
          <a:prstGeom prst="rect">
            <a:avLst/>
          </a:prstGeom>
          <a:noFill/>
        </p:spPr>
        <p:txBody>
          <a:bodyPr wrap="square">
            <a:noAutofit/>
          </a:bodyPr>
          <a:lstStyle/>
          <a:p>
            <a:pPr indent="457200" algn="just" fontAlgn="base"/>
            <a:r>
              <a:rPr lang="en-US" altLang="zh-CN" kern="0" dirty="0">
                <a:latin typeface="Arial" panose="020B0604020202020204" pitchFamily="34" charset="0"/>
                <a:cs typeface="Arial" panose="020B0604020202020204" pitchFamily="34" charset="0"/>
              </a:rPr>
              <a:t>Fuzzy logic is used in a wide range of applications such as </a:t>
            </a:r>
            <a:r>
              <a:rPr lang="en-US" altLang="zh-CN" dirty="0">
                <a:solidFill>
                  <a:srgbClr val="FF0000"/>
                </a:solidFill>
                <a:latin typeface="+mn-ea"/>
              </a:rPr>
              <a:t>control systems</a:t>
            </a:r>
            <a:r>
              <a:rPr lang="en-US" altLang="zh-CN" kern="0" dirty="0">
                <a:latin typeface="Arial" panose="020B0604020202020204" pitchFamily="34" charset="0"/>
                <a:cs typeface="Arial" panose="020B0604020202020204" pitchFamily="34" charset="0"/>
              </a:rPr>
              <a:t>, image processing, natural language processing, medical diagnostics and artificial intelligence</a:t>
            </a:r>
            <a:r>
              <a:rPr lang="en-US" altLang="zh-CN" dirty="0">
                <a:solidFill>
                  <a:srgbClr val="273239"/>
                </a:solidFill>
                <a:latin typeface="+mn-ea"/>
              </a:rPr>
              <a:t>.</a:t>
            </a:r>
            <a:endParaRPr lang="en-US" altLang="zh-CN" dirty="0">
              <a:solidFill>
                <a:srgbClr val="273239"/>
              </a:solidFill>
              <a:latin typeface="+mn-ea"/>
            </a:endParaRPr>
          </a:p>
        </p:txBody>
      </p:sp>
      <p:grpSp>
        <p:nvGrpSpPr>
          <p:cNvPr id="8" name="组合 7"/>
          <p:cNvGrpSpPr/>
          <p:nvPr/>
        </p:nvGrpSpPr>
        <p:grpSpPr>
          <a:xfrm>
            <a:off x="4621639" y="2929700"/>
            <a:ext cx="504825" cy="501968"/>
            <a:chOff x="8470" y="2554"/>
            <a:chExt cx="1060" cy="1054"/>
          </a:xfrm>
          <a:solidFill>
            <a:srgbClr val="1B4367"/>
          </a:solidFill>
        </p:grpSpPr>
        <p:sp>
          <p:nvSpPr>
            <p:cNvPr id="9" name="Freeform 8"/>
            <p:cNvSpPr/>
            <p:nvPr/>
          </p:nvSpPr>
          <p:spPr>
            <a:xfrm>
              <a:off x="8470" y="2554"/>
              <a:ext cx="1061" cy="1054"/>
            </a:xfrm>
            <a:custGeom>
              <a:avLst/>
              <a:gdLst>
                <a:gd name="txL" fmla="*/ 0 w 271"/>
                <a:gd name="txT" fmla="*/ 0 h 271"/>
                <a:gd name="txR" fmla="*/ 271 w 271"/>
                <a:gd name="txB" fmla="*/ 271 h 271"/>
              </a:gdLst>
              <a:ahLst/>
              <a:cxnLst>
                <a:cxn ang="0">
                  <a:pos x="381094" y="77840"/>
                </a:cxn>
                <a:cxn ang="0">
                  <a:pos x="406025" y="378587"/>
                </a:cxn>
                <a:cxn ang="0">
                  <a:pos x="101506" y="403354"/>
                </a:cxn>
                <a:cxn ang="0">
                  <a:pos x="78356" y="100838"/>
                </a:cxn>
                <a:cxn ang="0">
                  <a:pos x="381094" y="77840"/>
                </a:cxn>
              </a:cxnLst>
              <a:rect l="txL" t="txT" r="txR" b="txB"/>
              <a:pathLst>
                <a:path w="271" h="271">
                  <a:moveTo>
                    <a:pt x="214" y="44"/>
                  </a:moveTo>
                  <a:cubicBezTo>
                    <a:pt x="265" y="87"/>
                    <a:pt x="271" y="163"/>
                    <a:pt x="228" y="214"/>
                  </a:cubicBezTo>
                  <a:cubicBezTo>
                    <a:pt x="184" y="265"/>
                    <a:pt x="108" y="271"/>
                    <a:pt x="57" y="228"/>
                  </a:cubicBezTo>
                  <a:cubicBezTo>
                    <a:pt x="7" y="184"/>
                    <a:pt x="0" y="108"/>
                    <a:pt x="44" y="57"/>
                  </a:cubicBezTo>
                  <a:cubicBezTo>
                    <a:pt x="87" y="7"/>
                    <a:pt x="163" y="0"/>
                    <a:pt x="214" y="44"/>
                  </a:cubicBezTo>
                  <a:close/>
                </a:path>
              </a:pathLst>
            </a:custGeom>
            <a:grpFill/>
            <a:ln w="9525">
              <a:noFill/>
            </a:ln>
          </p:spPr>
          <p:txBody>
            <a:bodyPr/>
            <a:lstStyle/>
            <a:p>
              <a:endParaRPr lang="zh-CN" altLang="en-US">
                <a:solidFill>
                  <a:schemeClr val="tx1">
                    <a:lumMod val="50000"/>
                    <a:lumOff val="50000"/>
                  </a:schemeClr>
                </a:solidFill>
                <a:cs typeface="+mn-ea"/>
                <a:sym typeface="+mn-lt"/>
              </a:endParaRPr>
            </a:p>
          </p:txBody>
        </p:sp>
        <p:sp>
          <p:nvSpPr>
            <p:cNvPr id="10" name="Freeform 87"/>
            <p:cNvSpPr>
              <a:spLocks noEditPoints="1"/>
            </p:cNvSpPr>
            <p:nvPr/>
          </p:nvSpPr>
          <p:spPr>
            <a:xfrm>
              <a:off x="8669" y="2847"/>
              <a:ext cx="712" cy="468"/>
            </a:xfrm>
            <a:custGeom>
              <a:avLst/>
              <a:gdLst>
                <a:gd name="txL" fmla="*/ 0 w 162"/>
                <a:gd name="txT" fmla="*/ 0 h 106"/>
                <a:gd name="txR" fmla="*/ 162 w 162"/>
                <a:gd name="txB" fmla="*/ 106 h 106"/>
              </a:gdLst>
              <a:ahLst/>
              <a:cxnLst>
                <a:cxn ang="0">
                  <a:pos x="323850" y="24082"/>
                </a:cxn>
                <a:cxn ang="0">
                  <a:pos x="173919" y="0"/>
                </a:cxn>
                <a:cxn ang="0">
                  <a:pos x="9995" y="24082"/>
                </a:cxn>
                <a:cxn ang="0">
                  <a:pos x="9995" y="110376"/>
                </a:cxn>
                <a:cxn ang="0">
                  <a:pos x="5997" y="120410"/>
                </a:cxn>
                <a:cxn ang="0">
                  <a:pos x="15993" y="132451"/>
                </a:cxn>
                <a:cxn ang="0">
                  <a:pos x="27987" y="120410"/>
                </a:cxn>
                <a:cxn ang="0">
                  <a:pos x="21990" y="110376"/>
                </a:cxn>
                <a:cxn ang="0">
                  <a:pos x="21990" y="56192"/>
                </a:cxn>
                <a:cxn ang="0">
                  <a:pos x="173919" y="78267"/>
                </a:cxn>
                <a:cxn ang="0">
                  <a:pos x="323850" y="54185"/>
                </a:cxn>
                <a:cxn ang="0">
                  <a:pos x="323850" y="24082"/>
                </a:cxn>
                <a:cxn ang="0">
                  <a:pos x="25988" y="136465"/>
                </a:cxn>
                <a:cxn ang="0">
                  <a:pos x="7996" y="136465"/>
                </a:cxn>
                <a:cxn ang="0">
                  <a:pos x="0" y="188643"/>
                </a:cxn>
                <a:cxn ang="0">
                  <a:pos x="5997" y="190650"/>
                </a:cxn>
                <a:cxn ang="0">
                  <a:pos x="7996" y="184629"/>
                </a:cxn>
                <a:cxn ang="0">
                  <a:pos x="7996" y="190650"/>
                </a:cxn>
                <a:cxn ang="0">
                  <a:pos x="17992" y="192657"/>
                </a:cxn>
                <a:cxn ang="0">
                  <a:pos x="19991" y="186636"/>
                </a:cxn>
                <a:cxn ang="0">
                  <a:pos x="21990" y="190650"/>
                </a:cxn>
                <a:cxn ang="0">
                  <a:pos x="23989" y="190650"/>
                </a:cxn>
                <a:cxn ang="0">
                  <a:pos x="25988" y="166568"/>
                </a:cxn>
                <a:cxn ang="0">
                  <a:pos x="27987" y="190650"/>
                </a:cxn>
                <a:cxn ang="0">
                  <a:pos x="33984" y="188643"/>
                </a:cxn>
                <a:cxn ang="0">
                  <a:pos x="25988" y="136465"/>
                </a:cxn>
                <a:cxn ang="0">
                  <a:pos x="59972" y="188643"/>
                </a:cxn>
                <a:cxn ang="0">
                  <a:pos x="59972" y="74253"/>
                </a:cxn>
                <a:cxn ang="0">
                  <a:pos x="173919" y="90308"/>
                </a:cxn>
                <a:cxn ang="0">
                  <a:pos x="281869" y="74253"/>
                </a:cxn>
                <a:cxn ang="0">
                  <a:pos x="281869" y="186636"/>
                </a:cxn>
                <a:cxn ang="0">
                  <a:pos x="171920" y="212725"/>
                </a:cxn>
                <a:cxn ang="0">
                  <a:pos x="59972" y="188643"/>
                </a:cxn>
              </a:cxnLst>
              <a:rect l="txL" t="txT" r="txR" b="txB"/>
              <a:pathLst>
                <a:path w="162" h="106">
                  <a:moveTo>
                    <a:pt x="162" y="12"/>
                  </a:moveTo>
                  <a:cubicBezTo>
                    <a:pt x="87" y="0"/>
                    <a:pt x="87" y="0"/>
                    <a:pt x="87" y="0"/>
                  </a:cubicBezTo>
                  <a:cubicBezTo>
                    <a:pt x="5" y="12"/>
                    <a:pt x="5" y="12"/>
                    <a:pt x="5" y="12"/>
                  </a:cubicBezTo>
                  <a:cubicBezTo>
                    <a:pt x="5" y="27"/>
                    <a:pt x="5" y="41"/>
                    <a:pt x="5" y="55"/>
                  </a:cubicBezTo>
                  <a:cubicBezTo>
                    <a:pt x="4" y="56"/>
                    <a:pt x="3" y="58"/>
                    <a:pt x="3" y="60"/>
                  </a:cubicBezTo>
                  <a:cubicBezTo>
                    <a:pt x="3" y="63"/>
                    <a:pt x="5" y="66"/>
                    <a:pt x="8" y="66"/>
                  </a:cubicBezTo>
                  <a:cubicBezTo>
                    <a:pt x="12" y="66"/>
                    <a:pt x="14" y="63"/>
                    <a:pt x="14" y="60"/>
                  </a:cubicBezTo>
                  <a:cubicBezTo>
                    <a:pt x="14" y="58"/>
                    <a:pt x="13" y="56"/>
                    <a:pt x="11" y="55"/>
                  </a:cubicBezTo>
                  <a:cubicBezTo>
                    <a:pt x="11" y="28"/>
                    <a:pt x="11" y="28"/>
                    <a:pt x="11" y="28"/>
                  </a:cubicBezTo>
                  <a:cubicBezTo>
                    <a:pt x="87" y="39"/>
                    <a:pt x="87" y="39"/>
                    <a:pt x="87" y="39"/>
                  </a:cubicBezTo>
                  <a:cubicBezTo>
                    <a:pt x="162" y="27"/>
                    <a:pt x="162" y="27"/>
                    <a:pt x="162" y="27"/>
                  </a:cubicBezTo>
                  <a:cubicBezTo>
                    <a:pt x="162" y="12"/>
                    <a:pt x="162" y="12"/>
                    <a:pt x="162" y="12"/>
                  </a:cubicBezTo>
                  <a:close/>
                  <a:moveTo>
                    <a:pt x="13" y="68"/>
                  </a:moveTo>
                  <a:cubicBezTo>
                    <a:pt x="10" y="69"/>
                    <a:pt x="7" y="69"/>
                    <a:pt x="4" y="68"/>
                  </a:cubicBezTo>
                  <a:cubicBezTo>
                    <a:pt x="3" y="77"/>
                    <a:pt x="1" y="85"/>
                    <a:pt x="0" y="94"/>
                  </a:cubicBezTo>
                  <a:cubicBezTo>
                    <a:pt x="1" y="94"/>
                    <a:pt x="2" y="94"/>
                    <a:pt x="3" y="95"/>
                  </a:cubicBezTo>
                  <a:cubicBezTo>
                    <a:pt x="4" y="92"/>
                    <a:pt x="4" y="92"/>
                    <a:pt x="4" y="92"/>
                  </a:cubicBezTo>
                  <a:cubicBezTo>
                    <a:pt x="4" y="95"/>
                    <a:pt x="4" y="95"/>
                    <a:pt x="4" y="95"/>
                  </a:cubicBezTo>
                  <a:cubicBezTo>
                    <a:pt x="6" y="95"/>
                    <a:pt x="8" y="96"/>
                    <a:pt x="9" y="96"/>
                  </a:cubicBezTo>
                  <a:cubicBezTo>
                    <a:pt x="10" y="93"/>
                    <a:pt x="10" y="93"/>
                    <a:pt x="10" y="93"/>
                  </a:cubicBezTo>
                  <a:cubicBezTo>
                    <a:pt x="11" y="95"/>
                    <a:pt x="11" y="95"/>
                    <a:pt x="11" y="95"/>
                  </a:cubicBezTo>
                  <a:cubicBezTo>
                    <a:pt x="12" y="95"/>
                    <a:pt x="12" y="95"/>
                    <a:pt x="12" y="95"/>
                  </a:cubicBezTo>
                  <a:cubicBezTo>
                    <a:pt x="13" y="83"/>
                    <a:pt x="13" y="83"/>
                    <a:pt x="13" y="83"/>
                  </a:cubicBezTo>
                  <a:cubicBezTo>
                    <a:pt x="14" y="95"/>
                    <a:pt x="14" y="95"/>
                    <a:pt x="14" y="95"/>
                  </a:cubicBezTo>
                  <a:cubicBezTo>
                    <a:pt x="15" y="94"/>
                    <a:pt x="16" y="94"/>
                    <a:pt x="17" y="94"/>
                  </a:cubicBezTo>
                  <a:cubicBezTo>
                    <a:pt x="16" y="85"/>
                    <a:pt x="14" y="77"/>
                    <a:pt x="13" y="68"/>
                  </a:cubicBezTo>
                  <a:close/>
                  <a:moveTo>
                    <a:pt x="30" y="94"/>
                  </a:moveTo>
                  <a:cubicBezTo>
                    <a:pt x="30" y="37"/>
                    <a:pt x="30" y="37"/>
                    <a:pt x="30" y="37"/>
                  </a:cubicBezTo>
                  <a:cubicBezTo>
                    <a:pt x="87" y="45"/>
                    <a:pt x="87" y="45"/>
                    <a:pt x="87" y="45"/>
                  </a:cubicBezTo>
                  <a:cubicBezTo>
                    <a:pt x="141" y="37"/>
                    <a:pt x="141" y="37"/>
                    <a:pt x="141" y="37"/>
                  </a:cubicBezTo>
                  <a:cubicBezTo>
                    <a:pt x="141" y="93"/>
                    <a:pt x="141" y="93"/>
                    <a:pt x="141" y="93"/>
                  </a:cubicBezTo>
                  <a:cubicBezTo>
                    <a:pt x="122" y="93"/>
                    <a:pt x="104" y="98"/>
                    <a:pt x="86" y="106"/>
                  </a:cubicBezTo>
                  <a:cubicBezTo>
                    <a:pt x="68" y="97"/>
                    <a:pt x="49" y="94"/>
                    <a:pt x="30" y="94"/>
                  </a:cubicBezTo>
                  <a:close/>
                </a:path>
              </a:pathLst>
            </a:custGeom>
            <a:solidFill>
              <a:schemeClr val="bg1"/>
            </a:solidFill>
            <a:ln w="9525">
              <a:noFill/>
            </a:ln>
          </p:spPr>
          <p:txBody>
            <a:bodyPr/>
            <a:lstStyle/>
            <a:p>
              <a:endParaRPr lang="zh-CN" altLang="en-US">
                <a:solidFill>
                  <a:schemeClr val="tx1">
                    <a:lumMod val="50000"/>
                    <a:lumOff val="50000"/>
                  </a:schemeClr>
                </a:solidFill>
                <a:cs typeface="+mn-ea"/>
                <a:sym typeface="+mn-lt"/>
              </a:endParaRPr>
            </a:p>
          </p:txBody>
        </p:sp>
      </p:grpSp>
      <p:grpSp>
        <p:nvGrpSpPr>
          <p:cNvPr id="11" name="组合 10"/>
          <p:cNvGrpSpPr/>
          <p:nvPr/>
        </p:nvGrpSpPr>
        <p:grpSpPr>
          <a:xfrm>
            <a:off x="4635988" y="1036866"/>
            <a:ext cx="504349" cy="506254"/>
            <a:chOff x="4030" y="4930"/>
            <a:chExt cx="840" cy="843"/>
          </a:xfrm>
          <a:solidFill>
            <a:srgbClr val="1B4367"/>
          </a:solidFill>
        </p:grpSpPr>
        <p:sp>
          <p:nvSpPr>
            <p:cNvPr id="12" name="Freeform 1819"/>
            <p:cNvSpPr/>
            <p:nvPr/>
          </p:nvSpPr>
          <p:spPr>
            <a:xfrm>
              <a:off x="4030" y="4930"/>
              <a:ext cx="840" cy="843"/>
            </a:xfrm>
            <a:custGeom>
              <a:avLst/>
              <a:gdLst>
                <a:gd name="txL" fmla="*/ 0 w 92"/>
                <a:gd name="txT" fmla="*/ 0 h 92"/>
                <a:gd name="txR" fmla="*/ 92 w 92"/>
                <a:gd name="txB" fmla="*/ 92 h 92"/>
              </a:gdLst>
              <a:ahLst/>
              <a:cxnLst>
                <a:cxn ang="0">
                  <a:pos x="382657" y="63966"/>
                </a:cxn>
                <a:cxn ang="0">
                  <a:pos x="469624" y="383796"/>
                </a:cxn>
                <a:cxn ang="0">
                  <a:pos x="150743" y="471022"/>
                </a:cxn>
                <a:cxn ang="0">
                  <a:pos x="69574" y="151192"/>
                </a:cxn>
                <a:cxn ang="0">
                  <a:pos x="382657" y="63966"/>
                </a:cxn>
              </a:cxnLst>
              <a:rect l="txL" t="txT" r="txR" b="txB"/>
              <a:pathLst>
                <a:path w="92" h="92">
                  <a:moveTo>
                    <a:pt x="66" y="11"/>
                  </a:moveTo>
                  <a:cubicBezTo>
                    <a:pt x="85" y="23"/>
                    <a:pt x="92" y="47"/>
                    <a:pt x="81" y="66"/>
                  </a:cubicBezTo>
                  <a:cubicBezTo>
                    <a:pt x="70" y="85"/>
                    <a:pt x="45" y="92"/>
                    <a:pt x="26" y="81"/>
                  </a:cubicBezTo>
                  <a:cubicBezTo>
                    <a:pt x="7" y="70"/>
                    <a:pt x="0" y="45"/>
                    <a:pt x="12" y="26"/>
                  </a:cubicBezTo>
                  <a:cubicBezTo>
                    <a:pt x="23" y="7"/>
                    <a:pt x="47" y="0"/>
                    <a:pt x="66" y="11"/>
                  </a:cubicBezTo>
                </a:path>
              </a:pathLst>
            </a:custGeom>
            <a:grpFill/>
            <a:ln w="9525">
              <a:noFill/>
            </a:ln>
          </p:spPr>
          <p:txBody>
            <a:bodyPr/>
            <a:lstStyle/>
            <a:p>
              <a:endParaRPr lang="zh-CN" altLang="en-US">
                <a:solidFill>
                  <a:schemeClr val="tx1">
                    <a:lumMod val="50000"/>
                    <a:lumOff val="50000"/>
                  </a:schemeClr>
                </a:solidFill>
                <a:cs typeface="+mn-ea"/>
                <a:sym typeface="+mn-lt"/>
              </a:endParaRPr>
            </a:p>
          </p:txBody>
        </p:sp>
        <p:sp>
          <p:nvSpPr>
            <p:cNvPr id="13" name="稻壳儿小白白(http://dwz.cn/Wu2UP)"/>
            <p:cNvSpPr>
              <a:spLocks noEditPoints="1"/>
            </p:cNvSpPr>
            <p:nvPr/>
          </p:nvSpPr>
          <p:spPr>
            <a:xfrm>
              <a:off x="4214" y="5125"/>
              <a:ext cx="425" cy="425"/>
            </a:xfrm>
            <a:custGeom>
              <a:avLst/>
              <a:gdLst/>
              <a:ahLst/>
              <a:cxnLst>
                <a:cxn ang="0">
                  <a:pos x="1479576135" y="12226576"/>
                </a:cxn>
                <a:cxn ang="0">
                  <a:pos x="1455122931" y="0"/>
                </a:cxn>
                <a:cxn ang="0">
                  <a:pos x="1430665982" y="12226576"/>
                </a:cxn>
                <a:cxn ang="0">
                  <a:pos x="24456949" y="941543682"/>
                </a:cxn>
                <a:cxn ang="0">
                  <a:pos x="0" y="990457474"/>
                </a:cxn>
                <a:cxn ang="0">
                  <a:pos x="24456949" y="1027140945"/>
                </a:cxn>
                <a:cxn ang="0">
                  <a:pos x="391292460" y="1173874831"/>
                </a:cxn>
                <a:cxn ang="0">
                  <a:pos x="562483613" y="1479569178"/>
                </a:cxn>
                <a:cxn ang="0">
                  <a:pos x="611393766" y="1504026074"/>
                </a:cxn>
                <a:cxn ang="0">
                  <a:pos x="611393766" y="1504026074"/>
                </a:cxn>
                <a:cxn ang="0">
                  <a:pos x="648081062" y="1479569178"/>
                </a:cxn>
                <a:cxn ang="0">
                  <a:pos x="745901369" y="1308382141"/>
                </a:cxn>
                <a:cxn ang="0">
                  <a:pos x="1198334329" y="1491799499"/>
                </a:cxn>
                <a:cxn ang="0">
                  <a:pos x="1222791278" y="1504026074"/>
                </a:cxn>
                <a:cxn ang="0">
                  <a:pos x="1235017880" y="1491799499"/>
                </a:cxn>
                <a:cxn ang="0">
                  <a:pos x="1259474829" y="1455116027"/>
                </a:cxn>
                <a:cxn ang="0">
                  <a:pos x="1504033084" y="48910047"/>
                </a:cxn>
                <a:cxn ang="0">
                  <a:pos x="1479576135" y="12226576"/>
                </a:cxn>
                <a:cxn ang="0">
                  <a:pos x="146734204" y="978227154"/>
                </a:cxn>
                <a:cxn ang="0">
                  <a:pos x="1235017880" y="244557725"/>
                </a:cxn>
                <a:cxn ang="0">
                  <a:pos x="440206358" y="1088277568"/>
                </a:cxn>
                <a:cxn ang="0">
                  <a:pos x="427976011" y="1088277568"/>
                </a:cxn>
                <a:cxn ang="0">
                  <a:pos x="146734204" y="978227154"/>
                </a:cxn>
                <a:cxn ang="0">
                  <a:pos x="476889909" y="1124961039"/>
                </a:cxn>
                <a:cxn ang="0">
                  <a:pos x="476889909" y="1124961039"/>
                </a:cxn>
                <a:cxn ang="0">
                  <a:pos x="1369525482" y="171190782"/>
                </a:cxn>
                <a:cxn ang="0">
                  <a:pos x="611393766" y="1357292188"/>
                </a:cxn>
                <a:cxn ang="0">
                  <a:pos x="476889909" y="1124961039"/>
                </a:cxn>
                <a:cxn ang="0">
                  <a:pos x="1186107726" y="1381749084"/>
                </a:cxn>
                <a:cxn ang="0">
                  <a:pos x="782584920" y="1222784878"/>
                </a:cxn>
                <a:cxn ang="0">
                  <a:pos x="745901369" y="1222784878"/>
                </a:cxn>
                <a:cxn ang="0">
                  <a:pos x="1369525482" y="269014620"/>
                </a:cxn>
                <a:cxn ang="0">
                  <a:pos x="1186107726" y="1381749084"/>
                </a:cxn>
                <a:cxn ang="0">
                  <a:pos x="1186107726" y="1381749084"/>
                </a:cxn>
                <a:cxn ang="0">
                  <a:pos x="1186107726" y="1381749084"/>
                </a:cxn>
              </a:cxnLst>
              <a:rect l="0" t="0" r="0" b="0"/>
              <a:pathLst>
                <a:path w="123" h="123">
                  <a:moveTo>
                    <a:pt x="121" y="1"/>
                  </a:moveTo>
                  <a:cubicBezTo>
                    <a:pt x="120" y="0"/>
                    <a:pt x="119" y="0"/>
                    <a:pt x="119" y="0"/>
                  </a:cubicBezTo>
                  <a:cubicBezTo>
                    <a:pt x="118" y="0"/>
                    <a:pt x="117" y="0"/>
                    <a:pt x="117" y="1"/>
                  </a:cubicBezTo>
                  <a:cubicBezTo>
                    <a:pt x="2" y="77"/>
                    <a:pt x="2" y="77"/>
                    <a:pt x="2" y="77"/>
                  </a:cubicBezTo>
                  <a:cubicBezTo>
                    <a:pt x="0" y="78"/>
                    <a:pt x="0" y="79"/>
                    <a:pt x="0" y="81"/>
                  </a:cubicBezTo>
                  <a:cubicBezTo>
                    <a:pt x="0" y="82"/>
                    <a:pt x="1" y="83"/>
                    <a:pt x="2" y="84"/>
                  </a:cubicBezTo>
                  <a:cubicBezTo>
                    <a:pt x="32" y="96"/>
                    <a:pt x="32" y="96"/>
                    <a:pt x="32" y="96"/>
                  </a:cubicBezTo>
                  <a:cubicBezTo>
                    <a:pt x="46" y="121"/>
                    <a:pt x="46" y="121"/>
                    <a:pt x="46" y="121"/>
                  </a:cubicBezTo>
                  <a:cubicBezTo>
                    <a:pt x="47" y="122"/>
                    <a:pt x="48" y="123"/>
                    <a:pt x="50" y="123"/>
                  </a:cubicBezTo>
                  <a:cubicBezTo>
                    <a:pt x="50" y="123"/>
                    <a:pt x="50" y="123"/>
                    <a:pt x="50" y="123"/>
                  </a:cubicBezTo>
                  <a:cubicBezTo>
                    <a:pt x="51" y="123"/>
                    <a:pt x="52" y="122"/>
                    <a:pt x="53" y="121"/>
                  </a:cubicBezTo>
                  <a:cubicBezTo>
                    <a:pt x="61" y="107"/>
                    <a:pt x="61" y="107"/>
                    <a:pt x="61" y="107"/>
                  </a:cubicBezTo>
                  <a:cubicBezTo>
                    <a:pt x="98" y="122"/>
                    <a:pt x="98" y="122"/>
                    <a:pt x="98" y="122"/>
                  </a:cubicBezTo>
                  <a:cubicBezTo>
                    <a:pt x="99" y="123"/>
                    <a:pt x="99" y="123"/>
                    <a:pt x="100" y="123"/>
                  </a:cubicBezTo>
                  <a:cubicBezTo>
                    <a:pt x="100" y="123"/>
                    <a:pt x="101" y="122"/>
                    <a:pt x="101" y="122"/>
                  </a:cubicBezTo>
                  <a:cubicBezTo>
                    <a:pt x="102" y="122"/>
                    <a:pt x="103" y="121"/>
                    <a:pt x="103" y="119"/>
                  </a:cubicBezTo>
                  <a:cubicBezTo>
                    <a:pt x="123" y="4"/>
                    <a:pt x="123" y="4"/>
                    <a:pt x="123" y="4"/>
                  </a:cubicBezTo>
                  <a:cubicBezTo>
                    <a:pt x="123" y="3"/>
                    <a:pt x="122" y="1"/>
                    <a:pt x="121" y="1"/>
                  </a:cubicBezTo>
                  <a:close/>
                  <a:moveTo>
                    <a:pt x="12" y="80"/>
                  </a:moveTo>
                  <a:cubicBezTo>
                    <a:pt x="101" y="20"/>
                    <a:pt x="101" y="20"/>
                    <a:pt x="101" y="20"/>
                  </a:cubicBezTo>
                  <a:cubicBezTo>
                    <a:pt x="36" y="89"/>
                    <a:pt x="36" y="89"/>
                    <a:pt x="36" y="89"/>
                  </a:cubicBezTo>
                  <a:cubicBezTo>
                    <a:pt x="36" y="89"/>
                    <a:pt x="35" y="89"/>
                    <a:pt x="35" y="89"/>
                  </a:cubicBezTo>
                  <a:lnTo>
                    <a:pt x="12" y="80"/>
                  </a:lnTo>
                  <a:close/>
                  <a:moveTo>
                    <a:pt x="39" y="92"/>
                  </a:moveTo>
                  <a:cubicBezTo>
                    <a:pt x="39" y="92"/>
                    <a:pt x="39" y="92"/>
                    <a:pt x="39" y="92"/>
                  </a:cubicBezTo>
                  <a:cubicBezTo>
                    <a:pt x="112" y="14"/>
                    <a:pt x="112" y="14"/>
                    <a:pt x="112" y="14"/>
                  </a:cubicBezTo>
                  <a:cubicBezTo>
                    <a:pt x="50" y="111"/>
                    <a:pt x="50" y="111"/>
                    <a:pt x="50" y="111"/>
                  </a:cubicBezTo>
                  <a:lnTo>
                    <a:pt x="39" y="92"/>
                  </a:lnTo>
                  <a:close/>
                  <a:moveTo>
                    <a:pt x="97" y="113"/>
                  </a:moveTo>
                  <a:cubicBezTo>
                    <a:pt x="64" y="100"/>
                    <a:pt x="64" y="100"/>
                    <a:pt x="64" y="100"/>
                  </a:cubicBezTo>
                  <a:cubicBezTo>
                    <a:pt x="63" y="100"/>
                    <a:pt x="62" y="100"/>
                    <a:pt x="61" y="100"/>
                  </a:cubicBezTo>
                  <a:cubicBezTo>
                    <a:pt x="112" y="22"/>
                    <a:pt x="112" y="22"/>
                    <a:pt x="112" y="22"/>
                  </a:cubicBezTo>
                  <a:lnTo>
                    <a:pt x="97" y="113"/>
                  </a:lnTo>
                  <a:close/>
                  <a:moveTo>
                    <a:pt x="97" y="113"/>
                  </a:moveTo>
                  <a:cubicBezTo>
                    <a:pt x="97" y="113"/>
                    <a:pt x="97" y="113"/>
                    <a:pt x="97" y="113"/>
                  </a:cubicBezTo>
                </a:path>
              </a:pathLst>
            </a:custGeom>
            <a:solidFill>
              <a:schemeClr val="bg1"/>
            </a:solidFill>
            <a:ln w="9525">
              <a:noFill/>
            </a:ln>
          </p:spPr>
          <p:txBody>
            <a:bodyPr/>
            <a:lstStyle/>
            <a:p>
              <a:endParaRPr lang="zh-CN" altLang="en-US">
                <a:solidFill>
                  <a:schemeClr val="tx1">
                    <a:lumMod val="50000"/>
                    <a:lumOff val="50000"/>
                  </a:schemeClr>
                </a:solidFill>
                <a:cs typeface="+mn-ea"/>
                <a:sym typeface="+mn-lt"/>
              </a:endParaRPr>
            </a:p>
          </p:txBody>
        </p:sp>
      </p:grpSp>
      <p:sp>
        <p:nvSpPr>
          <p:cNvPr id="17" name="矩形: 圆角 16"/>
          <p:cNvSpPr/>
          <p:nvPr/>
        </p:nvSpPr>
        <p:spPr>
          <a:xfrm>
            <a:off x="294005" y="824865"/>
            <a:ext cx="4148455" cy="3792855"/>
          </a:xfrm>
          <a:prstGeom prst="roundRect">
            <a:avLst>
              <a:gd name="adj" fmla="val 10624"/>
            </a:avLst>
          </a:prstGeom>
          <a:noFill/>
          <a:ln w="19050">
            <a:solidFill>
              <a:schemeClr val="bg2">
                <a:lumMod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5"/>
          <p:cNvSpPr txBox="1"/>
          <p:nvPr/>
        </p:nvSpPr>
        <p:spPr>
          <a:xfrm>
            <a:off x="709386" y="309785"/>
            <a:ext cx="2261711" cy="375920"/>
          </a:xfrm>
          <a:prstGeom prst="rect">
            <a:avLst/>
          </a:prstGeom>
          <a:noFill/>
        </p:spPr>
        <p:txBody>
          <a:bodyPr wrap="square" lIns="68580" tIns="34290" rIns="68580" bIns="34290" rtlCol="0">
            <a:spAutoFit/>
          </a:bodyPr>
          <a:lstStyle/>
          <a:p>
            <a:pPr fontAlgn="base"/>
            <a:r>
              <a:rPr lang="en-US" altLang="zh-CN" sz="2000" b="1" dirty="0">
                <a:solidFill>
                  <a:srgbClr val="1B4367"/>
                </a:solidFill>
                <a:cs typeface="+mn-ea"/>
              </a:rPr>
              <a:t>Fuzzy Logic</a:t>
            </a:r>
            <a:endParaRPr lang="en-US" altLang="zh-CN" sz="2000" b="1" dirty="0">
              <a:solidFill>
                <a:srgbClr val="1B4367"/>
              </a:solidFill>
              <a:cs typeface="+mn-ea"/>
            </a:endParaRPr>
          </a:p>
        </p:txBody>
      </p:sp>
      <p:cxnSp>
        <p:nvCxnSpPr>
          <p:cNvPr id="19" name="直接连接符 18"/>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par>
                          <p:cTn id="10" fill="hold">
                            <p:stCondLst>
                              <p:cond delay="500"/>
                            </p:stCondLst>
                            <p:childTnLst>
                              <p:par>
                                <p:cTn id="11" presetID="53" presetClass="entr" presetSubtype="16" fill="hold" nodeType="after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p:cTn id="13" dur="500" fill="hold"/>
                                        <p:tgtEl>
                                          <p:spTgt spid="11"/>
                                        </p:tgtEl>
                                        <p:attrNameLst>
                                          <p:attrName>ppt_w</p:attrName>
                                        </p:attrNameLst>
                                      </p:cBhvr>
                                      <p:tavLst>
                                        <p:tav tm="0">
                                          <p:val>
                                            <p:fltVal val="0"/>
                                          </p:val>
                                        </p:tav>
                                        <p:tav tm="100000">
                                          <p:val>
                                            <p:strVal val="#ppt_w"/>
                                          </p:val>
                                        </p:tav>
                                      </p:tavLst>
                                    </p:anim>
                                    <p:anim calcmode="lin" valueType="num">
                                      <p:cBhvr>
                                        <p:cTn id="14" dur="500" fill="hold"/>
                                        <p:tgtEl>
                                          <p:spTgt spid="11"/>
                                        </p:tgtEl>
                                        <p:attrNameLst>
                                          <p:attrName>ppt_h</p:attrName>
                                        </p:attrNameLst>
                                      </p:cBhvr>
                                      <p:tavLst>
                                        <p:tav tm="0">
                                          <p:val>
                                            <p:fltVal val="0"/>
                                          </p:val>
                                        </p:tav>
                                        <p:tav tm="100000">
                                          <p:val>
                                            <p:strVal val="#ppt_h"/>
                                          </p:val>
                                        </p:tav>
                                      </p:tavLst>
                                    </p:anim>
                                    <p:animEffect transition="in" filter="fade">
                                      <p:cBhvr>
                                        <p:cTn id="15" dur="500"/>
                                        <p:tgtEl>
                                          <p:spTgt spid="11"/>
                                        </p:tgtEl>
                                      </p:cBhvr>
                                    </p:animEffect>
                                  </p:childTnLst>
                                </p:cTn>
                              </p:par>
                            </p:childTnLst>
                          </p:cTn>
                        </p:par>
                        <p:par>
                          <p:cTn id="16" fill="hold">
                            <p:stCondLst>
                              <p:cond delay="1000"/>
                            </p:stCondLst>
                            <p:childTnLst>
                              <p:par>
                                <p:cTn id="17" presetID="41" presetClass="entr" presetSubtype="0" fill="hold" grpId="0" nodeType="afterEffect">
                                  <p:stCondLst>
                                    <p:cond delay="0"/>
                                  </p:stCondLst>
                                  <p:iterate type="lt">
                                    <p:tmPct val="10000"/>
                                  </p:iterate>
                                  <p:childTnLst>
                                    <p:set>
                                      <p:cBhvr>
                                        <p:cTn id="18" dur="1" fill="hold">
                                          <p:stCondLst>
                                            <p:cond delay="0"/>
                                          </p:stCondLst>
                                        </p:cTn>
                                        <p:tgtEl>
                                          <p:spTgt spid="18"/>
                                        </p:tgtEl>
                                        <p:attrNameLst>
                                          <p:attrName>style.visibility</p:attrName>
                                        </p:attrNameLst>
                                      </p:cBhvr>
                                      <p:to>
                                        <p:strVal val="visible"/>
                                      </p:to>
                                    </p:set>
                                    <p:anim calcmode="lin" valueType="num">
                                      <p:cBhvr>
                                        <p:cTn id="19" dur="500" fill="hold"/>
                                        <p:tgtEl>
                                          <p:spTgt spid="18"/>
                                        </p:tgtEl>
                                        <p:attrNameLst>
                                          <p:attrName>ppt_x</p:attrName>
                                        </p:attrNameLst>
                                      </p:cBhvr>
                                      <p:tavLst>
                                        <p:tav tm="0">
                                          <p:val>
                                            <p:strVal val="#ppt_x"/>
                                          </p:val>
                                        </p:tav>
                                        <p:tav tm="50000">
                                          <p:val>
                                            <p:strVal val="#ppt_x+.1"/>
                                          </p:val>
                                        </p:tav>
                                        <p:tav tm="100000">
                                          <p:val>
                                            <p:strVal val="#ppt_x"/>
                                          </p:val>
                                        </p:tav>
                                      </p:tavLst>
                                    </p:anim>
                                    <p:anim calcmode="lin" valueType="num">
                                      <p:cBhvr>
                                        <p:cTn id="20" dur="500" fill="hold"/>
                                        <p:tgtEl>
                                          <p:spTgt spid="18"/>
                                        </p:tgtEl>
                                        <p:attrNameLst>
                                          <p:attrName>ppt_y</p:attrName>
                                        </p:attrNameLst>
                                      </p:cBhvr>
                                      <p:tavLst>
                                        <p:tav tm="0">
                                          <p:val>
                                            <p:strVal val="#ppt_y"/>
                                          </p:val>
                                        </p:tav>
                                        <p:tav tm="100000">
                                          <p:val>
                                            <p:strVal val="#ppt_y"/>
                                          </p:val>
                                        </p:tav>
                                      </p:tavLst>
                                    </p:anim>
                                    <p:anim calcmode="lin" valueType="num">
                                      <p:cBhvr>
                                        <p:cTn id="21" dur="500" fill="hold"/>
                                        <p:tgtEl>
                                          <p:spTgt spid="18"/>
                                        </p:tgtEl>
                                        <p:attrNameLst>
                                          <p:attrName>ppt_h</p:attrName>
                                        </p:attrNameLst>
                                      </p:cBhvr>
                                      <p:tavLst>
                                        <p:tav tm="0">
                                          <p:val>
                                            <p:strVal val="#ppt_h/10"/>
                                          </p:val>
                                        </p:tav>
                                        <p:tav tm="50000">
                                          <p:val>
                                            <p:strVal val="#ppt_h+.01"/>
                                          </p:val>
                                        </p:tav>
                                        <p:tav tm="100000">
                                          <p:val>
                                            <p:strVal val="#ppt_h"/>
                                          </p:val>
                                        </p:tav>
                                      </p:tavLst>
                                    </p:anim>
                                    <p:anim calcmode="lin" valueType="num">
                                      <p:cBhvr>
                                        <p:cTn id="22" dur="500" fill="hold"/>
                                        <p:tgtEl>
                                          <p:spTgt spid="18"/>
                                        </p:tgtEl>
                                        <p:attrNameLst>
                                          <p:attrName>ppt_w</p:attrName>
                                        </p:attrNameLst>
                                      </p:cBhvr>
                                      <p:tavLst>
                                        <p:tav tm="0">
                                          <p:val>
                                            <p:strVal val="#ppt_w/10"/>
                                          </p:val>
                                        </p:tav>
                                        <p:tav tm="50000">
                                          <p:val>
                                            <p:strVal val="#ppt_w+.01"/>
                                          </p:val>
                                        </p:tav>
                                        <p:tav tm="100000">
                                          <p:val>
                                            <p:strVal val="#ppt_w"/>
                                          </p:val>
                                        </p:tav>
                                      </p:tavLst>
                                    </p:anim>
                                    <p:animEffect transition="in" filter="fade">
                                      <p:cBhvr>
                                        <p:cTn id="23" dur="500" tmFilter="0,0; .5, 1; 1, 1"/>
                                        <p:tgtEl>
                                          <p:spTgt spid="18"/>
                                        </p:tgtEl>
                                      </p:cBhvr>
                                    </p:animEffect>
                                  </p:childTnLst>
                                </p:cTn>
                              </p:par>
                            </p:childTnLst>
                          </p:cTn>
                        </p:par>
                        <p:par>
                          <p:cTn id="24" fill="hold">
                            <p:stCondLst>
                              <p:cond delay="2000"/>
                            </p:stCondLst>
                            <p:childTnLst>
                              <p:par>
                                <p:cTn id="25" presetID="22" presetClass="entr" presetSubtype="8" fill="hold" nodeType="after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wipe(left)">
                                      <p:cBhvr>
                                        <p:cTn id="27" dur="3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圆角 16"/>
          <p:cNvSpPr/>
          <p:nvPr/>
        </p:nvSpPr>
        <p:spPr>
          <a:xfrm>
            <a:off x="418257" y="3953817"/>
            <a:ext cx="8331144" cy="757307"/>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zh-CN" altLang="en-US"/>
          </a:p>
        </p:txBody>
      </p:sp>
      <p:pic>
        <p:nvPicPr>
          <p:cNvPr id="2" name="图片 1"/>
          <p:cNvPicPr>
            <a:picLocks noChangeAspect="1"/>
          </p:cNvPicPr>
          <p:nvPr/>
        </p:nvPicPr>
        <p:blipFill>
          <a:blip r:embed="rId1"/>
          <a:stretch>
            <a:fillRect/>
          </a:stretch>
        </p:blipFill>
        <p:spPr>
          <a:xfrm>
            <a:off x="4653172" y="515416"/>
            <a:ext cx="4463143" cy="2743234"/>
          </a:xfrm>
          <a:prstGeom prst="rect">
            <a:avLst/>
          </a:prstGeom>
        </p:spPr>
      </p:pic>
      <p:pic>
        <p:nvPicPr>
          <p:cNvPr id="3" name="图片 2"/>
          <p:cNvPicPr>
            <a:picLocks noChangeAspect="1"/>
          </p:cNvPicPr>
          <p:nvPr/>
        </p:nvPicPr>
        <p:blipFill>
          <a:blip r:embed="rId2"/>
          <a:stretch>
            <a:fillRect/>
          </a:stretch>
        </p:blipFill>
        <p:spPr>
          <a:xfrm>
            <a:off x="297542" y="1189683"/>
            <a:ext cx="3953256" cy="2068967"/>
          </a:xfrm>
          <a:prstGeom prst="rect">
            <a:avLst/>
          </a:prstGeom>
        </p:spPr>
      </p:pic>
      <p:sp>
        <p:nvSpPr>
          <p:cNvPr id="4" name="矩形 3"/>
          <p:cNvSpPr/>
          <p:nvPr/>
        </p:nvSpPr>
        <p:spPr>
          <a:xfrm>
            <a:off x="1832610" y="1697355"/>
            <a:ext cx="848995" cy="3917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800" b="1" dirty="0"/>
          </a:p>
        </p:txBody>
      </p:sp>
      <p:sp>
        <p:nvSpPr>
          <p:cNvPr id="6" name="文本框 5"/>
          <p:cNvSpPr txBox="1"/>
          <p:nvPr/>
        </p:nvSpPr>
        <p:spPr>
          <a:xfrm>
            <a:off x="1783715" y="1632585"/>
            <a:ext cx="911860" cy="521970"/>
          </a:xfrm>
          <a:prstGeom prst="rect">
            <a:avLst/>
          </a:prstGeom>
          <a:noFill/>
        </p:spPr>
        <p:txBody>
          <a:bodyPr wrap="square">
            <a:spAutoFit/>
          </a:bodyPr>
          <a:lstStyle/>
          <a:p>
            <a:pPr algn="ctr"/>
            <a:r>
              <a:rPr lang="en-US" altLang="zh-CN" b="1" dirty="0"/>
              <a:t>Fuzzy control</a:t>
            </a:r>
            <a:endParaRPr lang="en-US" altLang="zh-CN" b="1" dirty="0"/>
          </a:p>
        </p:txBody>
      </p:sp>
      <p:sp>
        <p:nvSpPr>
          <p:cNvPr id="8" name="文本框 7"/>
          <p:cNvSpPr txBox="1"/>
          <p:nvPr/>
        </p:nvSpPr>
        <p:spPr>
          <a:xfrm>
            <a:off x="429511" y="3229346"/>
            <a:ext cx="3689315" cy="523220"/>
          </a:xfrm>
          <a:prstGeom prst="rect">
            <a:avLst/>
          </a:prstGeom>
          <a:noFill/>
        </p:spPr>
        <p:txBody>
          <a:bodyPr wrap="square">
            <a:spAutoFit/>
          </a:bodyPr>
          <a:lstStyle/>
          <a:p>
            <a:pPr algn="ctr"/>
            <a:r>
              <a:rPr lang="zh-CN" altLang="en-US" kern="0" dirty="0">
                <a:latin typeface="Arial" panose="020B0604020202020204" pitchFamily="34" charset="0"/>
                <a:cs typeface="Arial" panose="020B0604020202020204" pitchFamily="34" charset="0"/>
              </a:rPr>
              <a:t>Block diagram of the proposed EMS</a:t>
            </a:r>
            <a:endParaRPr lang="en-US" altLang="zh-CN" kern="0" dirty="0">
              <a:latin typeface="Arial" panose="020B0604020202020204" pitchFamily="34" charset="0"/>
              <a:cs typeface="Arial" panose="020B0604020202020204" pitchFamily="34" charset="0"/>
            </a:endParaRPr>
          </a:p>
          <a:p>
            <a:pPr algn="ctr"/>
            <a:r>
              <a:rPr lang="zh-CN" altLang="en-US" kern="0" dirty="0">
                <a:latin typeface="Arial" panose="020B0604020202020204" pitchFamily="34" charset="0"/>
                <a:cs typeface="Arial" panose="020B0604020202020204" pitchFamily="34" charset="0"/>
              </a:rPr>
              <a:t>based on microgrid power forecasting</a:t>
            </a:r>
            <a:endParaRPr lang="zh-CN" altLang="en-US" kern="0" dirty="0">
              <a:latin typeface="Arial" panose="020B0604020202020204" pitchFamily="34" charset="0"/>
              <a:cs typeface="Arial" panose="020B0604020202020204" pitchFamily="34" charset="0"/>
            </a:endParaRPr>
          </a:p>
        </p:txBody>
      </p:sp>
      <p:sp>
        <p:nvSpPr>
          <p:cNvPr id="10" name="文本框 9"/>
          <p:cNvSpPr txBox="1"/>
          <p:nvPr/>
        </p:nvSpPr>
        <p:spPr>
          <a:xfrm>
            <a:off x="4763372" y="3229346"/>
            <a:ext cx="4083086" cy="523220"/>
          </a:xfrm>
          <a:prstGeom prst="rect">
            <a:avLst/>
          </a:prstGeom>
          <a:noFill/>
        </p:spPr>
        <p:txBody>
          <a:bodyPr wrap="square">
            <a:spAutoFit/>
          </a:bodyPr>
          <a:lstStyle>
            <a:defPPr>
              <a:defRPr lang="zh-CN"/>
            </a:defPPr>
            <a:lvl1pPr algn="ctr"/>
          </a:lstStyle>
          <a:p>
            <a:r>
              <a:rPr lang="zh-CN" altLang="en-US" kern="0" dirty="0">
                <a:latin typeface="Arial" panose="020B0604020202020204" pitchFamily="34" charset="0"/>
                <a:cs typeface="Arial" panose="020B0604020202020204" pitchFamily="34" charset="0"/>
              </a:rPr>
              <a:t>UPNa microgrid. Configuration, components description and bus connections</a:t>
            </a:r>
            <a:endParaRPr lang="zh-CN" altLang="en-US" kern="0" dirty="0">
              <a:latin typeface="Arial" panose="020B0604020202020204" pitchFamily="34" charset="0"/>
              <a:cs typeface="Arial" panose="020B0604020202020204" pitchFamily="34" charset="0"/>
            </a:endParaRPr>
          </a:p>
        </p:txBody>
      </p:sp>
      <p:sp>
        <p:nvSpPr>
          <p:cNvPr id="12" name="文本框 11"/>
          <p:cNvSpPr txBox="1"/>
          <p:nvPr/>
        </p:nvSpPr>
        <p:spPr>
          <a:xfrm>
            <a:off x="873040" y="3915280"/>
            <a:ext cx="7421577" cy="830997"/>
          </a:xfrm>
          <a:prstGeom prst="rect">
            <a:avLst/>
          </a:prstGeom>
          <a:noFill/>
        </p:spPr>
        <p:txBody>
          <a:bodyPr wrap="square">
            <a:spAutoFit/>
          </a:bodyPr>
          <a:lstStyle/>
          <a:p>
            <a:pPr indent="457200" algn="just"/>
            <a:r>
              <a:rPr lang="zh-CN" altLang="en-US" sz="1600" kern="0" dirty="0">
                <a:latin typeface="Arial" panose="020B0604020202020204" pitchFamily="34" charset="0"/>
                <a:cs typeface="Arial" panose="020B0604020202020204" pitchFamily="34" charset="0"/>
              </a:rPr>
              <a:t>The microgrid includes a renewable generation system, a programmable load, a storage system, a power converter, a weather station and, a supervisory and control station.</a:t>
            </a:r>
            <a:endParaRPr lang="zh-CN" altLang="en-US" sz="1600" kern="0" dirty="0">
              <a:latin typeface="Arial" panose="020B0604020202020204" pitchFamily="34" charset="0"/>
              <a:cs typeface="Arial" panose="020B0604020202020204" pitchFamily="34" charset="0"/>
            </a:endParaRPr>
          </a:p>
        </p:txBody>
      </p:sp>
      <p:sp>
        <p:nvSpPr>
          <p:cNvPr id="13" name="文本框 15"/>
          <p:cNvSpPr txBox="1"/>
          <p:nvPr/>
        </p:nvSpPr>
        <p:spPr>
          <a:xfrm>
            <a:off x="709386" y="309785"/>
            <a:ext cx="3064328" cy="375920"/>
          </a:xfrm>
          <a:prstGeom prst="rect">
            <a:avLst/>
          </a:prstGeom>
          <a:noFill/>
        </p:spPr>
        <p:txBody>
          <a:bodyPr wrap="square" lIns="68580" tIns="34290" rIns="68580" bIns="34290" rtlCol="0">
            <a:spAutoFit/>
          </a:bodyPr>
          <a:lstStyle/>
          <a:p>
            <a:pPr fontAlgn="base"/>
            <a:r>
              <a:rPr lang="en-US" altLang="zh-CN" sz="2000" b="1" dirty="0">
                <a:solidFill>
                  <a:srgbClr val="1B4367"/>
                </a:solidFill>
                <a:cs typeface="+mn-ea"/>
              </a:rPr>
              <a:t>Fuzzy Logic example</a:t>
            </a:r>
            <a:endParaRPr lang="en-US" altLang="zh-CN" sz="2000" b="1" dirty="0">
              <a:solidFill>
                <a:srgbClr val="1B4367"/>
              </a:solidFill>
              <a:cs typeface="+mn-ea"/>
            </a:endParaRPr>
          </a:p>
        </p:txBody>
      </p:sp>
      <p:cxnSp>
        <p:nvCxnSpPr>
          <p:cNvPr id="14" name="直接连接符 13"/>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15" name="矩形: 圆角 14"/>
          <p:cNvSpPr/>
          <p:nvPr/>
        </p:nvSpPr>
        <p:spPr>
          <a:xfrm>
            <a:off x="200042" y="1049652"/>
            <a:ext cx="4148255" cy="2681776"/>
          </a:xfrm>
          <a:prstGeom prst="roundRect">
            <a:avLst>
              <a:gd name="adj" fmla="val 10624"/>
            </a:avLst>
          </a:prstGeom>
          <a:noFill/>
          <a:ln w="19050">
            <a:solidFill>
              <a:schemeClr val="bg2">
                <a:lumMod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p:cNvSpPr/>
          <p:nvPr/>
        </p:nvSpPr>
        <p:spPr>
          <a:xfrm>
            <a:off x="4583829" y="432376"/>
            <a:ext cx="4463143" cy="3299052"/>
          </a:xfrm>
          <a:prstGeom prst="roundRect">
            <a:avLst>
              <a:gd name="adj" fmla="val 10624"/>
            </a:avLst>
          </a:prstGeom>
          <a:noFill/>
          <a:ln w="19050">
            <a:solidFill>
              <a:schemeClr val="bg2">
                <a:lumMod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873040" y="4781430"/>
            <a:ext cx="7421577" cy="400110"/>
          </a:xfrm>
          <a:prstGeom prst="rect">
            <a:avLst/>
          </a:prstGeom>
          <a:noFill/>
        </p:spPr>
        <p:txBody>
          <a:bodyPr wrap="square">
            <a:spAutoFit/>
          </a:bodyPr>
          <a:lstStyle/>
          <a:p>
            <a:r>
              <a:rPr lang="en-US" altLang="zh-CN" sz="1000" dirty="0">
                <a:latin typeface="Arial" panose="020B0604020202020204" pitchFamily="34" charset="0"/>
                <a:cs typeface="Arial" panose="020B0604020202020204" pitchFamily="34" charset="0"/>
              </a:rPr>
              <a:t>Arcos-Aviles, Diego, et al. "Low complexity energy management strategy for grid profile smoothing of a residential grid-connected microgrid using generation and demand forecasting." Applied energy 205 (2017): 69-84.</a:t>
            </a:r>
            <a:endParaRPr lang="zh-CN" altLang="en-US" sz="1000" dirty="0">
              <a:latin typeface="Arial" panose="020B0604020202020204" pitchFamily="34" charset="0"/>
              <a:cs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3"/>
                                        </p:tgtEl>
                                        <p:attrNameLst>
                                          <p:attrName>ppt_y</p:attrName>
                                        </p:attrNameLst>
                                      </p:cBhvr>
                                      <p:tavLst>
                                        <p:tav tm="0">
                                          <p:val>
                                            <p:strVal val="#ppt_y"/>
                                          </p:val>
                                        </p:tav>
                                        <p:tav tm="100000">
                                          <p:val>
                                            <p:strVal val="#ppt_y"/>
                                          </p:val>
                                        </p:tav>
                                      </p:tavLst>
                                    </p:anim>
                                    <p:anim calcmode="lin" valueType="num">
                                      <p:cBhvr>
                                        <p:cTn id="9" dur="500" fill="hold"/>
                                        <p:tgtEl>
                                          <p:spTgt spid="13"/>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3"/>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3"/>
                                        </p:tgtEl>
                                      </p:cBhvr>
                                    </p:animEffect>
                                  </p:childTnLst>
                                </p:cTn>
                              </p:par>
                            </p:childTnLst>
                          </p:cTn>
                        </p:par>
                        <p:par>
                          <p:cTn id="12" fill="hold">
                            <p:stCondLst>
                              <p:cond delay="1399"/>
                            </p:stCondLst>
                            <p:childTnLst>
                              <p:par>
                                <p:cTn id="13" presetID="22" presetClass="entr" presetSubtype="8" fill="hold"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left)">
                                      <p:cBhvr>
                                        <p:cTn id="15" dur="3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椭圆 99"/>
          <p:cNvSpPr/>
          <p:nvPr/>
        </p:nvSpPr>
        <p:spPr>
          <a:xfrm>
            <a:off x="3819635" y="1089058"/>
            <a:ext cx="1500028" cy="1500028"/>
          </a:xfrm>
          <a:prstGeom prst="ellipse">
            <a:avLst/>
          </a:prstGeom>
          <a:solidFill>
            <a:srgbClr val="1B43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文本框 11"/>
          <p:cNvSpPr txBox="1"/>
          <p:nvPr/>
        </p:nvSpPr>
        <p:spPr>
          <a:xfrm>
            <a:off x="1383030" y="2753995"/>
            <a:ext cx="6372225" cy="1637665"/>
          </a:xfrm>
          <a:prstGeom prst="rect">
            <a:avLst/>
          </a:prstGeom>
          <a:noFill/>
        </p:spPr>
        <p:txBody>
          <a:bodyPr wrap="square" lIns="68580" tIns="34290" rIns="68580" bIns="34290" rtlCol="0">
            <a:spAutoFit/>
          </a:bodyPr>
          <a:lstStyle/>
          <a:p>
            <a:pPr algn="ctr"/>
            <a:r>
              <a:rPr lang="zh-CN" altLang="en-US" sz="3400" b="1" dirty="0">
                <a:solidFill>
                  <a:srgbClr val="1B4367"/>
                </a:solidFill>
                <a:cs typeface="+mn-ea"/>
                <a:sym typeface="+mn-lt"/>
              </a:rPr>
              <a:t>PAPER CLASSIFICATION BASED ON</a:t>
            </a:r>
            <a:endParaRPr lang="zh-CN" altLang="en-US" sz="3400" b="1" dirty="0">
              <a:solidFill>
                <a:srgbClr val="1B4367"/>
              </a:solidFill>
              <a:cs typeface="+mn-ea"/>
              <a:sym typeface="+mn-lt"/>
            </a:endParaRPr>
          </a:p>
          <a:p>
            <a:pPr algn="ctr"/>
            <a:r>
              <a:rPr lang="zh-CN" altLang="en-US" sz="3400" b="1" dirty="0">
                <a:solidFill>
                  <a:srgbClr val="1B4367"/>
                </a:solidFill>
                <a:cs typeface="+mn-ea"/>
                <a:sym typeface="+mn-lt"/>
              </a:rPr>
              <a:t>THE EM APPROACH</a:t>
            </a:r>
            <a:endParaRPr lang="zh-CN" altLang="en-US" sz="3400" b="1" dirty="0">
              <a:solidFill>
                <a:srgbClr val="1B4367"/>
              </a:solidFill>
              <a:cs typeface="+mn-ea"/>
              <a:sym typeface="+mn-lt"/>
            </a:endParaRPr>
          </a:p>
        </p:txBody>
      </p:sp>
      <p:sp>
        <p:nvSpPr>
          <p:cNvPr id="103" name="文本框 11"/>
          <p:cNvSpPr txBox="1"/>
          <p:nvPr/>
        </p:nvSpPr>
        <p:spPr>
          <a:xfrm>
            <a:off x="3713476" y="1575042"/>
            <a:ext cx="1732894" cy="837565"/>
          </a:xfrm>
          <a:prstGeom prst="rect">
            <a:avLst/>
          </a:prstGeom>
          <a:noFill/>
        </p:spPr>
        <p:txBody>
          <a:bodyPr wrap="square" lIns="68580" tIns="34290" rIns="68580" bIns="34290" rtlCol="0">
            <a:spAutoFit/>
          </a:bodyPr>
          <a:lstStyle/>
          <a:p>
            <a:pPr algn="ctr">
              <a:lnSpc>
                <a:spcPts val="3000"/>
              </a:lnSpc>
            </a:pPr>
            <a:r>
              <a:rPr lang="en-US" altLang="zh-CN" sz="5400" dirty="0">
                <a:solidFill>
                  <a:schemeClr val="bg1"/>
                </a:solidFill>
                <a:cs typeface="+mn-ea"/>
                <a:sym typeface="+mn-lt"/>
              </a:rPr>
              <a:t>04</a:t>
            </a:r>
            <a:endParaRPr lang="zh-CN" altLang="en-US" sz="5400" dirty="0">
              <a:solidFill>
                <a:schemeClr val="bg1"/>
              </a:solidFill>
              <a:cs typeface="+mn-ea"/>
              <a:sym typeface="+mn-lt"/>
            </a:endParaRPr>
          </a:p>
          <a:p>
            <a:pPr algn="ctr">
              <a:lnSpc>
                <a:spcPts val="3000"/>
              </a:lnSpc>
            </a:pPr>
            <a:r>
              <a:rPr lang="en-US" altLang="zh-CN" sz="2400" dirty="0">
                <a:solidFill>
                  <a:schemeClr val="bg1"/>
                </a:solidFill>
                <a:cs typeface="+mn-ea"/>
                <a:sym typeface="+mn-lt"/>
              </a:rPr>
              <a:t>PART </a:t>
            </a:r>
            <a:endParaRPr lang="en-US" altLang="zh-CN" sz="2400" dirty="0">
              <a:solidFill>
                <a:schemeClr val="bg1"/>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100"/>
                                        </p:tgtEl>
                                        <p:attrNameLst>
                                          <p:attrName>style.visibility</p:attrName>
                                        </p:attrNameLst>
                                      </p:cBhvr>
                                      <p:to>
                                        <p:strVal val="visible"/>
                                      </p:to>
                                    </p:set>
                                    <p:animEffect transition="in" filter="wheel(1)">
                                      <p:cBhvr>
                                        <p:cTn id="7" dur="600"/>
                                        <p:tgtEl>
                                          <p:spTgt spid="100"/>
                                        </p:tgtEl>
                                      </p:cBhvr>
                                    </p:animEffect>
                                  </p:childTnLst>
                                </p:cTn>
                              </p:par>
                            </p:childTnLst>
                          </p:cTn>
                        </p:par>
                        <p:par>
                          <p:cTn id="8" fill="hold">
                            <p:stCondLst>
                              <p:cond delay="1000"/>
                            </p:stCondLst>
                            <p:childTnLst>
                              <p:par>
                                <p:cTn id="9" presetID="53" presetClass="entr" presetSubtype="16" fill="hold" grpId="0" nodeType="afterEffect">
                                  <p:stCondLst>
                                    <p:cond delay="0"/>
                                  </p:stCondLst>
                                  <p:childTnLst>
                                    <p:set>
                                      <p:cBhvr>
                                        <p:cTn id="10" dur="1" fill="hold">
                                          <p:stCondLst>
                                            <p:cond delay="0"/>
                                          </p:stCondLst>
                                        </p:cTn>
                                        <p:tgtEl>
                                          <p:spTgt spid="103"/>
                                        </p:tgtEl>
                                        <p:attrNameLst>
                                          <p:attrName>style.visibility</p:attrName>
                                        </p:attrNameLst>
                                      </p:cBhvr>
                                      <p:to>
                                        <p:strVal val="visible"/>
                                      </p:to>
                                    </p:set>
                                    <p:anim calcmode="lin" valueType="num">
                                      <p:cBhvr>
                                        <p:cTn id="11" dur="500" fill="hold"/>
                                        <p:tgtEl>
                                          <p:spTgt spid="103"/>
                                        </p:tgtEl>
                                        <p:attrNameLst>
                                          <p:attrName>ppt_w</p:attrName>
                                        </p:attrNameLst>
                                      </p:cBhvr>
                                      <p:tavLst>
                                        <p:tav tm="0">
                                          <p:val>
                                            <p:fltVal val="0"/>
                                          </p:val>
                                        </p:tav>
                                        <p:tav tm="100000">
                                          <p:val>
                                            <p:strVal val="#ppt_w"/>
                                          </p:val>
                                        </p:tav>
                                      </p:tavLst>
                                    </p:anim>
                                    <p:anim calcmode="lin" valueType="num">
                                      <p:cBhvr>
                                        <p:cTn id="12" dur="500" fill="hold"/>
                                        <p:tgtEl>
                                          <p:spTgt spid="103"/>
                                        </p:tgtEl>
                                        <p:attrNameLst>
                                          <p:attrName>ppt_h</p:attrName>
                                        </p:attrNameLst>
                                      </p:cBhvr>
                                      <p:tavLst>
                                        <p:tav tm="0">
                                          <p:val>
                                            <p:fltVal val="0"/>
                                          </p:val>
                                        </p:tav>
                                        <p:tav tm="100000">
                                          <p:val>
                                            <p:strVal val="#ppt_h"/>
                                          </p:val>
                                        </p:tav>
                                      </p:tavLst>
                                    </p:anim>
                                    <p:animEffect transition="in" filter="fade">
                                      <p:cBhvr>
                                        <p:cTn id="13" dur="500"/>
                                        <p:tgtEl>
                                          <p:spTgt spid="103"/>
                                        </p:tgtEl>
                                      </p:cBhvr>
                                    </p:animEffect>
                                  </p:childTnLst>
                                </p:cTn>
                              </p:par>
                            </p:childTnLst>
                          </p:cTn>
                        </p:par>
                        <p:par>
                          <p:cTn id="14" fill="hold">
                            <p:stCondLst>
                              <p:cond delay="1500"/>
                            </p:stCondLst>
                            <p:childTnLst>
                              <p:par>
                                <p:cTn id="15" presetID="41" presetClass="entr" presetSubtype="0" fill="hold" grpId="0" nodeType="afterEffect">
                                  <p:stCondLst>
                                    <p:cond delay="0"/>
                                  </p:stCondLst>
                                  <p:iterate type="lt">
                                    <p:tmPct val="10000"/>
                                  </p:iterate>
                                  <p:childTnLst>
                                    <p:set>
                                      <p:cBhvr>
                                        <p:cTn id="16" dur="1" fill="hold">
                                          <p:stCondLst>
                                            <p:cond delay="0"/>
                                          </p:stCondLst>
                                        </p:cTn>
                                        <p:tgtEl>
                                          <p:spTgt spid="101"/>
                                        </p:tgtEl>
                                        <p:attrNameLst>
                                          <p:attrName>style.visibility</p:attrName>
                                        </p:attrNameLst>
                                      </p:cBhvr>
                                      <p:to>
                                        <p:strVal val="visible"/>
                                      </p:to>
                                    </p:set>
                                    <p:anim calcmode="lin" valueType="num">
                                      <p:cBhvr>
                                        <p:cTn id="17" dur="500" fill="hold"/>
                                        <p:tgtEl>
                                          <p:spTgt spid="101"/>
                                        </p:tgtEl>
                                        <p:attrNameLst>
                                          <p:attrName>ppt_x</p:attrName>
                                        </p:attrNameLst>
                                      </p:cBhvr>
                                      <p:tavLst>
                                        <p:tav tm="0">
                                          <p:val>
                                            <p:strVal val="#ppt_x"/>
                                          </p:val>
                                        </p:tav>
                                        <p:tav tm="50000">
                                          <p:val>
                                            <p:strVal val="#ppt_x+.1"/>
                                          </p:val>
                                        </p:tav>
                                        <p:tav tm="100000">
                                          <p:val>
                                            <p:strVal val="#ppt_x"/>
                                          </p:val>
                                        </p:tav>
                                      </p:tavLst>
                                    </p:anim>
                                    <p:anim calcmode="lin" valueType="num">
                                      <p:cBhvr>
                                        <p:cTn id="18" dur="500" fill="hold"/>
                                        <p:tgtEl>
                                          <p:spTgt spid="101"/>
                                        </p:tgtEl>
                                        <p:attrNameLst>
                                          <p:attrName>ppt_y</p:attrName>
                                        </p:attrNameLst>
                                      </p:cBhvr>
                                      <p:tavLst>
                                        <p:tav tm="0">
                                          <p:val>
                                            <p:strVal val="#ppt_y"/>
                                          </p:val>
                                        </p:tav>
                                        <p:tav tm="100000">
                                          <p:val>
                                            <p:strVal val="#ppt_y"/>
                                          </p:val>
                                        </p:tav>
                                      </p:tavLst>
                                    </p:anim>
                                    <p:anim calcmode="lin" valueType="num">
                                      <p:cBhvr>
                                        <p:cTn id="19" dur="500" fill="hold"/>
                                        <p:tgtEl>
                                          <p:spTgt spid="101"/>
                                        </p:tgtEl>
                                        <p:attrNameLst>
                                          <p:attrName>ppt_h</p:attrName>
                                        </p:attrNameLst>
                                      </p:cBhvr>
                                      <p:tavLst>
                                        <p:tav tm="0">
                                          <p:val>
                                            <p:strVal val="#ppt_h/10"/>
                                          </p:val>
                                        </p:tav>
                                        <p:tav tm="50000">
                                          <p:val>
                                            <p:strVal val="#ppt_h+.01"/>
                                          </p:val>
                                        </p:tav>
                                        <p:tav tm="100000">
                                          <p:val>
                                            <p:strVal val="#ppt_h"/>
                                          </p:val>
                                        </p:tav>
                                      </p:tavLst>
                                    </p:anim>
                                    <p:anim calcmode="lin" valueType="num">
                                      <p:cBhvr>
                                        <p:cTn id="20" dur="500" fill="hold"/>
                                        <p:tgtEl>
                                          <p:spTgt spid="101"/>
                                        </p:tgtEl>
                                        <p:attrNameLst>
                                          <p:attrName>ppt_w</p:attrName>
                                        </p:attrNameLst>
                                      </p:cBhvr>
                                      <p:tavLst>
                                        <p:tav tm="0">
                                          <p:val>
                                            <p:strVal val="#ppt_w/10"/>
                                          </p:val>
                                        </p:tav>
                                        <p:tav tm="50000">
                                          <p:val>
                                            <p:strVal val="#ppt_w+.01"/>
                                          </p:val>
                                        </p:tav>
                                        <p:tav tm="100000">
                                          <p:val>
                                            <p:strVal val="#ppt_w"/>
                                          </p:val>
                                        </p:tav>
                                      </p:tavLst>
                                    </p:anim>
                                    <p:animEffect transition="in" filter="fade">
                                      <p:cBhvr>
                                        <p:cTn id="21" dur="500" tmFilter="0,0; .5, 1; 1, 1"/>
                                        <p:tgtEl>
                                          <p:spTgt spid="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animBg="1"/>
      <p:bldP spid="101" grpId="0"/>
      <p:bldP spid="10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泪滴形 49"/>
          <p:cNvSpPr/>
          <p:nvPr/>
        </p:nvSpPr>
        <p:spPr>
          <a:xfrm rot="8100000">
            <a:off x="751840" y="1346835"/>
            <a:ext cx="1067435" cy="1067435"/>
          </a:xfrm>
          <a:prstGeom prst="teardrop">
            <a:avLst/>
          </a:prstGeom>
          <a:solidFill>
            <a:srgbClr val="1B4367"/>
          </a:solidFill>
          <a:ln w="95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cs typeface="+mn-ea"/>
              <a:sym typeface="+mn-lt"/>
            </a:endParaRPr>
          </a:p>
        </p:txBody>
      </p:sp>
      <p:sp>
        <p:nvSpPr>
          <p:cNvPr id="51" name="泪滴形 50"/>
          <p:cNvSpPr/>
          <p:nvPr/>
        </p:nvSpPr>
        <p:spPr>
          <a:xfrm rot="8100000">
            <a:off x="2261235" y="1346835"/>
            <a:ext cx="1067435" cy="1067435"/>
          </a:xfrm>
          <a:prstGeom prst="teardrop">
            <a:avLst/>
          </a:prstGeom>
          <a:solidFill>
            <a:srgbClr val="1B4367"/>
          </a:solidFill>
          <a:ln w="95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cs typeface="+mn-ea"/>
              <a:sym typeface="+mn-lt"/>
            </a:endParaRPr>
          </a:p>
        </p:txBody>
      </p:sp>
      <p:sp>
        <p:nvSpPr>
          <p:cNvPr id="52" name="泪滴形 51"/>
          <p:cNvSpPr/>
          <p:nvPr/>
        </p:nvSpPr>
        <p:spPr>
          <a:xfrm rot="8100000">
            <a:off x="3806825" y="1346835"/>
            <a:ext cx="1067435" cy="1067435"/>
          </a:xfrm>
          <a:prstGeom prst="teardrop">
            <a:avLst/>
          </a:prstGeom>
          <a:solidFill>
            <a:srgbClr val="1B4367"/>
          </a:solidFill>
          <a:ln w="95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cs typeface="+mn-ea"/>
              <a:sym typeface="+mn-lt"/>
            </a:endParaRPr>
          </a:p>
        </p:txBody>
      </p:sp>
      <p:sp>
        <p:nvSpPr>
          <p:cNvPr id="53" name="泪滴形 52"/>
          <p:cNvSpPr/>
          <p:nvPr/>
        </p:nvSpPr>
        <p:spPr>
          <a:xfrm rot="8100000">
            <a:off x="5293360" y="1346835"/>
            <a:ext cx="1067435" cy="1067435"/>
          </a:xfrm>
          <a:prstGeom prst="teardrop">
            <a:avLst/>
          </a:prstGeom>
          <a:solidFill>
            <a:srgbClr val="1B4367"/>
          </a:solidFill>
          <a:ln w="95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cs typeface="+mn-ea"/>
              <a:sym typeface="+mn-lt"/>
            </a:endParaRPr>
          </a:p>
        </p:txBody>
      </p:sp>
      <p:sp>
        <p:nvSpPr>
          <p:cNvPr id="19" name="文本框 15"/>
          <p:cNvSpPr txBox="1"/>
          <p:nvPr/>
        </p:nvSpPr>
        <p:spPr>
          <a:xfrm>
            <a:off x="158115" y="72390"/>
            <a:ext cx="2662555" cy="584835"/>
          </a:xfrm>
          <a:prstGeom prst="rect">
            <a:avLst/>
          </a:prstGeom>
          <a:noFill/>
        </p:spPr>
        <p:txBody>
          <a:bodyPr wrap="square" lIns="68580" tIns="34290" rIns="68580" bIns="34290" rtlCol="0">
            <a:noAutofit/>
          </a:bodyPr>
          <a:lstStyle/>
          <a:p>
            <a:r>
              <a:rPr lang="zh-CN" altLang="en-US" sz="1700" b="1" dirty="0">
                <a:solidFill>
                  <a:srgbClr val="1B4367"/>
                </a:solidFill>
                <a:cs typeface="+mn-ea"/>
                <a:sym typeface="+mn-lt"/>
              </a:rPr>
              <a:t>the </a:t>
            </a:r>
            <a:r>
              <a:rPr lang="en-US" altLang="zh-CN" sz="1700" b="1" dirty="0">
                <a:solidFill>
                  <a:srgbClr val="1B4367"/>
                </a:solidFill>
                <a:cs typeface="+mn-ea"/>
                <a:sym typeface="+mn-lt"/>
              </a:rPr>
              <a:t>D</a:t>
            </a:r>
            <a:r>
              <a:rPr lang="zh-CN" altLang="en-US" sz="1700" b="1" dirty="0">
                <a:solidFill>
                  <a:srgbClr val="1B4367"/>
                </a:solidFill>
                <a:cs typeface="+mn-ea"/>
                <a:sym typeface="+mn-lt"/>
              </a:rPr>
              <a:t>ifferent</a:t>
            </a:r>
            <a:r>
              <a:rPr lang="en-US" altLang="zh-CN" sz="1700" b="1" dirty="0">
                <a:solidFill>
                  <a:srgbClr val="1B4367"/>
                </a:solidFill>
                <a:cs typeface="+mn-ea"/>
                <a:sym typeface="+mn-lt"/>
              </a:rPr>
              <a:t> EM</a:t>
            </a:r>
            <a:r>
              <a:rPr lang="zh-CN" altLang="en-US" sz="1700" b="1" dirty="0">
                <a:solidFill>
                  <a:srgbClr val="1B4367"/>
                </a:solidFill>
                <a:cs typeface="+mn-ea"/>
                <a:sym typeface="+mn-lt"/>
              </a:rPr>
              <a:t> </a:t>
            </a:r>
            <a:r>
              <a:rPr lang="en-US" altLang="zh-CN" sz="1700" b="1" dirty="0">
                <a:solidFill>
                  <a:srgbClr val="1B4367"/>
                </a:solidFill>
                <a:cs typeface="+mn-ea"/>
                <a:sym typeface="+mn-lt"/>
              </a:rPr>
              <a:t>A</a:t>
            </a:r>
            <a:r>
              <a:rPr lang="zh-CN" altLang="en-US" sz="1700" b="1" dirty="0">
                <a:solidFill>
                  <a:srgbClr val="1B4367"/>
                </a:solidFill>
                <a:cs typeface="+mn-ea"/>
                <a:sym typeface="+mn-lt"/>
              </a:rPr>
              <a:t>pproaches </a:t>
            </a:r>
            <a:endParaRPr lang="zh-CN" altLang="en-US" sz="1700" b="1" dirty="0">
              <a:solidFill>
                <a:srgbClr val="1B4367"/>
              </a:solidFill>
              <a:cs typeface="+mn-ea"/>
              <a:sym typeface="+mn-lt"/>
            </a:endParaRPr>
          </a:p>
        </p:txBody>
      </p:sp>
      <p:sp>
        <p:nvSpPr>
          <p:cNvPr id="20" name="TextBox 1210"/>
          <p:cNvSpPr/>
          <p:nvPr/>
        </p:nvSpPr>
        <p:spPr>
          <a:xfrm>
            <a:off x="530860" y="2795905"/>
            <a:ext cx="1298575" cy="1083945"/>
          </a:xfrm>
          <a:prstGeom prst="rect">
            <a:avLst/>
          </a:prstGeom>
          <a:noFill/>
          <a:ln w="9525">
            <a:noFill/>
            <a:miter/>
          </a:ln>
          <a:extLst>
            <a:ext uri="{909E8E84-426E-40DD-AFC4-6F175D3DCCD1}">
              <a14:hiddenFill xmlns:a14="http://schemas.microsoft.com/office/drawing/2010/main">
                <a:solidFill>
                  <a:srgbClr val="5CA0B4"/>
                </a:solidFill>
              </a14:hiddenFill>
            </a:ext>
          </a:extLst>
        </p:spPr>
        <p:txBody>
          <a:bodyPr wrap="none" lIns="68580" tIns="34290" rIns="68580" bIns="34290">
            <a:noAutofit/>
          </a:bodyPr>
          <a:lstStyle/>
          <a:p>
            <a:pPr lvl="0" algn="ctr"/>
            <a:r>
              <a:rPr lang="zh-CN" altLang="en-US" b="1" dirty="0">
                <a:solidFill>
                  <a:srgbClr val="1B4367"/>
                </a:solidFill>
                <a:cs typeface="+mn-ea"/>
                <a:sym typeface="+mn-lt"/>
              </a:rPr>
              <a:t>C</a:t>
            </a:r>
            <a:r>
              <a:rPr lang="en-US" altLang="zh-CN" b="1" dirty="0">
                <a:solidFill>
                  <a:srgbClr val="1B4367"/>
                </a:solidFill>
                <a:cs typeface="+mn-ea"/>
                <a:sym typeface="+mn-lt"/>
              </a:rPr>
              <a:t>ontrolling</a:t>
            </a:r>
            <a:r>
              <a:rPr lang="zh-CN" altLang="en-US" b="1" dirty="0">
                <a:solidFill>
                  <a:srgbClr val="1B4367"/>
                </a:solidFill>
                <a:cs typeface="+mn-ea"/>
                <a:sym typeface="+mn-lt"/>
              </a:rPr>
              <a:t> </a:t>
            </a:r>
            <a:endParaRPr lang="zh-CN" altLang="en-US" b="1" dirty="0">
              <a:solidFill>
                <a:srgbClr val="1B4367"/>
              </a:solidFill>
              <a:cs typeface="+mn-ea"/>
              <a:sym typeface="+mn-lt"/>
            </a:endParaRPr>
          </a:p>
          <a:p>
            <a:pPr lvl="0" algn="ctr"/>
            <a:r>
              <a:rPr lang="en-US" altLang="zh-CN" b="1" dirty="0">
                <a:solidFill>
                  <a:srgbClr val="1B4367"/>
                </a:solidFill>
                <a:cs typeface="+mn-ea"/>
                <a:sym typeface="+mn-lt"/>
              </a:rPr>
              <a:t>the</a:t>
            </a:r>
            <a:r>
              <a:rPr lang="zh-CN" altLang="en-US" b="1" dirty="0">
                <a:solidFill>
                  <a:srgbClr val="1B4367"/>
                </a:solidFill>
                <a:cs typeface="+mn-ea"/>
                <a:sym typeface="+mn-lt"/>
              </a:rPr>
              <a:t> O</a:t>
            </a:r>
            <a:r>
              <a:rPr lang="en-US" altLang="zh-CN" b="1" dirty="0">
                <a:solidFill>
                  <a:srgbClr val="1B4367"/>
                </a:solidFill>
                <a:cs typeface="+mn-ea"/>
                <a:sym typeface="+mn-lt"/>
              </a:rPr>
              <a:t>utput</a:t>
            </a:r>
            <a:endParaRPr lang="zh-CN" altLang="en-US" b="1" dirty="0">
              <a:solidFill>
                <a:srgbClr val="1B4367"/>
              </a:solidFill>
              <a:cs typeface="+mn-ea"/>
              <a:sym typeface="+mn-lt"/>
            </a:endParaRPr>
          </a:p>
          <a:p>
            <a:pPr lvl="0" algn="ctr"/>
            <a:r>
              <a:rPr lang="zh-CN" altLang="en-US" b="1" dirty="0">
                <a:solidFill>
                  <a:srgbClr val="1B4367"/>
                </a:solidFill>
                <a:cs typeface="+mn-ea"/>
                <a:sym typeface="+mn-lt"/>
              </a:rPr>
              <a:t> P</a:t>
            </a:r>
            <a:r>
              <a:rPr lang="en-US" altLang="zh-CN" b="1" dirty="0">
                <a:solidFill>
                  <a:srgbClr val="1B4367"/>
                </a:solidFill>
                <a:cs typeface="+mn-ea"/>
                <a:sym typeface="+mn-lt"/>
              </a:rPr>
              <a:t>ower</a:t>
            </a:r>
            <a:r>
              <a:rPr lang="zh-CN" altLang="en-US" b="1" dirty="0">
                <a:solidFill>
                  <a:srgbClr val="1B4367"/>
                </a:solidFill>
                <a:cs typeface="+mn-ea"/>
                <a:sym typeface="+mn-lt"/>
              </a:rPr>
              <a:t> </a:t>
            </a:r>
            <a:r>
              <a:rPr lang="en-US" altLang="zh-CN" b="1" dirty="0">
                <a:solidFill>
                  <a:srgbClr val="1B4367"/>
                </a:solidFill>
                <a:cs typeface="+mn-ea"/>
                <a:sym typeface="+mn-lt"/>
              </a:rPr>
              <a:t>of</a:t>
            </a:r>
            <a:r>
              <a:rPr lang="zh-CN" altLang="en-US" b="1" dirty="0">
                <a:solidFill>
                  <a:srgbClr val="1B4367"/>
                </a:solidFill>
                <a:cs typeface="+mn-ea"/>
                <a:sym typeface="+mn-lt"/>
              </a:rPr>
              <a:t> </a:t>
            </a:r>
            <a:r>
              <a:rPr lang="en-US" altLang="zh-CN" b="1" dirty="0">
                <a:solidFill>
                  <a:srgbClr val="1B4367"/>
                </a:solidFill>
                <a:cs typeface="+mn-ea"/>
                <a:sym typeface="+mn-lt"/>
              </a:rPr>
              <a:t>the</a:t>
            </a:r>
            <a:r>
              <a:rPr lang="zh-CN" altLang="en-US" b="1" dirty="0">
                <a:solidFill>
                  <a:srgbClr val="1B4367"/>
                </a:solidFill>
                <a:cs typeface="+mn-ea"/>
                <a:sym typeface="+mn-lt"/>
              </a:rPr>
              <a:t> DGS</a:t>
            </a:r>
            <a:endParaRPr lang="zh-CN" altLang="en-US" b="1" dirty="0">
              <a:solidFill>
                <a:srgbClr val="1B4367"/>
              </a:solidFill>
              <a:cs typeface="+mn-ea"/>
              <a:sym typeface="+mn-lt"/>
            </a:endParaRPr>
          </a:p>
        </p:txBody>
      </p:sp>
      <p:sp>
        <p:nvSpPr>
          <p:cNvPr id="22" name="TextBox 1210"/>
          <p:cNvSpPr/>
          <p:nvPr/>
        </p:nvSpPr>
        <p:spPr>
          <a:xfrm>
            <a:off x="2439569" y="2765297"/>
            <a:ext cx="988060" cy="499110"/>
          </a:xfrm>
          <a:prstGeom prst="rect">
            <a:avLst/>
          </a:prstGeom>
          <a:noFill/>
          <a:ln w="9525">
            <a:noFill/>
            <a:miter/>
          </a:ln>
          <a:extLst>
            <a:ext uri="{909E8E84-426E-40DD-AFC4-6F175D3DCCD1}">
              <a14:hiddenFill xmlns:a14="http://schemas.microsoft.com/office/drawing/2010/main">
                <a:solidFill>
                  <a:srgbClr val="5CA0B4"/>
                </a:solidFill>
              </a14:hiddenFill>
            </a:ext>
          </a:extLst>
        </p:spPr>
        <p:txBody>
          <a:bodyPr wrap="none" lIns="68580" tIns="34290" rIns="68580" bIns="34290">
            <a:spAutoFit/>
          </a:bodyPr>
          <a:lstStyle/>
          <a:p>
            <a:pPr lvl="0" algn="ctr"/>
            <a:r>
              <a:rPr lang="en-US" altLang="zh-CN" b="1" dirty="0">
                <a:solidFill>
                  <a:srgbClr val="1B4367"/>
                </a:solidFill>
                <a:cs typeface="+mn-ea"/>
                <a:sym typeface="+mn-lt"/>
              </a:rPr>
              <a:t>Capacitor</a:t>
            </a:r>
            <a:endParaRPr lang="en-US" altLang="zh-CN" b="1" dirty="0">
              <a:solidFill>
                <a:srgbClr val="1B4367"/>
              </a:solidFill>
              <a:cs typeface="+mn-ea"/>
              <a:sym typeface="+mn-lt"/>
            </a:endParaRPr>
          </a:p>
          <a:p>
            <a:pPr lvl="0" algn="ctr"/>
            <a:r>
              <a:rPr lang="en-US" altLang="zh-CN" b="1" dirty="0">
                <a:solidFill>
                  <a:srgbClr val="1B4367"/>
                </a:solidFill>
                <a:cs typeface="+mn-ea"/>
                <a:sym typeface="+mn-lt"/>
              </a:rPr>
              <a:t>Control</a:t>
            </a:r>
            <a:endParaRPr lang="en-US" altLang="zh-CN" b="1" dirty="0">
              <a:solidFill>
                <a:srgbClr val="1B4367"/>
              </a:solidFill>
              <a:cs typeface="+mn-ea"/>
              <a:sym typeface="+mn-lt"/>
            </a:endParaRPr>
          </a:p>
        </p:txBody>
      </p:sp>
      <p:sp>
        <p:nvSpPr>
          <p:cNvPr id="24" name="TextBox 1210"/>
          <p:cNvSpPr/>
          <p:nvPr/>
        </p:nvSpPr>
        <p:spPr>
          <a:xfrm>
            <a:off x="3842624" y="2795777"/>
            <a:ext cx="1169035" cy="283845"/>
          </a:xfrm>
          <a:prstGeom prst="rect">
            <a:avLst/>
          </a:prstGeom>
          <a:noFill/>
          <a:ln w="9525">
            <a:noFill/>
            <a:miter/>
          </a:ln>
          <a:extLst>
            <a:ext uri="{909E8E84-426E-40DD-AFC4-6F175D3DCCD1}">
              <a14:hiddenFill xmlns:a14="http://schemas.microsoft.com/office/drawing/2010/main">
                <a:solidFill>
                  <a:srgbClr val="5CA0B4"/>
                </a:solidFill>
              </a14:hiddenFill>
            </a:ext>
          </a:extLst>
        </p:spPr>
        <p:txBody>
          <a:bodyPr wrap="none" lIns="68580" tIns="34290" rIns="68580" bIns="34290">
            <a:spAutoFit/>
          </a:bodyPr>
          <a:lstStyle/>
          <a:p>
            <a:pPr lvl="0" algn="ctr"/>
            <a:r>
              <a:rPr lang="en-US" altLang="zh-CN" b="1" dirty="0">
                <a:solidFill>
                  <a:srgbClr val="1B4367"/>
                </a:solidFill>
                <a:cs typeface="+mn-ea"/>
                <a:sym typeface="+mn-lt"/>
              </a:rPr>
              <a:t>EES Control</a:t>
            </a:r>
            <a:endParaRPr lang="en-US" altLang="zh-CN" b="1" dirty="0">
              <a:solidFill>
                <a:srgbClr val="1B4367"/>
              </a:solidFill>
              <a:cs typeface="+mn-ea"/>
              <a:sym typeface="+mn-lt"/>
            </a:endParaRPr>
          </a:p>
        </p:txBody>
      </p:sp>
      <p:sp>
        <p:nvSpPr>
          <p:cNvPr id="26" name="TextBox 1210"/>
          <p:cNvSpPr/>
          <p:nvPr/>
        </p:nvSpPr>
        <p:spPr>
          <a:xfrm>
            <a:off x="5361984" y="2765297"/>
            <a:ext cx="1041400" cy="499110"/>
          </a:xfrm>
          <a:prstGeom prst="rect">
            <a:avLst/>
          </a:prstGeom>
          <a:noFill/>
          <a:ln w="9525">
            <a:noFill/>
            <a:miter/>
          </a:ln>
          <a:extLst>
            <a:ext uri="{909E8E84-426E-40DD-AFC4-6F175D3DCCD1}">
              <a14:hiddenFill xmlns:a14="http://schemas.microsoft.com/office/drawing/2010/main">
                <a:solidFill>
                  <a:srgbClr val="5CA0B4"/>
                </a:solidFill>
              </a14:hiddenFill>
            </a:ext>
          </a:extLst>
        </p:spPr>
        <p:txBody>
          <a:bodyPr wrap="none" lIns="68580" tIns="34290" rIns="68580" bIns="34290">
            <a:spAutoFit/>
          </a:bodyPr>
          <a:lstStyle/>
          <a:p>
            <a:pPr lvl="0" algn="ctr"/>
            <a:r>
              <a:rPr lang="en-US" altLang="zh-CN" b="1" dirty="0">
                <a:solidFill>
                  <a:srgbClr val="1B4367"/>
                </a:solidFill>
                <a:cs typeface="+mn-ea"/>
                <a:sym typeface="+mn-lt"/>
              </a:rPr>
              <a:t>Demand</a:t>
            </a:r>
            <a:endParaRPr lang="en-US" altLang="zh-CN" b="1" dirty="0">
              <a:solidFill>
                <a:srgbClr val="1B4367"/>
              </a:solidFill>
              <a:cs typeface="+mn-ea"/>
              <a:sym typeface="+mn-lt"/>
            </a:endParaRPr>
          </a:p>
          <a:p>
            <a:pPr lvl="0" algn="ctr"/>
            <a:r>
              <a:rPr lang="en-US" altLang="zh-CN" b="1" dirty="0">
                <a:solidFill>
                  <a:srgbClr val="1B4367"/>
                </a:solidFill>
                <a:cs typeface="+mn-ea"/>
                <a:sym typeface="+mn-lt"/>
              </a:rPr>
              <a:t> Response</a:t>
            </a:r>
            <a:endParaRPr lang="en-US" altLang="zh-CN" b="1" dirty="0">
              <a:solidFill>
                <a:srgbClr val="1B4367"/>
              </a:solidFill>
              <a:cs typeface="+mn-ea"/>
              <a:sym typeface="+mn-lt"/>
            </a:endParaRPr>
          </a:p>
        </p:txBody>
      </p:sp>
      <p:cxnSp>
        <p:nvCxnSpPr>
          <p:cNvPr id="28" name="直接连接符 27"/>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3" name="矩形 2"/>
          <p:cNvSpPr/>
          <p:nvPr/>
        </p:nvSpPr>
        <p:spPr>
          <a:xfrm>
            <a:off x="940435" y="1330325"/>
            <a:ext cx="690880" cy="1108075"/>
          </a:xfrm>
          <a:prstGeom prst="rect">
            <a:avLst/>
          </a:prstGeom>
          <a:noFill/>
          <a:ln>
            <a:noFill/>
          </a:ln>
        </p:spPr>
        <p:txBody>
          <a:bodyPr wrap="none" rtlCol="0" anchor="t">
            <a:noAutofit/>
          </a:bodyPr>
          <a:lstStyle/>
          <a:p>
            <a:pPr algn="ctr"/>
            <a:r>
              <a:rPr lang="en-US" altLang="zh-CN" sz="7200" b="1">
                <a:ln w="9525">
                  <a:solidFill>
                    <a:schemeClr val="bg1"/>
                  </a:solidFill>
                  <a:prstDash val="solid"/>
                </a:ln>
                <a:solidFill>
                  <a:schemeClr val="tx1"/>
                </a:solidFill>
                <a:effectLst>
                  <a:outerShdw blurRad="12700" dist="38100" dir="2700000" algn="tl" rotWithShape="0">
                    <a:schemeClr val="bg1">
                      <a:lumMod val="50000"/>
                    </a:schemeClr>
                  </a:outerShdw>
                </a:effectLst>
              </a:rPr>
              <a:t>1</a:t>
            </a:r>
            <a:endParaRPr lang="en-US" altLang="zh-CN" sz="7200" b="1">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2" name="矩形 1"/>
          <p:cNvSpPr/>
          <p:nvPr/>
        </p:nvSpPr>
        <p:spPr>
          <a:xfrm>
            <a:off x="2439670" y="1330325"/>
            <a:ext cx="746760" cy="1198880"/>
          </a:xfrm>
          <a:prstGeom prst="rect">
            <a:avLst/>
          </a:prstGeom>
          <a:noFill/>
          <a:ln>
            <a:noFill/>
          </a:ln>
        </p:spPr>
        <p:txBody>
          <a:bodyPr wrap="none" rtlCol="0" anchor="t">
            <a:spAutoFit/>
          </a:bodyPr>
          <a:lstStyle/>
          <a:p>
            <a:pPr algn="ctr"/>
            <a:r>
              <a:rPr lang="en-US" altLang="zh-CN" sz="7200" b="1">
                <a:ln w="9525">
                  <a:solidFill>
                    <a:schemeClr val="bg1"/>
                  </a:solidFill>
                  <a:prstDash val="solid"/>
                </a:ln>
                <a:solidFill>
                  <a:schemeClr val="tx1"/>
                </a:solidFill>
                <a:effectLst>
                  <a:outerShdw blurRad="12700" dist="38100" dir="2700000" algn="tl" rotWithShape="0">
                    <a:schemeClr val="bg1">
                      <a:lumMod val="50000"/>
                    </a:schemeClr>
                  </a:outerShdw>
                </a:effectLst>
              </a:rPr>
              <a:t>2</a:t>
            </a:r>
            <a:endParaRPr lang="en-US" altLang="zh-CN" sz="7200" b="1">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4" name="矩形 3"/>
          <p:cNvSpPr/>
          <p:nvPr/>
        </p:nvSpPr>
        <p:spPr>
          <a:xfrm>
            <a:off x="3970655" y="1330325"/>
            <a:ext cx="746760" cy="1198880"/>
          </a:xfrm>
          <a:prstGeom prst="rect">
            <a:avLst/>
          </a:prstGeom>
          <a:noFill/>
          <a:ln>
            <a:noFill/>
          </a:ln>
        </p:spPr>
        <p:txBody>
          <a:bodyPr wrap="none" rtlCol="0" anchor="t">
            <a:spAutoFit/>
          </a:bodyPr>
          <a:lstStyle/>
          <a:p>
            <a:pPr algn="ctr"/>
            <a:r>
              <a:rPr lang="en-US" altLang="zh-CN" sz="7200" b="1">
                <a:ln w="9525">
                  <a:solidFill>
                    <a:schemeClr val="bg1"/>
                  </a:solidFill>
                  <a:prstDash val="solid"/>
                </a:ln>
                <a:solidFill>
                  <a:schemeClr val="tx1"/>
                </a:solidFill>
                <a:effectLst>
                  <a:outerShdw blurRad="12700" dist="38100" dir="2700000" algn="tl" rotWithShape="0">
                    <a:schemeClr val="bg1">
                      <a:lumMod val="50000"/>
                    </a:schemeClr>
                  </a:outerShdw>
                </a:effectLst>
              </a:rPr>
              <a:t>3</a:t>
            </a:r>
            <a:endParaRPr lang="en-US" altLang="zh-CN" sz="7200" b="1">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5" name="矩形 4"/>
          <p:cNvSpPr/>
          <p:nvPr/>
        </p:nvSpPr>
        <p:spPr>
          <a:xfrm>
            <a:off x="5396865" y="1330325"/>
            <a:ext cx="746760" cy="1198880"/>
          </a:xfrm>
          <a:prstGeom prst="rect">
            <a:avLst/>
          </a:prstGeom>
          <a:noFill/>
          <a:ln>
            <a:noFill/>
          </a:ln>
        </p:spPr>
        <p:txBody>
          <a:bodyPr wrap="none" rtlCol="0" anchor="t">
            <a:spAutoFit/>
          </a:bodyPr>
          <a:lstStyle/>
          <a:p>
            <a:pPr algn="ctr"/>
            <a:r>
              <a:rPr lang="en-US" altLang="zh-CN" sz="7200" b="1">
                <a:ln w="9525">
                  <a:solidFill>
                    <a:schemeClr val="bg1"/>
                  </a:solidFill>
                  <a:prstDash val="solid"/>
                </a:ln>
                <a:solidFill>
                  <a:schemeClr val="tx1"/>
                </a:solidFill>
                <a:effectLst>
                  <a:outerShdw blurRad="12700" dist="38100" dir="2700000" algn="tl" rotWithShape="0">
                    <a:schemeClr val="bg1">
                      <a:lumMod val="50000"/>
                    </a:schemeClr>
                  </a:outerShdw>
                </a:effectLst>
              </a:rPr>
              <a:t>4</a:t>
            </a:r>
            <a:endParaRPr lang="en-US" altLang="zh-CN" sz="7200" b="1">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6" name="泪滴形 5"/>
          <p:cNvSpPr/>
          <p:nvPr>
            <p:custDataLst>
              <p:tags r:id="rId1"/>
            </p:custDataLst>
          </p:nvPr>
        </p:nvSpPr>
        <p:spPr>
          <a:xfrm rot="8100000">
            <a:off x="6960870" y="1346835"/>
            <a:ext cx="1067435" cy="1067435"/>
          </a:xfrm>
          <a:prstGeom prst="teardrop">
            <a:avLst/>
          </a:prstGeom>
          <a:solidFill>
            <a:srgbClr val="1B4367"/>
          </a:solidFill>
          <a:ln w="95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cs typeface="+mn-ea"/>
              <a:sym typeface="+mn-lt"/>
            </a:endParaRPr>
          </a:p>
        </p:txBody>
      </p:sp>
      <p:sp>
        <p:nvSpPr>
          <p:cNvPr id="10" name="矩形 9"/>
          <p:cNvSpPr/>
          <p:nvPr/>
        </p:nvSpPr>
        <p:spPr>
          <a:xfrm>
            <a:off x="7142480" y="1330325"/>
            <a:ext cx="746760" cy="1198880"/>
          </a:xfrm>
          <a:prstGeom prst="rect">
            <a:avLst/>
          </a:prstGeom>
          <a:noFill/>
          <a:ln>
            <a:noFill/>
          </a:ln>
        </p:spPr>
        <p:txBody>
          <a:bodyPr wrap="none" rtlCol="0" anchor="t">
            <a:spAutoFit/>
          </a:bodyPr>
          <a:lstStyle/>
          <a:p>
            <a:pPr algn="ctr"/>
            <a:r>
              <a:rPr lang="en-US" altLang="zh-CN" sz="7200" b="1">
                <a:ln w="9525">
                  <a:solidFill>
                    <a:schemeClr val="bg1"/>
                  </a:solidFill>
                  <a:prstDash val="solid"/>
                </a:ln>
                <a:solidFill>
                  <a:schemeClr val="tx1"/>
                </a:solidFill>
                <a:effectLst>
                  <a:outerShdw blurRad="12700" dist="38100" dir="2700000" algn="tl" rotWithShape="0">
                    <a:schemeClr val="bg1">
                      <a:lumMod val="50000"/>
                    </a:schemeClr>
                  </a:outerShdw>
                </a:effectLst>
              </a:rPr>
              <a:t>5</a:t>
            </a:r>
            <a:endParaRPr lang="en-US" altLang="zh-CN" sz="7200" b="1">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11" name="TextBox 1210"/>
          <p:cNvSpPr/>
          <p:nvPr>
            <p:custDataLst>
              <p:tags r:id="rId2"/>
            </p:custDataLst>
          </p:nvPr>
        </p:nvSpPr>
        <p:spPr>
          <a:xfrm>
            <a:off x="6824072" y="2765297"/>
            <a:ext cx="1577975" cy="499110"/>
          </a:xfrm>
          <a:prstGeom prst="rect">
            <a:avLst/>
          </a:prstGeom>
          <a:noFill/>
          <a:ln w="9525">
            <a:noFill/>
            <a:miter/>
          </a:ln>
          <a:extLst>
            <a:ext uri="{909E8E84-426E-40DD-AFC4-6F175D3DCCD1}">
              <a14:hiddenFill xmlns:a14="http://schemas.microsoft.com/office/drawing/2010/main">
                <a:solidFill>
                  <a:srgbClr val="5CA0B4"/>
                </a:solidFill>
              </a14:hiddenFill>
            </a:ext>
          </a:extLst>
        </p:spPr>
        <p:txBody>
          <a:bodyPr wrap="none" lIns="68580" tIns="34290" rIns="68580" bIns="34290">
            <a:spAutoFit/>
          </a:bodyPr>
          <a:lstStyle/>
          <a:p>
            <a:pPr lvl="0" algn="ctr"/>
            <a:r>
              <a:rPr lang="en-US" altLang="zh-CN" b="1" dirty="0">
                <a:solidFill>
                  <a:srgbClr val="1B4367"/>
                </a:solidFill>
                <a:cs typeface="+mn-ea"/>
                <a:sym typeface="+mn-lt"/>
              </a:rPr>
              <a:t>System</a:t>
            </a:r>
            <a:endParaRPr lang="en-US" altLang="zh-CN" b="1" dirty="0">
              <a:solidFill>
                <a:srgbClr val="1B4367"/>
              </a:solidFill>
              <a:cs typeface="+mn-ea"/>
              <a:sym typeface="+mn-lt"/>
            </a:endParaRPr>
          </a:p>
          <a:p>
            <a:pPr lvl="0" algn="ctr"/>
            <a:r>
              <a:rPr lang="en-US" altLang="zh-CN" b="1" dirty="0">
                <a:solidFill>
                  <a:srgbClr val="1B4367"/>
                </a:solidFill>
                <a:cs typeface="+mn-ea"/>
                <a:sym typeface="+mn-lt"/>
              </a:rPr>
              <a:t>Reconfiguration</a:t>
            </a:r>
            <a:endParaRPr lang="en-US" altLang="zh-CN" b="1" dirty="0">
              <a:solidFill>
                <a:srgbClr val="1B4367"/>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200">
        <p14:flip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9"/>
                                        </p:tgtEl>
                                        <p:attrNameLst>
                                          <p:attrName>ppt_y</p:attrName>
                                        </p:attrNameLst>
                                      </p:cBhvr>
                                      <p:tavLst>
                                        <p:tav tm="0">
                                          <p:val>
                                            <p:strVal val="#ppt_y"/>
                                          </p:val>
                                        </p:tav>
                                        <p:tav tm="100000">
                                          <p:val>
                                            <p:strVal val="#ppt_y"/>
                                          </p:val>
                                        </p:tav>
                                      </p:tavLst>
                                    </p:anim>
                                    <p:anim calcmode="lin" valueType="num">
                                      <p:cBhvr>
                                        <p:cTn id="9"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9"/>
                                        </p:tgtEl>
                                      </p:cBhvr>
                                    </p:animEffect>
                                  </p:childTnLst>
                                </p:cTn>
                              </p:par>
                            </p:childTnLst>
                          </p:cTn>
                        </p:par>
                        <p:par>
                          <p:cTn id="12" fill="hold">
                            <p:stCondLst>
                              <p:cond delay="1850"/>
                            </p:stCondLst>
                            <p:childTnLst>
                              <p:par>
                                <p:cTn id="13" presetID="22" presetClass="entr" presetSubtype="8" fill="hold" nodeType="after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wipe(left)">
                                      <p:cBhvr>
                                        <p:cTn id="15" dur="300"/>
                                        <p:tgtEl>
                                          <p:spTgt spid="28"/>
                                        </p:tgtEl>
                                      </p:cBhvr>
                                    </p:animEffect>
                                  </p:childTnLst>
                                </p:cTn>
                              </p:par>
                            </p:childTnLst>
                          </p:cTn>
                        </p:par>
                        <p:par>
                          <p:cTn id="16" fill="hold">
                            <p:stCondLst>
                              <p:cond delay="2350"/>
                            </p:stCondLst>
                            <p:childTnLst>
                              <p:par>
                                <p:cTn id="17" presetID="53" presetClass="entr" presetSubtype="16" fill="hold" grpId="0" nodeType="afterEffect">
                                  <p:stCondLst>
                                    <p:cond delay="0"/>
                                  </p:stCondLst>
                                  <p:childTnLst>
                                    <p:set>
                                      <p:cBhvr>
                                        <p:cTn id="18" dur="1" fill="hold">
                                          <p:stCondLst>
                                            <p:cond delay="0"/>
                                          </p:stCondLst>
                                        </p:cTn>
                                        <p:tgtEl>
                                          <p:spTgt spid="20"/>
                                        </p:tgtEl>
                                        <p:attrNameLst>
                                          <p:attrName>style.visibility</p:attrName>
                                        </p:attrNameLst>
                                      </p:cBhvr>
                                      <p:to>
                                        <p:strVal val="visible"/>
                                      </p:to>
                                    </p:set>
                                    <p:anim calcmode="lin" valueType="num">
                                      <p:cBhvr>
                                        <p:cTn id="19" dur="500" fill="hold"/>
                                        <p:tgtEl>
                                          <p:spTgt spid="20"/>
                                        </p:tgtEl>
                                        <p:attrNameLst>
                                          <p:attrName>ppt_w</p:attrName>
                                        </p:attrNameLst>
                                      </p:cBhvr>
                                      <p:tavLst>
                                        <p:tav tm="0">
                                          <p:val>
                                            <p:fltVal val="0"/>
                                          </p:val>
                                        </p:tav>
                                        <p:tav tm="100000">
                                          <p:val>
                                            <p:strVal val="#ppt_w"/>
                                          </p:val>
                                        </p:tav>
                                      </p:tavLst>
                                    </p:anim>
                                    <p:anim calcmode="lin" valueType="num">
                                      <p:cBhvr>
                                        <p:cTn id="20" dur="500" fill="hold"/>
                                        <p:tgtEl>
                                          <p:spTgt spid="20"/>
                                        </p:tgtEl>
                                        <p:attrNameLst>
                                          <p:attrName>ppt_h</p:attrName>
                                        </p:attrNameLst>
                                      </p:cBhvr>
                                      <p:tavLst>
                                        <p:tav tm="0">
                                          <p:val>
                                            <p:fltVal val="0"/>
                                          </p:val>
                                        </p:tav>
                                        <p:tav tm="100000">
                                          <p:val>
                                            <p:strVal val="#ppt_h"/>
                                          </p:val>
                                        </p:tav>
                                      </p:tavLst>
                                    </p:anim>
                                    <p:animEffect transition="in" filter="fade">
                                      <p:cBhvr>
                                        <p:cTn id="21" dur="500"/>
                                        <p:tgtEl>
                                          <p:spTgt spid="20"/>
                                        </p:tgtEl>
                                      </p:cBhvr>
                                    </p:animEffect>
                                  </p:childTnLst>
                                </p:cTn>
                              </p:par>
                            </p:childTnLst>
                          </p:cTn>
                        </p:par>
                        <p:par>
                          <p:cTn id="22" fill="hold">
                            <p:stCondLst>
                              <p:cond delay="2850"/>
                            </p:stCondLst>
                            <p:childTnLst>
                              <p:par>
                                <p:cTn id="23" presetID="53" presetClass="entr" presetSubtype="16" fill="hold" grpId="0" nodeType="afterEffect">
                                  <p:stCondLst>
                                    <p:cond delay="0"/>
                                  </p:stCondLst>
                                  <p:childTnLst>
                                    <p:set>
                                      <p:cBhvr>
                                        <p:cTn id="24" dur="1" fill="hold">
                                          <p:stCondLst>
                                            <p:cond delay="0"/>
                                          </p:stCondLst>
                                        </p:cTn>
                                        <p:tgtEl>
                                          <p:spTgt spid="22"/>
                                        </p:tgtEl>
                                        <p:attrNameLst>
                                          <p:attrName>style.visibility</p:attrName>
                                        </p:attrNameLst>
                                      </p:cBhvr>
                                      <p:to>
                                        <p:strVal val="visible"/>
                                      </p:to>
                                    </p:set>
                                    <p:anim calcmode="lin" valueType="num">
                                      <p:cBhvr>
                                        <p:cTn id="25" dur="500" fill="hold"/>
                                        <p:tgtEl>
                                          <p:spTgt spid="22"/>
                                        </p:tgtEl>
                                        <p:attrNameLst>
                                          <p:attrName>ppt_w</p:attrName>
                                        </p:attrNameLst>
                                      </p:cBhvr>
                                      <p:tavLst>
                                        <p:tav tm="0">
                                          <p:val>
                                            <p:fltVal val="0"/>
                                          </p:val>
                                        </p:tav>
                                        <p:tav tm="100000">
                                          <p:val>
                                            <p:strVal val="#ppt_w"/>
                                          </p:val>
                                        </p:tav>
                                      </p:tavLst>
                                    </p:anim>
                                    <p:anim calcmode="lin" valueType="num">
                                      <p:cBhvr>
                                        <p:cTn id="26" dur="500" fill="hold"/>
                                        <p:tgtEl>
                                          <p:spTgt spid="22"/>
                                        </p:tgtEl>
                                        <p:attrNameLst>
                                          <p:attrName>ppt_h</p:attrName>
                                        </p:attrNameLst>
                                      </p:cBhvr>
                                      <p:tavLst>
                                        <p:tav tm="0">
                                          <p:val>
                                            <p:fltVal val="0"/>
                                          </p:val>
                                        </p:tav>
                                        <p:tav tm="100000">
                                          <p:val>
                                            <p:strVal val="#ppt_h"/>
                                          </p:val>
                                        </p:tav>
                                      </p:tavLst>
                                    </p:anim>
                                    <p:animEffect transition="in" filter="fade">
                                      <p:cBhvr>
                                        <p:cTn id="27" dur="500"/>
                                        <p:tgtEl>
                                          <p:spTgt spid="22"/>
                                        </p:tgtEl>
                                      </p:cBhvr>
                                    </p:animEffect>
                                  </p:childTnLst>
                                </p:cTn>
                              </p:par>
                            </p:childTnLst>
                          </p:cTn>
                        </p:par>
                        <p:par>
                          <p:cTn id="28" fill="hold">
                            <p:stCondLst>
                              <p:cond delay="3350"/>
                            </p:stCondLst>
                            <p:childTnLst>
                              <p:par>
                                <p:cTn id="29" presetID="53" presetClass="entr" presetSubtype="16" fill="hold" grpId="0" nodeType="afterEffect">
                                  <p:stCondLst>
                                    <p:cond delay="0"/>
                                  </p:stCondLst>
                                  <p:childTnLst>
                                    <p:set>
                                      <p:cBhvr>
                                        <p:cTn id="30" dur="1" fill="hold">
                                          <p:stCondLst>
                                            <p:cond delay="0"/>
                                          </p:stCondLst>
                                        </p:cTn>
                                        <p:tgtEl>
                                          <p:spTgt spid="24"/>
                                        </p:tgtEl>
                                        <p:attrNameLst>
                                          <p:attrName>style.visibility</p:attrName>
                                        </p:attrNameLst>
                                      </p:cBhvr>
                                      <p:to>
                                        <p:strVal val="visible"/>
                                      </p:to>
                                    </p:set>
                                    <p:anim calcmode="lin" valueType="num">
                                      <p:cBhvr>
                                        <p:cTn id="31" dur="500" fill="hold"/>
                                        <p:tgtEl>
                                          <p:spTgt spid="24"/>
                                        </p:tgtEl>
                                        <p:attrNameLst>
                                          <p:attrName>ppt_w</p:attrName>
                                        </p:attrNameLst>
                                      </p:cBhvr>
                                      <p:tavLst>
                                        <p:tav tm="0">
                                          <p:val>
                                            <p:fltVal val="0"/>
                                          </p:val>
                                        </p:tav>
                                        <p:tav tm="100000">
                                          <p:val>
                                            <p:strVal val="#ppt_w"/>
                                          </p:val>
                                        </p:tav>
                                      </p:tavLst>
                                    </p:anim>
                                    <p:anim calcmode="lin" valueType="num">
                                      <p:cBhvr>
                                        <p:cTn id="32" dur="500" fill="hold"/>
                                        <p:tgtEl>
                                          <p:spTgt spid="24"/>
                                        </p:tgtEl>
                                        <p:attrNameLst>
                                          <p:attrName>ppt_h</p:attrName>
                                        </p:attrNameLst>
                                      </p:cBhvr>
                                      <p:tavLst>
                                        <p:tav tm="0">
                                          <p:val>
                                            <p:fltVal val="0"/>
                                          </p:val>
                                        </p:tav>
                                        <p:tav tm="100000">
                                          <p:val>
                                            <p:strVal val="#ppt_h"/>
                                          </p:val>
                                        </p:tav>
                                      </p:tavLst>
                                    </p:anim>
                                    <p:animEffect transition="in" filter="fade">
                                      <p:cBhvr>
                                        <p:cTn id="33" dur="500"/>
                                        <p:tgtEl>
                                          <p:spTgt spid="24"/>
                                        </p:tgtEl>
                                      </p:cBhvr>
                                    </p:animEffect>
                                  </p:childTnLst>
                                </p:cTn>
                              </p:par>
                            </p:childTnLst>
                          </p:cTn>
                        </p:par>
                        <p:par>
                          <p:cTn id="34" fill="hold">
                            <p:stCondLst>
                              <p:cond delay="3850"/>
                            </p:stCondLst>
                            <p:childTnLst>
                              <p:par>
                                <p:cTn id="35" presetID="53" presetClass="entr" presetSubtype="16" fill="hold" grpId="0" nodeType="afterEffect">
                                  <p:stCondLst>
                                    <p:cond delay="0"/>
                                  </p:stCondLst>
                                  <p:childTnLst>
                                    <p:set>
                                      <p:cBhvr>
                                        <p:cTn id="36" dur="1" fill="hold">
                                          <p:stCondLst>
                                            <p:cond delay="0"/>
                                          </p:stCondLst>
                                        </p:cTn>
                                        <p:tgtEl>
                                          <p:spTgt spid="26"/>
                                        </p:tgtEl>
                                        <p:attrNameLst>
                                          <p:attrName>style.visibility</p:attrName>
                                        </p:attrNameLst>
                                      </p:cBhvr>
                                      <p:to>
                                        <p:strVal val="visible"/>
                                      </p:to>
                                    </p:set>
                                    <p:anim calcmode="lin" valueType="num">
                                      <p:cBhvr>
                                        <p:cTn id="37" dur="500" fill="hold"/>
                                        <p:tgtEl>
                                          <p:spTgt spid="26"/>
                                        </p:tgtEl>
                                        <p:attrNameLst>
                                          <p:attrName>ppt_w</p:attrName>
                                        </p:attrNameLst>
                                      </p:cBhvr>
                                      <p:tavLst>
                                        <p:tav tm="0">
                                          <p:val>
                                            <p:fltVal val="0"/>
                                          </p:val>
                                        </p:tav>
                                        <p:tav tm="100000">
                                          <p:val>
                                            <p:strVal val="#ppt_w"/>
                                          </p:val>
                                        </p:tav>
                                      </p:tavLst>
                                    </p:anim>
                                    <p:anim calcmode="lin" valueType="num">
                                      <p:cBhvr>
                                        <p:cTn id="38" dur="500" fill="hold"/>
                                        <p:tgtEl>
                                          <p:spTgt spid="26"/>
                                        </p:tgtEl>
                                        <p:attrNameLst>
                                          <p:attrName>ppt_h</p:attrName>
                                        </p:attrNameLst>
                                      </p:cBhvr>
                                      <p:tavLst>
                                        <p:tav tm="0">
                                          <p:val>
                                            <p:fltVal val="0"/>
                                          </p:val>
                                        </p:tav>
                                        <p:tav tm="100000">
                                          <p:val>
                                            <p:strVal val="#ppt_h"/>
                                          </p:val>
                                        </p:tav>
                                      </p:tavLst>
                                    </p:anim>
                                    <p:animEffect transition="in" filter="fade">
                                      <p:cBhvr>
                                        <p:cTn id="39" dur="500"/>
                                        <p:tgtEl>
                                          <p:spTgt spid="26"/>
                                        </p:tgtEl>
                                      </p:cBhvr>
                                    </p:animEffect>
                                  </p:childTnLst>
                                </p:cTn>
                              </p:par>
                            </p:childTnLst>
                          </p:cTn>
                        </p:par>
                        <p:par>
                          <p:cTn id="40" fill="hold">
                            <p:stCondLst>
                              <p:cond delay="4350"/>
                            </p:stCondLst>
                            <p:childTnLst>
                              <p:par>
                                <p:cTn id="41" presetID="53" presetClass="entr" presetSubtype="16" fill="hold" grpId="0" nodeType="afterEffect">
                                  <p:stCondLst>
                                    <p:cond delay="0"/>
                                  </p:stCondLst>
                                  <p:childTnLst>
                                    <p:set>
                                      <p:cBhvr>
                                        <p:cTn id="42" dur="1" fill="hold">
                                          <p:stCondLst>
                                            <p:cond delay="0"/>
                                          </p:stCondLst>
                                        </p:cTn>
                                        <p:tgtEl>
                                          <p:spTgt spid="11"/>
                                        </p:tgtEl>
                                        <p:attrNameLst>
                                          <p:attrName>style.visibility</p:attrName>
                                        </p:attrNameLst>
                                      </p:cBhvr>
                                      <p:to>
                                        <p:strVal val="visible"/>
                                      </p:to>
                                    </p:set>
                                    <p:anim calcmode="lin" valueType="num">
                                      <p:cBhvr>
                                        <p:cTn id="43" dur="500" fill="hold"/>
                                        <p:tgtEl>
                                          <p:spTgt spid="11"/>
                                        </p:tgtEl>
                                        <p:attrNameLst>
                                          <p:attrName>ppt_w</p:attrName>
                                        </p:attrNameLst>
                                      </p:cBhvr>
                                      <p:tavLst>
                                        <p:tav tm="0">
                                          <p:val>
                                            <p:fltVal val="0"/>
                                          </p:val>
                                        </p:tav>
                                        <p:tav tm="100000">
                                          <p:val>
                                            <p:strVal val="#ppt_w"/>
                                          </p:val>
                                        </p:tav>
                                      </p:tavLst>
                                    </p:anim>
                                    <p:anim calcmode="lin" valueType="num">
                                      <p:cBhvr>
                                        <p:cTn id="44" dur="500" fill="hold"/>
                                        <p:tgtEl>
                                          <p:spTgt spid="11"/>
                                        </p:tgtEl>
                                        <p:attrNameLst>
                                          <p:attrName>ppt_h</p:attrName>
                                        </p:attrNameLst>
                                      </p:cBhvr>
                                      <p:tavLst>
                                        <p:tav tm="0">
                                          <p:val>
                                            <p:fltVal val="0"/>
                                          </p:val>
                                        </p:tav>
                                        <p:tav tm="100000">
                                          <p:val>
                                            <p:strVal val="#ppt_h"/>
                                          </p:val>
                                        </p:tav>
                                      </p:tavLst>
                                    </p:anim>
                                    <p:animEffect transition="in" filter="fade">
                                      <p:cBhvr>
                                        <p:cTn id="4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2" grpId="0"/>
      <p:bldP spid="24" grpId="0"/>
      <p:bldP spid="26" grpId="0"/>
      <p:bldP spid="1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15"/>
          <p:cNvSpPr txBox="1"/>
          <p:nvPr/>
        </p:nvSpPr>
        <p:spPr>
          <a:xfrm>
            <a:off x="0" y="86995"/>
            <a:ext cx="3133090" cy="438150"/>
          </a:xfrm>
          <a:prstGeom prst="rect">
            <a:avLst/>
          </a:prstGeom>
          <a:noFill/>
        </p:spPr>
        <p:txBody>
          <a:bodyPr wrap="square" lIns="68580" tIns="34290" rIns="68580" bIns="34290" rtlCol="0">
            <a:noAutofit/>
          </a:bodyPr>
          <a:lstStyle/>
          <a:p>
            <a:pPr algn="ctr"/>
            <a:r>
              <a:rPr lang="zh-CN" altLang="en-US" sz="1800" b="1" dirty="0">
                <a:solidFill>
                  <a:srgbClr val="1B4367"/>
                </a:solidFill>
                <a:cs typeface="+mn-ea"/>
                <a:sym typeface="+mn-lt"/>
              </a:rPr>
              <a:t>C</a:t>
            </a:r>
            <a:r>
              <a:rPr lang="en-US" altLang="zh-CN" sz="1800" b="1" dirty="0">
                <a:solidFill>
                  <a:srgbClr val="1B4367"/>
                </a:solidFill>
                <a:cs typeface="+mn-ea"/>
                <a:sym typeface="+mn-lt"/>
              </a:rPr>
              <a:t>ontrolling</a:t>
            </a:r>
            <a:r>
              <a:rPr lang="zh-CN" altLang="en-US" sz="1800" b="1" dirty="0">
                <a:solidFill>
                  <a:srgbClr val="1B4367"/>
                </a:solidFill>
                <a:cs typeface="+mn-ea"/>
                <a:sym typeface="+mn-lt"/>
              </a:rPr>
              <a:t> </a:t>
            </a:r>
            <a:r>
              <a:rPr lang="en-US" altLang="zh-CN" sz="1800" b="1" dirty="0">
                <a:solidFill>
                  <a:srgbClr val="1B4367"/>
                </a:solidFill>
                <a:cs typeface="+mn-ea"/>
                <a:sym typeface="+mn-lt"/>
              </a:rPr>
              <a:t>the</a:t>
            </a:r>
            <a:r>
              <a:rPr lang="zh-CN" altLang="en-US" sz="1800" b="1" dirty="0">
                <a:solidFill>
                  <a:srgbClr val="1B4367"/>
                </a:solidFill>
                <a:cs typeface="+mn-ea"/>
                <a:sym typeface="+mn-lt"/>
              </a:rPr>
              <a:t> O</a:t>
            </a:r>
            <a:r>
              <a:rPr lang="en-US" altLang="zh-CN" sz="1800" b="1" dirty="0">
                <a:solidFill>
                  <a:srgbClr val="1B4367"/>
                </a:solidFill>
                <a:cs typeface="+mn-ea"/>
                <a:sym typeface="+mn-lt"/>
              </a:rPr>
              <a:t>utput </a:t>
            </a:r>
            <a:r>
              <a:rPr lang="zh-CN" altLang="en-US" sz="1800" b="1" dirty="0">
                <a:solidFill>
                  <a:srgbClr val="1B4367"/>
                </a:solidFill>
                <a:cs typeface="+mn-ea"/>
                <a:sym typeface="+mn-lt"/>
              </a:rPr>
              <a:t>P</a:t>
            </a:r>
            <a:r>
              <a:rPr lang="en-US" altLang="zh-CN" sz="1800" b="1" dirty="0">
                <a:solidFill>
                  <a:srgbClr val="1B4367"/>
                </a:solidFill>
                <a:cs typeface="+mn-ea"/>
                <a:sym typeface="+mn-lt"/>
              </a:rPr>
              <a:t>ower</a:t>
            </a:r>
            <a:r>
              <a:rPr lang="zh-CN" altLang="en-US" sz="1800" b="1" dirty="0">
                <a:solidFill>
                  <a:srgbClr val="1B4367"/>
                </a:solidFill>
                <a:cs typeface="+mn-ea"/>
                <a:sym typeface="+mn-lt"/>
              </a:rPr>
              <a:t> </a:t>
            </a:r>
            <a:r>
              <a:rPr lang="en-US" altLang="zh-CN" sz="1800" b="1" dirty="0">
                <a:solidFill>
                  <a:srgbClr val="1B4367"/>
                </a:solidFill>
                <a:cs typeface="+mn-ea"/>
                <a:sym typeface="+mn-lt"/>
              </a:rPr>
              <a:t>of the</a:t>
            </a:r>
            <a:r>
              <a:rPr lang="zh-CN" altLang="en-US" sz="1800" b="1" dirty="0">
                <a:solidFill>
                  <a:srgbClr val="1B4367"/>
                </a:solidFill>
                <a:cs typeface="+mn-ea"/>
                <a:sym typeface="+mn-lt"/>
              </a:rPr>
              <a:t> DGS</a:t>
            </a:r>
            <a:endParaRPr lang="zh-CN" altLang="en-US" sz="1800" b="1" dirty="0">
              <a:solidFill>
                <a:srgbClr val="1B4367"/>
              </a:solidFill>
              <a:cs typeface="+mn-ea"/>
              <a:sym typeface="+mn-lt"/>
            </a:endParaRPr>
          </a:p>
          <a:p>
            <a:pPr algn="ctr"/>
            <a:endParaRPr lang="en-US" altLang="zh-CN" sz="2000" b="1" dirty="0">
              <a:solidFill>
                <a:srgbClr val="1B4367"/>
              </a:solidFill>
              <a:cs typeface="+mn-ea"/>
              <a:sym typeface="+mn-lt"/>
            </a:endParaRPr>
          </a:p>
          <a:p>
            <a:pPr lvl="0" algn="ctr"/>
            <a:endParaRPr lang="zh-CN" altLang="en-US" sz="1700" b="1" dirty="0">
              <a:solidFill>
                <a:srgbClr val="1B4367"/>
              </a:solidFill>
              <a:cs typeface="+mn-ea"/>
              <a:sym typeface="+mn-lt"/>
            </a:endParaRPr>
          </a:p>
        </p:txBody>
      </p:sp>
      <p:cxnSp>
        <p:nvCxnSpPr>
          <p:cNvPr id="15" name="直接连接符 14"/>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59" name="Freeform 19"/>
          <p:cNvSpPr>
            <a:spLocks noEditPoints="1"/>
          </p:cNvSpPr>
          <p:nvPr>
            <p:custDataLst>
              <p:tags r:id="rId1"/>
            </p:custDataLst>
          </p:nvPr>
        </p:nvSpPr>
        <p:spPr bwMode="auto">
          <a:xfrm>
            <a:off x="4398091" y="4640290"/>
            <a:ext cx="347210" cy="222951"/>
          </a:xfrm>
          <a:custGeom>
            <a:avLst/>
            <a:gdLst>
              <a:gd name="T0" fmla="*/ 516520434 w 320"/>
              <a:gd name="T1" fmla="*/ 429093379 h 206"/>
              <a:gd name="T2" fmla="*/ 98284995 w 320"/>
              <a:gd name="T3" fmla="*/ 429093379 h 206"/>
              <a:gd name="T4" fmla="*/ 0 w 320"/>
              <a:gd name="T5" fmla="*/ 306197548 h 206"/>
              <a:gd name="T6" fmla="*/ 127562546 w 320"/>
              <a:gd name="T7" fmla="*/ 185384331 h 206"/>
              <a:gd name="T8" fmla="*/ 340862359 w 320"/>
              <a:gd name="T9" fmla="*/ 0 h 206"/>
              <a:gd name="T10" fmla="*/ 549980079 w 320"/>
              <a:gd name="T11" fmla="*/ 141642236 h 206"/>
              <a:gd name="T12" fmla="*/ 669176991 w 320"/>
              <a:gd name="T13" fmla="*/ 283284473 h 206"/>
              <a:gd name="T14" fmla="*/ 516520434 w 320"/>
              <a:gd name="T15" fmla="*/ 429093379 h 206"/>
              <a:gd name="T16" fmla="*/ 102467090 w 320"/>
              <a:gd name="T17" fmla="*/ 397848407 h 206"/>
              <a:gd name="T18" fmla="*/ 516520434 w 320"/>
              <a:gd name="T19" fmla="*/ 397848407 h 206"/>
              <a:gd name="T20" fmla="*/ 637809839 w 320"/>
              <a:gd name="T21" fmla="*/ 283284473 h 206"/>
              <a:gd name="T22" fmla="*/ 535341303 w 320"/>
              <a:gd name="T23" fmla="*/ 170804595 h 206"/>
              <a:gd name="T24" fmla="*/ 524886068 w 320"/>
              <a:gd name="T25" fmla="*/ 170804595 h 206"/>
              <a:gd name="T26" fmla="*/ 522795021 w 320"/>
              <a:gd name="T27" fmla="*/ 160388642 h 206"/>
              <a:gd name="T28" fmla="*/ 340862359 w 320"/>
              <a:gd name="T29" fmla="*/ 33327585 h 206"/>
              <a:gd name="T30" fmla="*/ 156838651 w 320"/>
              <a:gd name="T31" fmla="*/ 204132180 h 206"/>
              <a:gd name="T32" fmla="*/ 156838651 w 320"/>
              <a:gd name="T33" fmla="*/ 222878586 h 206"/>
              <a:gd name="T34" fmla="*/ 138017781 w 320"/>
              <a:gd name="T35" fmla="*/ 218713359 h 206"/>
              <a:gd name="T36" fmla="*/ 123379006 w 320"/>
              <a:gd name="T37" fmla="*/ 218713359 h 206"/>
              <a:gd name="T38" fmla="*/ 31367152 w 320"/>
              <a:gd name="T39" fmla="*/ 306197548 h 206"/>
              <a:gd name="T40" fmla="*/ 102467090 w 320"/>
              <a:gd name="T41" fmla="*/ 397848407 h 20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20" h="206">
                <a:moveTo>
                  <a:pt x="247" y="206"/>
                </a:moveTo>
                <a:cubicBezTo>
                  <a:pt x="47" y="206"/>
                  <a:pt x="47" y="206"/>
                  <a:pt x="47" y="206"/>
                </a:cubicBezTo>
                <a:cubicBezTo>
                  <a:pt x="20" y="200"/>
                  <a:pt x="0" y="175"/>
                  <a:pt x="0" y="147"/>
                </a:cubicBezTo>
                <a:cubicBezTo>
                  <a:pt x="0" y="115"/>
                  <a:pt x="27" y="88"/>
                  <a:pt x="61" y="89"/>
                </a:cubicBezTo>
                <a:cubicBezTo>
                  <a:pt x="67" y="38"/>
                  <a:pt x="110" y="0"/>
                  <a:pt x="163" y="0"/>
                </a:cubicBezTo>
                <a:cubicBezTo>
                  <a:pt x="208" y="0"/>
                  <a:pt x="248" y="28"/>
                  <a:pt x="263" y="68"/>
                </a:cubicBezTo>
                <a:cubicBezTo>
                  <a:pt x="296" y="74"/>
                  <a:pt x="320" y="103"/>
                  <a:pt x="320" y="136"/>
                </a:cubicBezTo>
                <a:cubicBezTo>
                  <a:pt x="320" y="174"/>
                  <a:pt x="287" y="206"/>
                  <a:pt x="247" y="206"/>
                </a:cubicBezTo>
                <a:close/>
                <a:moveTo>
                  <a:pt x="49" y="191"/>
                </a:moveTo>
                <a:cubicBezTo>
                  <a:pt x="247" y="191"/>
                  <a:pt x="247" y="191"/>
                  <a:pt x="247" y="191"/>
                </a:cubicBezTo>
                <a:cubicBezTo>
                  <a:pt x="278" y="191"/>
                  <a:pt x="305" y="165"/>
                  <a:pt x="305" y="136"/>
                </a:cubicBezTo>
                <a:cubicBezTo>
                  <a:pt x="305" y="109"/>
                  <a:pt x="284" y="86"/>
                  <a:pt x="256" y="82"/>
                </a:cubicBezTo>
                <a:cubicBezTo>
                  <a:pt x="251" y="82"/>
                  <a:pt x="251" y="82"/>
                  <a:pt x="251" y="82"/>
                </a:cubicBezTo>
                <a:cubicBezTo>
                  <a:pt x="250" y="77"/>
                  <a:pt x="250" y="77"/>
                  <a:pt x="250" y="77"/>
                </a:cubicBezTo>
                <a:cubicBezTo>
                  <a:pt x="239" y="41"/>
                  <a:pt x="203" y="16"/>
                  <a:pt x="163" y="16"/>
                </a:cubicBezTo>
                <a:cubicBezTo>
                  <a:pt x="115" y="16"/>
                  <a:pt x="77" y="51"/>
                  <a:pt x="75" y="98"/>
                </a:cubicBezTo>
                <a:cubicBezTo>
                  <a:pt x="75" y="107"/>
                  <a:pt x="75" y="107"/>
                  <a:pt x="75" y="107"/>
                </a:cubicBezTo>
                <a:cubicBezTo>
                  <a:pt x="66" y="105"/>
                  <a:pt x="66" y="105"/>
                  <a:pt x="66" y="105"/>
                </a:cubicBezTo>
                <a:cubicBezTo>
                  <a:pt x="63" y="105"/>
                  <a:pt x="61" y="105"/>
                  <a:pt x="59" y="105"/>
                </a:cubicBezTo>
                <a:cubicBezTo>
                  <a:pt x="35" y="105"/>
                  <a:pt x="15" y="124"/>
                  <a:pt x="15" y="147"/>
                </a:cubicBezTo>
                <a:cubicBezTo>
                  <a:pt x="15" y="167"/>
                  <a:pt x="30" y="186"/>
                  <a:pt x="49" y="191"/>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chemeClr val="bg1"/>
              </a:solidFill>
              <a:latin typeface="微软雅黑" panose="020B0503020204020204" charset="-122"/>
              <a:ea typeface="微软雅黑" panose="020B0503020204020204" charset="-122"/>
            </a:endParaRPr>
          </a:p>
        </p:txBody>
      </p:sp>
      <p:pic>
        <p:nvPicPr>
          <p:cNvPr id="2" name="图片 1"/>
          <p:cNvPicPr>
            <a:picLocks noChangeAspect="1"/>
          </p:cNvPicPr>
          <p:nvPr>
            <p:custDataLst>
              <p:tags r:id="rId2"/>
            </p:custDataLst>
          </p:nvPr>
        </p:nvPicPr>
        <p:blipFill>
          <a:blip r:embed="rId3"/>
          <a:stretch>
            <a:fillRect/>
          </a:stretch>
        </p:blipFill>
        <p:spPr>
          <a:xfrm>
            <a:off x="435610" y="768350"/>
            <a:ext cx="5237480" cy="3332480"/>
          </a:xfrm>
          <a:prstGeom prst="rect">
            <a:avLst/>
          </a:prstGeom>
        </p:spPr>
      </p:pic>
      <p:sp>
        <p:nvSpPr>
          <p:cNvPr id="3" name="文本框 2"/>
          <p:cNvSpPr txBox="1"/>
          <p:nvPr/>
        </p:nvSpPr>
        <p:spPr>
          <a:xfrm>
            <a:off x="610870" y="4344035"/>
            <a:ext cx="4311015" cy="521970"/>
          </a:xfrm>
          <a:prstGeom prst="rect">
            <a:avLst/>
          </a:prstGeom>
          <a:noFill/>
        </p:spPr>
        <p:txBody>
          <a:bodyPr wrap="square" rtlCol="0">
            <a:spAutoFit/>
          </a:bodyPr>
          <a:p>
            <a:r>
              <a:rPr lang="zh-CN" altLang="en-US"/>
              <a:t> System configuration and deployment of the </a:t>
            </a:r>
            <a:r>
              <a:rPr lang="en-US" altLang="zh-CN"/>
              <a:t>DC</a:t>
            </a:r>
            <a:r>
              <a:rPr lang="zh-CN" altLang="en-US"/>
              <a:t> micro-grid.</a:t>
            </a:r>
            <a:endParaRPr lang="zh-CN" altLang="en-US"/>
          </a:p>
        </p:txBody>
      </p:sp>
      <p:sp>
        <p:nvSpPr>
          <p:cNvPr id="4" name="文本框 3"/>
          <p:cNvSpPr txBox="1"/>
          <p:nvPr/>
        </p:nvSpPr>
        <p:spPr>
          <a:xfrm>
            <a:off x="6034405" y="1015365"/>
            <a:ext cx="3109595" cy="1753235"/>
          </a:xfrm>
          <a:prstGeom prst="rect">
            <a:avLst/>
          </a:prstGeom>
          <a:noFill/>
        </p:spPr>
        <p:txBody>
          <a:bodyPr wrap="square" rtlCol="0">
            <a:spAutoFit/>
          </a:bodyPr>
          <a:p>
            <a:endParaRPr lang="en-US" altLang="zh-CN" sz="1800">
              <a:sym typeface="+mn-ea"/>
            </a:endParaRPr>
          </a:p>
          <a:p>
            <a:r>
              <a:rPr lang="en-US" altLang="zh-CN" sz="1800">
                <a:sym typeface="+mn-ea"/>
              </a:rPr>
              <a:t>Frequency Adjustment</a:t>
            </a:r>
            <a:endParaRPr lang="en-US" altLang="zh-CN" sz="1800">
              <a:sym typeface="+mn-ea"/>
            </a:endParaRPr>
          </a:p>
          <a:p>
            <a:endParaRPr lang="en-US" altLang="zh-CN" sz="1800">
              <a:sym typeface="+mn-ea"/>
            </a:endParaRPr>
          </a:p>
          <a:p>
            <a:r>
              <a:rPr lang="en-US" altLang="zh-CN" sz="1800">
                <a:sym typeface="+mn-ea"/>
              </a:rPr>
              <a:t>Internal gain control</a:t>
            </a:r>
            <a:endParaRPr lang="en-US" altLang="zh-CN" sz="1800">
              <a:sym typeface="+mn-ea"/>
            </a:endParaRPr>
          </a:p>
          <a:p>
            <a:endParaRPr lang="en-US" altLang="zh-CN" sz="1800">
              <a:sym typeface="+mn-ea"/>
            </a:endParaRPr>
          </a:p>
          <a:p>
            <a:r>
              <a:rPr lang="en-US" altLang="zh-CN" sz="1800">
                <a:sym typeface="+mn-ea"/>
              </a:rPr>
              <a:t>Real-time feedback</a:t>
            </a:r>
            <a:endParaRPr lang="en-US" altLang="zh-CN" sz="1800">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200">
        <p14:flip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6"/>
                                        </p:tgtEl>
                                        <p:attrNameLst>
                                          <p:attrName>ppt_y</p:attrName>
                                        </p:attrNameLst>
                                      </p:cBhvr>
                                      <p:tavLst>
                                        <p:tav tm="0">
                                          <p:val>
                                            <p:strVal val="#ppt_y"/>
                                          </p:val>
                                        </p:tav>
                                        <p:tav tm="100000">
                                          <p:val>
                                            <p:strVal val="#ppt_y"/>
                                          </p:val>
                                        </p:tav>
                                      </p:tavLst>
                                    </p:anim>
                                    <p:anim calcmode="lin" valueType="num">
                                      <p:cBhvr>
                                        <p:cTn id="9" dur="500" fill="hold"/>
                                        <p:tgtEl>
                                          <p:spTgt spid="2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6"/>
                                        </p:tgtEl>
                                      </p:cBhvr>
                                    </p:animEffect>
                                  </p:childTnLst>
                                </p:cTn>
                              </p:par>
                            </p:childTnLst>
                          </p:cTn>
                        </p:par>
                        <p:par>
                          <p:cTn id="12" fill="hold">
                            <p:stCondLst>
                              <p:cond delay="2400"/>
                            </p:stCondLst>
                            <p:childTnLst>
                              <p:par>
                                <p:cTn id="13" presetID="22" presetClass="entr" presetSubtype="8" fill="hold"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left)">
                                      <p:cBhvr>
                                        <p:cTn id="15" dur="3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15"/>
          <p:cNvSpPr txBox="1"/>
          <p:nvPr/>
        </p:nvSpPr>
        <p:spPr>
          <a:xfrm>
            <a:off x="95250" y="66040"/>
            <a:ext cx="2716530" cy="591185"/>
          </a:xfrm>
          <a:prstGeom prst="rect">
            <a:avLst/>
          </a:prstGeom>
          <a:noFill/>
        </p:spPr>
        <p:txBody>
          <a:bodyPr wrap="square" lIns="68580" tIns="34290" rIns="68580" bIns="34290" rtlCol="0">
            <a:spAutoFit/>
          </a:bodyPr>
          <a:lstStyle/>
          <a:p>
            <a:pPr lvl="0" algn="ctr"/>
            <a:r>
              <a:rPr lang="zh-CN" altLang="en-US" sz="1700" b="1" dirty="0">
                <a:solidFill>
                  <a:srgbClr val="1B4367"/>
                </a:solidFill>
                <a:cs typeface="+mn-ea"/>
                <a:sym typeface="+mn-lt"/>
              </a:rPr>
              <a:t>C</a:t>
            </a:r>
            <a:r>
              <a:rPr lang="en-US" altLang="zh-CN" sz="1700" b="1" dirty="0">
                <a:solidFill>
                  <a:srgbClr val="1B4367"/>
                </a:solidFill>
                <a:cs typeface="+mn-ea"/>
                <a:sym typeface="+mn-lt"/>
              </a:rPr>
              <a:t>ontrolling</a:t>
            </a:r>
            <a:r>
              <a:rPr lang="zh-CN" altLang="en-US" sz="1700" b="1" dirty="0">
                <a:solidFill>
                  <a:srgbClr val="1B4367"/>
                </a:solidFill>
                <a:cs typeface="+mn-ea"/>
                <a:sym typeface="+mn-lt"/>
              </a:rPr>
              <a:t> </a:t>
            </a:r>
            <a:r>
              <a:rPr lang="en-US" altLang="zh-CN" sz="1700" b="1" dirty="0">
                <a:solidFill>
                  <a:srgbClr val="1B4367"/>
                </a:solidFill>
                <a:cs typeface="+mn-ea"/>
                <a:sym typeface="+mn-lt"/>
              </a:rPr>
              <a:t>the</a:t>
            </a:r>
            <a:r>
              <a:rPr lang="zh-CN" altLang="en-US" sz="1700" b="1" dirty="0">
                <a:solidFill>
                  <a:srgbClr val="1B4367"/>
                </a:solidFill>
                <a:cs typeface="+mn-ea"/>
                <a:sym typeface="+mn-lt"/>
              </a:rPr>
              <a:t> O</a:t>
            </a:r>
            <a:r>
              <a:rPr lang="en-US" altLang="zh-CN" sz="1700" b="1" dirty="0">
                <a:solidFill>
                  <a:srgbClr val="1B4367"/>
                </a:solidFill>
                <a:cs typeface="+mn-ea"/>
                <a:sym typeface="+mn-lt"/>
              </a:rPr>
              <a:t>utput </a:t>
            </a:r>
            <a:r>
              <a:rPr lang="zh-CN" altLang="en-US" sz="1700" b="1" dirty="0">
                <a:solidFill>
                  <a:srgbClr val="1B4367"/>
                </a:solidFill>
                <a:cs typeface="+mn-ea"/>
                <a:sym typeface="+mn-lt"/>
              </a:rPr>
              <a:t>P</a:t>
            </a:r>
            <a:r>
              <a:rPr lang="en-US" altLang="zh-CN" sz="1700" b="1" dirty="0">
                <a:solidFill>
                  <a:srgbClr val="1B4367"/>
                </a:solidFill>
                <a:cs typeface="+mn-ea"/>
                <a:sym typeface="+mn-lt"/>
              </a:rPr>
              <a:t>ower</a:t>
            </a:r>
            <a:r>
              <a:rPr lang="zh-CN" altLang="en-US" sz="1700" b="1" dirty="0">
                <a:solidFill>
                  <a:srgbClr val="1B4367"/>
                </a:solidFill>
                <a:cs typeface="+mn-ea"/>
                <a:sym typeface="+mn-lt"/>
              </a:rPr>
              <a:t> </a:t>
            </a:r>
            <a:r>
              <a:rPr lang="en-US" altLang="zh-CN" sz="1700" b="1" dirty="0">
                <a:solidFill>
                  <a:srgbClr val="1B4367"/>
                </a:solidFill>
                <a:cs typeface="+mn-ea"/>
                <a:sym typeface="+mn-lt"/>
              </a:rPr>
              <a:t>of</a:t>
            </a:r>
            <a:r>
              <a:rPr lang="zh-CN" altLang="en-US" sz="1700" b="1" dirty="0">
                <a:solidFill>
                  <a:srgbClr val="1B4367"/>
                </a:solidFill>
                <a:cs typeface="+mn-ea"/>
                <a:sym typeface="+mn-lt"/>
              </a:rPr>
              <a:t> </a:t>
            </a:r>
            <a:r>
              <a:rPr lang="en-US" altLang="zh-CN" sz="1700" b="1" dirty="0">
                <a:solidFill>
                  <a:srgbClr val="1B4367"/>
                </a:solidFill>
                <a:cs typeface="+mn-ea"/>
                <a:sym typeface="+mn-lt"/>
              </a:rPr>
              <a:t>the</a:t>
            </a:r>
            <a:r>
              <a:rPr lang="zh-CN" altLang="en-US" sz="1700" b="1" dirty="0">
                <a:solidFill>
                  <a:srgbClr val="1B4367"/>
                </a:solidFill>
                <a:cs typeface="+mn-ea"/>
                <a:sym typeface="+mn-lt"/>
              </a:rPr>
              <a:t> DGS</a:t>
            </a:r>
            <a:endParaRPr lang="zh-CN" altLang="en-US" sz="1700" b="1" dirty="0">
              <a:solidFill>
                <a:srgbClr val="1B4367"/>
              </a:solidFill>
              <a:cs typeface="+mn-ea"/>
              <a:sym typeface="+mn-lt"/>
            </a:endParaRPr>
          </a:p>
        </p:txBody>
      </p:sp>
      <p:cxnSp>
        <p:nvCxnSpPr>
          <p:cNvPr id="15" name="直接连接符 14"/>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350520" y="953770"/>
            <a:ext cx="7957820" cy="1476375"/>
          </a:xfrm>
          <a:prstGeom prst="rect">
            <a:avLst/>
          </a:prstGeom>
          <a:noFill/>
        </p:spPr>
        <p:txBody>
          <a:bodyPr wrap="square" rtlCol="0">
            <a:spAutoFit/>
          </a:bodyPr>
          <a:lstStyle/>
          <a:p>
            <a:r>
              <a:rPr lang="en-US" altLang="zh-CN" sz="1800"/>
              <a:t>The </a:t>
            </a:r>
            <a:r>
              <a:rPr lang="en-US" altLang="zh-CN" sz="1800">
                <a:solidFill>
                  <a:srgbClr val="FF0000"/>
                </a:solidFill>
              </a:rPr>
              <a:t>purpose</a:t>
            </a:r>
            <a:r>
              <a:rPr lang="en-US" altLang="zh-CN" sz="1800"/>
              <a:t> of controlling the output power of a DGS:</a:t>
            </a:r>
            <a:endParaRPr lang="en-US" altLang="zh-CN" sz="1800"/>
          </a:p>
          <a:p>
            <a:r>
              <a:rPr lang="en-US" altLang="zh-CN" sz="1800"/>
              <a:t>1.grid reinforcement</a:t>
            </a:r>
            <a:endParaRPr lang="en-US" altLang="zh-CN" sz="1800"/>
          </a:p>
          <a:p>
            <a:r>
              <a:rPr lang="en-US" altLang="zh-CN" sz="1800"/>
              <a:t>2.reduction of power losses</a:t>
            </a:r>
            <a:endParaRPr lang="en-US" altLang="zh-CN" sz="1800"/>
          </a:p>
          <a:p>
            <a:r>
              <a:rPr lang="en-US" altLang="zh-CN" sz="1800"/>
              <a:t>3.on-peak operating costs</a:t>
            </a:r>
            <a:endParaRPr lang="en-US" altLang="zh-CN" sz="1800"/>
          </a:p>
          <a:p>
            <a:r>
              <a:rPr lang="en-US" altLang="zh-CN" sz="1800"/>
              <a:t>4.improvement of voltage pro-files and load factors</a:t>
            </a:r>
            <a:endParaRPr lang="en-US" altLang="zh-CN" sz="1800"/>
          </a:p>
        </p:txBody>
      </p:sp>
      <p:grpSp>
        <p:nvGrpSpPr>
          <p:cNvPr id="59" name="组合 58"/>
          <p:cNvGrpSpPr/>
          <p:nvPr/>
        </p:nvGrpSpPr>
        <p:grpSpPr>
          <a:xfrm>
            <a:off x="6945074" y="968837"/>
            <a:ext cx="1654395" cy="1603187"/>
            <a:chOff x="544108" y="4355475"/>
            <a:chExt cx="2205861" cy="2137582"/>
          </a:xfrm>
          <a:solidFill>
            <a:srgbClr val="1B4367"/>
          </a:solidFill>
        </p:grpSpPr>
        <p:grpSp>
          <p:nvGrpSpPr>
            <p:cNvPr id="60" name="组合 59"/>
            <p:cNvGrpSpPr>
              <a:grpSpLocks noChangeAspect="1"/>
            </p:cNvGrpSpPr>
            <p:nvPr/>
          </p:nvGrpSpPr>
          <p:grpSpPr>
            <a:xfrm>
              <a:off x="1790387" y="4737829"/>
              <a:ext cx="571016" cy="494141"/>
              <a:chOff x="2256082" y="5548934"/>
              <a:chExt cx="214128" cy="185303"/>
            </a:xfrm>
            <a:grpFill/>
          </p:grpSpPr>
          <p:sp>
            <p:nvSpPr>
              <p:cNvPr id="65" name="Freeform 69"/>
              <p:cNvSpPr/>
              <p:nvPr>
                <p:custDataLst>
                  <p:tags r:id="rId1"/>
                </p:custDataLst>
              </p:nvPr>
            </p:nvSpPr>
            <p:spPr bwMode="auto">
              <a:xfrm rot="18120000">
                <a:off x="2257887" y="5547129"/>
                <a:ext cx="137375" cy="140985"/>
              </a:xfrm>
              <a:custGeom>
                <a:avLst/>
                <a:gdLst>
                  <a:gd name="T0" fmla="*/ 57 w 64"/>
                  <a:gd name="T1" fmla="*/ 37 h 66"/>
                  <a:gd name="T2" fmla="*/ 43 w 64"/>
                  <a:gd name="T3" fmla="*/ 12 h 66"/>
                  <a:gd name="T4" fmla="*/ 39 w 64"/>
                  <a:gd name="T5" fmla="*/ 6 h 66"/>
                  <a:gd name="T6" fmla="*/ 25 w 64"/>
                  <a:gd name="T7" fmla="*/ 6 h 66"/>
                  <a:gd name="T8" fmla="*/ 22 w 64"/>
                  <a:gd name="T9" fmla="*/ 12 h 66"/>
                  <a:gd name="T10" fmla="*/ 8 w 64"/>
                  <a:gd name="T11" fmla="*/ 37 h 66"/>
                  <a:gd name="T12" fmla="*/ 4 w 64"/>
                  <a:gd name="T13" fmla="*/ 43 h 66"/>
                  <a:gd name="T14" fmla="*/ 11 w 64"/>
                  <a:gd name="T15" fmla="*/ 55 h 66"/>
                  <a:gd name="T16" fmla="*/ 18 w 64"/>
                  <a:gd name="T17" fmla="*/ 55 h 66"/>
                  <a:gd name="T18" fmla="*/ 19 w 64"/>
                  <a:gd name="T19" fmla="*/ 55 h 66"/>
                  <a:gd name="T20" fmla="*/ 19 w 64"/>
                  <a:gd name="T21" fmla="*/ 66 h 66"/>
                  <a:gd name="T22" fmla="*/ 32 w 64"/>
                  <a:gd name="T23" fmla="*/ 62 h 66"/>
                  <a:gd name="T24" fmla="*/ 32 w 64"/>
                  <a:gd name="T25" fmla="*/ 62 h 66"/>
                  <a:gd name="T26" fmla="*/ 46 w 64"/>
                  <a:gd name="T27" fmla="*/ 66 h 66"/>
                  <a:gd name="T28" fmla="*/ 46 w 64"/>
                  <a:gd name="T29" fmla="*/ 55 h 66"/>
                  <a:gd name="T30" fmla="*/ 46 w 64"/>
                  <a:gd name="T31" fmla="*/ 55 h 66"/>
                  <a:gd name="T32" fmla="*/ 53 w 64"/>
                  <a:gd name="T33" fmla="*/ 55 h 66"/>
                  <a:gd name="T34" fmla="*/ 60 w 64"/>
                  <a:gd name="T35" fmla="*/ 43 h 66"/>
                  <a:gd name="T36" fmla="*/ 57 w 64"/>
                  <a:gd name="T37" fmla="*/ 37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4" h="66">
                    <a:moveTo>
                      <a:pt x="57" y="37"/>
                    </a:moveTo>
                    <a:cubicBezTo>
                      <a:pt x="53" y="30"/>
                      <a:pt x="47" y="19"/>
                      <a:pt x="43" y="12"/>
                    </a:cubicBezTo>
                    <a:cubicBezTo>
                      <a:pt x="39" y="6"/>
                      <a:pt x="39" y="6"/>
                      <a:pt x="39" y="6"/>
                    </a:cubicBezTo>
                    <a:cubicBezTo>
                      <a:pt x="35" y="0"/>
                      <a:pt x="29" y="0"/>
                      <a:pt x="25" y="6"/>
                    </a:cubicBezTo>
                    <a:cubicBezTo>
                      <a:pt x="22" y="12"/>
                      <a:pt x="22" y="12"/>
                      <a:pt x="22" y="12"/>
                    </a:cubicBezTo>
                    <a:cubicBezTo>
                      <a:pt x="18" y="19"/>
                      <a:pt x="11" y="30"/>
                      <a:pt x="8" y="37"/>
                    </a:cubicBezTo>
                    <a:cubicBezTo>
                      <a:pt x="4" y="43"/>
                      <a:pt x="4" y="43"/>
                      <a:pt x="4" y="43"/>
                    </a:cubicBezTo>
                    <a:cubicBezTo>
                      <a:pt x="0" y="50"/>
                      <a:pt x="3" y="55"/>
                      <a:pt x="11" y="55"/>
                    </a:cubicBezTo>
                    <a:cubicBezTo>
                      <a:pt x="18" y="55"/>
                      <a:pt x="18" y="55"/>
                      <a:pt x="18" y="55"/>
                    </a:cubicBezTo>
                    <a:cubicBezTo>
                      <a:pt x="19" y="55"/>
                      <a:pt x="19" y="55"/>
                      <a:pt x="19" y="55"/>
                    </a:cubicBezTo>
                    <a:cubicBezTo>
                      <a:pt x="19" y="66"/>
                      <a:pt x="19" y="66"/>
                      <a:pt x="19" y="66"/>
                    </a:cubicBezTo>
                    <a:cubicBezTo>
                      <a:pt x="23" y="63"/>
                      <a:pt x="27" y="62"/>
                      <a:pt x="32" y="62"/>
                    </a:cubicBezTo>
                    <a:cubicBezTo>
                      <a:pt x="32" y="62"/>
                      <a:pt x="32" y="62"/>
                      <a:pt x="32" y="62"/>
                    </a:cubicBezTo>
                    <a:cubicBezTo>
                      <a:pt x="37" y="62"/>
                      <a:pt x="42" y="63"/>
                      <a:pt x="46" y="66"/>
                    </a:cubicBezTo>
                    <a:cubicBezTo>
                      <a:pt x="46" y="55"/>
                      <a:pt x="46" y="55"/>
                      <a:pt x="46" y="55"/>
                    </a:cubicBezTo>
                    <a:cubicBezTo>
                      <a:pt x="46" y="55"/>
                      <a:pt x="46" y="55"/>
                      <a:pt x="46" y="55"/>
                    </a:cubicBezTo>
                    <a:cubicBezTo>
                      <a:pt x="53" y="55"/>
                      <a:pt x="53" y="55"/>
                      <a:pt x="53" y="55"/>
                    </a:cubicBezTo>
                    <a:cubicBezTo>
                      <a:pt x="61" y="55"/>
                      <a:pt x="64" y="49"/>
                      <a:pt x="60" y="43"/>
                    </a:cubicBezTo>
                    <a:lnTo>
                      <a:pt x="57" y="37"/>
                    </a:lnTo>
                    <a:close/>
                  </a:path>
                </a:pathLst>
              </a:custGeom>
              <a:grpFill/>
              <a:ln w="9525">
                <a:noFill/>
                <a:round/>
              </a:ln>
            </p:spPr>
            <p:txBody>
              <a:bodyPr vert="horz" wrap="square" lIns="121920" tIns="60960" rIns="121920" bIns="60960" numCol="1" anchor="t" anchorCtr="0" compatLnSpc="1"/>
              <a:lstStyle/>
              <a:p>
                <a:endParaRPr lang="zh-CN" altLang="en-US" sz="1900">
                  <a:latin typeface="Arial" panose="020B0604020202020204" pitchFamily="34" charset="0"/>
                  <a:ea typeface="微软雅黑" panose="020B0503020204020204" charset="-122"/>
                  <a:cs typeface="Arial" panose="020B0604020202020204" pitchFamily="34" charset="0"/>
                </a:endParaRPr>
              </a:p>
            </p:txBody>
          </p:sp>
          <p:sp>
            <p:nvSpPr>
              <p:cNvPr id="66" name="Freeform 70"/>
              <p:cNvSpPr/>
              <p:nvPr>
                <p:custDataLst>
                  <p:tags r:id="rId2"/>
                </p:custDataLst>
              </p:nvPr>
            </p:nvSpPr>
            <p:spPr bwMode="auto">
              <a:xfrm rot="5400000">
                <a:off x="2395197" y="5659224"/>
                <a:ext cx="75014" cy="75012"/>
              </a:xfrm>
              <a:custGeom>
                <a:avLst/>
                <a:gdLst>
                  <a:gd name="T0" fmla="*/ 17 w 35"/>
                  <a:gd name="T1" fmla="*/ 0 h 35"/>
                  <a:gd name="T2" fmla="*/ 17 w 35"/>
                  <a:gd name="T3" fmla="*/ 0 h 35"/>
                  <a:gd name="T4" fmla="*/ 17 w 35"/>
                  <a:gd name="T5" fmla="*/ 0 h 35"/>
                  <a:gd name="T6" fmla="*/ 17 w 35"/>
                  <a:gd name="T7" fmla="*/ 0 h 35"/>
                  <a:gd name="T8" fmla="*/ 17 w 35"/>
                  <a:gd name="T9" fmla="*/ 0 h 35"/>
                  <a:gd name="T10" fmla="*/ 4 w 35"/>
                  <a:gd name="T11" fmla="*/ 6 h 35"/>
                  <a:gd name="T12" fmla="*/ 0 w 35"/>
                  <a:gd name="T13" fmla="*/ 17 h 35"/>
                  <a:gd name="T14" fmla="*/ 0 w 35"/>
                  <a:gd name="T15" fmla="*/ 17 h 35"/>
                  <a:gd name="T16" fmla="*/ 17 w 35"/>
                  <a:gd name="T17" fmla="*/ 35 h 35"/>
                  <a:gd name="T18" fmla="*/ 17 w 35"/>
                  <a:gd name="T19" fmla="*/ 35 h 35"/>
                  <a:gd name="T20" fmla="*/ 35 w 35"/>
                  <a:gd name="T21" fmla="*/ 17 h 35"/>
                  <a:gd name="T22" fmla="*/ 35 w 35"/>
                  <a:gd name="T23" fmla="*/ 17 h 35"/>
                  <a:gd name="T24" fmla="*/ 31 w 35"/>
                  <a:gd name="T25" fmla="*/ 6 h 35"/>
                  <a:gd name="T26" fmla="*/ 17 w 35"/>
                  <a:gd name="T27"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5" h="35">
                    <a:moveTo>
                      <a:pt x="17" y="0"/>
                    </a:moveTo>
                    <a:cubicBezTo>
                      <a:pt x="17" y="0"/>
                      <a:pt x="17" y="0"/>
                      <a:pt x="17" y="0"/>
                    </a:cubicBezTo>
                    <a:cubicBezTo>
                      <a:pt x="17" y="0"/>
                      <a:pt x="17" y="0"/>
                      <a:pt x="17" y="0"/>
                    </a:cubicBezTo>
                    <a:cubicBezTo>
                      <a:pt x="17" y="0"/>
                      <a:pt x="17" y="0"/>
                      <a:pt x="17" y="0"/>
                    </a:cubicBezTo>
                    <a:cubicBezTo>
                      <a:pt x="17" y="0"/>
                      <a:pt x="17" y="0"/>
                      <a:pt x="17" y="0"/>
                    </a:cubicBezTo>
                    <a:cubicBezTo>
                      <a:pt x="12" y="0"/>
                      <a:pt x="7" y="2"/>
                      <a:pt x="4" y="6"/>
                    </a:cubicBezTo>
                    <a:cubicBezTo>
                      <a:pt x="1" y="9"/>
                      <a:pt x="0" y="13"/>
                      <a:pt x="0" y="17"/>
                    </a:cubicBezTo>
                    <a:cubicBezTo>
                      <a:pt x="0" y="17"/>
                      <a:pt x="0" y="17"/>
                      <a:pt x="0" y="17"/>
                    </a:cubicBezTo>
                    <a:cubicBezTo>
                      <a:pt x="0" y="27"/>
                      <a:pt x="8" y="35"/>
                      <a:pt x="17" y="35"/>
                    </a:cubicBezTo>
                    <a:cubicBezTo>
                      <a:pt x="17" y="35"/>
                      <a:pt x="17" y="35"/>
                      <a:pt x="17" y="35"/>
                    </a:cubicBezTo>
                    <a:cubicBezTo>
                      <a:pt x="27" y="35"/>
                      <a:pt x="35" y="27"/>
                      <a:pt x="35" y="17"/>
                    </a:cubicBezTo>
                    <a:cubicBezTo>
                      <a:pt x="35" y="17"/>
                      <a:pt x="35" y="17"/>
                      <a:pt x="35" y="17"/>
                    </a:cubicBezTo>
                    <a:cubicBezTo>
                      <a:pt x="35" y="13"/>
                      <a:pt x="33" y="9"/>
                      <a:pt x="31" y="6"/>
                    </a:cubicBezTo>
                    <a:cubicBezTo>
                      <a:pt x="27" y="2"/>
                      <a:pt x="23" y="0"/>
                      <a:pt x="17" y="0"/>
                    </a:cubicBezTo>
                    <a:close/>
                  </a:path>
                </a:pathLst>
              </a:custGeom>
              <a:grpFill/>
              <a:ln w="9525">
                <a:noFill/>
                <a:round/>
              </a:ln>
            </p:spPr>
            <p:txBody>
              <a:bodyPr vert="horz" wrap="square" lIns="121920" tIns="60960" rIns="121920" bIns="60960" numCol="1" anchor="t" anchorCtr="0" compatLnSpc="1"/>
              <a:lstStyle/>
              <a:p>
                <a:endParaRPr lang="zh-CN" altLang="en-US" sz="1900">
                  <a:latin typeface="Arial" panose="020B0604020202020204" pitchFamily="34" charset="0"/>
                  <a:ea typeface="微软雅黑" panose="020B0503020204020204" charset="-122"/>
                  <a:cs typeface="Arial" panose="020B0604020202020204" pitchFamily="34" charset="0"/>
                </a:endParaRPr>
              </a:p>
            </p:txBody>
          </p:sp>
        </p:grpSp>
        <p:grpSp>
          <p:nvGrpSpPr>
            <p:cNvPr id="61" name="组合 60"/>
            <p:cNvGrpSpPr>
              <a:grpSpLocks noChangeAspect="1"/>
            </p:cNvGrpSpPr>
            <p:nvPr/>
          </p:nvGrpSpPr>
          <p:grpSpPr>
            <a:xfrm>
              <a:off x="544108" y="4355475"/>
              <a:ext cx="2205861" cy="2137582"/>
              <a:chOff x="5408528" y="5734050"/>
              <a:chExt cx="373144" cy="361594"/>
            </a:xfrm>
            <a:grpFill/>
          </p:grpSpPr>
          <p:sp>
            <p:nvSpPr>
              <p:cNvPr id="62" name="Freeform 288"/>
              <p:cNvSpPr/>
              <p:nvPr>
                <p:custDataLst>
                  <p:tags r:id="rId3"/>
                </p:custDataLst>
              </p:nvPr>
            </p:nvSpPr>
            <p:spPr bwMode="auto">
              <a:xfrm>
                <a:off x="5532438" y="5907088"/>
                <a:ext cx="71438" cy="68263"/>
              </a:xfrm>
              <a:custGeom>
                <a:avLst/>
                <a:gdLst>
                  <a:gd name="T0" fmla="*/ 45 w 45"/>
                  <a:gd name="T1" fmla="*/ 17 h 43"/>
                  <a:gd name="T2" fmla="*/ 17 w 45"/>
                  <a:gd name="T3" fmla="*/ 43 h 43"/>
                  <a:gd name="T4" fmla="*/ 0 w 45"/>
                  <a:gd name="T5" fmla="*/ 26 h 43"/>
                  <a:gd name="T6" fmla="*/ 29 w 45"/>
                  <a:gd name="T7" fmla="*/ 0 h 43"/>
                  <a:gd name="T8" fmla="*/ 45 w 45"/>
                  <a:gd name="T9" fmla="*/ 17 h 43"/>
                </a:gdLst>
                <a:ahLst/>
                <a:cxnLst>
                  <a:cxn ang="0">
                    <a:pos x="T0" y="T1"/>
                  </a:cxn>
                  <a:cxn ang="0">
                    <a:pos x="T2" y="T3"/>
                  </a:cxn>
                  <a:cxn ang="0">
                    <a:pos x="T4" y="T5"/>
                  </a:cxn>
                  <a:cxn ang="0">
                    <a:pos x="T6" y="T7"/>
                  </a:cxn>
                  <a:cxn ang="0">
                    <a:pos x="T8" y="T9"/>
                  </a:cxn>
                </a:cxnLst>
                <a:rect l="0" t="0" r="r" b="b"/>
                <a:pathLst>
                  <a:path w="45" h="43">
                    <a:moveTo>
                      <a:pt x="45" y="17"/>
                    </a:moveTo>
                    <a:lnTo>
                      <a:pt x="17" y="43"/>
                    </a:lnTo>
                    <a:lnTo>
                      <a:pt x="0" y="26"/>
                    </a:lnTo>
                    <a:lnTo>
                      <a:pt x="29" y="0"/>
                    </a:lnTo>
                    <a:lnTo>
                      <a:pt x="45" y="17"/>
                    </a:lnTo>
                    <a:close/>
                  </a:path>
                </a:pathLst>
              </a:custGeom>
              <a:grpFill/>
              <a:ln w="9525">
                <a:noFill/>
                <a:round/>
              </a:ln>
            </p:spPr>
            <p:txBody>
              <a:bodyPr vert="horz" wrap="square" lIns="121920" tIns="60960" rIns="121920" bIns="60960" numCol="1" anchor="t" anchorCtr="0" compatLnSpc="1"/>
              <a:lstStyle/>
              <a:p>
                <a:endParaRPr lang="zh-CN" altLang="en-US" sz="1900">
                  <a:latin typeface="Arial" panose="020B0604020202020204" pitchFamily="34" charset="0"/>
                  <a:ea typeface="微软雅黑" panose="020B0503020204020204" charset="-122"/>
                  <a:cs typeface="Arial" panose="020B0604020202020204" pitchFamily="34" charset="0"/>
                </a:endParaRPr>
              </a:p>
            </p:txBody>
          </p:sp>
          <p:sp>
            <p:nvSpPr>
              <p:cNvPr id="63" name="Freeform 289"/>
              <p:cNvSpPr>
                <a:spLocks noEditPoints="1"/>
              </p:cNvSpPr>
              <p:nvPr>
                <p:custDataLst>
                  <p:tags r:id="rId4"/>
                </p:custDataLst>
              </p:nvPr>
            </p:nvSpPr>
            <p:spPr bwMode="auto">
              <a:xfrm>
                <a:off x="5556247" y="5734050"/>
                <a:ext cx="225425" cy="225425"/>
              </a:xfrm>
              <a:custGeom>
                <a:avLst/>
                <a:gdLst>
                  <a:gd name="T0" fmla="*/ 30 w 60"/>
                  <a:gd name="T1" fmla="*/ 0 h 60"/>
                  <a:gd name="T2" fmla="*/ 0 w 60"/>
                  <a:gd name="T3" fmla="*/ 30 h 60"/>
                  <a:gd name="T4" fmla="*/ 30 w 60"/>
                  <a:gd name="T5" fmla="*/ 60 h 60"/>
                  <a:gd name="T6" fmla="*/ 60 w 60"/>
                  <a:gd name="T7" fmla="*/ 30 h 60"/>
                  <a:gd name="T8" fmla="*/ 30 w 60"/>
                  <a:gd name="T9" fmla="*/ 0 h 60"/>
                  <a:gd name="T10" fmla="*/ 30 w 60"/>
                  <a:gd name="T11" fmla="*/ 51 h 60"/>
                  <a:gd name="T12" fmla="*/ 8 w 60"/>
                  <a:gd name="T13" fmla="*/ 30 h 60"/>
                  <a:gd name="T14" fmla="*/ 30 w 60"/>
                  <a:gd name="T15" fmla="*/ 8 h 60"/>
                  <a:gd name="T16" fmla="*/ 52 w 60"/>
                  <a:gd name="T17" fmla="*/ 30 h 60"/>
                  <a:gd name="T18" fmla="*/ 30 w 60"/>
                  <a:gd name="T19" fmla="*/ 51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0"/>
                    </a:moveTo>
                    <a:cubicBezTo>
                      <a:pt x="13" y="0"/>
                      <a:pt x="0" y="13"/>
                      <a:pt x="0" y="30"/>
                    </a:cubicBezTo>
                    <a:cubicBezTo>
                      <a:pt x="0" y="47"/>
                      <a:pt x="13" y="60"/>
                      <a:pt x="30" y="60"/>
                    </a:cubicBezTo>
                    <a:cubicBezTo>
                      <a:pt x="47" y="60"/>
                      <a:pt x="60" y="47"/>
                      <a:pt x="60" y="30"/>
                    </a:cubicBezTo>
                    <a:cubicBezTo>
                      <a:pt x="60" y="13"/>
                      <a:pt x="47" y="0"/>
                      <a:pt x="30" y="0"/>
                    </a:cubicBezTo>
                    <a:close/>
                    <a:moveTo>
                      <a:pt x="30" y="51"/>
                    </a:moveTo>
                    <a:cubicBezTo>
                      <a:pt x="18" y="51"/>
                      <a:pt x="8" y="42"/>
                      <a:pt x="8" y="30"/>
                    </a:cubicBezTo>
                    <a:cubicBezTo>
                      <a:pt x="8" y="18"/>
                      <a:pt x="18" y="8"/>
                      <a:pt x="30" y="8"/>
                    </a:cubicBezTo>
                    <a:cubicBezTo>
                      <a:pt x="42" y="8"/>
                      <a:pt x="52" y="18"/>
                      <a:pt x="52" y="30"/>
                    </a:cubicBezTo>
                    <a:cubicBezTo>
                      <a:pt x="52" y="42"/>
                      <a:pt x="42" y="51"/>
                      <a:pt x="30" y="51"/>
                    </a:cubicBezTo>
                    <a:close/>
                  </a:path>
                </a:pathLst>
              </a:custGeom>
              <a:grpFill/>
              <a:ln w="9525">
                <a:noFill/>
                <a:round/>
              </a:ln>
            </p:spPr>
            <p:txBody>
              <a:bodyPr vert="horz" wrap="square" lIns="121920" tIns="60960" rIns="121920" bIns="60960" numCol="1" anchor="t" anchorCtr="0" compatLnSpc="1"/>
              <a:lstStyle/>
              <a:p>
                <a:endParaRPr lang="zh-CN" altLang="en-US" sz="1900">
                  <a:latin typeface="Arial" panose="020B0604020202020204" pitchFamily="34" charset="0"/>
                  <a:ea typeface="微软雅黑" panose="020B0503020204020204" charset="-122"/>
                  <a:cs typeface="Arial" panose="020B0604020202020204" pitchFamily="34" charset="0"/>
                </a:endParaRPr>
              </a:p>
            </p:txBody>
          </p:sp>
          <p:sp>
            <p:nvSpPr>
              <p:cNvPr id="64" name="Freeform 291"/>
              <p:cNvSpPr/>
              <p:nvPr>
                <p:custDataLst>
                  <p:tags r:id="rId5"/>
                </p:custDataLst>
              </p:nvPr>
            </p:nvSpPr>
            <p:spPr bwMode="auto">
              <a:xfrm>
                <a:off x="5408528" y="5941656"/>
                <a:ext cx="158750" cy="153988"/>
              </a:xfrm>
              <a:custGeom>
                <a:avLst/>
                <a:gdLst>
                  <a:gd name="T0" fmla="*/ 30 w 42"/>
                  <a:gd name="T1" fmla="*/ 0 h 41"/>
                  <a:gd name="T2" fmla="*/ 3 w 42"/>
                  <a:gd name="T3" fmla="*/ 26 h 41"/>
                  <a:gd name="T4" fmla="*/ 3 w 42"/>
                  <a:gd name="T5" fmla="*/ 38 h 41"/>
                  <a:gd name="T6" fmla="*/ 15 w 42"/>
                  <a:gd name="T7" fmla="*/ 38 h 41"/>
                  <a:gd name="T8" fmla="*/ 42 w 42"/>
                  <a:gd name="T9" fmla="*/ 12 h 41"/>
                  <a:gd name="T10" fmla="*/ 30 w 42"/>
                  <a:gd name="T11" fmla="*/ 0 h 41"/>
                </a:gdLst>
                <a:ahLst/>
                <a:cxnLst>
                  <a:cxn ang="0">
                    <a:pos x="T0" y="T1"/>
                  </a:cxn>
                  <a:cxn ang="0">
                    <a:pos x="T2" y="T3"/>
                  </a:cxn>
                  <a:cxn ang="0">
                    <a:pos x="T4" y="T5"/>
                  </a:cxn>
                  <a:cxn ang="0">
                    <a:pos x="T6" y="T7"/>
                  </a:cxn>
                  <a:cxn ang="0">
                    <a:pos x="T8" y="T9"/>
                  </a:cxn>
                  <a:cxn ang="0">
                    <a:pos x="T10" y="T11"/>
                  </a:cxn>
                </a:cxnLst>
                <a:rect l="0" t="0" r="r" b="b"/>
                <a:pathLst>
                  <a:path w="42" h="41">
                    <a:moveTo>
                      <a:pt x="30" y="0"/>
                    </a:moveTo>
                    <a:cubicBezTo>
                      <a:pt x="3" y="26"/>
                      <a:pt x="3" y="26"/>
                      <a:pt x="3" y="26"/>
                    </a:cubicBezTo>
                    <a:cubicBezTo>
                      <a:pt x="0" y="29"/>
                      <a:pt x="0" y="34"/>
                      <a:pt x="3" y="38"/>
                    </a:cubicBezTo>
                    <a:cubicBezTo>
                      <a:pt x="6" y="41"/>
                      <a:pt x="12" y="41"/>
                      <a:pt x="15" y="38"/>
                    </a:cubicBezTo>
                    <a:cubicBezTo>
                      <a:pt x="42" y="12"/>
                      <a:pt x="42" y="12"/>
                      <a:pt x="42" y="12"/>
                    </a:cubicBezTo>
                    <a:lnTo>
                      <a:pt x="30" y="0"/>
                    </a:lnTo>
                    <a:close/>
                  </a:path>
                </a:pathLst>
              </a:custGeom>
              <a:grpFill/>
              <a:ln w="9525">
                <a:noFill/>
                <a:round/>
              </a:ln>
            </p:spPr>
            <p:txBody>
              <a:bodyPr vert="horz" wrap="square" lIns="121920" tIns="60960" rIns="121920" bIns="60960" numCol="1" anchor="t" anchorCtr="0" compatLnSpc="1"/>
              <a:lstStyle/>
              <a:p>
                <a:endParaRPr lang="zh-CN" altLang="en-US" sz="1900">
                  <a:latin typeface="Arial" panose="020B0604020202020204" pitchFamily="34" charset="0"/>
                  <a:ea typeface="微软雅黑" panose="020B0503020204020204" charset="-122"/>
                  <a:cs typeface="Arial" panose="020B0604020202020204" pitchFamily="34" charset="0"/>
                </a:endParaRPr>
              </a:p>
            </p:txBody>
          </p:sp>
        </p:grpSp>
      </p:grpSp>
      <p:grpSp>
        <p:nvGrpSpPr>
          <p:cNvPr id="3" name="组合 2"/>
          <p:cNvGrpSpPr/>
          <p:nvPr/>
        </p:nvGrpSpPr>
        <p:grpSpPr>
          <a:xfrm>
            <a:off x="407751" y="2880187"/>
            <a:ext cx="1646136" cy="1682558"/>
            <a:chOff x="284183" y="4355475"/>
            <a:chExt cx="2194847" cy="2243411"/>
          </a:xfrm>
          <a:solidFill>
            <a:srgbClr val="1B4367"/>
          </a:solidFill>
        </p:grpSpPr>
        <p:grpSp>
          <p:nvGrpSpPr>
            <p:cNvPr id="4" name="组合 3"/>
            <p:cNvGrpSpPr>
              <a:grpSpLocks noChangeAspect="1"/>
            </p:cNvGrpSpPr>
            <p:nvPr/>
          </p:nvGrpSpPr>
          <p:grpSpPr>
            <a:xfrm>
              <a:off x="1590712" y="4839429"/>
              <a:ext cx="575640" cy="366333"/>
              <a:chOff x="2181205" y="5587034"/>
              <a:chExt cx="215862" cy="137375"/>
            </a:xfrm>
            <a:grpFill/>
          </p:grpSpPr>
          <p:sp>
            <p:nvSpPr>
              <p:cNvPr id="5" name="Freeform 69"/>
              <p:cNvSpPr/>
              <p:nvPr>
                <p:custDataLst>
                  <p:tags r:id="rId6"/>
                </p:custDataLst>
              </p:nvPr>
            </p:nvSpPr>
            <p:spPr bwMode="auto">
              <a:xfrm rot="5400000">
                <a:off x="2257887" y="5585229"/>
                <a:ext cx="137375" cy="140985"/>
              </a:xfrm>
              <a:custGeom>
                <a:avLst/>
                <a:gdLst>
                  <a:gd name="T0" fmla="*/ 57 w 64"/>
                  <a:gd name="T1" fmla="*/ 37 h 66"/>
                  <a:gd name="T2" fmla="*/ 43 w 64"/>
                  <a:gd name="T3" fmla="*/ 12 h 66"/>
                  <a:gd name="T4" fmla="*/ 39 w 64"/>
                  <a:gd name="T5" fmla="*/ 6 h 66"/>
                  <a:gd name="T6" fmla="*/ 25 w 64"/>
                  <a:gd name="T7" fmla="*/ 6 h 66"/>
                  <a:gd name="T8" fmla="*/ 22 w 64"/>
                  <a:gd name="T9" fmla="*/ 12 h 66"/>
                  <a:gd name="T10" fmla="*/ 8 w 64"/>
                  <a:gd name="T11" fmla="*/ 37 h 66"/>
                  <a:gd name="T12" fmla="*/ 4 w 64"/>
                  <a:gd name="T13" fmla="*/ 43 h 66"/>
                  <a:gd name="T14" fmla="*/ 11 w 64"/>
                  <a:gd name="T15" fmla="*/ 55 h 66"/>
                  <a:gd name="T16" fmla="*/ 18 w 64"/>
                  <a:gd name="T17" fmla="*/ 55 h 66"/>
                  <a:gd name="T18" fmla="*/ 19 w 64"/>
                  <a:gd name="T19" fmla="*/ 55 h 66"/>
                  <a:gd name="T20" fmla="*/ 19 w 64"/>
                  <a:gd name="T21" fmla="*/ 66 h 66"/>
                  <a:gd name="T22" fmla="*/ 32 w 64"/>
                  <a:gd name="T23" fmla="*/ 62 h 66"/>
                  <a:gd name="T24" fmla="*/ 32 w 64"/>
                  <a:gd name="T25" fmla="*/ 62 h 66"/>
                  <a:gd name="T26" fmla="*/ 46 w 64"/>
                  <a:gd name="T27" fmla="*/ 66 h 66"/>
                  <a:gd name="T28" fmla="*/ 46 w 64"/>
                  <a:gd name="T29" fmla="*/ 55 h 66"/>
                  <a:gd name="T30" fmla="*/ 46 w 64"/>
                  <a:gd name="T31" fmla="*/ 55 h 66"/>
                  <a:gd name="T32" fmla="*/ 53 w 64"/>
                  <a:gd name="T33" fmla="*/ 55 h 66"/>
                  <a:gd name="T34" fmla="*/ 60 w 64"/>
                  <a:gd name="T35" fmla="*/ 43 h 66"/>
                  <a:gd name="T36" fmla="*/ 57 w 64"/>
                  <a:gd name="T37" fmla="*/ 37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4" h="66">
                    <a:moveTo>
                      <a:pt x="57" y="37"/>
                    </a:moveTo>
                    <a:cubicBezTo>
                      <a:pt x="53" y="30"/>
                      <a:pt x="47" y="19"/>
                      <a:pt x="43" y="12"/>
                    </a:cubicBezTo>
                    <a:cubicBezTo>
                      <a:pt x="39" y="6"/>
                      <a:pt x="39" y="6"/>
                      <a:pt x="39" y="6"/>
                    </a:cubicBezTo>
                    <a:cubicBezTo>
                      <a:pt x="35" y="0"/>
                      <a:pt x="29" y="0"/>
                      <a:pt x="25" y="6"/>
                    </a:cubicBezTo>
                    <a:cubicBezTo>
                      <a:pt x="22" y="12"/>
                      <a:pt x="22" y="12"/>
                      <a:pt x="22" y="12"/>
                    </a:cubicBezTo>
                    <a:cubicBezTo>
                      <a:pt x="18" y="19"/>
                      <a:pt x="11" y="30"/>
                      <a:pt x="8" y="37"/>
                    </a:cubicBezTo>
                    <a:cubicBezTo>
                      <a:pt x="4" y="43"/>
                      <a:pt x="4" y="43"/>
                      <a:pt x="4" y="43"/>
                    </a:cubicBezTo>
                    <a:cubicBezTo>
                      <a:pt x="0" y="50"/>
                      <a:pt x="3" y="55"/>
                      <a:pt x="11" y="55"/>
                    </a:cubicBezTo>
                    <a:cubicBezTo>
                      <a:pt x="18" y="55"/>
                      <a:pt x="18" y="55"/>
                      <a:pt x="18" y="55"/>
                    </a:cubicBezTo>
                    <a:cubicBezTo>
                      <a:pt x="19" y="55"/>
                      <a:pt x="19" y="55"/>
                      <a:pt x="19" y="55"/>
                    </a:cubicBezTo>
                    <a:cubicBezTo>
                      <a:pt x="19" y="66"/>
                      <a:pt x="19" y="66"/>
                      <a:pt x="19" y="66"/>
                    </a:cubicBezTo>
                    <a:cubicBezTo>
                      <a:pt x="23" y="63"/>
                      <a:pt x="27" y="62"/>
                      <a:pt x="32" y="62"/>
                    </a:cubicBezTo>
                    <a:cubicBezTo>
                      <a:pt x="32" y="62"/>
                      <a:pt x="32" y="62"/>
                      <a:pt x="32" y="62"/>
                    </a:cubicBezTo>
                    <a:cubicBezTo>
                      <a:pt x="37" y="62"/>
                      <a:pt x="42" y="63"/>
                      <a:pt x="46" y="66"/>
                    </a:cubicBezTo>
                    <a:cubicBezTo>
                      <a:pt x="46" y="55"/>
                      <a:pt x="46" y="55"/>
                      <a:pt x="46" y="55"/>
                    </a:cubicBezTo>
                    <a:cubicBezTo>
                      <a:pt x="46" y="55"/>
                      <a:pt x="46" y="55"/>
                      <a:pt x="46" y="55"/>
                    </a:cubicBezTo>
                    <a:cubicBezTo>
                      <a:pt x="53" y="55"/>
                      <a:pt x="53" y="55"/>
                      <a:pt x="53" y="55"/>
                    </a:cubicBezTo>
                    <a:cubicBezTo>
                      <a:pt x="61" y="55"/>
                      <a:pt x="64" y="49"/>
                      <a:pt x="60" y="43"/>
                    </a:cubicBezTo>
                    <a:lnTo>
                      <a:pt x="57" y="37"/>
                    </a:lnTo>
                    <a:close/>
                  </a:path>
                </a:pathLst>
              </a:custGeom>
              <a:grpFill/>
              <a:ln w="9525">
                <a:noFill/>
                <a:round/>
              </a:ln>
            </p:spPr>
            <p:txBody>
              <a:bodyPr vert="horz" wrap="square" lIns="121920" tIns="60960" rIns="121920" bIns="60960" numCol="1" anchor="t" anchorCtr="0" compatLnSpc="1"/>
              <a:lstStyle/>
              <a:p>
                <a:endParaRPr lang="zh-CN" altLang="en-US" sz="1900">
                  <a:latin typeface="Arial" panose="020B0604020202020204" pitchFamily="34" charset="0"/>
                  <a:ea typeface="微软雅黑" panose="020B0503020204020204" charset="-122"/>
                  <a:cs typeface="Arial" panose="020B0604020202020204" pitchFamily="34" charset="0"/>
                </a:endParaRPr>
              </a:p>
            </p:txBody>
          </p:sp>
          <p:sp>
            <p:nvSpPr>
              <p:cNvPr id="6" name="Freeform 70"/>
              <p:cNvSpPr/>
              <p:nvPr>
                <p:custDataLst>
                  <p:tags r:id="rId7"/>
                </p:custDataLst>
              </p:nvPr>
            </p:nvSpPr>
            <p:spPr bwMode="auto">
              <a:xfrm>
                <a:off x="2181205" y="5617948"/>
                <a:ext cx="75013" cy="75013"/>
              </a:xfrm>
              <a:custGeom>
                <a:avLst/>
                <a:gdLst>
                  <a:gd name="T0" fmla="*/ 17 w 35"/>
                  <a:gd name="T1" fmla="*/ 0 h 35"/>
                  <a:gd name="T2" fmla="*/ 17 w 35"/>
                  <a:gd name="T3" fmla="*/ 0 h 35"/>
                  <a:gd name="T4" fmla="*/ 17 w 35"/>
                  <a:gd name="T5" fmla="*/ 0 h 35"/>
                  <a:gd name="T6" fmla="*/ 17 w 35"/>
                  <a:gd name="T7" fmla="*/ 0 h 35"/>
                  <a:gd name="T8" fmla="*/ 17 w 35"/>
                  <a:gd name="T9" fmla="*/ 0 h 35"/>
                  <a:gd name="T10" fmla="*/ 4 w 35"/>
                  <a:gd name="T11" fmla="*/ 6 h 35"/>
                  <a:gd name="T12" fmla="*/ 0 w 35"/>
                  <a:gd name="T13" fmla="*/ 17 h 35"/>
                  <a:gd name="T14" fmla="*/ 0 w 35"/>
                  <a:gd name="T15" fmla="*/ 17 h 35"/>
                  <a:gd name="T16" fmla="*/ 17 w 35"/>
                  <a:gd name="T17" fmla="*/ 35 h 35"/>
                  <a:gd name="T18" fmla="*/ 17 w 35"/>
                  <a:gd name="T19" fmla="*/ 35 h 35"/>
                  <a:gd name="T20" fmla="*/ 35 w 35"/>
                  <a:gd name="T21" fmla="*/ 17 h 35"/>
                  <a:gd name="T22" fmla="*/ 35 w 35"/>
                  <a:gd name="T23" fmla="*/ 17 h 35"/>
                  <a:gd name="T24" fmla="*/ 31 w 35"/>
                  <a:gd name="T25" fmla="*/ 6 h 35"/>
                  <a:gd name="T26" fmla="*/ 17 w 35"/>
                  <a:gd name="T27"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5" h="35">
                    <a:moveTo>
                      <a:pt x="17" y="0"/>
                    </a:moveTo>
                    <a:cubicBezTo>
                      <a:pt x="17" y="0"/>
                      <a:pt x="17" y="0"/>
                      <a:pt x="17" y="0"/>
                    </a:cubicBezTo>
                    <a:cubicBezTo>
                      <a:pt x="17" y="0"/>
                      <a:pt x="17" y="0"/>
                      <a:pt x="17" y="0"/>
                    </a:cubicBezTo>
                    <a:cubicBezTo>
                      <a:pt x="17" y="0"/>
                      <a:pt x="17" y="0"/>
                      <a:pt x="17" y="0"/>
                    </a:cubicBezTo>
                    <a:cubicBezTo>
                      <a:pt x="17" y="0"/>
                      <a:pt x="17" y="0"/>
                      <a:pt x="17" y="0"/>
                    </a:cubicBezTo>
                    <a:cubicBezTo>
                      <a:pt x="12" y="0"/>
                      <a:pt x="7" y="2"/>
                      <a:pt x="4" y="6"/>
                    </a:cubicBezTo>
                    <a:cubicBezTo>
                      <a:pt x="1" y="9"/>
                      <a:pt x="0" y="13"/>
                      <a:pt x="0" y="17"/>
                    </a:cubicBezTo>
                    <a:cubicBezTo>
                      <a:pt x="0" y="17"/>
                      <a:pt x="0" y="17"/>
                      <a:pt x="0" y="17"/>
                    </a:cubicBezTo>
                    <a:cubicBezTo>
                      <a:pt x="0" y="27"/>
                      <a:pt x="8" y="35"/>
                      <a:pt x="17" y="35"/>
                    </a:cubicBezTo>
                    <a:cubicBezTo>
                      <a:pt x="17" y="35"/>
                      <a:pt x="17" y="35"/>
                      <a:pt x="17" y="35"/>
                    </a:cubicBezTo>
                    <a:cubicBezTo>
                      <a:pt x="27" y="35"/>
                      <a:pt x="35" y="27"/>
                      <a:pt x="35" y="17"/>
                    </a:cubicBezTo>
                    <a:cubicBezTo>
                      <a:pt x="35" y="17"/>
                      <a:pt x="35" y="17"/>
                      <a:pt x="35" y="17"/>
                    </a:cubicBezTo>
                    <a:cubicBezTo>
                      <a:pt x="35" y="13"/>
                      <a:pt x="33" y="9"/>
                      <a:pt x="31" y="6"/>
                    </a:cubicBezTo>
                    <a:cubicBezTo>
                      <a:pt x="27" y="2"/>
                      <a:pt x="23" y="0"/>
                      <a:pt x="17" y="0"/>
                    </a:cubicBezTo>
                    <a:close/>
                  </a:path>
                </a:pathLst>
              </a:custGeom>
              <a:grpFill/>
              <a:ln w="9525">
                <a:noFill/>
                <a:round/>
              </a:ln>
            </p:spPr>
            <p:txBody>
              <a:bodyPr vert="horz" wrap="square" lIns="121920" tIns="60960" rIns="121920" bIns="60960" numCol="1" anchor="t" anchorCtr="0" compatLnSpc="1"/>
              <a:lstStyle/>
              <a:p>
                <a:endParaRPr lang="zh-CN" altLang="en-US" sz="1900">
                  <a:latin typeface="Arial" panose="020B0604020202020204" pitchFamily="34" charset="0"/>
                  <a:ea typeface="微软雅黑" panose="020B0503020204020204" charset="-122"/>
                  <a:cs typeface="Arial" panose="020B0604020202020204" pitchFamily="34" charset="0"/>
                </a:endParaRPr>
              </a:p>
            </p:txBody>
          </p:sp>
        </p:grpSp>
        <p:grpSp>
          <p:nvGrpSpPr>
            <p:cNvPr id="7" name="组合 6"/>
            <p:cNvGrpSpPr>
              <a:grpSpLocks noChangeAspect="1"/>
            </p:cNvGrpSpPr>
            <p:nvPr/>
          </p:nvGrpSpPr>
          <p:grpSpPr>
            <a:xfrm>
              <a:off x="284183" y="4355475"/>
              <a:ext cx="2194847" cy="2243411"/>
              <a:chOff x="5364559" y="5734050"/>
              <a:chExt cx="371281" cy="379496"/>
            </a:xfrm>
            <a:grpFill/>
          </p:grpSpPr>
          <p:sp>
            <p:nvSpPr>
              <p:cNvPr id="8" name="Freeform 288"/>
              <p:cNvSpPr/>
              <p:nvPr>
                <p:custDataLst>
                  <p:tags r:id="rId8"/>
                </p:custDataLst>
              </p:nvPr>
            </p:nvSpPr>
            <p:spPr bwMode="auto">
              <a:xfrm>
                <a:off x="5496346" y="5919692"/>
                <a:ext cx="71438" cy="68263"/>
              </a:xfrm>
              <a:custGeom>
                <a:avLst/>
                <a:gdLst>
                  <a:gd name="T0" fmla="*/ 45 w 45"/>
                  <a:gd name="T1" fmla="*/ 17 h 43"/>
                  <a:gd name="T2" fmla="*/ 17 w 45"/>
                  <a:gd name="T3" fmla="*/ 43 h 43"/>
                  <a:gd name="T4" fmla="*/ 0 w 45"/>
                  <a:gd name="T5" fmla="*/ 26 h 43"/>
                  <a:gd name="T6" fmla="*/ 29 w 45"/>
                  <a:gd name="T7" fmla="*/ 0 h 43"/>
                  <a:gd name="T8" fmla="*/ 45 w 45"/>
                  <a:gd name="T9" fmla="*/ 17 h 43"/>
                </a:gdLst>
                <a:ahLst/>
                <a:cxnLst>
                  <a:cxn ang="0">
                    <a:pos x="T0" y="T1"/>
                  </a:cxn>
                  <a:cxn ang="0">
                    <a:pos x="T2" y="T3"/>
                  </a:cxn>
                  <a:cxn ang="0">
                    <a:pos x="T4" y="T5"/>
                  </a:cxn>
                  <a:cxn ang="0">
                    <a:pos x="T6" y="T7"/>
                  </a:cxn>
                  <a:cxn ang="0">
                    <a:pos x="T8" y="T9"/>
                  </a:cxn>
                </a:cxnLst>
                <a:rect l="0" t="0" r="r" b="b"/>
                <a:pathLst>
                  <a:path w="45" h="43">
                    <a:moveTo>
                      <a:pt x="45" y="17"/>
                    </a:moveTo>
                    <a:lnTo>
                      <a:pt x="17" y="43"/>
                    </a:lnTo>
                    <a:lnTo>
                      <a:pt x="0" y="26"/>
                    </a:lnTo>
                    <a:lnTo>
                      <a:pt x="29" y="0"/>
                    </a:lnTo>
                    <a:lnTo>
                      <a:pt x="45" y="17"/>
                    </a:lnTo>
                    <a:close/>
                  </a:path>
                </a:pathLst>
              </a:custGeom>
              <a:grpFill/>
              <a:ln w="9525">
                <a:noFill/>
                <a:round/>
              </a:ln>
            </p:spPr>
            <p:txBody>
              <a:bodyPr vert="horz" wrap="square" lIns="121920" tIns="60960" rIns="121920" bIns="60960" numCol="1" anchor="t" anchorCtr="0" compatLnSpc="1"/>
              <a:lstStyle/>
              <a:p>
                <a:endParaRPr lang="zh-CN" altLang="en-US" sz="1900">
                  <a:latin typeface="Arial" panose="020B0604020202020204" pitchFamily="34" charset="0"/>
                  <a:ea typeface="微软雅黑" panose="020B0503020204020204" charset="-122"/>
                  <a:cs typeface="Arial" panose="020B0604020202020204" pitchFamily="34" charset="0"/>
                </a:endParaRPr>
              </a:p>
            </p:txBody>
          </p:sp>
          <p:sp>
            <p:nvSpPr>
              <p:cNvPr id="9" name="Freeform 289"/>
              <p:cNvSpPr>
                <a:spLocks noEditPoints="1"/>
              </p:cNvSpPr>
              <p:nvPr>
                <p:custDataLst>
                  <p:tags r:id="rId9"/>
                </p:custDataLst>
              </p:nvPr>
            </p:nvSpPr>
            <p:spPr bwMode="auto">
              <a:xfrm>
                <a:off x="5510415" y="5734050"/>
                <a:ext cx="225425" cy="225425"/>
              </a:xfrm>
              <a:custGeom>
                <a:avLst/>
                <a:gdLst>
                  <a:gd name="T0" fmla="*/ 30 w 60"/>
                  <a:gd name="T1" fmla="*/ 0 h 60"/>
                  <a:gd name="T2" fmla="*/ 0 w 60"/>
                  <a:gd name="T3" fmla="*/ 30 h 60"/>
                  <a:gd name="T4" fmla="*/ 30 w 60"/>
                  <a:gd name="T5" fmla="*/ 60 h 60"/>
                  <a:gd name="T6" fmla="*/ 60 w 60"/>
                  <a:gd name="T7" fmla="*/ 30 h 60"/>
                  <a:gd name="T8" fmla="*/ 30 w 60"/>
                  <a:gd name="T9" fmla="*/ 0 h 60"/>
                  <a:gd name="T10" fmla="*/ 30 w 60"/>
                  <a:gd name="T11" fmla="*/ 51 h 60"/>
                  <a:gd name="T12" fmla="*/ 8 w 60"/>
                  <a:gd name="T13" fmla="*/ 30 h 60"/>
                  <a:gd name="T14" fmla="*/ 30 w 60"/>
                  <a:gd name="T15" fmla="*/ 8 h 60"/>
                  <a:gd name="T16" fmla="*/ 52 w 60"/>
                  <a:gd name="T17" fmla="*/ 30 h 60"/>
                  <a:gd name="T18" fmla="*/ 30 w 60"/>
                  <a:gd name="T19" fmla="*/ 51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0"/>
                    </a:moveTo>
                    <a:cubicBezTo>
                      <a:pt x="13" y="0"/>
                      <a:pt x="0" y="13"/>
                      <a:pt x="0" y="30"/>
                    </a:cubicBezTo>
                    <a:cubicBezTo>
                      <a:pt x="0" y="47"/>
                      <a:pt x="13" y="60"/>
                      <a:pt x="30" y="60"/>
                    </a:cubicBezTo>
                    <a:cubicBezTo>
                      <a:pt x="47" y="60"/>
                      <a:pt x="60" y="47"/>
                      <a:pt x="60" y="30"/>
                    </a:cubicBezTo>
                    <a:cubicBezTo>
                      <a:pt x="60" y="13"/>
                      <a:pt x="47" y="0"/>
                      <a:pt x="30" y="0"/>
                    </a:cubicBezTo>
                    <a:close/>
                    <a:moveTo>
                      <a:pt x="30" y="51"/>
                    </a:moveTo>
                    <a:cubicBezTo>
                      <a:pt x="18" y="51"/>
                      <a:pt x="8" y="42"/>
                      <a:pt x="8" y="30"/>
                    </a:cubicBezTo>
                    <a:cubicBezTo>
                      <a:pt x="8" y="18"/>
                      <a:pt x="18" y="8"/>
                      <a:pt x="30" y="8"/>
                    </a:cubicBezTo>
                    <a:cubicBezTo>
                      <a:pt x="42" y="8"/>
                      <a:pt x="52" y="18"/>
                      <a:pt x="52" y="30"/>
                    </a:cubicBezTo>
                    <a:cubicBezTo>
                      <a:pt x="52" y="42"/>
                      <a:pt x="42" y="51"/>
                      <a:pt x="30" y="51"/>
                    </a:cubicBezTo>
                    <a:close/>
                  </a:path>
                </a:pathLst>
              </a:custGeom>
              <a:grpFill/>
              <a:ln w="9525">
                <a:noFill/>
                <a:round/>
              </a:ln>
            </p:spPr>
            <p:txBody>
              <a:bodyPr vert="horz" wrap="square" lIns="121920" tIns="60960" rIns="121920" bIns="60960" numCol="1" anchor="t" anchorCtr="0" compatLnSpc="1"/>
              <a:lstStyle/>
              <a:p>
                <a:endParaRPr lang="zh-CN" altLang="en-US" sz="1900">
                  <a:latin typeface="Arial" panose="020B0604020202020204" pitchFamily="34" charset="0"/>
                  <a:ea typeface="微软雅黑" panose="020B0503020204020204" charset="-122"/>
                  <a:cs typeface="Arial" panose="020B0604020202020204" pitchFamily="34" charset="0"/>
                </a:endParaRPr>
              </a:p>
            </p:txBody>
          </p:sp>
          <p:sp>
            <p:nvSpPr>
              <p:cNvPr id="10" name="Freeform 291"/>
              <p:cNvSpPr/>
              <p:nvPr>
                <p:custDataLst>
                  <p:tags r:id="rId10"/>
                </p:custDataLst>
              </p:nvPr>
            </p:nvSpPr>
            <p:spPr bwMode="auto">
              <a:xfrm>
                <a:off x="5364559" y="5959558"/>
                <a:ext cx="158750" cy="153988"/>
              </a:xfrm>
              <a:custGeom>
                <a:avLst/>
                <a:gdLst>
                  <a:gd name="T0" fmla="*/ 30 w 42"/>
                  <a:gd name="T1" fmla="*/ 0 h 41"/>
                  <a:gd name="T2" fmla="*/ 3 w 42"/>
                  <a:gd name="T3" fmla="*/ 26 h 41"/>
                  <a:gd name="T4" fmla="*/ 3 w 42"/>
                  <a:gd name="T5" fmla="*/ 38 h 41"/>
                  <a:gd name="T6" fmla="*/ 15 w 42"/>
                  <a:gd name="T7" fmla="*/ 38 h 41"/>
                  <a:gd name="T8" fmla="*/ 42 w 42"/>
                  <a:gd name="T9" fmla="*/ 12 h 41"/>
                  <a:gd name="T10" fmla="*/ 30 w 42"/>
                  <a:gd name="T11" fmla="*/ 0 h 41"/>
                </a:gdLst>
                <a:ahLst/>
                <a:cxnLst>
                  <a:cxn ang="0">
                    <a:pos x="T0" y="T1"/>
                  </a:cxn>
                  <a:cxn ang="0">
                    <a:pos x="T2" y="T3"/>
                  </a:cxn>
                  <a:cxn ang="0">
                    <a:pos x="T4" y="T5"/>
                  </a:cxn>
                  <a:cxn ang="0">
                    <a:pos x="T6" y="T7"/>
                  </a:cxn>
                  <a:cxn ang="0">
                    <a:pos x="T8" y="T9"/>
                  </a:cxn>
                  <a:cxn ang="0">
                    <a:pos x="T10" y="T11"/>
                  </a:cxn>
                </a:cxnLst>
                <a:rect l="0" t="0" r="r" b="b"/>
                <a:pathLst>
                  <a:path w="42" h="41">
                    <a:moveTo>
                      <a:pt x="30" y="0"/>
                    </a:moveTo>
                    <a:cubicBezTo>
                      <a:pt x="3" y="26"/>
                      <a:pt x="3" y="26"/>
                      <a:pt x="3" y="26"/>
                    </a:cubicBezTo>
                    <a:cubicBezTo>
                      <a:pt x="0" y="29"/>
                      <a:pt x="0" y="34"/>
                      <a:pt x="3" y="38"/>
                    </a:cubicBezTo>
                    <a:cubicBezTo>
                      <a:pt x="6" y="41"/>
                      <a:pt x="12" y="41"/>
                      <a:pt x="15" y="38"/>
                    </a:cubicBezTo>
                    <a:cubicBezTo>
                      <a:pt x="42" y="12"/>
                      <a:pt x="42" y="12"/>
                      <a:pt x="42" y="12"/>
                    </a:cubicBezTo>
                    <a:lnTo>
                      <a:pt x="30" y="0"/>
                    </a:lnTo>
                    <a:close/>
                  </a:path>
                </a:pathLst>
              </a:custGeom>
              <a:grpFill/>
              <a:ln w="9525">
                <a:noFill/>
                <a:round/>
              </a:ln>
            </p:spPr>
            <p:txBody>
              <a:bodyPr vert="horz" wrap="square" lIns="121920" tIns="60960" rIns="121920" bIns="60960" numCol="1" anchor="t" anchorCtr="0" compatLnSpc="1"/>
              <a:lstStyle/>
              <a:p>
                <a:endParaRPr lang="zh-CN" altLang="en-US" sz="1900">
                  <a:latin typeface="Arial" panose="020B0604020202020204" pitchFamily="34" charset="0"/>
                  <a:ea typeface="微软雅黑" panose="020B0503020204020204" charset="-122"/>
                  <a:cs typeface="Arial" panose="020B0604020202020204" pitchFamily="34" charset="0"/>
                </a:endParaRPr>
              </a:p>
            </p:txBody>
          </p:sp>
        </p:grpSp>
      </p:grpSp>
      <p:sp>
        <p:nvSpPr>
          <p:cNvPr id="11" name="文本框 10"/>
          <p:cNvSpPr txBox="1"/>
          <p:nvPr/>
        </p:nvSpPr>
        <p:spPr>
          <a:xfrm>
            <a:off x="2301240" y="2823845"/>
            <a:ext cx="6082030" cy="2030095"/>
          </a:xfrm>
          <a:prstGeom prst="rect">
            <a:avLst/>
          </a:prstGeom>
          <a:noFill/>
        </p:spPr>
        <p:txBody>
          <a:bodyPr wrap="square" rtlCol="0">
            <a:spAutoFit/>
          </a:bodyPr>
          <a:lstStyle/>
          <a:p>
            <a:r>
              <a:rPr lang="zh-CN" altLang="en-US" sz="1800"/>
              <a:t>The </a:t>
            </a:r>
            <a:r>
              <a:rPr lang="zh-CN" altLang="en-US" sz="1800">
                <a:solidFill>
                  <a:srgbClr val="FF0000"/>
                </a:solidFill>
              </a:rPr>
              <a:t>applications</a:t>
            </a:r>
            <a:r>
              <a:rPr lang="zh-CN" altLang="en-US" sz="1800"/>
              <a:t> for controlling the output power of the DGS are widely related to the field of energy management</a:t>
            </a:r>
            <a:r>
              <a:rPr lang="en-US" altLang="zh-CN" sz="1800"/>
              <a:t>.To name a few:</a:t>
            </a:r>
            <a:endParaRPr lang="en-US" altLang="zh-CN" sz="1800"/>
          </a:p>
          <a:p>
            <a:r>
              <a:rPr lang="en-US" altLang="zh-CN" sz="1800"/>
              <a:t>1.Load balancing in power systems</a:t>
            </a:r>
            <a:endParaRPr lang="en-US" altLang="zh-CN" sz="1800"/>
          </a:p>
          <a:p>
            <a:r>
              <a:rPr lang="en-US" altLang="zh-CN" sz="1800"/>
              <a:t>2.Power loss </a:t>
            </a:r>
            <a:r>
              <a:rPr lang="en-US" altLang="zh-CN" sz="1800"/>
              <a:t>minimization</a:t>
            </a:r>
            <a:endParaRPr lang="en-US" altLang="zh-CN" sz="1800"/>
          </a:p>
          <a:p>
            <a:r>
              <a:rPr lang="en-US" altLang="zh-CN" sz="1800"/>
              <a:t>3.Voltage and frequency control</a:t>
            </a:r>
            <a:endParaRPr lang="en-US" altLang="zh-CN" sz="1800"/>
          </a:p>
          <a:p>
            <a:r>
              <a:rPr lang="en-US" altLang="zh-CN" sz="1800"/>
              <a:t>4.Renewable Energy Integration</a:t>
            </a:r>
            <a:endParaRPr lang="en-US" altLang="zh-CN" sz="1800"/>
          </a:p>
        </p:txBody>
      </p:sp>
    </p:spTree>
  </p:cSld>
  <p:clrMapOvr>
    <a:masterClrMapping/>
  </p:clrMapOvr>
  <mc:AlternateContent xmlns:mc="http://schemas.openxmlformats.org/markup-compatibility/2006">
    <mc:Choice xmlns:p14="http://schemas.microsoft.com/office/powerpoint/2010/main" Requires="p14">
      <p:transition spd="slow" p14:dur="1200">
        <p14:flip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6"/>
                                        </p:tgtEl>
                                        <p:attrNameLst>
                                          <p:attrName>ppt_y</p:attrName>
                                        </p:attrNameLst>
                                      </p:cBhvr>
                                      <p:tavLst>
                                        <p:tav tm="0">
                                          <p:val>
                                            <p:strVal val="#ppt_y"/>
                                          </p:val>
                                        </p:tav>
                                        <p:tav tm="100000">
                                          <p:val>
                                            <p:strVal val="#ppt_y"/>
                                          </p:val>
                                        </p:tav>
                                      </p:tavLst>
                                    </p:anim>
                                    <p:anim calcmode="lin" valueType="num">
                                      <p:cBhvr>
                                        <p:cTn id="9" dur="500" fill="hold"/>
                                        <p:tgtEl>
                                          <p:spTgt spid="2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6"/>
                                        </p:tgtEl>
                                      </p:cBhvr>
                                    </p:animEffect>
                                  </p:childTnLst>
                                </p:cTn>
                              </p:par>
                            </p:childTnLst>
                          </p:cTn>
                        </p:par>
                        <p:par>
                          <p:cTn id="12" fill="hold">
                            <p:stCondLst>
                              <p:cond delay="2400"/>
                            </p:stCondLst>
                            <p:childTnLst>
                              <p:par>
                                <p:cTn id="13" presetID="22" presetClass="entr" presetSubtype="8" fill="hold"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left)">
                                      <p:cBhvr>
                                        <p:cTn id="15" dur="300"/>
                                        <p:tgtEl>
                                          <p:spTgt spid="15"/>
                                        </p:tgtEl>
                                      </p:cBhvr>
                                    </p:animEffect>
                                  </p:childTnLst>
                                </p:cTn>
                              </p:par>
                              <p:par>
                                <p:cTn id="16" presetID="53" presetClass="entr" presetSubtype="16" fill="hold" nodeType="withEffect">
                                  <p:stCondLst>
                                    <p:cond delay="3500"/>
                                  </p:stCondLst>
                                  <p:childTnLst>
                                    <p:set>
                                      <p:cBhvr>
                                        <p:cTn id="17" dur="1" fill="hold">
                                          <p:stCondLst>
                                            <p:cond delay="0"/>
                                          </p:stCondLst>
                                        </p:cTn>
                                        <p:tgtEl>
                                          <p:spTgt spid="59"/>
                                        </p:tgtEl>
                                        <p:attrNameLst>
                                          <p:attrName>style.visibility</p:attrName>
                                        </p:attrNameLst>
                                      </p:cBhvr>
                                      <p:to>
                                        <p:strVal val="visible"/>
                                      </p:to>
                                    </p:set>
                                    <p:anim calcmode="lin" valueType="num">
                                      <p:cBhvr>
                                        <p:cTn id="18" dur="350" fill="hold"/>
                                        <p:tgtEl>
                                          <p:spTgt spid="59"/>
                                        </p:tgtEl>
                                        <p:attrNameLst>
                                          <p:attrName>ppt_w</p:attrName>
                                        </p:attrNameLst>
                                      </p:cBhvr>
                                      <p:tavLst>
                                        <p:tav tm="0">
                                          <p:val>
                                            <p:fltVal val="0"/>
                                          </p:val>
                                        </p:tav>
                                        <p:tav tm="100000">
                                          <p:val>
                                            <p:strVal val="#ppt_w"/>
                                          </p:val>
                                        </p:tav>
                                      </p:tavLst>
                                    </p:anim>
                                    <p:anim calcmode="lin" valueType="num">
                                      <p:cBhvr>
                                        <p:cTn id="19" dur="350" fill="hold"/>
                                        <p:tgtEl>
                                          <p:spTgt spid="59"/>
                                        </p:tgtEl>
                                        <p:attrNameLst>
                                          <p:attrName>ppt_h</p:attrName>
                                        </p:attrNameLst>
                                      </p:cBhvr>
                                      <p:tavLst>
                                        <p:tav tm="0">
                                          <p:val>
                                            <p:fltVal val="0"/>
                                          </p:val>
                                        </p:tav>
                                        <p:tav tm="100000">
                                          <p:val>
                                            <p:strVal val="#ppt_h"/>
                                          </p:val>
                                        </p:tav>
                                      </p:tavLst>
                                    </p:anim>
                                    <p:animEffect transition="in" filter="fade">
                                      <p:cBhvr>
                                        <p:cTn id="20" dur="350"/>
                                        <p:tgtEl>
                                          <p:spTgt spid="59"/>
                                        </p:tgtEl>
                                      </p:cBhvr>
                                    </p:animEffect>
                                  </p:childTnLst>
                                </p:cTn>
                              </p:par>
                              <p:par>
                                <p:cTn id="21" presetID="53" presetClass="entr" presetSubtype="16" fill="hold" nodeType="withEffect">
                                  <p:stCondLst>
                                    <p:cond delay="3500"/>
                                  </p:stCondLst>
                                  <p:childTnLst>
                                    <p:set>
                                      <p:cBhvr>
                                        <p:cTn id="22" dur="1" fill="hold">
                                          <p:stCondLst>
                                            <p:cond delay="0"/>
                                          </p:stCondLst>
                                        </p:cTn>
                                        <p:tgtEl>
                                          <p:spTgt spid="3"/>
                                        </p:tgtEl>
                                        <p:attrNameLst>
                                          <p:attrName>style.visibility</p:attrName>
                                        </p:attrNameLst>
                                      </p:cBhvr>
                                      <p:to>
                                        <p:strVal val="visible"/>
                                      </p:to>
                                    </p:set>
                                    <p:anim calcmode="lin" valueType="num">
                                      <p:cBhvr>
                                        <p:cTn id="23" dur="350" fill="hold"/>
                                        <p:tgtEl>
                                          <p:spTgt spid="3"/>
                                        </p:tgtEl>
                                        <p:attrNameLst>
                                          <p:attrName>ppt_w</p:attrName>
                                        </p:attrNameLst>
                                      </p:cBhvr>
                                      <p:tavLst>
                                        <p:tav tm="0">
                                          <p:val>
                                            <p:fltVal val="0"/>
                                          </p:val>
                                        </p:tav>
                                        <p:tav tm="100000">
                                          <p:val>
                                            <p:strVal val="#ppt_w"/>
                                          </p:val>
                                        </p:tav>
                                      </p:tavLst>
                                    </p:anim>
                                    <p:anim calcmode="lin" valueType="num">
                                      <p:cBhvr>
                                        <p:cTn id="24" dur="350" fill="hold"/>
                                        <p:tgtEl>
                                          <p:spTgt spid="3"/>
                                        </p:tgtEl>
                                        <p:attrNameLst>
                                          <p:attrName>ppt_h</p:attrName>
                                        </p:attrNameLst>
                                      </p:cBhvr>
                                      <p:tavLst>
                                        <p:tav tm="0">
                                          <p:val>
                                            <p:fltVal val="0"/>
                                          </p:val>
                                        </p:tav>
                                        <p:tav tm="100000">
                                          <p:val>
                                            <p:strVal val="#ppt_h"/>
                                          </p:val>
                                        </p:tav>
                                      </p:tavLst>
                                    </p:anim>
                                    <p:animEffect transition="in" filter="fade">
                                      <p:cBhvr>
                                        <p:cTn id="25" dur="3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15"/>
          <p:cNvSpPr txBox="1"/>
          <p:nvPr/>
        </p:nvSpPr>
        <p:spPr>
          <a:xfrm>
            <a:off x="-125813" y="219171"/>
            <a:ext cx="3753269" cy="438150"/>
          </a:xfrm>
          <a:prstGeom prst="rect">
            <a:avLst/>
          </a:prstGeom>
          <a:noFill/>
        </p:spPr>
        <p:txBody>
          <a:bodyPr wrap="square" lIns="68580" tIns="34290" rIns="68580" bIns="34290" rtlCol="0">
            <a:noAutofit/>
          </a:bodyPr>
          <a:lstStyle/>
          <a:p>
            <a:pPr algn="ctr"/>
            <a:r>
              <a:rPr lang="en-US" altLang="zh-CN" sz="2000" b="1" dirty="0">
                <a:solidFill>
                  <a:srgbClr val="1B4367"/>
                </a:solidFill>
                <a:cs typeface="+mn-ea"/>
                <a:sym typeface="+mn-lt"/>
              </a:rPr>
              <a:t>Capacitor Control</a:t>
            </a:r>
            <a:endParaRPr lang="en-US" altLang="zh-CN" sz="2000" b="1" dirty="0">
              <a:solidFill>
                <a:srgbClr val="1B4367"/>
              </a:solidFill>
              <a:cs typeface="+mn-ea"/>
              <a:sym typeface="+mn-lt"/>
            </a:endParaRPr>
          </a:p>
          <a:p>
            <a:pPr lvl="0" algn="ctr"/>
            <a:endParaRPr lang="zh-CN" altLang="en-US" sz="1700" b="1" dirty="0">
              <a:solidFill>
                <a:srgbClr val="1B4367"/>
              </a:solidFill>
              <a:cs typeface="+mn-ea"/>
              <a:sym typeface="+mn-lt"/>
            </a:endParaRPr>
          </a:p>
        </p:txBody>
      </p:sp>
      <p:cxnSp>
        <p:nvCxnSpPr>
          <p:cNvPr id="15" name="直接连接符 14"/>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10845" y="1087755"/>
            <a:ext cx="3462655" cy="3775710"/>
          </a:xfrm>
          <a:prstGeom prst="rect">
            <a:avLst/>
          </a:prstGeom>
          <a:noFill/>
        </p:spPr>
        <p:txBody>
          <a:bodyPr wrap="square" rtlCol="0">
            <a:noAutofit/>
          </a:bodyPr>
          <a:lstStyle/>
          <a:p>
            <a:r>
              <a:rPr lang="zh-CN" altLang="en-US" sz="1800" dirty="0"/>
              <a:t>The </a:t>
            </a:r>
            <a:r>
              <a:rPr lang="zh-CN" altLang="en-US" sz="1800" dirty="0">
                <a:solidFill>
                  <a:srgbClr val="FF0000"/>
                </a:solidFill>
              </a:rPr>
              <a:t>management </a:t>
            </a:r>
            <a:r>
              <a:rPr lang="zh-CN" altLang="en-US" sz="1800" dirty="0"/>
              <a:t>of capacitors in power systems is achieved by adjusting their operating conditions and parameters, which can be used to improve the </a:t>
            </a:r>
            <a:r>
              <a:rPr lang="zh-CN" altLang="en-US" sz="1800" dirty="0">
                <a:solidFill>
                  <a:srgbClr val="FF0000"/>
                </a:solidFill>
              </a:rPr>
              <a:t>power factor</a:t>
            </a:r>
            <a:r>
              <a:rPr lang="zh-CN" altLang="en-US" sz="1800" dirty="0"/>
              <a:t> and </a:t>
            </a:r>
            <a:r>
              <a:rPr lang="zh-CN" altLang="en-US" sz="1800" dirty="0">
                <a:solidFill>
                  <a:srgbClr val="FF0000"/>
                </a:solidFill>
              </a:rPr>
              <a:t>voltage stability</a:t>
            </a:r>
            <a:r>
              <a:rPr lang="zh-CN" altLang="en-US" sz="1800" dirty="0"/>
              <a:t> of power systems, as well as to reduce power losses.</a:t>
            </a:r>
            <a:endParaRPr lang="zh-CN" altLang="en-US" sz="1800" dirty="0"/>
          </a:p>
          <a:p>
            <a:endParaRPr lang="zh-CN" altLang="en-US" sz="1800" dirty="0"/>
          </a:p>
        </p:txBody>
      </p:sp>
      <p:sp>
        <p:nvSpPr>
          <p:cNvPr id="59" name="Freeform 19"/>
          <p:cNvSpPr>
            <a:spLocks noEditPoints="1"/>
          </p:cNvSpPr>
          <p:nvPr>
            <p:custDataLst>
              <p:tags r:id="rId1"/>
            </p:custDataLst>
          </p:nvPr>
        </p:nvSpPr>
        <p:spPr bwMode="auto">
          <a:xfrm>
            <a:off x="4398091" y="4640290"/>
            <a:ext cx="347210" cy="222951"/>
          </a:xfrm>
          <a:custGeom>
            <a:avLst/>
            <a:gdLst>
              <a:gd name="T0" fmla="*/ 516520434 w 320"/>
              <a:gd name="T1" fmla="*/ 429093379 h 206"/>
              <a:gd name="T2" fmla="*/ 98284995 w 320"/>
              <a:gd name="T3" fmla="*/ 429093379 h 206"/>
              <a:gd name="T4" fmla="*/ 0 w 320"/>
              <a:gd name="T5" fmla="*/ 306197548 h 206"/>
              <a:gd name="T6" fmla="*/ 127562546 w 320"/>
              <a:gd name="T7" fmla="*/ 185384331 h 206"/>
              <a:gd name="T8" fmla="*/ 340862359 w 320"/>
              <a:gd name="T9" fmla="*/ 0 h 206"/>
              <a:gd name="T10" fmla="*/ 549980079 w 320"/>
              <a:gd name="T11" fmla="*/ 141642236 h 206"/>
              <a:gd name="T12" fmla="*/ 669176991 w 320"/>
              <a:gd name="T13" fmla="*/ 283284473 h 206"/>
              <a:gd name="T14" fmla="*/ 516520434 w 320"/>
              <a:gd name="T15" fmla="*/ 429093379 h 206"/>
              <a:gd name="T16" fmla="*/ 102467090 w 320"/>
              <a:gd name="T17" fmla="*/ 397848407 h 206"/>
              <a:gd name="T18" fmla="*/ 516520434 w 320"/>
              <a:gd name="T19" fmla="*/ 397848407 h 206"/>
              <a:gd name="T20" fmla="*/ 637809839 w 320"/>
              <a:gd name="T21" fmla="*/ 283284473 h 206"/>
              <a:gd name="T22" fmla="*/ 535341303 w 320"/>
              <a:gd name="T23" fmla="*/ 170804595 h 206"/>
              <a:gd name="T24" fmla="*/ 524886068 w 320"/>
              <a:gd name="T25" fmla="*/ 170804595 h 206"/>
              <a:gd name="T26" fmla="*/ 522795021 w 320"/>
              <a:gd name="T27" fmla="*/ 160388642 h 206"/>
              <a:gd name="T28" fmla="*/ 340862359 w 320"/>
              <a:gd name="T29" fmla="*/ 33327585 h 206"/>
              <a:gd name="T30" fmla="*/ 156838651 w 320"/>
              <a:gd name="T31" fmla="*/ 204132180 h 206"/>
              <a:gd name="T32" fmla="*/ 156838651 w 320"/>
              <a:gd name="T33" fmla="*/ 222878586 h 206"/>
              <a:gd name="T34" fmla="*/ 138017781 w 320"/>
              <a:gd name="T35" fmla="*/ 218713359 h 206"/>
              <a:gd name="T36" fmla="*/ 123379006 w 320"/>
              <a:gd name="T37" fmla="*/ 218713359 h 206"/>
              <a:gd name="T38" fmla="*/ 31367152 w 320"/>
              <a:gd name="T39" fmla="*/ 306197548 h 206"/>
              <a:gd name="T40" fmla="*/ 102467090 w 320"/>
              <a:gd name="T41" fmla="*/ 397848407 h 20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20" h="206">
                <a:moveTo>
                  <a:pt x="247" y="206"/>
                </a:moveTo>
                <a:cubicBezTo>
                  <a:pt x="47" y="206"/>
                  <a:pt x="47" y="206"/>
                  <a:pt x="47" y="206"/>
                </a:cubicBezTo>
                <a:cubicBezTo>
                  <a:pt x="20" y="200"/>
                  <a:pt x="0" y="175"/>
                  <a:pt x="0" y="147"/>
                </a:cubicBezTo>
                <a:cubicBezTo>
                  <a:pt x="0" y="115"/>
                  <a:pt x="27" y="88"/>
                  <a:pt x="61" y="89"/>
                </a:cubicBezTo>
                <a:cubicBezTo>
                  <a:pt x="67" y="38"/>
                  <a:pt x="110" y="0"/>
                  <a:pt x="163" y="0"/>
                </a:cubicBezTo>
                <a:cubicBezTo>
                  <a:pt x="208" y="0"/>
                  <a:pt x="248" y="28"/>
                  <a:pt x="263" y="68"/>
                </a:cubicBezTo>
                <a:cubicBezTo>
                  <a:pt x="296" y="74"/>
                  <a:pt x="320" y="103"/>
                  <a:pt x="320" y="136"/>
                </a:cubicBezTo>
                <a:cubicBezTo>
                  <a:pt x="320" y="174"/>
                  <a:pt x="287" y="206"/>
                  <a:pt x="247" y="206"/>
                </a:cubicBezTo>
                <a:close/>
                <a:moveTo>
                  <a:pt x="49" y="191"/>
                </a:moveTo>
                <a:cubicBezTo>
                  <a:pt x="247" y="191"/>
                  <a:pt x="247" y="191"/>
                  <a:pt x="247" y="191"/>
                </a:cubicBezTo>
                <a:cubicBezTo>
                  <a:pt x="278" y="191"/>
                  <a:pt x="305" y="165"/>
                  <a:pt x="305" y="136"/>
                </a:cubicBezTo>
                <a:cubicBezTo>
                  <a:pt x="305" y="109"/>
                  <a:pt x="284" y="86"/>
                  <a:pt x="256" y="82"/>
                </a:cubicBezTo>
                <a:cubicBezTo>
                  <a:pt x="251" y="82"/>
                  <a:pt x="251" y="82"/>
                  <a:pt x="251" y="82"/>
                </a:cubicBezTo>
                <a:cubicBezTo>
                  <a:pt x="250" y="77"/>
                  <a:pt x="250" y="77"/>
                  <a:pt x="250" y="77"/>
                </a:cubicBezTo>
                <a:cubicBezTo>
                  <a:pt x="239" y="41"/>
                  <a:pt x="203" y="16"/>
                  <a:pt x="163" y="16"/>
                </a:cubicBezTo>
                <a:cubicBezTo>
                  <a:pt x="115" y="16"/>
                  <a:pt x="77" y="51"/>
                  <a:pt x="75" y="98"/>
                </a:cubicBezTo>
                <a:cubicBezTo>
                  <a:pt x="75" y="107"/>
                  <a:pt x="75" y="107"/>
                  <a:pt x="75" y="107"/>
                </a:cubicBezTo>
                <a:cubicBezTo>
                  <a:pt x="66" y="105"/>
                  <a:pt x="66" y="105"/>
                  <a:pt x="66" y="105"/>
                </a:cubicBezTo>
                <a:cubicBezTo>
                  <a:pt x="63" y="105"/>
                  <a:pt x="61" y="105"/>
                  <a:pt x="59" y="105"/>
                </a:cubicBezTo>
                <a:cubicBezTo>
                  <a:pt x="35" y="105"/>
                  <a:pt x="15" y="124"/>
                  <a:pt x="15" y="147"/>
                </a:cubicBezTo>
                <a:cubicBezTo>
                  <a:pt x="15" y="167"/>
                  <a:pt x="30" y="186"/>
                  <a:pt x="49" y="191"/>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chemeClr val="bg1"/>
              </a:solidFill>
              <a:latin typeface="微软雅黑" panose="020B0503020204020204" charset="-122"/>
              <a:ea typeface="微软雅黑" panose="020B0503020204020204" charset="-122"/>
            </a:endParaRPr>
          </a:p>
        </p:txBody>
      </p:sp>
      <p:pic>
        <p:nvPicPr>
          <p:cNvPr id="4" name="图片 3"/>
          <p:cNvPicPr>
            <a:picLocks noChangeAspect="1"/>
          </p:cNvPicPr>
          <p:nvPr>
            <p:custDataLst>
              <p:tags r:id="rId2"/>
            </p:custDataLst>
          </p:nvPr>
        </p:nvPicPr>
        <p:blipFill>
          <a:blip r:embed="rId3"/>
          <a:stretch>
            <a:fillRect/>
          </a:stretch>
        </p:blipFill>
        <p:spPr>
          <a:xfrm>
            <a:off x="4338955" y="481965"/>
            <a:ext cx="4036060" cy="3454400"/>
          </a:xfrm>
          <a:prstGeom prst="rect">
            <a:avLst/>
          </a:prstGeom>
        </p:spPr>
      </p:pic>
      <p:sp>
        <p:nvSpPr>
          <p:cNvPr id="5" name="文本框 4"/>
          <p:cNvSpPr txBox="1"/>
          <p:nvPr/>
        </p:nvSpPr>
        <p:spPr>
          <a:xfrm>
            <a:off x="3910330" y="4251325"/>
            <a:ext cx="4892675" cy="389255"/>
          </a:xfrm>
          <a:prstGeom prst="rect">
            <a:avLst/>
          </a:prstGeom>
          <a:noFill/>
        </p:spPr>
        <p:txBody>
          <a:bodyPr wrap="square" rtlCol="0">
            <a:noAutofit/>
          </a:bodyPr>
          <a:p>
            <a:r>
              <a:rPr lang="zh-CN" altLang="en-US"/>
              <a:t>The general distribution system model for capacitor allocation</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00">
        <p14:flip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6"/>
                                        </p:tgtEl>
                                        <p:attrNameLst>
                                          <p:attrName>ppt_y</p:attrName>
                                        </p:attrNameLst>
                                      </p:cBhvr>
                                      <p:tavLst>
                                        <p:tav tm="0">
                                          <p:val>
                                            <p:strVal val="#ppt_y"/>
                                          </p:val>
                                        </p:tav>
                                        <p:tav tm="100000">
                                          <p:val>
                                            <p:strVal val="#ppt_y"/>
                                          </p:val>
                                        </p:tav>
                                      </p:tavLst>
                                    </p:anim>
                                    <p:anim calcmode="lin" valueType="num">
                                      <p:cBhvr>
                                        <p:cTn id="9" dur="500" fill="hold"/>
                                        <p:tgtEl>
                                          <p:spTgt spid="2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6"/>
                                        </p:tgtEl>
                                      </p:cBhvr>
                                    </p:animEffect>
                                  </p:childTnLst>
                                </p:cTn>
                              </p:par>
                            </p:childTnLst>
                          </p:cTn>
                        </p:par>
                        <p:par>
                          <p:cTn id="12" fill="hold">
                            <p:stCondLst>
                              <p:cond delay="1299"/>
                            </p:stCondLst>
                            <p:childTnLst>
                              <p:par>
                                <p:cTn id="13" presetID="22" presetClass="entr" presetSubtype="8" fill="hold"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left)">
                                      <p:cBhvr>
                                        <p:cTn id="15" dur="3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15"/>
          <p:cNvSpPr txBox="1"/>
          <p:nvPr/>
        </p:nvSpPr>
        <p:spPr>
          <a:xfrm>
            <a:off x="-125813" y="219171"/>
            <a:ext cx="3753269" cy="438150"/>
          </a:xfrm>
          <a:prstGeom prst="rect">
            <a:avLst/>
          </a:prstGeom>
          <a:noFill/>
        </p:spPr>
        <p:txBody>
          <a:bodyPr wrap="square" lIns="68580" tIns="34290" rIns="68580" bIns="34290" rtlCol="0">
            <a:noAutofit/>
          </a:bodyPr>
          <a:lstStyle/>
          <a:p>
            <a:pPr algn="ctr"/>
            <a:r>
              <a:rPr lang="en-US" altLang="zh-CN" sz="2000" b="1" dirty="0">
                <a:solidFill>
                  <a:srgbClr val="1B4367"/>
                </a:solidFill>
                <a:cs typeface="+mn-ea"/>
                <a:sym typeface="+mn-lt"/>
              </a:rPr>
              <a:t>Capacitor Control</a:t>
            </a:r>
            <a:endParaRPr lang="en-US" altLang="zh-CN" sz="2000" b="1" dirty="0">
              <a:solidFill>
                <a:srgbClr val="1B4367"/>
              </a:solidFill>
              <a:cs typeface="+mn-ea"/>
              <a:sym typeface="+mn-lt"/>
            </a:endParaRPr>
          </a:p>
          <a:p>
            <a:pPr lvl="0" algn="ctr"/>
            <a:endParaRPr lang="zh-CN" altLang="en-US" sz="1700" b="1" dirty="0">
              <a:solidFill>
                <a:srgbClr val="1B4367"/>
              </a:solidFill>
              <a:cs typeface="+mn-ea"/>
              <a:sym typeface="+mn-lt"/>
            </a:endParaRPr>
          </a:p>
        </p:txBody>
      </p:sp>
      <p:cxnSp>
        <p:nvCxnSpPr>
          <p:cNvPr id="15" name="直接连接符 14"/>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10845" y="901065"/>
            <a:ext cx="7985760" cy="1376680"/>
          </a:xfrm>
          <a:prstGeom prst="rect">
            <a:avLst/>
          </a:prstGeom>
          <a:noFill/>
        </p:spPr>
        <p:txBody>
          <a:bodyPr wrap="square" rtlCol="0">
            <a:noAutofit/>
          </a:bodyPr>
          <a:lstStyle/>
          <a:p>
            <a:r>
              <a:rPr sz="1800" dirty="0"/>
              <a:t>The primary </a:t>
            </a:r>
            <a:r>
              <a:rPr sz="1800" dirty="0">
                <a:solidFill>
                  <a:srgbClr val="FF0000"/>
                </a:solidFill>
              </a:rPr>
              <a:t>purpose</a:t>
            </a:r>
            <a:r>
              <a:rPr sz="1800" dirty="0"/>
              <a:t> of using a capacitor bank is to provide reactive power in a system, which is typically used to correct the power factor or phase shift inherent in an AC power supply.</a:t>
            </a:r>
            <a:endParaRPr sz="1800" dirty="0"/>
          </a:p>
          <a:p>
            <a:endParaRPr sz="1800" dirty="0"/>
          </a:p>
          <a:p>
            <a:endParaRPr sz="2000" dirty="0"/>
          </a:p>
          <a:p>
            <a:endParaRPr sz="2000" dirty="0"/>
          </a:p>
          <a:p>
            <a:r>
              <a:rPr sz="1800" dirty="0"/>
              <a:t>Capacitor banks are widely used because of their efficiency in reactive power compensation. Installing capacitor banks at optimum locations and controlling them can help to </a:t>
            </a:r>
            <a:r>
              <a:rPr sz="1800" dirty="0">
                <a:solidFill>
                  <a:srgbClr val="FF0000"/>
                </a:solidFill>
              </a:rPr>
              <a:t>significantly reduce system losses, maintain voltage regulation, and provide economic benefits to distribution companies</a:t>
            </a:r>
            <a:r>
              <a:rPr sz="1800" dirty="0"/>
              <a:t>.</a:t>
            </a:r>
            <a:endParaRPr sz="1800" dirty="0"/>
          </a:p>
        </p:txBody>
      </p:sp>
      <p:sp>
        <p:nvSpPr>
          <p:cNvPr id="3" name="任意多边形 16"/>
          <p:cNvSpPr/>
          <p:nvPr>
            <p:custDataLst>
              <p:tags r:id="rId1"/>
            </p:custDataLst>
          </p:nvPr>
        </p:nvSpPr>
        <p:spPr bwMode="auto">
          <a:xfrm>
            <a:off x="3922221" y="4359818"/>
            <a:ext cx="1300162" cy="783894"/>
          </a:xfrm>
          <a:prstGeom prst="roundRect">
            <a:avLst/>
          </a:prstGeom>
          <a:solidFill>
            <a:srgbClr val="1B4367"/>
          </a:solidFill>
          <a:ln w="9525">
            <a:solidFill>
              <a:schemeClr val="tx1">
                <a:lumMod val="75000"/>
                <a:lumOff val="25000"/>
              </a:schemeClr>
            </a:solidFill>
            <a:miter lim="800000"/>
          </a:ln>
        </p:spPr>
        <p:txBody>
          <a:bodyPr lIns="481462" tIns="239269" rIns="478992" bIns="239269" anchor="ctr"/>
          <a:lstStyle/>
          <a:p>
            <a:pPr marL="128905" lvl="1" indent="-128905" defTabSz="633730" eaLnBrk="1" hangingPunct="1">
              <a:lnSpc>
                <a:spcPct val="90000"/>
              </a:lnSpc>
              <a:spcAft>
                <a:spcPct val="15000"/>
              </a:spcAft>
              <a:buFont typeface="Arial" panose="020B0604020202020204" pitchFamily="34" charset="0"/>
              <a:buChar char="•"/>
            </a:pPr>
            <a:endParaRPr lang="zh-CN" altLang="en-US" sz="1400" dirty="0">
              <a:solidFill>
                <a:schemeClr val="bg1"/>
              </a:solidFill>
              <a:latin typeface="微软雅黑" panose="020B0503020204020204" charset="-122"/>
              <a:ea typeface="微软雅黑" panose="020B0503020204020204" charset="-122"/>
            </a:endParaRPr>
          </a:p>
          <a:p>
            <a:pPr marL="128905" lvl="1" indent="-128905" defTabSz="633730" eaLnBrk="1" hangingPunct="1">
              <a:lnSpc>
                <a:spcPct val="90000"/>
              </a:lnSpc>
              <a:spcAft>
                <a:spcPct val="15000"/>
              </a:spcAft>
              <a:buFont typeface="Arial" panose="020B0604020202020204" pitchFamily="34" charset="0"/>
              <a:buChar char="•"/>
            </a:pPr>
            <a:endParaRPr lang="zh-CN" altLang="en-US" sz="1400" dirty="0">
              <a:solidFill>
                <a:schemeClr val="bg1"/>
              </a:solidFill>
              <a:latin typeface="微软雅黑" panose="020B0503020204020204" charset="-122"/>
              <a:ea typeface="微软雅黑" panose="020B0503020204020204" charset="-122"/>
            </a:endParaRPr>
          </a:p>
        </p:txBody>
      </p:sp>
      <p:sp>
        <p:nvSpPr>
          <p:cNvPr id="59" name="Freeform 19"/>
          <p:cNvSpPr>
            <a:spLocks noEditPoints="1"/>
          </p:cNvSpPr>
          <p:nvPr>
            <p:custDataLst>
              <p:tags r:id="rId2"/>
            </p:custDataLst>
          </p:nvPr>
        </p:nvSpPr>
        <p:spPr bwMode="auto">
          <a:xfrm>
            <a:off x="4398091" y="4640290"/>
            <a:ext cx="347210" cy="222951"/>
          </a:xfrm>
          <a:custGeom>
            <a:avLst/>
            <a:gdLst>
              <a:gd name="T0" fmla="*/ 516520434 w 320"/>
              <a:gd name="T1" fmla="*/ 429093379 h 206"/>
              <a:gd name="T2" fmla="*/ 98284995 w 320"/>
              <a:gd name="T3" fmla="*/ 429093379 h 206"/>
              <a:gd name="T4" fmla="*/ 0 w 320"/>
              <a:gd name="T5" fmla="*/ 306197548 h 206"/>
              <a:gd name="T6" fmla="*/ 127562546 w 320"/>
              <a:gd name="T7" fmla="*/ 185384331 h 206"/>
              <a:gd name="T8" fmla="*/ 340862359 w 320"/>
              <a:gd name="T9" fmla="*/ 0 h 206"/>
              <a:gd name="T10" fmla="*/ 549980079 w 320"/>
              <a:gd name="T11" fmla="*/ 141642236 h 206"/>
              <a:gd name="T12" fmla="*/ 669176991 w 320"/>
              <a:gd name="T13" fmla="*/ 283284473 h 206"/>
              <a:gd name="T14" fmla="*/ 516520434 w 320"/>
              <a:gd name="T15" fmla="*/ 429093379 h 206"/>
              <a:gd name="T16" fmla="*/ 102467090 w 320"/>
              <a:gd name="T17" fmla="*/ 397848407 h 206"/>
              <a:gd name="T18" fmla="*/ 516520434 w 320"/>
              <a:gd name="T19" fmla="*/ 397848407 h 206"/>
              <a:gd name="T20" fmla="*/ 637809839 w 320"/>
              <a:gd name="T21" fmla="*/ 283284473 h 206"/>
              <a:gd name="T22" fmla="*/ 535341303 w 320"/>
              <a:gd name="T23" fmla="*/ 170804595 h 206"/>
              <a:gd name="T24" fmla="*/ 524886068 w 320"/>
              <a:gd name="T25" fmla="*/ 170804595 h 206"/>
              <a:gd name="T26" fmla="*/ 522795021 w 320"/>
              <a:gd name="T27" fmla="*/ 160388642 h 206"/>
              <a:gd name="T28" fmla="*/ 340862359 w 320"/>
              <a:gd name="T29" fmla="*/ 33327585 h 206"/>
              <a:gd name="T30" fmla="*/ 156838651 w 320"/>
              <a:gd name="T31" fmla="*/ 204132180 h 206"/>
              <a:gd name="T32" fmla="*/ 156838651 w 320"/>
              <a:gd name="T33" fmla="*/ 222878586 h 206"/>
              <a:gd name="T34" fmla="*/ 138017781 w 320"/>
              <a:gd name="T35" fmla="*/ 218713359 h 206"/>
              <a:gd name="T36" fmla="*/ 123379006 w 320"/>
              <a:gd name="T37" fmla="*/ 218713359 h 206"/>
              <a:gd name="T38" fmla="*/ 31367152 w 320"/>
              <a:gd name="T39" fmla="*/ 306197548 h 206"/>
              <a:gd name="T40" fmla="*/ 102467090 w 320"/>
              <a:gd name="T41" fmla="*/ 397848407 h 20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20" h="206">
                <a:moveTo>
                  <a:pt x="247" y="206"/>
                </a:moveTo>
                <a:cubicBezTo>
                  <a:pt x="47" y="206"/>
                  <a:pt x="47" y="206"/>
                  <a:pt x="47" y="206"/>
                </a:cubicBezTo>
                <a:cubicBezTo>
                  <a:pt x="20" y="200"/>
                  <a:pt x="0" y="175"/>
                  <a:pt x="0" y="147"/>
                </a:cubicBezTo>
                <a:cubicBezTo>
                  <a:pt x="0" y="115"/>
                  <a:pt x="27" y="88"/>
                  <a:pt x="61" y="89"/>
                </a:cubicBezTo>
                <a:cubicBezTo>
                  <a:pt x="67" y="38"/>
                  <a:pt x="110" y="0"/>
                  <a:pt x="163" y="0"/>
                </a:cubicBezTo>
                <a:cubicBezTo>
                  <a:pt x="208" y="0"/>
                  <a:pt x="248" y="28"/>
                  <a:pt x="263" y="68"/>
                </a:cubicBezTo>
                <a:cubicBezTo>
                  <a:pt x="296" y="74"/>
                  <a:pt x="320" y="103"/>
                  <a:pt x="320" y="136"/>
                </a:cubicBezTo>
                <a:cubicBezTo>
                  <a:pt x="320" y="174"/>
                  <a:pt x="287" y="206"/>
                  <a:pt x="247" y="206"/>
                </a:cubicBezTo>
                <a:close/>
                <a:moveTo>
                  <a:pt x="49" y="191"/>
                </a:moveTo>
                <a:cubicBezTo>
                  <a:pt x="247" y="191"/>
                  <a:pt x="247" y="191"/>
                  <a:pt x="247" y="191"/>
                </a:cubicBezTo>
                <a:cubicBezTo>
                  <a:pt x="278" y="191"/>
                  <a:pt x="305" y="165"/>
                  <a:pt x="305" y="136"/>
                </a:cubicBezTo>
                <a:cubicBezTo>
                  <a:pt x="305" y="109"/>
                  <a:pt x="284" y="86"/>
                  <a:pt x="256" y="82"/>
                </a:cubicBezTo>
                <a:cubicBezTo>
                  <a:pt x="251" y="82"/>
                  <a:pt x="251" y="82"/>
                  <a:pt x="251" y="82"/>
                </a:cubicBezTo>
                <a:cubicBezTo>
                  <a:pt x="250" y="77"/>
                  <a:pt x="250" y="77"/>
                  <a:pt x="250" y="77"/>
                </a:cubicBezTo>
                <a:cubicBezTo>
                  <a:pt x="239" y="41"/>
                  <a:pt x="203" y="16"/>
                  <a:pt x="163" y="16"/>
                </a:cubicBezTo>
                <a:cubicBezTo>
                  <a:pt x="115" y="16"/>
                  <a:pt x="77" y="51"/>
                  <a:pt x="75" y="98"/>
                </a:cubicBezTo>
                <a:cubicBezTo>
                  <a:pt x="75" y="107"/>
                  <a:pt x="75" y="107"/>
                  <a:pt x="75" y="107"/>
                </a:cubicBezTo>
                <a:cubicBezTo>
                  <a:pt x="66" y="105"/>
                  <a:pt x="66" y="105"/>
                  <a:pt x="66" y="105"/>
                </a:cubicBezTo>
                <a:cubicBezTo>
                  <a:pt x="63" y="105"/>
                  <a:pt x="61" y="105"/>
                  <a:pt x="59" y="105"/>
                </a:cubicBezTo>
                <a:cubicBezTo>
                  <a:pt x="35" y="105"/>
                  <a:pt x="15" y="124"/>
                  <a:pt x="15" y="147"/>
                </a:cubicBezTo>
                <a:cubicBezTo>
                  <a:pt x="15" y="167"/>
                  <a:pt x="30" y="186"/>
                  <a:pt x="49" y="191"/>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chemeClr val="bg1"/>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slow" p14:dur="1200">
        <p14:flip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6"/>
                                        </p:tgtEl>
                                        <p:attrNameLst>
                                          <p:attrName>ppt_y</p:attrName>
                                        </p:attrNameLst>
                                      </p:cBhvr>
                                      <p:tavLst>
                                        <p:tav tm="0">
                                          <p:val>
                                            <p:strVal val="#ppt_y"/>
                                          </p:val>
                                        </p:tav>
                                        <p:tav tm="100000">
                                          <p:val>
                                            <p:strVal val="#ppt_y"/>
                                          </p:val>
                                        </p:tav>
                                      </p:tavLst>
                                    </p:anim>
                                    <p:anim calcmode="lin" valueType="num">
                                      <p:cBhvr>
                                        <p:cTn id="9" dur="500" fill="hold"/>
                                        <p:tgtEl>
                                          <p:spTgt spid="2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6"/>
                                        </p:tgtEl>
                                      </p:cBhvr>
                                    </p:animEffect>
                                  </p:childTnLst>
                                </p:cTn>
                              </p:par>
                            </p:childTnLst>
                          </p:cTn>
                        </p:par>
                        <p:par>
                          <p:cTn id="12" fill="hold">
                            <p:stCondLst>
                              <p:cond delay="1299"/>
                            </p:stCondLst>
                            <p:childTnLst>
                              <p:par>
                                <p:cTn id="13" presetID="22" presetClass="entr" presetSubtype="8" fill="hold"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left)">
                                      <p:cBhvr>
                                        <p:cTn id="15" dur="3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15"/>
          <p:cNvSpPr txBox="1"/>
          <p:nvPr/>
        </p:nvSpPr>
        <p:spPr>
          <a:xfrm>
            <a:off x="-51435" y="327660"/>
            <a:ext cx="2716530" cy="377026"/>
          </a:xfrm>
          <a:prstGeom prst="rect">
            <a:avLst/>
          </a:prstGeom>
        </p:spPr>
        <p:txBody>
          <a:bodyPr wrap="square" lIns="68580" tIns="34290" rIns="68580" bIns="34290" rtlCol="0">
            <a:spAutoFit/>
          </a:bodyPr>
          <a:lstStyle/>
          <a:p>
            <a:pPr algn="ctr"/>
            <a:r>
              <a:rPr lang="en-US" altLang="zh-CN" sz="2000" b="1" dirty="0">
                <a:solidFill>
                  <a:srgbClr val="1B4367"/>
                </a:solidFill>
                <a:cs typeface="+mn-ea"/>
                <a:sym typeface="+mn-lt"/>
              </a:rPr>
              <a:t>EES Control</a:t>
            </a:r>
            <a:endParaRPr lang="zh-CN" altLang="en-US" sz="2000" b="1" dirty="0">
              <a:solidFill>
                <a:srgbClr val="1B4367"/>
              </a:solidFill>
              <a:cs typeface="+mn-ea"/>
              <a:sym typeface="+mn-lt"/>
            </a:endParaRPr>
          </a:p>
        </p:txBody>
      </p:sp>
      <p:cxnSp>
        <p:nvCxnSpPr>
          <p:cNvPr id="15" name="直接连接符 14"/>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grpSp>
        <p:nvGrpSpPr>
          <p:cNvPr id="10" name="组合 9"/>
          <p:cNvGrpSpPr/>
          <p:nvPr/>
        </p:nvGrpSpPr>
        <p:grpSpPr>
          <a:xfrm>
            <a:off x="136020" y="3266916"/>
            <a:ext cx="506730" cy="506730"/>
            <a:chOff x="9978" y="7833"/>
            <a:chExt cx="1064" cy="1064"/>
          </a:xfrm>
          <a:solidFill>
            <a:srgbClr val="1B4367"/>
          </a:solidFill>
        </p:grpSpPr>
        <p:sp>
          <p:nvSpPr>
            <p:cNvPr id="175123" name="Freeform 18"/>
            <p:cNvSpPr/>
            <p:nvPr>
              <p:custDataLst>
                <p:tags r:id="rId1"/>
              </p:custDataLst>
            </p:nvPr>
          </p:nvSpPr>
          <p:spPr>
            <a:xfrm>
              <a:off x="9978" y="7833"/>
              <a:ext cx="1065" cy="1065"/>
            </a:xfrm>
            <a:custGeom>
              <a:avLst/>
              <a:gdLst>
                <a:gd name="txL" fmla="*/ 0 w 273"/>
                <a:gd name="txT" fmla="*/ 0 h 273"/>
                <a:gd name="txR" fmla="*/ 273 w 273"/>
                <a:gd name="txB" fmla="*/ 273 h 273"/>
              </a:gdLst>
              <a:ahLst/>
              <a:cxnLst>
                <a:cxn ang="0">
                  <a:pos x="168490" y="443396"/>
                </a:cxn>
                <a:cxn ang="0">
                  <a:pos x="40792" y="168490"/>
                </a:cxn>
                <a:cxn ang="0">
                  <a:pos x="317471" y="40792"/>
                </a:cxn>
                <a:cxn ang="0">
                  <a:pos x="443396" y="317471"/>
                </a:cxn>
                <a:cxn ang="0">
                  <a:pos x="168490" y="443396"/>
                </a:cxn>
              </a:cxnLst>
              <a:rect l="txL" t="txT" r="txR" b="txB"/>
              <a:pathLst>
                <a:path w="273" h="273">
                  <a:moveTo>
                    <a:pt x="95" y="250"/>
                  </a:moveTo>
                  <a:cubicBezTo>
                    <a:pt x="32" y="227"/>
                    <a:pt x="0" y="157"/>
                    <a:pt x="23" y="95"/>
                  </a:cubicBezTo>
                  <a:cubicBezTo>
                    <a:pt x="47" y="32"/>
                    <a:pt x="116" y="0"/>
                    <a:pt x="179" y="23"/>
                  </a:cubicBezTo>
                  <a:cubicBezTo>
                    <a:pt x="241" y="47"/>
                    <a:pt x="273" y="116"/>
                    <a:pt x="250" y="179"/>
                  </a:cubicBezTo>
                  <a:cubicBezTo>
                    <a:pt x="227" y="241"/>
                    <a:pt x="157" y="273"/>
                    <a:pt x="95" y="250"/>
                  </a:cubicBezTo>
                  <a:close/>
                </a:path>
              </a:pathLst>
            </a:custGeom>
            <a:grpFill/>
            <a:ln w="9525">
              <a:noFill/>
            </a:ln>
          </p:spPr>
          <p:txBody>
            <a:bodyPr/>
            <a:lstStyle/>
            <a:p>
              <a:endParaRPr lang="zh-CN" altLang="en-US">
                <a:solidFill>
                  <a:schemeClr val="tx1">
                    <a:lumMod val="50000"/>
                    <a:lumOff val="50000"/>
                  </a:schemeClr>
                </a:solidFill>
                <a:cs typeface="+mn-ea"/>
                <a:sym typeface="+mn-lt"/>
              </a:endParaRPr>
            </a:p>
          </p:txBody>
        </p:sp>
        <p:sp>
          <p:nvSpPr>
            <p:cNvPr id="175158" name="Freeform 53"/>
            <p:cNvSpPr/>
            <p:nvPr>
              <p:custDataLst>
                <p:tags r:id="rId2"/>
              </p:custDataLst>
            </p:nvPr>
          </p:nvSpPr>
          <p:spPr>
            <a:xfrm>
              <a:off x="10251" y="8102"/>
              <a:ext cx="478" cy="321"/>
            </a:xfrm>
            <a:custGeom>
              <a:avLst/>
              <a:gdLst>
                <a:gd name="txL" fmla="*/ 0 w 123"/>
                <a:gd name="txT" fmla="*/ 0 h 82"/>
                <a:gd name="txR" fmla="*/ 123 w 123"/>
                <a:gd name="txB" fmla="*/ 82 h 82"/>
              </a:gdLst>
              <a:ahLst/>
              <a:cxnLst>
                <a:cxn ang="0">
                  <a:pos x="205111" y="46309"/>
                </a:cxn>
                <a:cxn ang="0">
                  <a:pos x="38900" y="46309"/>
                </a:cxn>
                <a:cxn ang="0">
                  <a:pos x="5305" y="146050"/>
                </a:cxn>
                <a:cxn ang="0">
                  <a:pos x="31828" y="94398"/>
                </a:cxn>
                <a:cxn ang="0">
                  <a:pos x="166210" y="85493"/>
                </a:cxn>
                <a:cxn ang="0">
                  <a:pos x="152065" y="99741"/>
                </a:cxn>
                <a:cxn ang="0">
                  <a:pos x="217488" y="99741"/>
                </a:cxn>
                <a:cxn ang="0">
                  <a:pos x="217488" y="32060"/>
                </a:cxn>
                <a:cxn ang="0">
                  <a:pos x="205111" y="46309"/>
                </a:cxn>
              </a:cxnLst>
              <a:rect l="txL" t="txT" r="txR" b="txB"/>
              <a:pathLst>
                <a:path w="123" h="82">
                  <a:moveTo>
                    <a:pt x="116" y="26"/>
                  </a:moveTo>
                  <a:cubicBezTo>
                    <a:pt x="90" y="0"/>
                    <a:pt x="48" y="0"/>
                    <a:pt x="22" y="26"/>
                  </a:cubicBezTo>
                  <a:cubicBezTo>
                    <a:pt x="7" y="41"/>
                    <a:pt x="0" y="62"/>
                    <a:pt x="3" y="82"/>
                  </a:cubicBezTo>
                  <a:cubicBezTo>
                    <a:pt x="5" y="71"/>
                    <a:pt x="10" y="61"/>
                    <a:pt x="18" y="53"/>
                  </a:cubicBezTo>
                  <a:cubicBezTo>
                    <a:pt x="39" y="33"/>
                    <a:pt x="71" y="31"/>
                    <a:pt x="94" y="48"/>
                  </a:cubicBezTo>
                  <a:cubicBezTo>
                    <a:pt x="86" y="56"/>
                    <a:pt x="86" y="56"/>
                    <a:pt x="86" y="56"/>
                  </a:cubicBezTo>
                  <a:cubicBezTo>
                    <a:pt x="123" y="56"/>
                    <a:pt x="123" y="56"/>
                    <a:pt x="123" y="56"/>
                  </a:cubicBezTo>
                  <a:cubicBezTo>
                    <a:pt x="123" y="18"/>
                    <a:pt x="123" y="18"/>
                    <a:pt x="123" y="18"/>
                  </a:cubicBezTo>
                  <a:lnTo>
                    <a:pt x="116" y="26"/>
                  </a:lnTo>
                  <a:close/>
                </a:path>
              </a:pathLst>
            </a:custGeom>
            <a:solidFill>
              <a:schemeClr val="bg1"/>
            </a:solidFill>
            <a:ln w="9525">
              <a:noFill/>
            </a:ln>
          </p:spPr>
          <p:txBody>
            <a:bodyPr/>
            <a:lstStyle/>
            <a:p>
              <a:endParaRPr lang="zh-CN" altLang="en-US">
                <a:solidFill>
                  <a:schemeClr val="tx1">
                    <a:lumMod val="50000"/>
                    <a:lumOff val="50000"/>
                  </a:schemeClr>
                </a:solidFill>
                <a:cs typeface="+mn-ea"/>
                <a:sym typeface="+mn-lt"/>
              </a:endParaRPr>
            </a:p>
          </p:txBody>
        </p:sp>
        <p:sp>
          <p:nvSpPr>
            <p:cNvPr id="175159" name="Freeform 54"/>
            <p:cNvSpPr/>
            <p:nvPr>
              <p:custDataLst>
                <p:tags r:id="rId3"/>
              </p:custDataLst>
            </p:nvPr>
          </p:nvSpPr>
          <p:spPr>
            <a:xfrm>
              <a:off x="10303" y="8357"/>
              <a:ext cx="478" cy="318"/>
            </a:xfrm>
            <a:custGeom>
              <a:avLst/>
              <a:gdLst>
                <a:gd name="txL" fmla="*/ 0 w 123"/>
                <a:gd name="txT" fmla="*/ 0 h 81"/>
                <a:gd name="txR" fmla="*/ 123 w 123"/>
                <a:gd name="txB" fmla="*/ 81 h 81"/>
              </a:gdLst>
              <a:ahLst/>
              <a:cxnLst>
                <a:cxn ang="0">
                  <a:pos x="14145" y="98092"/>
                </a:cxn>
                <a:cxn ang="0">
                  <a:pos x="180355" y="98092"/>
                </a:cxn>
                <a:cxn ang="0">
                  <a:pos x="213951" y="0"/>
                </a:cxn>
                <a:cxn ang="0">
                  <a:pos x="185660" y="49938"/>
                </a:cxn>
                <a:cxn ang="0">
                  <a:pos x="53046" y="58855"/>
                </a:cxn>
                <a:cxn ang="0">
                  <a:pos x="67191" y="44587"/>
                </a:cxn>
                <a:cxn ang="0">
                  <a:pos x="0" y="44587"/>
                </a:cxn>
                <a:cxn ang="0">
                  <a:pos x="0" y="112360"/>
                </a:cxn>
                <a:cxn ang="0">
                  <a:pos x="14145" y="98092"/>
                </a:cxn>
              </a:cxnLst>
              <a:rect l="txL" t="txT" r="txR" b="txB"/>
              <a:pathLst>
                <a:path w="123" h="81">
                  <a:moveTo>
                    <a:pt x="8" y="55"/>
                  </a:moveTo>
                  <a:cubicBezTo>
                    <a:pt x="34" y="81"/>
                    <a:pt x="76" y="81"/>
                    <a:pt x="102" y="55"/>
                  </a:cubicBezTo>
                  <a:cubicBezTo>
                    <a:pt x="117" y="40"/>
                    <a:pt x="123" y="19"/>
                    <a:pt x="121" y="0"/>
                  </a:cubicBezTo>
                  <a:cubicBezTo>
                    <a:pt x="118" y="10"/>
                    <a:pt x="113" y="20"/>
                    <a:pt x="105" y="28"/>
                  </a:cubicBezTo>
                  <a:cubicBezTo>
                    <a:pt x="85" y="48"/>
                    <a:pt x="52" y="50"/>
                    <a:pt x="30" y="33"/>
                  </a:cubicBezTo>
                  <a:cubicBezTo>
                    <a:pt x="38" y="25"/>
                    <a:pt x="38" y="25"/>
                    <a:pt x="38" y="25"/>
                  </a:cubicBezTo>
                  <a:cubicBezTo>
                    <a:pt x="0" y="25"/>
                    <a:pt x="0" y="25"/>
                    <a:pt x="0" y="25"/>
                  </a:cubicBezTo>
                  <a:cubicBezTo>
                    <a:pt x="0" y="63"/>
                    <a:pt x="0" y="63"/>
                    <a:pt x="0" y="63"/>
                  </a:cubicBezTo>
                  <a:lnTo>
                    <a:pt x="8" y="55"/>
                  </a:lnTo>
                  <a:close/>
                </a:path>
              </a:pathLst>
            </a:custGeom>
            <a:solidFill>
              <a:schemeClr val="bg1"/>
            </a:solidFill>
            <a:ln w="9525">
              <a:noFill/>
            </a:ln>
          </p:spPr>
          <p:txBody>
            <a:bodyPr/>
            <a:lstStyle/>
            <a:p>
              <a:endParaRPr lang="zh-CN" altLang="en-US">
                <a:solidFill>
                  <a:schemeClr val="tx1">
                    <a:lumMod val="50000"/>
                    <a:lumOff val="50000"/>
                  </a:schemeClr>
                </a:solidFill>
                <a:cs typeface="+mn-ea"/>
                <a:sym typeface="+mn-lt"/>
              </a:endParaRPr>
            </a:p>
          </p:txBody>
        </p:sp>
      </p:grpSp>
      <p:pic>
        <p:nvPicPr>
          <p:cNvPr id="4" name="图片 3"/>
          <p:cNvPicPr>
            <a:picLocks noChangeAspect="1"/>
          </p:cNvPicPr>
          <p:nvPr>
            <p:custDataLst>
              <p:tags r:id="rId4"/>
            </p:custDataLst>
          </p:nvPr>
        </p:nvPicPr>
        <p:blipFill>
          <a:blip r:embed="rId5"/>
          <a:stretch>
            <a:fillRect/>
          </a:stretch>
        </p:blipFill>
        <p:spPr>
          <a:xfrm>
            <a:off x="4970145" y="558800"/>
            <a:ext cx="3375025" cy="2835910"/>
          </a:xfrm>
          <a:prstGeom prst="rect">
            <a:avLst/>
          </a:prstGeom>
        </p:spPr>
      </p:pic>
      <p:sp>
        <p:nvSpPr>
          <p:cNvPr id="5" name="文本框 4"/>
          <p:cNvSpPr txBox="1"/>
          <p:nvPr/>
        </p:nvSpPr>
        <p:spPr>
          <a:xfrm>
            <a:off x="494030" y="3662045"/>
            <a:ext cx="4572000" cy="1014730"/>
          </a:xfrm>
          <a:prstGeom prst="rect">
            <a:avLst/>
          </a:prstGeom>
          <a:noFill/>
        </p:spPr>
        <p:txBody>
          <a:bodyPr wrap="square" rtlCol="0" anchor="t">
            <a:spAutoFit/>
          </a:bodyPr>
          <a:p>
            <a:r>
              <a:rPr lang="en-US" altLang="zh-CN" sz="2000">
                <a:sym typeface="+mn-ea"/>
              </a:rPr>
              <a:t>EES  control is commonly </a:t>
            </a:r>
            <a:r>
              <a:rPr lang="en-US" altLang="zh-CN" sz="2000">
                <a:solidFill>
                  <a:srgbClr val="FF0000"/>
                </a:solidFill>
                <a:sym typeface="+mn-ea"/>
              </a:rPr>
              <a:t>used</a:t>
            </a:r>
            <a:r>
              <a:rPr lang="en-US" altLang="zh-CN" sz="2000">
                <a:sym typeface="+mn-ea"/>
              </a:rPr>
              <a:t> in microgrids, distributed generation systems and other fields.</a:t>
            </a:r>
            <a:endParaRPr lang="en-US" altLang="zh-CN" sz="2000">
              <a:sym typeface="+mn-ea"/>
            </a:endParaRPr>
          </a:p>
        </p:txBody>
      </p:sp>
      <p:sp>
        <p:nvSpPr>
          <p:cNvPr id="6" name="文本框 5"/>
          <p:cNvSpPr txBox="1"/>
          <p:nvPr/>
        </p:nvSpPr>
        <p:spPr>
          <a:xfrm>
            <a:off x="518160" y="941705"/>
            <a:ext cx="3540125" cy="1938020"/>
          </a:xfrm>
          <a:prstGeom prst="rect">
            <a:avLst/>
          </a:prstGeom>
          <a:noFill/>
        </p:spPr>
        <p:txBody>
          <a:bodyPr wrap="square" rtlCol="0" anchor="t">
            <a:spAutoFit/>
          </a:bodyPr>
          <a:p>
            <a:r>
              <a:rPr lang="zh-CN" altLang="en-US" sz="2000">
                <a:sym typeface="+mn-ea"/>
              </a:rPr>
              <a:t>Manage and optimise the energy storage and release process by adjusting the operating states and parameters of the energy storage system</a:t>
            </a:r>
            <a:r>
              <a:rPr lang="en-US" altLang="zh-CN" sz="2000">
                <a:sym typeface="+mn-ea"/>
              </a:rPr>
              <a:t>.</a:t>
            </a:r>
            <a:endParaRPr lang="en-US" altLang="zh-CN" sz="2000">
              <a:sym typeface="+mn-ea"/>
            </a:endParaRPr>
          </a:p>
        </p:txBody>
      </p:sp>
      <p:sp>
        <p:nvSpPr>
          <p:cNvPr id="7" name="文本框 6"/>
          <p:cNvSpPr txBox="1"/>
          <p:nvPr/>
        </p:nvSpPr>
        <p:spPr>
          <a:xfrm>
            <a:off x="5568315" y="3596640"/>
            <a:ext cx="4572000" cy="306705"/>
          </a:xfrm>
          <a:prstGeom prst="rect">
            <a:avLst/>
          </a:prstGeom>
          <a:noFill/>
        </p:spPr>
        <p:txBody>
          <a:bodyPr wrap="square" rtlCol="0" anchor="t">
            <a:spAutoFit/>
          </a:bodyPr>
          <a:p>
            <a:r>
              <a:rPr lang="zh-CN" altLang="en-US"/>
              <a:t>Topology of a 5-bus MG</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00">
        <p14:flip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6"/>
                                        </p:tgtEl>
                                        <p:attrNameLst>
                                          <p:attrName>ppt_y</p:attrName>
                                        </p:attrNameLst>
                                      </p:cBhvr>
                                      <p:tavLst>
                                        <p:tav tm="0">
                                          <p:val>
                                            <p:strVal val="#ppt_y"/>
                                          </p:val>
                                        </p:tav>
                                        <p:tav tm="100000">
                                          <p:val>
                                            <p:strVal val="#ppt_y"/>
                                          </p:val>
                                        </p:tav>
                                      </p:tavLst>
                                    </p:anim>
                                    <p:anim calcmode="lin" valueType="num">
                                      <p:cBhvr>
                                        <p:cTn id="9" dur="500" fill="hold"/>
                                        <p:tgtEl>
                                          <p:spTgt spid="2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6"/>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left)">
                                      <p:cBhvr>
                                        <p:cTn id="15" dur="300"/>
                                        <p:tgtEl>
                                          <p:spTgt spid="15"/>
                                        </p:tgtEl>
                                      </p:cBhvr>
                                    </p:animEffect>
                                  </p:childTnLst>
                                </p:cTn>
                              </p:par>
                            </p:childTnLst>
                          </p:cTn>
                        </p:par>
                        <p:par>
                          <p:cTn id="16" fill="hold">
                            <p:stCondLst>
                              <p:cond delay="1500"/>
                            </p:stCondLst>
                            <p:childTnLst>
                              <p:par>
                                <p:cTn id="17" presetID="53" presetClass="entr" presetSubtype="16" fill="hold" nodeType="after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p:cTn id="19" dur="500" fill="hold"/>
                                        <p:tgtEl>
                                          <p:spTgt spid="10"/>
                                        </p:tgtEl>
                                        <p:attrNameLst>
                                          <p:attrName>ppt_w</p:attrName>
                                        </p:attrNameLst>
                                      </p:cBhvr>
                                      <p:tavLst>
                                        <p:tav tm="0">
                                          <p:val>
                                            <p:fltVal val="0"/>
                                          </p:val>
                                        </p:tav>
                                        <p:tav tm="100000">
                                          <p:val>
                                            <p:strVal val="#ppt_w"/>
                                          </p:val>
                                        </p:tav>
                                      </p:tavLst>
                                    </p:anim>
                                    <p:anim calcmode="lin" valueType="num">
                                      <p:cBhvr>
                                        <p:cTn id="20" dur="500" fill="hold"/>
                                        <p:tgtEl>
                                          <p:spTgt spid="10"/>
                                        </p:tgtEl>
                                        <p:attrNameLst>
                                          <p:attrName>ppt_h</p:attrName>
                                        </p:attrNameLst>
                                      </p:cBhvr>
                                      <p:tavLst>
                                        <p:tav tm="0">
                                          <p:val>
                                            <p:fltVal val="0"/>
                                          </p:val>
                                        </p:tav>
                                        <p:tav tm="100000">
                                          <p:val>
                                            <p:strVal val="#ppt_h"/>
                                          </p:val>
                                        </p:tav>
                                      </p:tavLst>
                                    </p:anim>
                                    <p:animEffect transition="in" filter="fade">
                                      <p:cBhvr>
                                        <p:cTn id="2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15"/>
          <p:cNvSpPr txBox="1"/>
          <p:nvPr/>
        </p:nvSpPr>
        <p:spPr>
          <a:xfrm>
            <a:off x="46355" y="327660"/>
            <a:ext cx="2716530" cy="377026"/>
          </a:xfrm>
          <a:prstGeom prst="rect">
            <a:avLst/>
          </a:prstGeom>
          <a:noFill/>
        </p:spPr>
        <p:txBody>
          <a:bodyPr wrap="square" lIns="68580" tIns="34290" rIns="68580" bIns="34290" rtlCol="0">
            <a:spAutoFit/>
          </a:bodyPr>
          <a:lstStyle/>
          <a:p>
            <a:pPr algn="ctr"/>
            <a:r>
              <a:rPr lang="en-US" altLang="zh-CN" sz="2000" b="1" dirty="0">
                <a:solidFill>
                  <a:srgbClr val="1B4367"/>
                </a:solidFill>
                <a:cs typeface="+mn-ea"/>
                <a:sym typeface="+mn-lt"/>
              </a:rPr>
              <a:t>Demand Response</a:t>
            </a:r>
            <a:endParaRPr lang="zh-CN" altLang="en-US" sz="2000" b="1" dirty="0">
              <a:solidFill>
                <a:srgbClr val="1B4367"/>
              </a:solidFill>
              <a:cs typeface="+mn-ea"/>
              <a:sym typeface="+mn-lt"/>
            </a:endParaRPr>
          </a:p>
        </p:txBody>
      </p:sp>
      <p:cxnSp>
        <p:nvCxnSpPr>
          <p:cNvPr id="15" name="直接连接符 14"/>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24180" y="883285"/>
            <a:ext cx="8056245" cy="1322070"/>
          </a:xfrm>
          <a:prstGeom prst="rect">
            <a:avLst/>
          </a:prstGeom>
          <a:noFill/>
        </p:spPr>
        <p:txBody>
          <a:bodyPr wrap="square" rtlCol="0">
            <a:spAutoFit/>
          </a:bodyPr>
          <a:lstStyle/>
          <a:p>
            <a:r>
              <a:rPr lang="zh-CN" altLang="en-US" sz="2000"/>
              <a:t>Adaptation of the supply-demand balance and optimisation of energy use by </a:t>
            </a:r>
            <a:r>
              <a:rPr lang="zh-CN" altLang="en-US" sz="2000">
                <a:solidFill>
                  <a:srgbClr val="FF0000"/>
                </a:solidFill>
              </a:rPr>
              <a:t>adjusting the behaviour of end-users in the use of electricity</a:t>
            </a:r>
            <a:r>
              <a:rPr lang="zh-CN" altLang="en-US" sz="2000"/>
              <a:t>, </a:t>
            </a:r>
            <a:r>
              <a:rPr lang="en-US" altLang="zh-CN" sz="2000"/>
              <a:t>for example,</a:t>
            </a:r>
            <a:r>
              <a:rPr lang="zh-CN" altLang="en-US" sz="2000"/>
              <a:t> reducing the load demand or postponing the use of electricity during periods of shortage.</a:t>
            </a:r>
            <a:endParaRPr lang="zh-CN" altLang="en-US" sz="2000"/>
          </a:p>
        </p:txBody>
      </p:sp>
      <p:sp>
        <p:nvSpPr>
          <p:cNvPr id="3" name="文本框 2"/>
          <p:cNvSpPr txBox="1"/>
          <p:nvPr/>
        </p:nvSpPr>
        <p:spPr>
          <a:xfrm>
            <a:off x="501650" y="2501265"/>
            <a:ext cx="7693025" cy="1630045"/>
          </a:xfrm>
          <a:prstGeom prst="rect">
            <a:avLst/>
          </a:prstGeom>
          <a:noFill/>
        </p:spPr>
        <p:txBody>
          <a:bodyPr wrap="square" rtlCol="0">
            <a:spAutoFit/>
          </a:bodyPr>
          <a:lstStyle/>
          <a:p>
            <a:r>
              <a:rPr lang="zh-CN" altLang="en-US" sz="2000"/>
              <a:t>The primary </a:t>
            </a:r>
            <a:r>
              <a:rPr lang="zh-CN" altLang="en-US" sz="2000">
                <a:solidFill>
                  <a:srgbClr val="FF0000"/>
                </a:solidFill>
              </a:rPr>
              <a:t>goal </a:t>
            </a:r>
            <a:r>
              <a:rPr lang="zh-CN" altLang="en-US" sz="2000"/>
              <a:t>of demand response is to improve the stability, reliability and efficiency of the power system.</a:t>
            </a:r>
            <a:endParaRPr lang="zh-CN" altLang="en-US" sz="2000"/>
          </a:p>
          <a:p>
            <a:endParaRPr lang="zh-CN" altLang="en-US" sz="2000"/>
          </a:p>
          <a:p>
            <a:r>
              <a:rPr lang="zh-CN" altLang="en-US" sz="2000"/>
              <a:t> It has a wide </a:t>
            </a:r>
            <a:r>
              <a:rPr lang="zh-CN" altLang="en-US" sz="2000">
                <a:solidFill>
                  <a:srgbClr val="FF0000"/>
                </a:solidFill>
              </a:rPr>
              <a:t>range of applications</a:t>
            </a:r>
            <a:r>
              <a:rPr lang="zh-CN" altLang="en-US" sz="2000"/>
              <a:t> in industrial, commercial and residential electricity use</a:t>
            </a:r>
            <a:r>
              <a:rPr lang="en-US" altLang="zh-CN" sz="2000"/>
              <a:t>.</a:t>
            </a:r>
            <a:endParaRPr lang="en-US" altLang="zh-CN" sz="2000"/>
          </a:p>
        </p:txBody>
      </p:sp>
    </p:spTree>
  </p:cSld>
  <p:clrMapOvr>
    <a:masterClrMapping/>
  </p:clrMapOvr>
  <mc:AlternateContent xmlns:mc="http://schemas.openxmlformats.org/markup-compatibility/2006">
    <mc:Choice xmlns:p14="http://schemas.microsoft.com/office/powerpoint/2010/main" Requires="p14">
      <p:transition spd="slow" p14:dur="1200">
        <p14:flip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6"/>
                                        </p:tgtEl>
                                        <p:attrNameLst>
                                          <p:attrName>ppt_y</p:attrName>
                                        </p:attrNameLst>
                                      </p:cBhvr>
                                      <p:tavLst>
                                        <p:tav tm="0">
                                          <p:val>
                                            <p:strVal val="#ppt_y"/>
                                          </p:val>
                                        </p:tav>
                                        <p:tav tm="100000">
                                          <p:val>
                                            <p:strVal val="#ppt_y"/>
                                          </p:val>
                                        </p:tav>
                                      </p:tavLst>
                                    </p:anim>
                                    <p:anim calcmode="lin" valueType="num">
                                      <p:cBhvr>
                                        <p:cTn id="9" dur="500" fill="hold"/>
                                        <p:tgtEl>
                                          <p:spTgt spid="2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6"/>
                                        </p:tgtEl>
                                      </p:cBhvr>
                                    </p:animEffect>
                                  </p:childTnLst>
                                </p:cTn>
                              </p:par>
                            </p:childTnLst>
                          </p:cTn>
                        </p:par>
                        <p:par>
                          <p:cTn id="12" fill="hold">
                            <p:stCondLst>
                              <p:cond delay="1200"/>
                            </p:stCondLst>
                            <p:childTnLst>
                              <p:par>
                                <p:cTn id="13" presetID="22" presetClass="entr" presetSubtype="8" fill="hold"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left)">
                                      <p:cBhvr>
                                        <p:cTn id="15" dur="3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15"/>
          <p:cNvSpPr txBox="1"/>
          <p:nvPr/>
        </p:nvSpPr>
        <p:spPr>
          <a:xfrm>
            <a:off x="-111125" y="327660"/>
            <a:ext cx="3623310" cy="377026"/>
          </a:xfrm>
          <a:prstGeom prst="rect">
            <a:avLst/>
          </a:prstGeom>
          <a:noFill/>
        </p:spPr>
        <p:txBody>
          <a:bodyPr wrap="square" lIns="68580" tIns="34290" rIns="68580" bIns="34290" rtlCol="0">
            <a:spAutoFit/>
          </a:bodyPr>
          <a:lstStyle/>
          <a:p>
            <a:pPr lvl="0" algn="ctr"/>
            <a:r>
              <a:rPr lang="en-US" altLang="zh-CN" sz="2000" b="1" dirty="0">
                <a:solidFill>
                  <a:srgbClr val="1B4367"/>
                </a:solidFill>
                <a:cs typeface="+mn-ea"/>
                <a:sym typeface="+mn-lt"/>
              </a:rPr>
              <a:t>System Reconfiguration</a:t>
            </a:r>
            <a:endParaRPr lang="zh-CN" altLang="en-US" sz="2000" b="1" dirty="0">
              <a:solidFill>
                <a:srgbClr val="1B4367"/>
              </a:solidFill>
              <a:cs typeface="+mn-ea"/>
              <a:sym typeface="+mn-lt"/>
            </a:endParaRPr>
          </a:p>
        </p:txBody>
      </p:sp>
      <p:cxnSp>
        <p:nvCxnSpPr>
          <p:cNvPr id="15" name="直接连接符 14"/>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23574" name="AutoShape 25"/>
          <p:cNvSpPr/>
          <p:nvPr>
            <p:custDataLst>
              <p:tags r:id="rId1"/>
            </p:custDataLst>
          </p:nvPr>
        </p:nvSpPr>
        <p:spPr>
          <a:xfrm rot="21558471">
            <a:off x="5080" y="4224020"/>
            <a:ext cx="1251585" cy="851535"/>
          </a:xfrm>
          <a:custGeom>
            <a:avLst/>
            <a:gdLst/>
            <a:ahLst/>
            <a:cxnLst>
              <a:cxn ang="0">
                <a:pos x="1439048" y="1493224"/>
              </a:cxn>
              <a:cxn ang="0">
                <a:pos x="1439048" y="1493224"/>
              </a:cxn>
              <a:cxn ang="0">
                <a:pos x="1439048" y="1493224"/>
              </a:cxn>
              <a:cxn ang="0">
                <a:pos x="1439048" y="1493224"/>
              </a:cxn>
            </a:cxnLst>
            <a:rect l="0" t="0" r="0" b="0"/>
            <a:pathLst>
              <a:path w="21600" h="21600">
                <a:moveTo>
                  <a:pt x="15608" y="8670"/>
                </a:moveTo>
                <a:cubicBezTo>
                  <a:pt x="21599" y="8670"/>
                  <a:pt x="21599" y="8670"/>
                  <a:pt x="21599" y="8670"/>
                </a:cubicBezTo>
                <a:cubicBezTo>
                  <a:pt x="20496" y="4411"/>
                  <a:pt x="16554" y="1064"/>
                  <a:pt x="11982" y="608"/>
                </a:cubicBezTo>
                <a:cubicBezTo>
                  <a:pt x="11667" y="304"/>
                  <a:pt x="11351" y="0"/>
                  <a:pt x="10878" y="0"/>
                </a:cubicBezTo>
                <a:cubicBezTo>
                  <a:pt x="10405" y="0"/>
                  <a:pt x="10090" y="304"/>
                  <a:pt x="9775" y="608"/>
                </a:cubicBezTo>
                <a:cubicBezTo>
                  <a:pt x="5045" y="1064"/>
                  <a:pt x="1103" y="4259"/>
                  <a:pt x="0" y="8670"/>
                </a:cubicBezTo>
                <a:cubicBezTo>
                  <a:pt x="6148" y="8670"/>
                  <a:pt x="6148" y="8670"/>
                  <a:pt x="6148" y="8670"/>
                </a:cubicBezTo>
                <a:cubicBezTo>
                  <a:pt x="6148" y="3650"/>
                  <a:pt x="9144" y="1216"/>
                  <a:pt x="9775" y="760"/>
                </a:cubicBezTo>
                <a:cubicBezTo>
                  <a:pt x="9775" y="760"/>
                  <a:pt x="9775" y="760"/>
                  <a:pt x="9775" y="912"/>
                </a:cubicBezTo>
                <a:cubicBezTo>
                  <a:pt x="6464" y="4867"/>
                  <a:pt x="6937" y="8670"/>
                  <a:pt x="6937" y="8670"/>
                </a:cubicBezTo>
                <a:cubicBezTo>
                  <a:pt x="10090" y="8670"/>
                  <a:pt x="10090" y="8670"/>
                  <a:pt x="10090" y="8670"/>
                </a:cubicBezTo>
                <a:cubicBezTo>
                  <a:pt x="10090" y="18709"/>
                  <a:pt x="10090" y="18709"/>
                  <a:pt x="10090" y="18709"/>
                </a:cubicBezTo>
                <a:cubicBezTo>
                  <a:pt x="10090" y="19014"/>
                  <a:pt x="10090" y="19014"/>
                  <a:pt x="10090" y="19014"/>
                </a:cubicBezTo>
                <a:cubicBezTo>
                  <a:pt x="10090" y="19774"/>
                  <a:pt x="10090" y="19774"/>
                  <a:pt x="10090" y="19774"/>
                </a:cubicBezTo>
                <a:cubicBezTo>
                  <a:pt x="10090" y="20839"/>
                  <a:pt x="10878" y="21599"/>
                  <a:pt x="11982" y="21599"/>
                </a:cubicBezTo>
                <a:cubicBezTo>
                  <a:pt x="12928" y="21599"/>
                  <a:pt x="13874" y="20839"/>
                  <a:pt x="13874" y="19774"/>
                </a:cubicBezTo>
                <a:cubicBezTo>
                  <a:pt x="13874" y="19014"/>
                  <a:pt x="13874" y="19014"/>
                  <a:pt x="13874" y="19014"/>
                </a:cubicBezTo>
                <a:cubicBezTo>
                  <a:pt x="12455" y="19014"/>
                  <a:pt x="12455" y="19014"/>
                  <a:pt x="12455" y="19014"/>
                </a:cubicBezTo>
                <a:cubicBezTo>
                  <a:pt x="12455" y="19318"/>
                  <a:pt x="12455" y="19318"/>
                  <a:pt x="12455" y="19318"/>
                </a:cubicBezTo>
                <a:cubicBezTo>
                  <a:pt x="12455" y="19774"/>
                  <a:pt x="12455" y="19774"/>
                  <a:pt x="12455" y="19774"/>
                </a:cubicBezTo>
                <a:cubicBezTo>
                  <a:pt x="12455" y="20078"/>
                  <a:pt x="12297" y="20383"/>
                  <a:pt x="11982" y="20383"/>
                </a:cubicBezTo>
                <a:cubicBezTo>
                  <a:pt x="11667" y="20383"/>
                  <a:pt x="11351" y="20078"/>
                  <a:pt x="11351" y="19774"/>
                </a:cubicBezTo>
                <a:cubicBezTo>
                  <a:pt x="11351" y="19318"/>
                  <a:pt x="11351" y="19318"/>
                  <a:pt x="11351" y="19318"/>
                </a:cubicBezTo>
                <a:cubicBezTo>
                  <a:pt x="11351" y="19014"/>
                  <a:pt x="11351" y="19014"/>
                  <a:pt x="11351" y="19014"/>
                </a:cubicBezTo>
                <a:cubicBezTo>
                  <a:pt x="11351" y="17036"/>
                  <a:pt x="11351" y="17036"/>
                  <a:pt x="11351" y="17036"/>
                </a:cubicBezTo>
                <a:cubicBezTo>
                  <a:pt x="11351" y="8670"/>
                  <a:pt x="11351" y="8670"/>
                  <a:pt x="11351" y="8670"/>
                </a:cubicBezTo>
                <a:cubicBezTo>
                  <a:pt x="14820" y="8670"/>
                  <a:pt x="14820" y="8670"/>
                  <a:pt x="14820" y="8670"/>
                </a:cubicBezTo>
                <a:cubicBezTo>
                  <a:pt x="14820" y="8670"/>
                  <a:pt x="15293" y="4867"/>
                  <a:pt x="11982" y="912"/>
                </a:cubicBezTo>
                <a:cubicBezTo>
                  <a:pt x="11982" y="760"/>
                  <a:pt x="11982" y="760"/>
                  <a:pt x="11982" y="760"/>
                </a:cubicBezTo>
                <a:cubicBezTo>
                  <a:pt x="12613" y="1216"/>
                  <a:pt x="15608" y="3650"/>
                  <a:pt x="15608" y="8670"/>
                </a:cubicBezTo>
                <a:close/>
              </a:path>
            </a:pathLst>
          </a:custGeom>
          <a:solidFill>
            <a:srgbClr val="1B4367"/>
          </a:solidFill>
          <a:ln w="9525">
            <a:noFill/>
          </a:ln>
        </p:spPr>
        <p:txBody>
          <a:bodyPr lIns="68580" tIns="34290" rIns="68580" bIns="34290"/>
          <a:lstStyle/>
          <a:p>
            <a:endParaRPr lang="zh-CN" altLang="en-US">
              <a:solidFill>
                <a:schemeClr val="tx1">
                  <a:lumMod val="50000"/>
                  <a:lumOff val="50000"/>
                </a:schemeClr>
              </a:solidFill>
              <a:cs typeface="+mn-ea"/>
              <a:sym typeface="+mn-lt"/>
            </a:endParaRPr>
          </a:p>
        </p:txBody>
      </p:sp>
      <p:sp>
        <p:nvSpPr>
          <p:cNvPr id="2" name="文本框 1"/>
          <p:cNvSpPr txBox="1"/>
          <p:nvPr/>
        </p:nvSpPr>
        <p:spPr>
          <a:xfrm>
            <a:off x="228600" y="862330"/>
            <a:ext cx="9171940" cy="1322070"/>
          </a:xfrm>
          <a:prstGeom prst="rect">
            <a:avLst/>
          </a:prstGeom>
          <a:noFill/>
        </p:spPr>
        <p:txBody>
          <a:bodyPr wrap="square" rtlCol="0">
            <a:spAutoFit/>
          </a:bodyPr>
          <a:lstStyle/>
          <a:p>
            <a:r>
              <a:rPr lang="zh-CN" altLang="en-US" sz="2000" dirty="0"/>
              <a:t>The </a:t>
            </a:r>
            <a:r>
              <a:rPr lang="zh-CN" altLang="en-US" sz="2000" dirty="0">
                <a:solidFill>
                  <a:srgbClr val="FF0000"/>
                </a:solidFill>
              </a:rPr>
              <a:t>principle</a:t>
            </a:r>
            <a:r>
              <a:rPr lang="zh-CN" altLang="en-US" sz="2000" dirty="0"/>
              <a:t> of system reconfiguration is to achieve the objectives of load balancing, reduction of line losses, and improvement of voltage quality by changing line connections and switching states in the distribution network.</a:t>
            </a:r>
            <a:endParaRPr lang="zh-CN" altLang="en-US" sz="2000" dirty="0"/>
          </a:p>
        </p:txBody>
      </p:sp>
      <p:sp>
        <p:nvSpPr>
          <p:cNvPr id="3" name="文本框 2"/>
          <p:cNvSpPr txBox="1"/>
          <p:nvPr/>
        </p:nvSpPr>
        <p:spPr>
          <a:xfrm>
            <a:off x="345440" y="2332930"/>
            <a:ext cx="8453755" cy="1231106"/>
          </a:xfrm>
          <a:prstGeom prst="rect">
            <a:avLst/>
          </a:prstGeom>
          <a:noFill/>
        </p:spPr>
        <p:txBody>
          <a:bodyPr wrap="square" rtlCol="0">
            <a:spAutoFit/>
          </a:bodyPr>
          <a:lstStyle/>
          <a:p>
            <a:r>
              <a:rPr lang="en-US" altLang="zh-CN" sz="2000" dirty="0"/>
              <a:t>the </a:t>
            </a:r>
            <a:r>
              <a:rPr lang="en-US" altLang="zh-CN" sz="2000" dirty="0">
                <a:solidFill>
                  <a:srgbClr val="FF0000"/>
                </a:solidFill>
              </a:rPr>
              <a:t>function</a:t>
            </a:r>
            <a:r>
              <a:rPr lang="en-US" altLang="zh-CN" sz="2000" dirty="0"/>
              <a:t> of system reconfiguration:</a:t>
            </a:r>
            <a:endParaRPr lang="en-US" altLang="zh-CN" sz="2000" dirty="0"/>
          </a:p>
          <a:p>
            <a:r>
              <a:rPr lang="en-US" altLang="zh-CN" sz="1800" dirty="0">
                <a:latin typeface="Arial" panose="020B0604020202020204" pitchFamily="34" charset="0"/>
                <a:cs typeface="Arial" panose="020B0604020202020204" pitchFamily="34" charset="0"/>
              </a:rPr>
              <a:t>1.i</a:t>
            </a:r>
            <a:r>
              <a:rPr lang="zh-CN" altLang="en-US" sz="1800" dirty="0">
                <a:latin typeface="Arial" panose="020B0604020202020204" pitchFamily="34" charset="0"/>
                <a:cs typeface="Arial" panose="020B0604020202020204" pitchFamily="34" charset="0"/>
              </a:rPr>
              <a:t>mprove the efficiency, reliability and stability of the distribution system</a:t>
            </a:r>
            <a:endParaRPr lang="zh-CN" altLang="en-US" sz="1800" dirty="0">
              <a:latin typeface="Arial" panose="020B0604020202020204" pitchFamily="34" charset="0"/>
              <a:cs typeface="Arial" panose="020B0604020202020204" pitchFamily="34" charset="0"/>
            </a:endParaRPr>
          </a:p>
          <a:p>
            <a:r>
              <a:rPr lang="en-US" altLang="zh-CN" sz="1800" dirty="0">
                <a:latin typeface="Arial" panose="020B0604020202020204" pitchFamily="34" charset="0"/>
                <a:cs typeface="Arial" panose="020B0604020202020204" pitchFamily="34" charset="0"/>
              </a:rPr>
              <a:t>2.</a:t>
            </a:r>
            <a:r>
              <a:rPr lang="zh-CN" altLang="en-US" sz="1800" dirty="0">
                <a:latin typeface="Arial" panose="020B0604020202020204" pitchFamily="34" charset="0"/>
                <a:cs typeface="Arial" panose="020B0604020202020204" pitchFamily="34" charset="0"/>
              </a:rPr>
              <a:t>reduce load imbalance and improve current distribution uniformity</a:t>
            </a:r>
            <a:endParaRPr lang="zh-CN" altLang="en-US" sz="1800" dirty="0">
              <a:latin typeface="Arial" panose="020B0604020202020204" pitchFamily="34" charset="0"/>
              <a:cs typeface="Arial" panose="020B0604020202020204" pitchFamily="34" charset="0"/>
            </a:endParaRPr>
          </a:p>
          <a:p>
            <a:r>
              <a:rPr lang="en-US" altLang="zh-CN" sz="1800" dirty="0">
                <a:latin typeface="Arial" panose="020B0604020202020204" pitchFamily="34" charset="0"/>
                <a:cs typeface="Arial" panose="020B0604020202020204" pitchFamily="34" charset="0"/>
              </a:rPr>
              <a:t>3.</a:t>
            </a:r>
            <a:r>
              <a:rPr lang="zh-CN" altLang="en-US" sz="1800" dirty="0">
                <a:latin typeface="Arial" panose="020B0604020202020204" pitchFamily="34" charset="0"/>
                <a:cs typeface="Arial" panose="020B0604020202020204" pitchFamily="34" charset="0"/>
              </a:rPr>
              <a:t>reduce line losses and improve voltage stability and quality</a:t>
            </a:r>
            <a:endParaRPr lang="zh-CN" altLang="en-US" sz="1600" dirty="0">
              <a:latin typeface="Arial" panose="020B0604020202020204" pitchFamily="34" charset="0"/>
              <a:cs typeface="Arial" panose="020B0604020202020204" pitchFamily="34" charset="0"/>
            </a:endParaRPr>
          </a:p>
        </p:txBody>
      </p:sp>
      <p:sp>
        <p:nvSpPr>
          <p:cNvPr id="4" name="文本框 3"/>
          <p:cNvSpPr txBox="1"/>
          <p:nvPr/>
        </p:nvSpPr>
        <p:spPr>
          <a:xfrm>
            <a:off x="1597025" y="4216491"/>
            <a:ext cx="7202170" cy="706755"/>
          </a:xfrm>
          <a:prstGeom prst="rect">
            <a:avLst/>
          </a:prstGeom>
          <a:noFill/>
        </p:spPr>
        <p:txBody>
          <a:bodyPr wrap="square" rtlCol="0">
            <a:spAutoFit/>
          </a:bodyPr>
          <a:lstStyle/>
          <a:p>
            <a:r>
              <a:rPr lang="zh-CN" altLang="en-US" sz="2000" dirty="0"/>
              <a:t>Mainly </a:t>
            </a:r>
            <a:r>
              <a:rPr lang="zh-CN" altLang="en-US" sz="2000" dirty="0">
                <a:solidFill>
                  <a:srgbClr val="FF0000"/>
                </a:solidFill>
              </a:rPr>
              <a:t>used</a:t>
            </a:r>
            <a:r>
              <a:rPr lang="zh-CN" altLang="en-US" sz="2000" dirty="0"/>
              <a:t> in urban distribution grids, industrial parks, microgrids</a:t>
            </a:r>
            <a:r>
              <a:rPr lang="en-US" altLang="zh-CN" sz="2000" dirty="0"/>
              <a:t>.</a:t>
            </a:r>
            <a:endParaRPr lang="en-US" altLang="zh-CN" sz="2000" dirty="0"/>
          </a:p>
        </p:txBody>
      </p:sp>
    </p:spTree>
  </p:cSld>
  <p:clrMapOvr>
    <a:masterClrMapping/>
  </p:clrMapOvr>
  <mc:AlternateContent xmlns:mc="http://schemas.openxmlformats.org/markup-compatibility/2006">
    <mc:Choice xmlns:p14="http://schemas.microsoft.com/office/powerpoint/2010/main" Requires="p14">
      <p:transition spd="slow" p14:dur="1200">
        <p14:flip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6"/>
                                        </p:tgtEl>
                                        <p:attrNameLst>
                                          <p:attrName>ppt_y</p:attrName>
                                        </p:attrNameLst>
                                      </p:cBhvr>
                                      <p:tavLst>
                                        <p:tav tm="0">
                                          <p:val>
                                            <p:strVal val="#ppt_y"/>
                                          </p:val>
                                        </p:tav>
                                        <p:tav tm="100000">
                                          <p:val>
                                            <p:strVal val="#ppt_y"/>
                                          </p:val>
                                        </p:tav>
                                      </p:tavLst>
                                    </p:anim>
                                    <p:anim calcmode="lin" valueType="num">
                                      <p:cBhvr>
                                        <p:cTn id="9" dur="500" fill="hold"/>
                                        <p:tgtEl>
                                          <p:spTgt spid="2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6"/>
                                        </p:tgtEl>
                                      </p:cBhvr>
                                    </p:animEffect>
                                  </p:childTnLst>
                                </p:cTn>
                              </p:par>
                            </p:childTnLst>
                          </p:cTn>
                        </p:par>
                        <p:par>
                          <p:cTn id="12" fill="hold">
                            <p:stCondLst>
                              <p:cond delay="1549"/>
                            </p:stCondLst>
                            <p:childTnLst>
                              <p:par>
                                <p:cTn id="13" presetID="22" presetClass="entr" presetSubtype="8" fill="hold"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left)">
                                      <p:cBhvr>
                                        <p:cTn id="15" dur="300"/>
                                        <p:tgtEl>
                                          <p:spTgt spid="15"/>
                                        </p:tgtEl>
                                      </p:cBhvr>
                                    </p:animEffect>
                                  </p:childTnLst>
                                </p:cTn>
                              </p:par>
                            </p:childTnLst>
                          </p:cTn>
                        </p:par>
                        <p:par>
                          <p:cTn id="16" fill="hold">
                            <p:stCondLst>
                              <p:cond delay="2049"/>
                            </p:stCondLst>
                            <p:childTnLst>
                              <p:par>
                                <p:cTn id="17" presetID="22" presetClass="entr" presetSubtype="4" fill="hold" grpId="0" nodeType="afterEffect">
                                  <p:stCondLst>
                                    <p:cond delay="0"/>
                                  </p:stCondLst>
                                  <p:childTnLst>
                                    <p:set>
                                      <p:cBhvr>
                                        <p:cTn id="18" dur="1" fill="hold">
                                          <p:stCondLst>
                                            <p:cond delay="0"/>
                                          </p:stCondLst>
                                        </p:cTn>
                                        <p:tgtEl>
                                          <p:spTgt spid="23574"/>
                                        </p:tgtEl>
                                        <p:attrNameLst>
                                          <p:attrName>style.visibility</p:attrName>
                                        </p:attrNameLst>
                                      </p:cBhvr>
                                      <p:to>
                                        <p:strVal val="visible"/>
                                      </p:to>
                                    </p:set>
                                    <p:animEffect transition="in" filter="wipe(down)">
                                      <p:cBhvr>
                                        <p:cTn id="19" dur="500"/>
                                        <p:tgtEl>
                                          <p:spTgt spid="235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3574" grpId="0" bldLvl="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椭圆 99"/>
          <p:cNvSpPr/>
          <p:nvPr/>
        </p:nvSpPr>
        <p:spPr>
          <a:xfrm>
            <a:off x="3819635" y="1089058"/>
            <a:ext cx="1500028" cy="1500028"/>
          </a:xfrm>
          <a:prstGeom prst="ellipse">
            <a:avLst/>
          </a:prstGeom>
          <a:solidFill>
            <a:srgbClr val="1B43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文本框 11"/>
          <p:cNvSpPr txBox="1"/>
          <p:nvPr/>
        </p:nvSpPr>
        <p:spPr>
          <a:xfrm>
            <a:off x="935574" y="2730894"/>
            <a:ext cx="7288697" cy="592470"/>
          </a:xfrm>
          <a:prstGeom prst="rect">
            <a:avLst/>
          </a:prstGeom>
          <a:noFill/>
        </p:spPr>
        <p:txBody>
          <a:bodyPr wrap="square" lIns="68580" tIns="34290" rIns="68580" bIns="34290" rtlCol="0">
            <a:spAutoFit/>
          </a:bodyPr>
          <a:lstStyle/>
          <a:p>
            <a:pPr algn="ctr"/>
            <a:r>
              <a:rPr lang="en-US" altLang="zh-CN" sz="3400" b="1" dirty="0">
                <a:solidFill>
                  <a:srgbClr val="1B4367"/>
                </a:solidFill>
                <a:cs typeface="+mn-ea"/>
                <a:sym typeface="+mn-lt"/>
              </a:rPr>
              <a:t>LIMITATION AND CONCLUSION</a:t>
            </a:r>
            <a:endParaRPr lang="zh-CN" altLang="en-US" sz="3400" b="1" dirty="0">
              <a:solidFill>
                <a:srgbClr val="1B4367"/>
              </a:solidFill>
              <a:cs typeface="+mn-ea"/>
              <a:sym typeface="+mn-lt"/>
            </a:endParaRPr>
          </a:p>
        </p:txBody>
      </p:sp>
      <p:sp>
        <p:nvSpPr>
          <p:cNvPr id="103" name="文本框 11"/>
          <p:cNvSpPr txBox="1"/>
          <p:nvPr/>
        </p:nvSpPr>
        <p:spPr>
          <a:xfrm>
            <a:off x="3713476" y="1575042"/>
            <a:ext cx="1732894" cy="837565"/>
          </a:xfrm>
          <a:prstGeom prst="rect">
            <a:avLst/>
          </a:prstGeom>
          <a:noFill/>
        </p:spPr>
        <p:txBody>
          <a:bodyPr wrap="square" lIns="68580" tIns="34290" rIns="68580" bIns="34290" rtlCol="0">
            <a:spAutoFit/>
          </a:bodyPr>
          <a:lstStyle/>
          <a:p>
            <a:pPr algn="ctr">
              <a:lnSpc>
                <a:spcPts val="3000"/>
              </a:lnSpc>
            </a:pPr>
            <a:r>
              <a:rPr lang="en-US" altLang="zh-CN" sz="5400" dirty="0">
                <a:solidFill>
                  <a:schemeClr val="bg1"/>
                </a:solidFill>
                <a:cs typeface="+mn-ea"/>
                <a:sym typeface="+mn-lt"/>
              </a:rPr>
              <a:t>05</a:t>
            </a:r>
            <a:endParaRPr lang="zh-CN" altLang="en-US" sz="5400" dirty="0">
              <a:solidFill>
                <a:schemeClr val="bg1"/>
              </a:solidFill>
              <a:cs typeface="+mn-ea"/>
              <a:sym typeface="+mn-lt"/>
            </a:endParaRPr>
          </a:p>
          <a:p>
            <a:pPr algn="ctr">
              <a:lnSpc>
                <a:spcPts val="3000"/>
              </a:lnSpc>
            </a:pPr>
            <a:r>
              <a:rPr lang="en-US" altLang="zh-CN" sz="2400" dirty="0">
                <a:solidFill>
                  <a:schemeClr val="bg1"/>
                </a:solidFill>
                <a:cs typeface="+mn-ea"/>
                <a:sym typeface="+mn-lt"/>
              </a:rPr>
              <a:t>PART </a:t>
            </a:r>
            <a:endParaRPr lang="en-US" altLang="zh-CN" sz="2400" dirty="0">
              <a:solidFill>
                <a:schemeClr val="bg1"/>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100"/>
                                        </p:tgtEl>
                                        <p:attrNameLst>
                                          <p:attrName>style.visibility</p:attrName>
                                        </p:attrNameLst>
                                      </p:cBhvr>
                                      <p:to>
                                        <p:strVal val="visible"/>
                                      </p:to>
                                    </p:set>
                                    <p:animEffect transition="in" filter="wheel(1)">
                                      <p:cBhvr>
                                        <p:cTn id="7" dur="600"/>
                                        <p:tgtEl>
                                          <p:spTgt spid="100"/>
                                        </p:tgtEl>
                                      </p:cBhvr>
                                    </p:animEffect>
                                  </p:childTnLst>
                                </p:cTn>
                              </p:par>
                            </p:childTnLst>
                          </p:cTn>
                        </p:par>
                        <p:par>
                          <p:cTn id="8" fill="hold">
                            <p:stCondLst>
                              <p:cond delay="1000"/>
                            </p:stCondLst>
                            <p:childTnLst>
                              <p:par>
                                <p:cTn id="9" presetID="53" presetClass="entr" presetSubtype="16" fill="hold" grpId="0" nodeType="afterEffect">
                                  <p:stCondLst>
                                    <p:cond delay="0"/>
                                  </p:stCondLst>
                                  <p:childTnLst>
                                    <p:set>
                                      <p:cBhvr>
                                        <p:cTn id="10" dur="1" fill="hold">
                                          <p:stCondLst>
                                            <p:cond delay="0"/>
                                          </p:stCondLst>
                                        </p:cTn>
                                        <p:tgtEl>
                                          <p:spTgt spid="103"/>
                                        </p:tgtEl>
                                        <p:attrNameLst>
                                          <p:attrName>style.visibility</p:attrName>
                                        </p:attrNameLst>
                                      </p:cBhvr>
                                      <p:to>
                                        <p:strVal val="visible"/>
                                      </p:to>
                                    </p:set>
                                    <p:anim calcmode="lin" valueType="num">
                                      <p:cBhvr>
                                        <p:cTn id="11" dur="500" fill="hold"/>
                                        <p:tgtEl>
                                          <p:spTgt spid="103"/>
                                        </p:tgtEl>
                                        <p:attrNameLst>
                                          <p:attrName>ppt_w</p:attrName>
                                        </p:attrNameLst>
                                      </p:cBhvr>
                                      <p:tavLst>
                                        <p:tav tm="0">
                                          <p:val>
                                            <p:fltVal val="0"/>
                                          </p:val>
                                        </p:tav>
                                        <p:tav tm="100000">
                                          <p:val>
                                            <p:strVal val="#ppt_w"/>
                                          </p:val>
                                        </p:tav>
                                      </p:tavLst>
                                    </p:anim>
                                    <p:anim calcmode="lin" valueType="num">
                                      <p:cBhvr>
                                        <p:cTn id="12" dur="500" fill="hold"/>
                                        <p:tgtEl>
                                          <p:spTgt spid="103"/>
                                        </p:tgtEl>
                                        <p:attrNameLst>
                                          <p:attrName>ppt_h</p:attrName>
                                        </p:attrNameLst>
                                      </p:cBhvr>
                                      <p:tavLst>
                                        <p:tav tm="0">
                                          <p:val>
                                            <p:fltVal val="0"/>
                                          </p:val>
                                        </p:tav>
                                        <p:tav tm="100000">
                                          <p:val>
                                            <p:strVal val="#ppt_h"/>
                                          </p:val>
                                        </p:tav>
                                      </p:tavLst>
                                    </p:anim>
                                    <p:animEffect transition="in" filter="fade">
                                      <p:cBhvr>
                                        <p:cTn id="13" dur="500"/>
                                        <p:tgtEl>
                                          <p:spTgt spid="103"/>
                                        </p:tgtEl>
                                      </p:cBhvr>
                                    </p:animEffect>
                                  </p:childTnLst>
                                </p:cTn>
                              </p:par>
                            </p:childTnLst>
                          </p:cTn>
                        </p:par>
                        <p:par>
                          <p:cTn id="14" fill="hold">
                            <p:stCondLst>
                              <p:cond delay="1500"/>
                            </p:stCondLst>
                            <p:childTnLst>
                              <p:par>
                                <p:cTn id="15" presetID="41" presetClass="entr" presetSubtype="0" fill="hold" grpId="0" nodeType="afterEffect">
                                  <p:stCondLst>
                                    <p:cond delay="0"/>
                                  </p:stCondLst>
                                  <p:iterate type="lt">
                                    <p:tmPct val="10000"/>
                                  </p:iterate>
                                  <p:childTnLst>
                                    <p:set>
                                      <p:cBhvr>
                                        <p:cTn id="16" dur="1" fill="hold">
                                          <p:stCondLst>
                                            <p:cond delay="0"/>
                                          </p:stCondLst>
                                        </p:cTn>
                                        <p:tgtEl>
                                          <p:spTgt spid="101"/>
                                        </p:tgtEl>
                                        <p:attrNameLst>
                                          <p:attrName>style.visibility</p:attrName>
                                        </p:attrNameLst>
                                      </p:cBhvr>
                                      <p:to>
                                        <p:strVal val="visible"/>
                                      </p:to>
                                    </p:set>
                                    <p:anim calcmode="lin" valueType="num">
                                      <p:cBhvr>
                                        <p:cTn id="17" dur="500" fill="hold"/>
                                        <p:tgtEl>
                                          <p:spTgt spid="101"/>
                                        </p:tgtEl>
                                        <p:attrNameLst>
                                          <p:attrName>ppt_x</p:attrName>
                                        </p:attrNameLst>
                                      </p:cBhvr>
                                      <p:tavLst>
                                        <p:tav tm="0">
                                          <p:val>
                                            <p:strVal val="#ppt_x"/>
                                          </p:val>
                                        </p:tav>
                                        <p:tav tm="50000">
                                          <p:val>
                                            <p:strVal val="#ppt_x+.1"/>
                                          </p:val>
                                        </p:tav>
                                        <p:tav tm="100000">
                                          <p:val>
                                            <p:strVal val="#ppt_x"/>
                                          </p:val>
                                        </p:tav>
                                      </p:tavLst>
                                    </p:anim>
                                    <p:anim calcmode="lin" valueType="num">
                                      <p:cBhvr>
                                        <p:cTn id="18" dur="500" fill="hold"/>
                                        <p:tgtEl>
                                          <p:spTgt spid="101"/>
                                        </p:tgtEl>
                                        <p:attrNameLst>
                                          <p:attrName>ppt_y</p:attrName>
                                        </p:attrNameLst>
                                      </p:cBhvr>
                                      <p:tavLst>
                                        <p:tav tm="0">
                                          <p:val>
                                            <p:strVal val="#ppt_y"/>
                                          </p:val>
                                        </p:tav>
                                        <p:tav tm="100000">
                                          <p:val>
                                            <p:strVal val="#ppt_y"/>
                                          </p:val>
                                        </p:tav>
                                      </p:tavLst>
                                    </p:anim>
                                    <p:anim calcmode="lin" valueType="num">
                                      <p:cBhvr>
                                        <p:cTn id="19" dur="500" fill="hold"/>
                                        <p:tgtEl>
                                          <p:spTgt spid="101"/>
                                        </p:tgtEl>
                                        <p:attrNameLst>
                                          <p:attrName>ppt_h</p:attrName>
                                        </p:attrNameLst>
                                      </p:cBhvr>
                                      <p:tavLst>
                                        <p:tav tm="0">
                                          <p:val>
                                            <p:strVal val="#ppt_h/10"/>
                                          </p:val>
                                        </p:tav>
                                        <p:tav tm="50000">
                                          <p:val>
                                            <p:strVal val="#ppt_h+.01"/>
                                          </p:val>
                                        </p:tav>
                                        <p:tav tm="100000">
                                          <p:val>
                                            <p:strVal val="#ppt_h"/>
                                          </p:val>
                                        </p:tav>
                                      </p:tavLst>
                                    </p:anim>
                                    <p:anim calcmode="lin" valueType="num">
                                      <p:cBhvr>
                                        <p:cTn id="20" dur="500" fill="hold"/>
                                        <p:tgtEl>
                                          <p:spTgt spid="101"/>
                                        </p:tgtEl>
                                        <p:attrNameLst>
                                          <p:attrName>ppt_w</p:attrName>
                                        </p:attrNameLst>
                                      </p:cBhvr>
                                      <p:tavLst>
                                        <p:tav tm="0">
                                          <p:val>
                                            <p:strVal val="#ppt_w/10"/>
                                          </p:val>
                                        </p:tav>
                                        <p:tav tm="50000">
                                          <p:val>
                                            <p:strVal val="#ppt_w+.01"/>
                                          </p:val>
                                        </p:tav>
                                        <p:tav tm="100000">
                                          <p:val>
                                            <p:strVal val="#ppt_w"/>
                                          </p:val>
                                        </p:tav>
                                      </p:tavLst>
                                    </p:anim>
                                    <p:animEffect transition="in" filter="fade">
                                      <p:cBhvr>
                                        <p:cTn id="21" dur="500" tmFilter="0,0; .5, 1; 1, 1"/>
                                        <p:tgtEl>
                                          <p:spTgt spid="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bldLvl="0" animBg="1"/>
      <p:bldP spid="101" grpId="0"/>
      <p:bldP spid="10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4866327" y="1249520"/>
            <a:ext cx="502444" cy="502444"/>
            <a:chOff x="6443245" y="1611109"/>
            <a:chExt cx="751188" cy="751188"/>
          </a:xfrm>
          <a:solidFill>
            <a:schemeClr val="bg1"/>
          </a:solidFill>
        </p:grpSpPr>
        <p:sp>
          <p:nvSpPr>
            <p:cNvPr id="45" name="椭圆 44"/>
            <p:cNvSpPr/>
            <p:nvPr/>
          </p:nvSpPr>
          <p:spPr>
            <a:xfrm>
              <a:off x="6443245" y="1611109"/>
              <a:ext cx="751188" cy="751188"/>
            </a:xfrm>
            <a:prstGeom prst="ellipse">
              <a:avLst/>
            </a:prstGeom>
            <a:solidFill>
              <a:srgbClr val="1B4367"/>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lumMod val="75000"/>
                    <a:lumOff val="25000"/>
                  </a:schemeClr>
                </a:solidFill>
                <a:cs typeface="+mn-ea"/>
                <a:sym typeface="+mn-lt"/>
              </a:endParaRPr>
            </a:p>
          </p:txBody>
        </p:sp>
        <p:sp>
          <p:nvSpPr>
            <p:cNvPr id="46" name="Freeform 21"/>
            <p:cNvSpPr>
              <a:spLocks noEditPoints="1"/>
            </p:cNvSpPr>
            <p:nvPr/>
          </p:nvSpPr>
          <p:spPr bwMode="auto">
            <a:xfrm>
              <a:off x="6602953" y="1780982"/>
              <a:ext cx="425755" cy="418061"/>
            </a:xfrm>
            <a:custGeom>
              <a:avLst/>
              <a:gdLst>
                <a:gd name="T0" fmla="*/ 179 w 208"/>
                <a:gd name="T1" fmla="*/ 79 h 204"/>
                <a:gd name="T2" fmla="*/ 174 w 208"/>
                <a:gd name="T3" fmla="*/ 66 h 204"/>
                <a:gd name="T4" fmla="*/ 185 w 208"/>
                <a:gd name="T5" fmla="*/ 38 h 204"/>
                <a:gd name="T6" fmla="*/ 169 w 208"/>
                <a:gd name="T7" fmla="*/ 22 h 204"/>
                <a:gd name="T8" fmla="*/ 140 w 208"/>
                <a:gd name="T9" fmla="*/ 33 h 204"/>
                <a:gd name="T10" fmla="*/ 128 w 208"/>
                <a:gd name="T11" fmla="*/ 28 h 204"/>
                <a:gd name="T12" fmla="*/ 115 w 208"/>
                <a:gd name="T13" fmla="*/ 0 h 204"/>
                <a:gd name="T14" fmla="*/ 92 w 208"/>
                <a:gd name="T15" fmla="*/ 0 h 204"/>
                <a:gd name="T16" fmla="*/ 80 w 208"/>
                <a:gd name="T17" fmla="*/ 28 h 204"/>
                <a:gd name="T18" fmla="*/ 67 w 208"/>
                <a:gd name="T19" fmla="*/ 33 h 204"/>
                <a:gd name="T20" fmla="*/ 38 w 208"/>
                <a:gd name="T21" fmla="*/ 22 h 204"/>
                <a:gd name="T22" fmla="*/ 22 w 208"/>
                <a:gd name="T23" fmla="*/ 38 h 204"/>
                <a:gd name="T24" fmla="*/ 34 w 208"/>
                <a:gd name="T25" fmla="*/ 66 h 204"/>
                <a:gd name="T26" fmla="*/ 28 w 208"/>
                <a:gd name="T27" fmla="*/ 79 h 204"/>
                <a:gd name="T28" fmla="*/ 0 w 208"/>
                <a:gd name="T29" fmla="*/ 91 h 204"/>
                <a:gd name="T30" fmla="*/ 0 w 208"/>
                <a:gd name="T31" fmla="*/ 114 h 204"/>
                <a:gd name="T32" fmla="*/ 28 w 208"/>
                <a:gd name="T33" fmla="*/ 126 h 204"/>
                <a:gd name="T34" fmla="*/ 34 w 208"/>
                <a:gd name="T35" fmla="*/ 138 h 204"/>
                <a:gd name="T36" fmla="*/ 23 w 208"/>
                <a:gd name="T37" fmla="*/ 167 h 204"/>
                <a:gd name="T38" fmla="*/ 39 w 208"/>
                <a:gd name="T39" fmla="*/ 182 h 204"/>
                <a:gd name="T40" fmla="*/ 67 w 208"/>
                <a:gd name="T41" fmla="*/ 171 h 204"/>
                <a:gd name="T42" fmla="*/ 80 w 208"/>
                <a:gd name="T43" fmla="*/ 176 h 204"/>
                <a:gd name="T44" fmla="*/ 93 w 208"/>
                <a:gd name="T45" fmla="*/ 204 h 204"/>
                <a:gd name="T46" fmla="*/ 116 w 208"/>
                <a:gd name="T47" fmla="*/ 204 h 204"/>
                <a:gd name="T48" fmla="*/ 128 w 208"/>
                <a:gd name="T49" fmla="*/ 176 h 204"/>
                <a:gd name="T50" fmla="*/ 141 w 208"/>
                <a:gd name="T51" fmla="*/ 171 h 204"/>
                <a:gd name="T52" fmla="*/ 170 w 208"/>
                <a:gd name="T53" fmla="*/ 182 h 204"/>
                <a:gd name="T54" fmla="*/ 186 w 208"/>
                <a:gd name="T55" fmla="*/ 166 h 204"/>
                <a:gd name="T56" fmla="*/ 174 w 208"/>
                <a:gd name="T57" fmla="*/ 138 h 204"/>
                <a:gd name="T58" fmla="*/ 179 w 208"/>
                <a:gd name="T59" fmla="*/ 125 h 204"/>
                <a:gd name="T60" fmla="*/ 208 w 208"/>
                <a:gd name="T61" fmla="*/ 113 h 204"/>
                <a:gd name="T62" fmla="*/ 208 w 208"/>
                <a:gd name="T63" fmla="*/ 90 h 204"/>
                <a:gd name="T64" fmla="*/ 179 w 208"/>
                <a:gd name="T65" fmla="*/ 79 h 204"/>
                <a:gd name="T66" fmla="*/ 137 w 208"/>
                <a:gd name="T67" fmla="*/ 102 h 204"/>
                <a:gd name="T68" fmla="*/ 104 w 208"/>
                <a:gd name="T69" fmla="*/ 135 h 204"/>
                <a:gd name="T70" fmla="*/ 71 w 208"/>
                <a:gd name="T71" fmla="*/ 102 h 204"/>
                <a:gd name="T72" fmla="*/ 104 w 208"/>
                <a:gd name="T73" fmla="*/ 69 h 204"/>
                <a:gd name="T74" fmla="*/ 137 w 208"/>
                <a:gd name="T75" fmla="*/ 102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08" h="204">
                  <a:moveTo>
                    <a:pt x="179" y="79"/>
                  </a:moveTo>
                  <a:cubicBezTo>
                    <a:pt x="174" y="66"/>
                    <a:pt x="174" y="66"/>
                    <a:pt x="174" y="66"/>
                  </a:cubicBezTo>
                  <a:cubicBezTo>
                    <a:pt x="174" y="66"/>
                    <a:pt x="186" y="39"/>
                    <a:pt x="185" y="38"/>
                  </a:cubicBezTo>
                  <a:cubicBezTo>
                    <a:pt x="169" y="22"/>
                    <a:pt x="169" y="22"/>
                    <a:pt x="169" y="22"/>
                  </a:cubicBezTo>
                  <a:cubicBezTo>
                    <a:pt x="168" y="21"/>
                    <a:pt x="140" y="33"/>
                    <a:pt x="140" y="33"/>
                  </a:cubicBezTo>
                  <a:cubicBezTo>
                    <a:pt x="128" y="28"/>
                    <a:pt x="128" y="28"/>
                    <a:pt x="128" y="28"/>
                  </a:cubicBezTo>
                  <a:cubicBezTo>
                    <a:pt x="128" y="28"/>
                    <a:pt x="116" y="0"/>
                    <a:pt x="115" y="0"/>
                  </a:cubicBezTo>
                  <a:cubicBezTo>
                    <a:pt x="92" y="0"/>
                    <a:pt x="92" y="0"/>
                    <a:pt x="92" y="0"/>
                  </a:cubicBezTo>
                  <a:cubicBezTo>
                    <a:pt x="90" y="0"/>
                    <a:pt x="80" y="28"/>
                    <a:pt x="80" y="28"/>
                  </a:cubicBezTo>
                  <a:cubicBezTo>
                    <a:pt x="67" y="33"/>
                    <a:pt x="67" y="33"/>
                    <a:pt x="67" y="33"/>
                  </a:cubicBezTo>
                  <a:cubicBezTo>
                    <a:pt x="67" y="33"/>
                    <a:pt x="39" y="21"/>
                    <a:pt x="38" y="22"/>
                  </a:cubicBezTo>
                  <a:cubicBezTo>
                    <a:pt x="22" y="38"/>
                    <a:pt x="22" y="38"/>
                    <a:pt x="22" y="38"/>
                  </a:cubicBezTo>
                  <a:cubicBezTo>
                    <a:pt x="21" y="39"/>
                    <a:pt x="34" y="66"/>
                    <a:pt x="34" y="66"/>
                  </a:cubicBezTo>
                  <a:cubicBezTo>
                    <a:pt x="28" y="79"/>
                    <a:pt x="28" y="79"/>
                    <a:pt x="28" y="79"/>
                  </a:cubicBezTo>
                  <a:cubicBezTo>
                    <a:pt x="28" y="79"/>
                    <a:pt x="0" y="90"/>
                    <a:pt x="0" y="91"/>
                  </a:cubicBezTo>
                  <a:cubicBezTo>
                    <a:pt x="0" y="114"/>
                    <a:pt x="0" y="114"/>
                    <a:pt x="0" y="114"/>
                  </a:cubicBezTo>
                  <a:cubicBezTo>
                    <a:pt x="0" y="115"/>
                    <a:pt x="28" y="126"/>
                    <a:pt x="28" y="126"/>
                  </a:cubicBezTo>
                  <a:cubicBezTo>
                    <a:pt x="34" y="138"/>
                    <a:pt x="34" y="138"/>
                    <a:pt x="34" y="138"/>
                  </a:cubicBezTo>
                  <a:cubicBezTo>
                    <a:pt x="34" y="138"/>
                    <a:pt x="21" y="166"/>
                    <a:pt x="23" y="167"/>
                  </a:cubicBezTo>
                  <a:cubicBezTo>
                    <a:pt x="39" y="182"/>
                    <a:pt x="39" y="182"/>
                    <a:pt x="39" y="182"/>
                  </a:cubicBezTo>
                  <a:cubicBezTo>
                    <a:pt x="40" y="184"/>
                    <a:pt x="67" y="171"/>
                    <a:pt x="67" y="171"/>
                  </a:cubicBezTo>
                  <a:cubicBezTo>
                    <a:pt x="80" y="176"/>
                    <a:pt x="80" y="176"/>
                    <a:pt x="80" y="176"/>
                  </a:cubicBezTo>
                  <a:cubicBezTo>
                    <a:pt x="80" y="176"/>
                    <a:pt x="91" y="204"/>
                    <a:pt x="93" y="204"/>
                  </a:cubicBezTo>
                  <a:cubicBezTo>
                    <a:pt x="116" y="204"/>
                    <a:pt x="116" y="204"/>
                    <a:pt x="116" y="204"/>
                  </a:cubicBezTo>
                  <a:cubicBezTo>
                    <a:pt x="117" y="204"/>
                    <a:pt x="128" y="176"/>
                    <a:pt x="128" y="176"/>
                  </a:cubicBezTo>
                  <a:cubicBezTo>
                    <a:pt x="141" y="171"/>
                    <a:pt x="141" y="171"/>
                    <a:pt x="141" y="171"/>
                  </a:cubicBezTo>
                  <a:cubicBezTo>
                    <a:pt x="141" y="171"/>
                    <a:pt x="169" y="183"/>
                    <a:pt x="170" y="182"/>
                  </a:cubicBezTo>
                  <a:cubicBezTo>
                    <a:pt x="186" y="166"/>
                    <a:pt x="186" y="166"/>
                    <a:pt x="186" y="166"/>
                  </a:cubicBezTo>
                  <a:cubicBezTo>
                    <a:pt x="187" y="165"/>
                    <a:pt x="174" y="138"/>
                    <a:pt x="174" y="138"/>
                  </a:cubicBezTo>
                  <a:cubicBezTo>
                    <a:pt x="179" y="125"/>
                    <a:pt x="179" y="125"/>
                    <a:pt x="179" y="125"/>
                  </a:cubicBezTo>
                  <a:cubicBezTo>
                    <a:pt x="179" y="125"/>
                    <a:pt x="208" y="114"/>
                    <a:pt x="208" y="113"/>
                  </a:cubicBezTo>
                  <a:cubicBezTo>
                    <a:pt x="208" y="90"/>
                    <a:pt x="208" y="90"/>
                    <a:pt x="208" y="90"/>
                  </a:cubicBezTo>
                  <a:cubicBezTo>
                    <a:pt x="208" y="89"/>
                    <a:pt x="179" y="79"/>
                    <a:pt x="179" y="79"/>
                  </a:cubicBezTo>
                  <a:close/>
                  <a:moveTo>
                    <a:pt x="137" y="102"/>
                  </a:moveTo>
                  <a:cubicBezTo>
                    <a:pt x="137" y="120"/>
                    <a:pt x="122" y="135"/>
                    <a:pt x="104" y="135"/>
                  </a:cubicBezTo>
                  <a:cubicBezTo>
                    <a:pt x="86" y="135"/>
                    <a:pt x="71" y="120"/>
                    <a:pt x="71" y="102"/>
                  </a:cubicBezTo>
                  <a:cubicBezTo>
                    <a:pt x="71" y="84"/>
                    <a:pt x="86" y="69"/>
                    <a:pt x="104" y="69"/>
                  </a:cubicBezTo>
                  <a:cubicBezTo>
                    <a:pt x="122" y="69"/>
                    <a:pt x="137" y="84"/>
                    <a:pt x="137" y="102"/>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lumMod val="75000"/>
                    <a:lumOff val="25000"/>
                  </a:schemeClr>
                </a:solidFill>
                <a:cs typeface="+mn-ea"/>
                <a:sym typeface="+mn-lt"/>
              </a:endParaRPr>
            </a:p>
          </p:txBody>
        </p:sp>
      </p:grpSp>
      <p:grpSp>
        <p:nvGrpSpPr>
          <p:cNvPr id="14" name="组合 13"/>
          <p:cNvGrpSpPr/>
          <p:nvPr/>
        </p:nvGrpSpPr>
        <p:grpSpPr>
          <a:xfrm>
            <a:off x="1013663" y="2353118"/>
            <a:ext cx="507683" cy="507683"/>
            <a:chOff x="816774" y="4776910"/>
            <a:chExt cx="759650" cy="759649"/>
          </a:xfrm>
          <a:solidFill>
            <a:schemeClr val="bg1"/>
          </a:solidFill>
        </p:grpSpPr>
        <p:sp>
          <p:nvSpPr>
            <p:cNvPr id="28" name="椭圆 27"/>
            <p:cNvSpPr/>
            <p:nvPr/>
          </p:nvSpPr>
          <p:spPr>
            <a:xfrm>
              <a:off x="816774" y="4776910"/>
              <a:ext cx="759650" cy="759649"/>
            </a:xfrm>
            <a:prstGeom prst="ellipse">
              <a:avLst/>
            </a:prstGeom>
            <a:solidFill>
              <a:srgbClr val="1B4367"/>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lumMod val="75000"/>
                    <a:lumOff val="25000"/>
                  </a:schemeClr>
                </a:solidFill>
                <a:cs typeface="+mn-ea"/>
                <a:sym typeface="+mn-lt"/>
              </a:endParaRPr>
            </a:p>
          </p:txBody>
        </p:sp>
        <p:grpSp>
          <p:nvGrpSpPr>
            <p:cNvPr id="29" name="组合 28"/>
            <p:cNvGrpSpPr/>
            <p:nvPr/>
          </p:nvGrpSpPr>
          <p:grpSpPr>
            <a:xfrm>
              <a:off x="927948" y="4902209"/>
              <a:ext cx="469371" cy="442728"/>
              <a:chOff x="244475" y="2743200"/>
              <a:chExt cx="727075" cy="685800"/>
            </a:xfrm>
            <a:grpFill/>
          </p:grpSpPr>
          <p:sp>
            <p:nvSpPr>
              <p:cNvPr id="30" name="Freeform 15"/>
              <p:cNvSpPr>
                <a:spLocks noEditPoints="1"/>
              </p:cNvSpPr>
              <p:nvPr/>
            </p:nvSpPr>
            <p:spPr bwMode="auto">
              <a:xfrm>
                <a:off x="244475" y="3013075"/>
                <a:ext cx="204788" cy="415925"/>
              </a:xfrm>
              <a:custGeom>
                <a:avLst/>
                <a:gdLst>
                  <a:gd name="T0" fmla="*/ 41 w 54"/>
                  <a:gd name="T1" fmla="*/ 13 h 109"/>
                  <a:gd name="T2" fmla="*/ 41 w 54"/>
                  <a:gd name="T3" fmla="*/ 47 h 109"/>
                  <a:gd name="T4" fmla="*/ 13 w 54"/>
                  <a:gd name="T5" fmla="*/ 47 h 109"/>
                  <a:gd name="T6" fmla="*/ 13 w 54"/>
                  <a:gd name="T7" fmla="*/ 13 h 109"/>
                  <a:gd name="T8" fmla="*/ 41 w 54"/>
                  <a:gd name="T9" fmla="*/ 13 h 109"/>
                  <a:gd name="T10" fmla="*/ 50 w 54"/>
                  <a:gd name="T11" fmla="*/ 0 h 109"/>
                  <a:gd name="T12" fmla="*/ 4 w 54"/>
                  <a:gd name="T13" fmla="*/ 0 h 109"/>
                  <a:gd name="T14" fmla="*/ 0 w 54"/>
                  <a:gd name="T15" fmla="*/ 5 h 109"/>
                  <a:gd name="T16" fmla="*/ 0 w 54"/>
                  <a:gd name="T17" fmla="*/ 105 h 109"/>
                  <a:gd name="T18" fmla="*/ 4 w 54"/>
                  <a:gd name="T19" fmla="*/ 109 h 109"/>
                  <a:gd name="T20" fmla="*/ 50 w 54"/>
                  <a:gd name="T21" fmla="*/ 109 h 109"/>
                  <a:gd name="T22" fmla="*/ 54 w 54"/>
                  <a:gd name="T23" fmla="*/ 105 h 109"/>
                  <a:gd name="T24" fmla="*/ 54 w 54"/>
                  <a:gd name="T25" fmla="*/ 5 h 109"/>
                  <a:gd name="T26" fmla="*/ 50 w 54"/>
                  <a:gd name="T27" fmla="*/ 0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4" h="109">
                    <a:moveTo>
                      <a:pt x="41" y="13"/>
                    </a:moveTo>
                    <a:cubicBezTo>
                      <a:pt x="41" y="47"/>
                      <a:pt x="41" y="47"/>
                      <a:pt x="41" y="47"/>
                    </a:cubicBezTo>
                    <a:cubicBezTo>
                      <a:pt x="13" y="47"/>
                      <a:pt x="13" y="47"/>
                      <a:pt x="13" y="47"/>
                    </a:cubicBezTo>
                    <a:cubicBezTo>
                      <a:pt x="13" y="13"/>
                      <a:pt x="13" y="13"/>
                      <a:pt x="13" y="13"/>
                    </a:cubicBezTo>
                    <a:cubicBezTo>
                      <a:pt x="41" y="13"/>
                      <a:pt x="41" y="13"/>
                      <a:pt x="41" y="13"/>
                    </a:cubicBezTo>
                    <a:moveTo>
                      <a:pt x="50" y="0"/>
                    </a:moveTo>
                    <a:cubicBezTo>
                      <a:pt x="4" y="0"/>
                      <a:pt x="4" y="0"/>
                      <a:pt x="4" y="0"/>
                    </a:cubicBezTo>
                    <a:cubicBezTo>
                      <a:pt x="2" y="0"/>
                      <a:pt x="0" y="2"/>
                      <a:pt x="0" y="5"/>
                    </a:cubicBezTo>
                    <a:cubicBezTo>
                      <a:pt x="0" y="105"/>
                      <a:pt x="0" y="105"/>
                      <a:pt x="0" y="105"/>
                    </a:cubicBezTo>
                    <a:cubicBezTo>
                      <a:pt x="0" y="107"/>
                      <a:pt x="2" y="109"/>
                      <a:pt x="4" y="109"/>
                    </a:cubicBezTo>
                    <a:cubicBezTo>
                      <a:pt x="50" y="109"/>
                      <a:pt x="50" y="109"/>
                      <a:pt x="50" y="109"/>
                    </a:cubicBezTo>
                    <a:cubicBezTo>
                      <a:pt x="52" y="109"/>
                      <a:pt x="54" y="107"/>
                      <a:pt x="54" y="105"/>
                    </a:cubicBezTo>
                    <a:cubicBezTo>
                      <a:pt x="54" y="5"/>
                      <a:pt x="54" y="5"/>
                      <a:pt x="54" y="5"/>
                    </a:cubicBezTo>
                    <a:cubicBezTo>
                      <a:pt x="54" y="2"/>
                      <a:pt x="52" y="0"/>
                      <a:pt x="50" y="0"/>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lumMod val="75000"/>
                      <a:lumOff val="25000"/>
                    </a:schemeClr>
                  </a:solidFill>
                  <a:cs typeface="+mn-ea"/>
                  <a:sym typeface="+mn-lt"/>
                </a:endParaRPr>
              </a:p>
            </p:txBody>
          </p:sp>
          <p:sp>
            <p:nvSpPr>
              <p:cNvPr id="31" name="Freeform 16"/>
              <p:cNvSpPr>
                <a:spLocks noEditPoints="1"/>
              </p:cNvSpPr>
              <p:nvPr/>
            </p:nvSpPr>
            <p:spPr bwMode="auto">
              <a:xfrm>
                <a:off x="500063" y="2914650"/>
                <a:ext cx="207963" cy="514350"/>
              </a:xfrm>
              <a:custGeom>
                <a:avLst/>
                <a:gdLst>
                  <a:gd name="T0" fmla="*/ 42 w 55"/>
                  <a:gd name="T1" fmla="*/ 13 h 135"/>
                  <a:gd name="T2" fmla="*/ 42 w 55"/>
                  <a:gd name="T3" fmla="*/ 81 h 135"/>
                  <a:gd name="T4" fmla="*/ 13 w 55"/>
                  <a:gd name="T5" fmla="*/ 81 h 135"/>
                  <a:gd name="T6" fmla="*/ 13 w 55"/>
                  <a:gd name="T7" fmla="*/ 13 h 135"/>
                  <a:gd name="T8" fmla="*/ 42 w 55"/>
                  <a:gd name="T9" fmla="*/ 13 h 135"/>
                  <a:gd name="T10" fmla="*/ 51 w 55"/>
                  <a:gd name="T11" fmla="*/ 0 h 135"/>
                  <a:gd name="T12" fmla="*/ 5 w 55"/>
                  <a:gd name="T13" fmla="*/ 0 h 135"/>
                  <a:gd name="T14" fmla="*/ 0 w 55"/>
                  <a:gd name="T15" fmla="*/ 5 h 135"/>
                  <a:gd name="T16" fmla="*/ 0 w 55"/>
                  <a:gd name="T17" fmla="*/ 131 h 135"/>
                  <a:gd name="T18" fmla="*/ 5 w 55"/>
                  <a:gd name="T19" fmla="*/ 135 h 135"/>
                  <a:gd name="T20" fmla="*/ 51 w 55"/>
                  <a:gd name="T21" fmla="*/ 135 h 135"/>
                  <a:gd name="T22" fmla="*/ 55 w 55"/>
                  <a:gd name="T23" fmla="*/ 131 h 135"/>
                  <a:gd name="T24" fmla="*/ 55 w 55"/>
                  <a:gd name="T25" fmla="*/ 5 h 135"/>
                  <a:gd name="T26" fmla="*/ 51 w 55"/>
                  <a:gd name="T27" fmla="*/ 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5" h="135">
                    <a:moveTo>
                      <a:pt x="42" y="13"/>
                    </a:moveTo>
                    <a:cubicBezTo>
                      <a:pt x="42" y="81"/>
                      <a:pt x="42" y="81"/>
                      <a:pt x="42" y="81"/>
                    </a:cubicBezTo>
                    <a:cubicBezTo>
                      <a:pt x="13" y="81"/>
                      <a:pt x="13" y="81"/>
                      <a:pt x="13" y="81"/>
                    </a:cubicBezTo>
                    <a:cubicBezTo>
                      <a:pt x="13" y="13"/>
                      <a:pt x="13" y="13"/>
                      <a:pt x="13" y="13"/>
                    </a:cubicBezTo>
                    <a:cubicBezTo>
                      <a:pt x="42" y="13"/>
                      <a:pt x="42" y="13"/>
                      <a:pt x="42" y="13"/>
                    </a:cubicBezTo>
                    <a:moveTo>
                      <a:pt x="51" y="0"/>
                    </a:moveTo>
                    <a:cubicBezTo>
                      <a:pt x="5" y="0"/>
                      <a:pt x="5" y="0"/>
                      <a:pt x="5" y="0"/>
                    </a:cubicBezTo>
                    <a:cubicBezTo>
                      <a:pt x="2" y="0"/>
                      <a:pt x="0" y="2"/>
                      <a:pt x="0" y="5"/>
                    </a:cubicBezTo>
                    <a:cubicBezTo>
                      <a:pt x="0" y="131"/>
                      <a:pt x="0" y="131"/>
                      <a:pt x="0" y="131"/>
                    </a:cubicBezTo>
                    <a:cubicBezTo>
                      <a:pt x="0" y="133"/>
                      <a:pt x="2" y="135"/>
                      <a:pt x="5" y="135"/>
                    </a:cubicBezTo>
                    <a:cubicBezTo>
                      <a:pt x="51" y="135"/>
                      <a:pt x="51" y="135"/>
                      <a:pt x="51" y="135"/>
                    </a:cubicBezTo>
                    <a:cubicBezTo>
                      <a:pt x="53" y="135"/>
                      <a:pt x="55" y="133"/>
                      <a:pt x="55" y="131"/>
                    </a:cubicBezTo>
                    <a:cubicBezTo>
                      <a:pt x="55" y="5"/>
                      <a:pt x="55" y="5"/>
                      <a:pt x="55" y="5"/>
                    </a:cubicBezTo>
                    <a:cubicBezTo>
                      <a:pt x="55" y="2"/>
                      <a:pt x="53" y="0"/>
                      <a:pt x="51" y="0"/>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lumMod val="75000"/>
                      <a:lumOff val="25000"/>
                    </a:schemeClr>
                  </a:solidFill>
                  <a:cs typeface="+mn-ea"/>
                  <a:sym typeface="+mn-lt"/>
                </a:endParaRPr>
              </a:p>
            </p:txBody>
          </p:sp>
          <p:sp>
            <p:nvSpPr>
              <p:cNvPr id="32" name="Freeform 17"/>
              <p:cNvSpPr>
                <a:spLocks noEditPoints="1"/>
              </p:cNvSpPr>
              <p:nvPr/>
            </p:nvSpPr>
            <p:spPr bwMode="auto">
              <a:xfrm>
                <a:off x="762000" y="2743200"/>
                <a:ext cx="209550" cy="685800"/>
              </a:xfrm>
              <a:custGeom>
                <a:avLst/>
                <a:gdLst>
                  <a:gd name="T0" fmla="*/ 42 w 55"/>
                  <a:gd name="T1" fmla="*/ 13 h 180"/>
                  <a:gd name="T2" fmla="*/ 42 w 55"/>
                  <a:gd name="T3" fmla="*/ 96 h 180"/>
                  <a:gd name="T4" fmla="*/ 13 w 55"/>
                  <a:gd name="T5" fmla="*/ 96 h 180"/>
                  <a:gd name="T6" fmla="*/ 13 w 55"/>
                  <a:gd name="T7" fmla="*/ 13 h 180"/>
                  <a:gd name="T8" fmla="*/ 42 w 55"/>
                  <a:gd name="T9" fmla="*/ 13 h 180"/>
                  <a:gd name="T10" fmla="*/ 50 w 55"/>
                  <a:gd name="T11" fmla="*/ 0 h 180"/>
                  <a:gd name="T12" fmla="*/ 4 w 55"/>
                  <a:gd name="T13" fmla="*/ 0 h 180"/>
                  <a:gd name="T14" fmla="*/ 0 w 55"/>
                  <a:gd name="T15" fmla="*/ 4 h 180"/>
                  <a:gd name="T16" fmla="*/ 0 w 55"/>
                  <a:gd name="T17" fmla="*/ 176 h 180"/>
                  <a:gd name="T18" fmla="*/ 4 w 55"/>
                  <a:gd name="T19" fmla="*/ 180 h 180"/>
                  <a:gd name="T20" fmla="*/ 50 w 55"/>
                  <a:gd name="T21" fmla="*/ 180 h 180"/>
                  <a:gd name="T22" fmla="*/ 55 w 55"/>
                  <a:gd name="T23" fmla="*/ 176 h 180"/>
                  <a:gd name="T24" fmla="*/ 55 w 55"/>
                  <a:gd name="T25" fmla="*/ 4 h 180"/>
                  <a:gd name="T26" fmla="*/ 50 w 55"/>
                  <a:gd name="T27" fmla="*/ 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5" h="180">
                    <a:moveTo>
                      <a:pt x="42" y="13"/>
                    </a:moveTo>
                    <a:cubicBezTo>
                      <a:pt x="42" y="96"/>
                      <a:pt x="42" y="96"/>
                      <a:pt x="42" y="96"/>
                    </a:cubicBezTo>
                    <a:cubicBezTo>
                      <a:pt x="13" y="96"/>
                      <a:pt x="13" y="96"/>
                      <a:pt x="13" y="96"/>
                    </a:cubicBezTo>
                    <a:cubicBezTo>
                      <a:pt x="13" y="13"/>
                      <a:pt x="13" y="13"/>
                      <a:pt x="13" y="13"/>
                    </a:cubicBezTo>
                    <a:cubicBezTo>
                      <a:pt x="42" y="13"/>
                      <a:pt x="42" y="13"/>
                      <a:pt x="42" y="13"/>
                    </a:cubicBezTo>
                    <a:moveTo>
                      <a:pt x="50" y="0"/>
                    </a:moveTo>
                    <a:cubicBezTo>
                      <a:pt x="4" y="0"/>
                      <a:pt x="4" y="0"/>
                      <a:pt x="4" y="0"/>
                    </a:cubicBezTo>
                    <a:cubicBezTo>
                      <a:pt x="2" y="0"/>
                      <a:pt x="0" y="2"/>
                      <a:pt x="0" y="4"/>
                    </a:cubicBezTo>
                    <a:cubicBezTo>
                      <a:pt x="0" y="176"/>
                      <a:pt x="0" y="176"/>
                      <a:pt x="0" y="176"/>
                    </a:cubicBezTo>
                    <a:cubicBezTo>
                      <a:pt x="0" y="178"/>
                      <a:pt x="2" y="180"/>
                      <a:pt x="4" y="180"/>
                    </a:cubicBezTo>
                    <a:cubicBezTo>
                      <a:pt x="50" y="180"/>
                      <a:pt x="50" y="180"/>
                      <a:pt x="50" y="180"/>
                    </a:cubicBezTo>
                    <a:cubicBezTo>
                      <a:pt x="53" y="180"/>
                      <a:pt x="55" y="178"/>
                      <a:pt x="55" y="176"/>
                    </a:cubicBezTo>
                    <a:cubicBezTo>
                      <a:pt x="55" y="4"/>
                      <a:pt x="55" y="4"/>
                      <a:pt x="55" y="4"/>
                    </a:cubicBezTo>
                    <a:cubicBezTo>
                      <a:pt x="55" y="2"/>
                      <a:pt x="53" y="0"/>
                      <a:pt x="50" y="0"/>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lumMod val="75000"/>
                      <a:lumOff val="25000"/>
                    </a:schemeClr>
                  </a:solidFill>
                  <a:cs typeface="+mn-ea"/>
                  <a:sym typeface="+mn-lt"/>
                </a:endParaRPr>
              </a:p>
            </p:txBody>
          </p:sp>
        </p:grpSp>
      </p:grpSp>
      <p:grpSp>
        <p:nvGrpSpPr>
          <p:cNvPr id="5" name="组合 4"/>
          <p:cNvGrpSpPr/>
          <p:nvPr/>
        </p:nvGrpSpPr>
        <p:grpSpPr>
          <a:xfrm>
            <a:off x="1000331" y="1288351"/>
            <a:ext cx="507683" cy="507683"/>
            <a:chOff x="3424768" y="2961096"/>
            <a:chExt cx="759650" cy="759649"/>
          </a:xfrm>
          <a:solidFill>
            <a:schemeClr val="bg1"/>
          </a:solidFill>
        </p:grpSpPr>
        <p:sp>
          <p:nvSpPr>
            <p:cNvPr id="21" name="椭圆 20"/>
            <p:cNvSpPr/>
            <p:nvPr/>
          </p:nvSpPr>
          <p:spPr>
            <a:xfrm>
              <a:off x="3424768" y="2961096"/>
              <a:ext cx="759650" cy="759649"/>
            </a:xfrm>
            <a:prstGeom prst="ellipse">
              <a:avLst/>
            </a:prstGeom>
            <a:solidFill>
              <a:srgbClr val="1B4367"/>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lumMod val="75000"/>
                    <a:lumOff val="25000"/>
                  </a:schemeClr>
                </a:solidFill>
                <a:cs typeface="+mn-ea"/>
                <a:sym typeface="+mn-lt"/>
              </a:endParaRPr>
            </a:p>
          </p:txBody>
        </p:sp>
        <p:grpSp>
          <p:nvGrpSpPr>
            <p:cNvPr id="22" name="组合 21"/>
            <p:cNvGrpSpPr/>
            <p:nvPr/>
          </p:nvGrpSpPr>
          <p:grpSpPr>
            <a:xfrm>
              <a:off x="3602043" y="3071238"/>
              <a:ext cx="405347" cy="482677"/>
              <a:chOff x="10787673" y="2508217"/>
              <a:chExt cx="478426" cy="569698"/>
            </a:xfrm>
            <a:grpFill/>
          </p:grpSpPr>
          <p:sp>
            <p:nvSpPr>
              <p:cNvPr id="23" name="Freeform 25"/>
              <p:cNvSpPr>
                <a:spLocks noEditPoints="1"/>
              </p:cNvSpPr>
              <p:nvPr/>
            </p:nvSpPr>
            <p:spPr bwMode="auto">
              <a:xfrm>
                <a:off x="10787673" y="2508217"/>
                <a:ext cx="478426" cy="569698"/>
              </a:xfrm>
              <a:custGeom>
                <a:avLst/>
                <a:gdLst>
                  <a:gd name="T0" fmla="*/ 145 w 156"/>
                  <a:gd name="T1" fmla="*/ 22 h 178"/>
                  <a:gd name="T2" fmla="*/ 134 w 156"/>
                  <a:gd name="T3" fmla="*/ 22 h 178"/>
                  <a:gd name="T4" fmla="*/ 134 w 156"/>
                  <a:gd name="T5" fmla="*/ 11 h 178"/>
                  <a:gd name="T6" fmla="*/ 123 w 156"/>
                  <a:gd name="T7" fmla="*/ 0 h 178"/>
                  <a:gd name="T8" fmla="*/ 11 w 156"/>
                  <a:gd name="T9" fmla="*/ 0 h 178"/>
                  <a:gd name="T10" fmla="*/ 0 w 156"/>
                  <a:gd name="T11" fmla="*/ 11 h 178"/>
                  <a:gd name="T12" fmla="*/ 0 w 156"/>
                  <a:gd name="T13" fmla="*/ 145 h 178"/>
                  <a:gd name="T14" fmla="*/ 11 w 156"/>
                  <a:gd name="T15" fmla="*/ 156 h 178"/>
                  <a:gd name="T16" fmla="*/ 22 w 156"/>
                  <a:gd name="T17" fmla="*/ 156 h 178"/>
                  <a:gd name="T18" fmla="*/ 22 w 156"/>
                  <a:gd name="T19" fmla="*/ 167 h 178"/>
                  <a:gd name="T20" fmla="*/ 33 w 156"/>
                  <a:gd name="T21" fmla="*/ 178 h 178"/>
                  <a:gd name="T22" fmla="*/ 145 w 156"/>
                  <a:gd name="T23" fmla="*/ 178 h 178"/>
                  <a:gd name="T24" fmla="*/ 156 w 156"/>
                  <a:gd name="T25" fmla="*/ 167 h 178"/>
                  <a:gd name="T26" fmla="*/ 156 w 156"/>
                  <a:gd name="T27" fmla="*/ 33 h 178"/>
                  <a:gd name="T28" fmla="*/ 145 w 156"/>
                  <a:gd name="T29" fmla="*/ 22 h 178"/>
                  <a:gd name="T30" fmla="*/ 11 w 156"/>
                  <a:gd name="T31" fmla="*/ 145 h 178"/>
                  <a:gd name="T32" fmla="*/ 11 w 156"/>
                  <a:gd name="T33" fmla="*/ 11 h 178"/>
                  <a:gd name="T34" fmla="*/ 123 w 156"/>
                  <a:gd name="T35" fmla="*/ 11 h 178"/>
                  <a:gd name="T36" fmla="*/ 123 w 156"/>
                  <a:gd name="T37" fmla="*/ 145 h 178"/>
                  <a:gd name="T38" fmla="*/ 11 w 156"/>
                  <a:gd name="T39" fmla="*/ 145 h 178"/>
                  <a:gd name="T40" fmla="*/ 145 w 156"/>
                  <a:gd name="T41" fmla="*/ 167 h 178"/>
                  <a:gd name="T42" fmla="*/ 33 w 156"/>
                  <a:gd name="T43" fmla="*/ 167 h 178"/>
                  <a:gd name="T44" fmla="*/ 33 w 156"/>
                  <a:gd name="T45" fmla="*/ 156 h 178"/>
                  <a:gd name="T46" fmla="*/ 123 w 156"/>
                  <a:gd name="T47" fmla="*/ 156 h 178"/>
                  <a:gd name="T48" fmla="*/ 134 w 156"/>
                  <a:gd name="T49" fmla="*/ 145 h 178"/>
                  <a:gd name="T50" fmla="*/ 134 w 156"/>
                  <a:gd name="T51" fmla="*/ 33 h 178"/>
                  <a:gd name="T52" fmla="*/ 145 w 156"/>
                  <a:gd name="T53" fmla="*/ 33 h 178"/>
                  <a:gd name="T54" fmla="*/ 145 w 156"/>
                  <a:gd name="T55" fmla="*/ 167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56" h="178">
                    <a:moveTo>
                      <a:pt x="145" y="22"/>
                    </a:moveTo>
                    <a:cubicBezTo>
                      <a:pt x="134" y="22"/>
                      <a:pt x="134" y="22"/>
                      <a:pt x="134" y="22"/>
                    </a:cubicBezTo>
                    <a:cubicBezTo>
                      <a:pt x="134" y="11"/>
                      <a:pt x="134" y="11"/>
                      <a:pt x="134" y="11"/>
                    </a:cubicBezTo>
                    <a:cubicBezTo>
                      <a:pt x="134" y="5"/>
                      <a:pt x="129" y="0"/>
                      <a:pt x="123" y="0"/>
                    </a:cubicBezTo>
                    <a:cubicBezTo>
                      <a:pt x="11" y="0"/>
                      <a:pt x="11" y="0"/>
                      <a:pt x="11" y="0"/>
                    </a:cubicBezTo>
                    <a:cubicBezTo>
                      <a:pt x="5" y="0"/>
                      <a:pt x="0" y="5"/>
                      <a:pt x="0" y="11"/>
                    </a:cubicBezTo>
                    <a:cubicBezTo>
                      <a:pt x="0" y="145"/>
                      <a:pt x="0" y="145"/>
                      <a:pt x="0" y="145"/>
                    </a:cubicBezTo>
                    <a:cubicBezTo>
                      <a:pt x="0" y="151"/>
                      <a:pt x="5" y="156"/>
                      <a:pt x="11" y="156"/>
                    </a:cubicBezTo>
                    <a:cubicBezTo>
                      <a:pt x="22" y="156"/>
                      <a:pt x="22" y="156"/>
                      <a:pt x="22" y="156"/>
                    </a:cubicBezTo>
                    <a:cubicBezTo>
                      <a:pt x="22" y="167"/>
                      <a:pt x="22" y="167"/>
                      <a:pt x="22" y="167"/>
                    </a:cubicBezTo>
                    <a:cubicBezTo>
                      <a:pt x="22" y="173"/>
                      <a:pt x="27" y="178"/>
                      <a:pt x="33" y="178"/>
                    </a:cubicBezTo>
                    <a:cubicBezTo>
                      <a:pt x="145" y="178"/>
                      <a:pt x="145" y="178"/>
                      <a:pt x="145" y="178"/>
                    </a:cubicBezTo>
                    <a:cubicBezTo>
                      <a:pt x="151" y="178"/>
                      <a:pt x="156" y="173"/>
                      <a:pt x="156" y="167"/>
                    </a:cubicBezTo>
                    <a:cubicBezTo>
                      <a:pt x="156" y="33"/>
                      <a:pt x="156" y="33"/>
                      <a:pt x="156" y="33"/>
                    </a:cubicBezTo>
                    <a:cubicBezTo>
                      <a:pt x="156" y="27"/>
                      <a:pt x="151" y="22"/>
                      <a:pt x="145" y="22"/>
                    </a:cubicBezTo>
                    <a:close/>
                    <a:moveTo>
                      <a:pt x="11" y="145"/>
                    </a:moveTo>
                    <a:cubicBezTo>
                      <a:pt x="11" y="11"/>
                      <a:pt x="11" y="11"/>
                      <a:pt x="11" y="11"/>
                    </a:cubicBezTo>
                    <a:cubicBezTo>
                      <a:pt x="123" y="11"/>
                      <a:pt x="123" y="11"/>
                      <a:pt x="123" y="11"/>
                    </a:cubicBezTo>
                    <a:cubicBezTo>
                      <a:pt x="123" y="145"/>
                      <a:pt x="123" y="145"/>
                      <a:pt x="123" y="145"/>
                    </a:cubicBezTo>
                    <a:lnTo>
                      <a:pt x="11" y="145"/>
                    </a:lnTo>
                    <a:close/>
                    <a:moveTo>
                      <a:pt x="145" y="167"/>
                    </a:moveTo>
                    <a:cubicBezTo>
                      <a:pt x="33" y="167"/>
                      <a:pt x="33" y="167"/>
                      <a:pt x="33" y="167"/>
                    </a:cubicBezTo>
                    <a:cubicBezTo>
                      <a:pt x="33" y="156"/>
                      <a:pt x="33" y="156"/>
                      <a:pt x="33" y="156"/>
                    </a:cubicBezTo>
                    <a:cubicBezTo>
                      <a:pt x="123" y="156"/>
                      <a:pt x="123" y="156"/>
                      <a:pt x="123" y="156"/>
                    </a:cubicBezTo>
                    <a:cubicBezTo>
                      <a:pt x="129" y="156"/>
                      <a:pt x="134" y="151"/>
                      <a:pt x="134" y="145"/>
                    </a:cubicBezTo>
                    <a:cubicBezTo>
                      <a:pt x="134" y="33"/>
                      <a:pt x="134" y="33"/>
                      <a:pt x="134" y="33"/>
                    </a:cubicBezTo>
                    <a:cubicBezTo>
                      <a:pt x="145" y="33"/>
                      <a:pt x="145" y="33"/>
                      <a:pt x="145" y="33"/>
                    </a:cubicBezTo>
                    <a:lnTo>
                      <a:pt x="145" y="167"/>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lumMod val="75000"/>
                      <a:lumOff val="25000"/>
                    </a:schemeClr>
                  </a:solidFill>
                  <a:cs typeface="+mn-ea"/>
                  <a:sym typeface="+mn-lt"/>
                </a:endParaRPr>
              </a:p>
            </p:txBody>
          </p:sp>
          <p:sp>
            <p:nvSpPr>
              <p:cNvPr id="24" name="Freeform 26"/>
              <p:cNvSpPr/>
              <p:nvPr/>
            </p:nvSpPr>
            <p:spPr bwMode="auto">
              <a:xfrm>
                <a:off x="10925460" y="2614454"/>
                <a:ext cx="205404" cy="34527"/>
              </a:xfrm>
              <a:custGeom>
                <a:avLst/>
                <a:gdLst>
                  <a:gd name="T0" fmla="*/ 61 w 67"/>
                  <a:gd name="T1" fmla="*/ 0 h 11"/>
                  <a:gd name="T2" fmla="*/ 5 w 67"/>
                  <a:gd name="T3" fmla="*/ 0 h 11"/>
                  <a:gd name="T4" fmla="*/ 0 w 67"/>
                  <a:gd name="T5" fmla="*/ 6 h 11"/>
                  <a:gd name="T6" fmla="*/ 5 w 67"/>
                  <a:gd name="T7" fmla="*/ 11 h 11"/>
                  <a:gd name="T8" fmla="*/ 61 w 67"/>
                  <a:gd name="T9" fmla="*/ 11 h 11"/>
                  <a:gd name="T10" fmla="*/ 67 w 67"/>
                  <a:gd name="T11" fmla="*/ 6 h 11"/>
                  <a:gd name="T12" fmla="*/ 61 w 67"/>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67" h="11">
                    <a:moveTo>
                      <a:pt x="61" y="0"/>
                    </a:moveTo>
                    <a:cubicBezTo>
                      <a:pt x="5" y="0"/>
                      <a:pt x="5" y="0"/>
                      <a:pt x="5" y="0"/>
                    </a:cubicBezTo>
                    <a:cubicBezTo>
                      <a:pt x="2" y="0"/>
                      <a:pt x="0" y="3"/>
                      <a:pt x="0" y="6"/>
                    </a:cubicBezTo>
                    <a:cubicBezTo>
                      <a:pt x="0" y="9"/>
                      <a:pt x="2" y="11"/>
                      <a:pt x="5" y="11"/>
                    </a:cubicBezTo>
                    <a:cubicBezTo>
                      <a:pt x="61" y="11"/>
                      <a:pt x="61" y="11"/>
                      <a:pt x="61" y="11"/>
                    </a:cubicBezTo>
                    <a:cubicBezTo>
                      <a:pt x="64" y="11"/>
                      <a:pt x="67" y="9"/>
                      <a:pt x="67" y="6"/>
                    </a:cubicBezTo>
                    <a:cubicBezTo>
                      <a:pt x="67" y="3"/>
                      <a:pt x="64" y="0"/>
                      <a:pt x="61" y="0"/>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lumMod val="75000"/>
                      <a:lumOff val="25000"/>
                    </a:schemeClr>
                  </a:solidFill>
                  <a:cs typeface="+mn-ea"/>
                  <a:sym typeface="+mn-lt"/>
                </a:endParaRPr>
              </a:p>
            </p:txBody>
          </p:sp>
          <p:sp>
            <p:nvSpPr>
              <p:cNvPr id="25" name="Freeform 27"/>
              <p:cNvSpPr/>
              <p:nvPr/>
            </p:nvSpPr>
            <p:spPr bwMode="auto">
              <a:xfrm>
                <a:off x="10854015" y="2723348"/>
                <a:ext cx="276849" cy="34527"/>
              </a:xfrm>
              <a:custGeom>
                <a:avLst/>
                <a:gdLst>
                  <a:gd name="T0" fmla="*/ 84 w 90"/>
                  <a:gd name="T1" fmla="*/ 0 h 11"/>
                  <a:gd name="T2" fmla="*/ 6 w 90"/>
                  <a:gd name="T3" fmla="*/ 0 h 11"/>
                  <a:gd name="T4" fmla="*/ 0 w 90"/>
                  <a:gd name="T5" fmla="*/ 5 h 11"/>
                  <a:gd name="T6" fmla="*/ 6 w 90"/>
                  <a:gd name="T7" fmla="*/ 11 h 11"/>
                  <a:gd name="T8" fmla="*/ 84 w 90"/>
                  <a:gd name="T9" fmla="*/ 11 h 11"/>
                  <a:gd name="T10" fmla="*/ 90 w 90"/>
                  <a:gd name="T11" fmla="*/ 5 h 11"/>
                  <a:gd name="T12" fmla="*/ 84 w 90"/>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90" h="11">
                    <a:moveTo>
                      <a:pt x="84" y="0"/>
                    </a:moveTo>
                    <a:cubicBezTo>
                      <a:pt x="6" y="0"/>
                      <a:pt x="6" y="0"/>
                      <a:pt x="6" y="0"/>
                    </a:cubicBezTo>
                    <a:cubicBezTo>
                      <a:pt x="3" y="0"/>
                      <a:pt x="0" y="2"/>
                      <a:pt x="0" y="5"/>
                    </a:cubicBezTo>
                    <a:cubicBezTo>
                      <a:pt x="0" y="8"/>
                      <a:pt x="3" y="11"/>
                      <a:pt x="6" y="11"/>
                    </a:cubicBezTo>
                    <a:cubicBezTo>
                      <a:pt x="84" y="11"/>
                      <a:pt x="84" y="11"/>
                      <a:pt x="84" y="11"/>
                    </a:cubicBezTo>
                    <a:cubicBezTo>
                      <a:pt x="87" y="11"/>
                      <a:pt x="90" y="8"/>
                      <a:pt x="90" y="5"/>
                    </a:cubicBezTo>
                    <a:cubicBezTo>
                      <a:pt x="90" y="2"/>
                      <a:pt x="87" y="0"/>
                      <a:pt x="84" y="0"/>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lumMod val="75000"/>
                      <a:lumOff val="25000"/>
                    </a:schemeClr>
                  </a:solidFill>
                  <a:cs typeface="+mn-ea"/>
                  <a:sym typeface="+mn-lt"/>
                </a:endParaRPr>
              </a:p>
            </p:txBody>
          </p:sp>
          <p:sp>
            <p:nvSpPr>
              <p:cNvPr id="26" name="Freeform 28"/>
              <p:cNvSpPr/>
              <p:nvPr/>
            </p:nvSpPr>
            <p:spPr bwMode="auto">
              <a:xfrm>
                <a:off x="10854015" y="2793730"/>
                <a:ext cx="276849" cy="34527"/>
              </a:xfrm>
              <a:custGeom>
                <a:avLst/>
                <a:gdLst>
                  <a:gd name="T0" fmla="*/ 84 w 90"/>
                  <a:gd name="T1" fmla="*/ 0 h 11"/>
                  <a:gd name="T2" fmla="*/ 6 w 90"/>
                  <a:gd name="T3" fmla="*/ 0 h 11"/>
                  <a:gd name="T4" fmla="*/ 0 w 90"/>
                  <a:gd name="T5" fmla="*/ 6 h 11"/>
                  <a:gd name="T6" fmla="*/ 6 w 90"/>
                  <a:gd name="T7" fmla="*/ 11 h 11"/>
                  <a:gd name="T8" fmla="*/ 84 w 90"/>
                  <a:gd name="T9" fmla="*/ 11 h 11"/>
                  <a:gd name="T10" fmla="*/ 90 w 90"/>
                  <a:gd name="T11" fmla="*/ 6 h 11"/>
                  <a:gd name="T12" fmla="*/ 84 w 90"/>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90" h="11">
                    <a:moveTo>
                      <a:pt x="84" y="0"/>
                    </a:moveTo>
                    <a:cubicBezTo>
                      <a:pt x="6" y="0"/>
                      <a:pt x="6" y="0"/>
                      <a:pt x="6" y="0"/>
                    </a:cubicBezTo>
                    <a:cubicBezTo>
                      <a:pt x="3" y="0"/>
                      <a:pt x="0" y="3"/>
                      <a:pt x="0" y="6"/>
                    </a:cubicBezTo>
                    <a:cubicBezTo>
                      <a:pt x="0" y="9"/>
                      <a:pt x="3" y="11"/>
                      <a:pt x="6" y="11"/>
                    </a:cubicBezTo>
                    <a:cubicBezTo>
                      <a:pt x="84" y="11"/>
                      <a:pt x="84" y="11"/>
                      <a:pt x="84" y="11"/>
                    </a:cubicBezTo>
                    <a:cubicBezTo>
                      <a:pt x="87" y="11"/>
                      <a:pt x="90" y="9"/>
                      <a:pt x="90" y="6"/>
                    </a:cubicBezTo>
                    <a:cubicBezTo>
                      <a:pt x="90" y="3"/>
                      <a:pt x="87" y="0"/>
                      <a:pt x="84" y="0"/>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lumMod val="75000"/>
                      <a:lumOff val="25000"/>
                    </a:schemeClr>
                  </a:solidFill>
                  <a:cs typeface="+mn-ea"/>
                  <a:sym typeface="+mn-lt"/>
                </a:endParaRPr>
              </a:p>
            </p:txBody>
          </p:sp>
          <p:sp>
            <p:nvSpPr>
              <p:cNvPr id="27" name="Freeform 29"/>
              <p:cNvSpPr/>
              <p:nvPr/>
            </p:nvSpPr>
            <p:spPr bwMode="auto">
              <a:xfrm>
                <a:off x="10854015" y="2862784"/>
                <a:ext cx="276849" cy="38511"/>
              </a:xfrm>
              <a:custGeom>
                <a:avLst/>
                <a:gdLst>
                  <a:gd name="T0" fmla="*/ 84 w 90"/>
                  <a:gd name="T1" fmla="*/ 0 h 12"/>
                  <a:gd name="T2" fmla="*/ 6 w 90"/>
                  <a:gd name="T3" fmla="*/ 0 h 12"/>
                  <a:gd name="T4" fmla="*/ 0 w 90"/>
                  <a:gd name="T5" fmla="*/ 6 h 12"/>
                  <a:gd name="T6" fmla="*/ 6 w 90"/>
                  <a:gd name="T7" fmla="*/ 12 h 12"/>
                  <a:gd name="T8" fmla="*/ 84 w 90"/>
                  <a:gd name="T9" fmla="*/ 12 h 12"/>
                  <a:gd name="T10" fmla="*/ 90 w 90"/>
                  <a:gd name="T11" fmla="*/ 6 h 12"/>
                  <a:gd name="T12" fmla="*/ 84 w 90"/>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90" h="12">
                    <a:moveTo>
                      <a:pt x="84" y="0"/>
                    </a:moveTo>
                    <a:cubicBezTo>
                      <a:pt x="6" y="0"/>
                      <a:pt x="6" y="0"/>
                      <a:pt x="6" y="0"/>
                    </a:cubicBezTo>
                    <a:cubicBezTo>
                      <a:pt x="3" y="0"/>
                      <a:pt x="0" y="3"/>
                      <a:pt x="0" y="6"/>
                    </a:cubicBezTo>
                    <a:cubicBezTo>
                      <a:pt x="0" y="9"/>
                      <a:pt x="3" y="12"/>
                      <a:pt x="6" y="12"/>
                    </a:cubicBezTo>
                    <a:cubicBezTo>
                      <a:pt x="84" y="12"/>
                      <a:pt x="84" y="12"/>
                      <a:pt x="84" y="12"/>
                    </a:cubicBezTo>
                    <a:cubicBezTo>
                      <a:pt x="87" y="12"/>
                      <a:pt x="90" y="9"/>
                      <a:pt x="90" y="6"/>
                    </a:cubicBezTo>
                    <a:cubicBezTo>
                      <a:pt x="90" y="3"/>
                      <a:pt x="87" y="0"/>
                      <a:pt x="84" y="0"/>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lumMod val="75000"/>
                      <a:lumOff val="25000"/>
                    </a:schemeClr>
                  </a:solidFill>
                  <a:cs typeface="+mn-ea"/>
                  <a:sym typeface="+mn-lt"/>
                </a:endParaRPr>
              </a:p>
            </p:txBody>
          </p:sp>
        </p:grpSp>
      </p:grpSp>
      <p:grpSp>
        <p:nvGrpSpPr>
          <p:cNvPr id="19" name="组合 18"/>
          <p:cNvGrpSpPr/>
          <p:nvPr/>
        </p:nvGrpSpPr>
        <p:grpSpPr>
          <a:xfrm>
            <a:off x="968559" y="3382905"/>
            <a:ext cx="507683" cy="507683"/>
            <a:chOff x="3424768" y="1611109"/>
            <a:chExt cx="759650" cy="759649"/>
          </a:xfrm>
          <a:solidFill>
            <a:schemeClr val="bg1"/>
          </a:solidFill>
        </p:grpSpPr>
        <p:sp>
          <p:nvSpPr>
            <p:cNvPr id="33" name="椭圆 32"/>
            <p:cNvSpPr/>
            <p:nvPr/>
          </p:nvSpPr>
          <p:spPr>
            <a:xfrm>
              <a:off x="3424768" y="1611109"/>
              <a:ext cx="759650" cy="759649"/>
            </a:xfrm>
            <a:prstGeom prst="ellipse">
              <a:avLst/>
            </a:prstGeom>
            <a:solidFill>
              <a:srgbClr val="1B4367"/>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lumMod val="75000"/>
                    <a:lumOff val="25000"/>
                  </a:schemeClr>
                </a:solidFill>
                <a:cs typeface="+mn-ea"/>
                <a:sym typeface="+mn-lt"/>
              </a:endParaRPr>
            </a:p>
          </p:txBody>
        </p:sp>
        <p:sp>
          <p:nvSpPr>
            <p:cNvPr id="34" name="Freeform 5"/>
            <p:cNvSpPr>
              <a:spLocks noEditPoints="1"/>
            </p:cNvSpPr>
            <p:nvPr/>
          </p:nvSpPr>
          <p:spPr bwMode="auto">
            <a:xfrm>
              <a:off x="3524311" y="1805900"/>
              <a:ext cx="555723" cy="348110"/>
            </a:xfrm>
            <a:custGeom>
              <a:avLst/>
              <a:gdLst>
                <a:gd name="T0" fmla="*/ 211 w 260"/>
                <a:gd name="T1" fmla="*/ 65 h 162"/>
                <a:gd name="T2" fmla="*/ 146 w 260"/>
                <a:gd name="T3" fmla="*/ 0 h 162"/>
                <a:gd name="T4" fmla="*/ 90 w 260"/>
                <a:gd name="T5" fmla="*/ 33 h 162"/>
                <a:gd name="T6" fmla="*/ 81 w 260"/>
                <a:gd name="T7" fmla="*/ 32 h 162"/>
                <a:gd name="T8" fmla="*/ 35 w 260"/>
                <a:gd name="T9" fmla="*/ 67 h 162"/>
                <a:gd name="T10" fmla="*/ 0 w 260"/>
                <a:gd name="T11" fmla="*/ 114 h 162"/>
                <a:gd name="T12" fmla="*/ 49 w 260"/>
                <a:gd name="T13" fmla="*/ 162 h 162"/>
                <a:gd name="T14" fmla="*/ 211 w 260"/>
                <a:gd name="T15" fmla="*/ 162 h 162"/>
                <a:gd name="T16" fmla="*/ 260 w 260"/>
                <a:gd name="T17" fmla="*/ 114 h 162"/>
                <a:gd name="T18" fmla="*/ 211 w 260"/>
                <a:gd name="T19" fmla="*/ 65 h 162"/>
                <a:gd name="T20" fmla="*/ 130 w 260"/>
                <a:gd name="T21" fmla="*/ 146 h 162"/>
                <a:gd name="T22" fmla="*/ 81 w 260"/>
                <a:gd name="T23" fmla="*/ 81 h 162"/>
                <a:gd name="T24" fmla="*/ 114 w 260"/>
                <a:gd name="T25" fmla="*/ 81 h 162"/>
                <a:gd name="T26" fmla="*/ 114 w 260"/>
                <a:gd name="T27" fmla="*/ 32 h 162"/>
                <a:gd name="T28" fmla="*/ 146 w 260"/>
                <a:gd name="T29" fmla="*/ 32 h 162"/>
                <a:gd name="T30" fmla="*/ 146 w 260"/>
                <a:gd name="T31" fmla="*/ 81 h 162"/>
                <a:gd name="T32" fmla="*/ 179 w 260"/>
                <a:gd name="T33" fmla="*/ 81 h 162"/>
                <a:gd name="T34" fmla="*/ 130 w 260"/>
                <a:gd name="T35" fmla="*/ 146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60" h="162">
                  <a:moveTo>
                    <a:pt x="211" y="65"/>
                  </a:moveTo>
                  <a:cubicBezTo>
                    <a:pt x="211" y="29"/>
                    <a:pt x="182" y="0"/>
                    <a:pt x="146" y="0"/>
                  </a:cubicBezTo>
                  <a:cubicBezTo>
                    <a:pt x="122" y="0"/>
                    <a:pt x="101" y="13"/>
                    <a:pt x="90" y="33"/>
                  </a:cubicBezTo>
                  <a:cubicBezTo>
                    <a:pt x="87" y="33"/>
                    <a:pt x="84" y="32"/>
                    <a:pt x="81" y="32"/>
                  </a:cubicBezTo>
                  <a:cubicBezTo>
                    <a:pt x="59" y="32"/>
                    <a:pt x="41" y="47"/>
                    <a:pt x="35" y="67"/>
                  </a:cubicBezTo>
                  <a:cubicBezTo>
                    <a:pt x="15" y="73"/>
                    <a:pt x="0" y="92"/>
                    <a:pt x="0" y="114"/>
                  </a:cubicBezTo>
                  <a:cubicBezTo>
                    <a:pt x="0" y="140"/>
                    <a:pt x="22" y="162"/>
                    <a:pt x="49" y="162"/>
                  </a:cubicBezTo>
                  <a:cubicBezTo>
                    <a:pt x="211" y="162"/>
                    <a:pt x="211" y="162"/>
                    <a:pt x="211" y="162"/>
                  </a:cubicBezTo>
                  <a:cubicBezTo>
                    <a:pt x="238" y="162"/>
                    <a:pt x="260" y="140"/>
                    <a:pt x="260" y="114"/>
                  </a:cubicBezTo>
                  <a:cubicBezTo>
                    <a:pt x="260" y="87"/>
                    <a:pt x="238" y="65"/>
                    <a:pt x="211" y="65"/>
                  </a:cubicBezTo>
                  <a:close/>
                  <a:moveTo>
                    <a:pt x="130" y="146"/>
                  </a:moveTo>
                  <a:cubicBezTo>
                    <a:pt x="81" y="81"/>
                    <a:pt x="81" y="81"/>
                    <a:pt x="81" y="81"/>
                  </a:cubicBezTo>
                  <a:cubicBezTo>
                    <a:pt x="114" y="81"/>
                    <a:pt x="114" y="81"/>
                    <a:pt x="114" y="81"/>
                  </a:cubicBezTo>
                  <a:cubicBezTo>
                    <a:pt x="114" y="32"/>
                    <a:pt x="114" y="32"/>
                    <a:pt x="114" y="32"/>
                  </a:cubicBezTo>
                  <a:cubicBezTo>
                    <a:pt x="146" y="32"/>
                    <a:pt x="146" y="32"/>
                    <a:pt x="146" y="32"/>
                  </a:cubicBezTo>
                  <a:cubicBezTo>
                    <a:pt x="146" y="81"/>
                    <a:pt x="146" y="81"/>
                    <a:pt x="146" y="81"/>
                  </a:cubicBezTo>
                  <a:cubicBezTo>
                    <a:pt x="179" y="81"/>
                    <a:pt x="179" y="81"/>
                    <a:pt x="179" y="81"/>
                  </a:cubicBezTo>
                  <a:lnTo>
                    <a:pt x="130" y="146"/>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lumMod val="75000"/>
                    <a:lumOff val="25000"/>
                  </a:schemeClr>
                </a:solidFill>
                <a:cs typeface="+mn-ea"/>
                <a:sym typeface="+mn-lt"/>
              </a:endParaRPr>
            </a:p>
          </p:txBody>
        </p:sp>
      </p:grpSp>
      <p:sp>
        <p:nvSpPr>
          <p:cNvPr id="38" name="文本框 15"/>
          <p:cNvSpPr txBox="1"/>
          <p:nvPr/>
        </p:nvSpPr>
        <p:spPr>
          <a:xfrm>
            <a:off x="709386" y="309785"/>
            <a:ext cx="3862614" cy="377026"/>
          </a:xfrm>
          <a:prstGeom prst="rect">
            <a:avLst/>
          </a:prstGeom>
          <a:noFill/>
        </p:spPr>
        <p:txBody>
          <a:bodyPr wrap="square" lIns="68580" tIns="34290" rIns="68580" bIns="34290" rtlCol="0">
            <a:spAutoFit/>
          </a:bodyPr>
          <a:lstStyle/>
          <a:p>
            <a:r>
              <a:rPr lang="en-US" altLang="zh-CN" sz="2000" b="1" dirty="0">
                <a:solidFill>
                  <a:srgbClr val="1B4367"/>
                </a:solidFill>
                <a:cs typeface="+mn-ea"/>
                <a:sym typeface="+mn-lt"/>
              </a:rPr>
              <a:t>Limitation and challenges</a:t>
            </a:r>
            <a:endParaRPr lang="zh-CN" altLang="en-US" sz="2000" b="1" dirty="0">
              <a:solidFill>
                <a:srgbClr val="1B4367"/>
              </a:solidFill>
              <a:cs typeface="+mn-ea"/>
              <a:sym typeface="+mn-lt"/>
            </a:endParaRPr>
          </a:p>
        </p:txBody>
      </p:sp>
      <p:sp>
        <p:nvSpPr>
          <p:cNvPr id="40" name="TextBox 1210"/>
          <p:cNvSpPr/>
          <p:nvPr/>
        </p:nvSpPr>
        <p:spPr>
          <a:xfrm>
            <a:off x="1508016" y="1228781"/>
            <a:ext cx="963295" cy="345440"/>
          </a:xfrm>
          <a:prstGeom prst="rect">
            <a:avLst/>
          </a:prstGeom>
          <a:noFill/>
          <a:ln w="9525">
            <a:noFill/>
            <a:miter/>
          </a:ln>
          <a:extLst>
            <a:ext uri="{909E8E84-426E-40DD-AFC4-6F175D3DCCD1}">
              <a14:hiddenFill xmlns:a14="http://schemas.microsoft.com/office/drawing/2010/main">
                <a:solidFill>
                  <a:srgbClr val="5CA0B4"/>
                </a:solidFill>
              </a14:hiddenFill>
            </a:ext>
          </a:extLst>
        </p:spPr>
        <p:txBody>
          <a:bodyPr wrap="none" lIns="68580" tIns="34290" rIns="68580" bIns="34290">
            <a:spAutoFit/>
          </a:bodyPr>
          <a:lstStyle/>
          <a:p>
            <a:pPr lvl="0" algn="l"/>
            <a:r>
              <a:rPr lang="en-US" altLang="zh-CN" sz="1800" b="1" dirty="0">
                <a:solidFill>
                  <a:srgbClr val="1B4367"/>
                </a:solidFill>
                <a:cs typeface="+mn-ea"/>
                <a:sym typeface="+mn-lt"/>
              </a:rPr>
              <a:t>Privacy</a:t>
            </a:r>
            <a:endParaRPr lang="zh-CN" altLang="en-US" sz="1800" b="1" dirty="0">
              <a:solidFill>
                <a:srgbClr val="1B4367"/>
              </a:solidFill>
              <a:cs typeface="+mn-ea"/>
              <a:sym typeface="+mn-lt"/>
            </a:endParaRPr>
          </a:p>
        </p:txBody>
      </p:sp>
      <p:sp>
        <p:nvSpPr>
          <p:cNvPr id="41" name="文本框 11"/>
          <p:cNvSpPr txBox="1"/>
          <p:nvPr/>
        </p:nvSpPr>
        <p:spPr>
          <a:xfrm>
            <a:off x="1503342" y="1559254"/>
            <a:ext cx="2863960" cy="460832"/>
          </a:xfrm>
          <a:prstGeom prst="rect">
            <a:avLst/>
          </a:prstGeom>
          <a:noFill/>
          <a:ln>
            <a:noFill/>
          </a:ln>
          <a:extLst>
            <a:ext uri="{909E8E84-426E-40DD-AFC4-6F175D3DCCD1}">
              <a14:hiddenFill xmlns:a14="http://schemas.microsoft.com/office/drawing/2010/main">
                <a:solidFill>
                  <a:srgbClr val="5CA0B4"/>
                </a:solidFill>
              </a14:hiddenFill>
            </a:ext>
          </a:extLst>
        </p:spPr>
        <p:txBody>
          <a:bodyPr wrap="square" lIns="68580" tIns="34290" rIns="68580" bIns="34290" rtlCol="0">
            <a:spAutoFit/>
          </a:bodyPr>
          <a:lstStyle/>
          <a:p>
            <a:pPr>
              <a:lnSpc>
                <a:spcPts val="1500"/>
              </a:lnSpc>
            </a:pPr>
            <a:r>
              <a:rPr lang="en-US" altLang="zh-CN" dirty="0">
                <a:latin typeface="Arial" panose="020B0604020202020204" pitchFamily="34" charset="0"/>
                <a:cs typeface="Arial" panose="020B0604020202020204" pitchFamily="34" charset="0"/>
                <a:sym typeface="+mn-lt"/>
              </a:rPr>
              <a:t>Private information such as customer location</a:t>
            </a:r>
            <a:endParaRPr lang="en-US" altLang="zh-CN" dirty="0">
              <a:latin typeface="Arial" panose="020B0604020202020204" pitchFamily="34" charset="0"/>
              <a:cs typeface="Arial" panose="020B0604020202020204" pitchFamily="34" charset="0"/>
              <a:sym typeface="+mn-lt"/>
            </a:endParaRPr>
          </a:p>
        </p:txBody>
      </p:sp>
      <p:sp>
        <p:nvSpPr>
          <p:cNvPr id="42" name="TextBox 1210"/>
          <p:cNvSpPr/>
          <p:nvPr/>
        </p:nvSpPr>
        <p:spPr>
          <a:xfrm>
            <a:off x="1508016" y="2303171"/>
            <a:ext cx="1447165" cy="345440"/>
          </a:xfrm>
          <a:prstGeom prst="rect">
            <a:avLst/>
          </a:prstGeom>
          <a:noFill/>
          <a:ln w="9525">
            <a:noFill/>
            <a:miter/>
          </a:ln>
          <a:extLst>
            <a:ext uri="{909E8E84-426E-40DD-AFC4-6F175D3DCCD1}">
              <a14:hiddenFill xmlns:a14="http://schemas.microsoft.com/office/drawing/2010/main">
                <a:solidFill>
                  <a:srgbClr val="5CA0B4"/>
                </a:solidFill>
              </a14:hiddenFill>
            </a:ext>
          </a:extLst>
        </p:spPr>
        <p:txBody>
          <a:bodyPr wrap="none" lIns="68580" tIns="34290" rIns="68580" bIns="34290">
            <a:spAutoFit/>
          </a:bodyPr>
          <a:lstStyle/>
          <a:p>
            <a:r>
              <a:rPr lang="en-US" altLang="zh-CN" sz="1800" b="1" dirty="0">
                <a:solidFill>
                  <a:srgbClr val="1B4367"/>
                </a:solidFill>
                <a:cs typeface="+mn-ea"/>
                <a:sym typeface="+mn-lt"/>
              </a:rPr>
              <a:t>Complexity</a:t>
            </a:r>
            <a:endParaRPr lang="zh-CN" altLang="en-US" sz="1800" b="1" dirty="0">
              <a:solidFill>
                <a:srgbClr val="1B4367"/>
              </a:solidFill>
              <a:cs typeface="+mn-ea"/>
              <a:sym typeface="+mn-lt"/>
            </a:endParaRPr>
          </a:p>
        </p:txBody>
      </p:sp>
      <p:sp>
        <p:nvSpPr>
          <p:cNvPr id="56" name="文本框 11"/>
          <p:cNvSpPr txBox="1"/>
          <p:nvPr/>
        </p:nvSpPr>
        <p:spPr>
          <a:xfrm>
            <a:off x="1508015" y="2550187"/>
            <a:ext cx="2863960" cy="453970"/>
          </a:xfrm>
          <a:prstGeom prst="rect">
            <a:avLst/>
          </a:prstGeom>
          <a:noFill/>
          <a:ln>
            <a:noFill/>
          </a:ln>
          <a:extLst>
            <a:ext uri="{909E8E84-426E-40DD-AFC4-6F175D3DCCD1}">
              <a14:hiddenFill xmlns:a14="http://schemas.microsoft.com/office/drawing/2010/main">
                <a:solidFill>
                  <a:srgbClr val="5CA0B4"/>
                </a:solidFill>
              </a14:hiddenFill>
            </a:ext>
          </a:extLst>
        </p:spPr>
        <p:txBody>
          <a:bodyPr wrap="square" lIns="68580" tIns="34290" rIns="68580" bIns="34290" rtlCol="0">
            <a:spAutoFit/>
          </a:bodyPr>
          <a:lstStyle/>
          <a:p>
            <a:pPr>
              <a:lnSpc>
                <a:spcPts val="1500"/>
              </a:lnSpc>
            </a:pPr>
            <a:r>
              <a:rPr lang="en-US" altLang="zh-CN" dirty="0">
                <a:latin typeface="Arial" panose="020B0604020202020204" pitchFamily="34" charset="0"/>
                <a:cs typeface="Arial" panose="020B0604020202020204" pitchFamily="34" charset="0"/>
                <a:sym typeface="+mn-lt"/>
              </a:rPr>
              <a:t>Energy management for large numbers of sites</a:t>
            </a:r>
            <a:endParaRPr lang="en-US" altLang="zh-CN" dirty="0">
              <a:latin typeface="Arial" panose="020B0604020202020204" pitchFamily="34" charset="0"/>
              <a:cs typeface="Arial" panose="020B0604020202020204" pitchFamily="34" charset="0"/>
              <a:sym typeface="+mn-lt"/>
            </a:endParaRPr>
          </a:p>
        </p:txBody>
      </p:sp>
      <p:sp>
        <p:nvSpPr>
          <p:cNvPr id="57" name="TextBox 1210"/>
          <p:cNvSpPr/>
          <p:nvPr/>
        </p:nvSpPr>
        <p:spPr>
          <a:xfrm>
            <a:off x="1508016" y="3303016"/>
            <a:ext cx="3053913" cy="346249"/>
          </a:xfrm>
          <a:prstGeom prst="rect">
            <a:avLst/>
          </a:prstGeom>
          <a:noFill/>
          <a:ln w="9525">
            <a:noFill/>
            <a:miter/>
          </a:ln>
          <a:extLst>
            <a:ext uri="{909E8E84-426E-40DD-AFC4-6F175D3DCCD1}">
              <a14:hiddenFill xmlns:a14="http://schemas.microsoft.com/office/drawing/2010/main">
                <a:solidFill>
                  <a:srgbClr val="5CA0B4"/>
                </a:solidFill>
              </a14:hiddenFill>
            </a:ext>
          </a:extLst>
        </p:spPr>
        <p:txBody>
          <a:bodyPr wrap="none" lIns="68580" tIns="34290" rIns="68580" bIns="34290">
            <a:spAutoFit/>
          </a:bodyPr>
          <a:lstStyle/>
          <a:p>
            <a:r>
              <a:rPr lang="en-US" altLang="zh-CN" sz="1800" b="1" dirty="0">
                <a:solidFill>
                  <a:srgbClr val="1B4367"/>
                </a:solidFill>
                <a:cs typeface="+mn-ea"/>
                <a:sym typeface="+mn-lt"/>
              </a:rPr>
              <a:t>Update and maintenance</a:t>
            </a:r>
            <a:endParaRPr lang="zh-CN" altLang="en-US" sz="1800" b="1" dirty="0">
              <a:solidFill>
                <a:srgbClr val="1B4367"/>
              </a:solidFill>
              <a:cs typeface="+mn-ea"/>
              <a:sym typeface="+mn-lt"/>
            </a:endParaRPr>
          </a:p>
        </p:txBody>
      </p:sp>
      <p:sp>
        <p:nvSpPr>
          <p:cNvPr id="58" name="文本框 11"/>
          <p:cNvSpPr txBox="1"/>
          <p:nvPr/>
        </p:nvSpPr>
        <p:spPr>
          <a:xfrm>
            <a:off x="1521346" y="3629409"/>
            <a:ext cx="2845956" cy="837565"/>
          </a:xfrm>
          <a:prstGeom prst="rect">
            <a:avLst/>
          </a:prstGeom>
          <a:noFill/>
          <a:ln>
            <a:noFill/>
          </a:ln>
          <a:extLst>
            <a:ext uri="{909E8E84-426E-40DD-AFC4-6F175D3DCCD1}">
              <a14:hiddenFill xmlns:a14="http://schemas.microsoft.com/office/drawing/2010/main">
                <a:solidFill>
                  <a:srgbClr val="5CA0B4"/>
                </a:solidFill>
              </a14:hiddenFill>
            </a:ext>
          </a:extLst>
        </p:spPr>
        <p:txBody>
          <a:bodyPr wrap="square" lIns="68580" tIns="34290" rIns="68580" bIns="34290" rtlCol="0">
            <a:spAutoFit/>
          </a:bodyPr>
          <a:lstStyle/>
          <a:p>
            <a:pPr>
              <a:lnSpc>
                <a:spcPts val="1500"/>
              </a:lnSpc>
            </a:pPr>
            <a:r>
              <a:rPr lang="en-US" altLang="zh-CN" dirty="0">
                <a:latin typeface="Arial" panose="020B0604020202020204" pitchFamily="34" charset="0"/>
                <a:cs typeface="Arial" panose="020B0604020202020204" pitchFamily="34" charset="0"/>
                <a:sym typeface="+mn-lt"/>
              </a:rPr>
              <a:t>Properly establish energy baselines and adapt them to annual reviews of system performance</a:t>
            </a:r>
            <a:endParaRPr lang="en-US" altLang="zh-CN" dirty="0">
              <a:latin typeface="Arial" panose="020B0604020202020204" pitchFamily="34" charset="0"/>
              <a:cs typeface="Arial" panose="020B0604020202020204" pitchFamily="34" charset="0"/>
              <a:sym typeface="+mn-lt"/>
            </a:endParaRPr>
          </a:p>
        </p:txBody>
      </p:sp>
      <p:sp>
        <p:nvSpPr>
          <p:cNvPr id="59" name="TextBox 1210"/>
          <p:cNvSpPr/>
          <p:nvPr/>
        </p:nvSpPr>
        <p:spPr>
          <a:xfrm>
            <a:off x="5432316" y="1228781"/>
            <a:ext cx="1273810" cy="345440"/>
          </a:xfrm>
          <a:prstGeom prst="rect">
            <a:avLst/>
          </a:prstGeom>
          <a:noFill/>
          <a:ln w="9525">
            <a:noFill/>
            <a:miter/>
          </a:ln>
          <a:extLst>
            <a:ext uri="{909E8E84-426E-40DD-AFC4-6F175D3DCCD1}">
              <a14:hiddenFill xmlns:a14="http://schemas.microsoft.com/office/drawing/2010/main">
                <a:solidFill>
                  <a:srgbClr val="5CA0B4"/>
                </a:solidFill>
              </a14:hiddenFill>
            </a:ext>
          </a:extLst>
        </p:spPr>
        <p:txBody>
          <a:bodyPr wrap="none" lIns="68580" tIns="34290" rIns="68580" bIns="34290">
            <a:spAutoFit/>
          </a:bodyPr>
          <a:lstStyle/>
          <a:p>
            <a:r>
              <a:rPr lang="en-US" altLang="zh-CN" sz="1800" b="1" dirty="0">
                <a:solidFill>
                  <a:srgbClr val="1B4367"/>
                </a:solidFill>
                <a:cs typeface="+mn-ea"/>
                <a:sym typeface="+mn-lt"/>
              </a:rPr>
              <a:t>Reliability</a:t>
            </a:r>
            <a:endParaRPr lang="zh-CN" altLang="en-US" sz="1800" b="1" dirty="0">
              <a:solidFill>
                <a:srgbClr val="1B4367"/>
              </a:solidFill>
              <a:cs typeface="+mn-ea"/>
              <a:sym typeface="+mn-lt"/>
            </a:endParaRPr>
          </a:p>
        </p:txBody>
      </p:sp>
      <p:sp>
        <p:nvSpPr>
          <p:cNvPr id="60" name="文本框 11"/>
          <p:cNvSpPr txBox="1"/>
          <p:nvPr/>
        </p:nvSpPr>
        <p:spPr>
          <a:xfrm>
            <a:off x="5432315" y="1475797"/>
            <a:ext cx="2863960" cy="261610"/>
          </a:xfrm>
          <a:prstGeom prst="rect">
            <a:avLst/>
          </a:prstGeom>
          <a:noFill/>
          <a:ln>
            <a:noFill/>
          </a:ln>
          <a:extLst>
            <a:ext uri="{909E8E84-426E-40DD-AFC4-6F175D3DCCD1}">
              <a14:hiddenFill xmlns:a14="http://schemas.microsoft.com/office/drawing/2010/main">
                <a:solidFill>
                  <a:srgbClr val="5CA0B4"/>
                </a:solidFill>
              </a14:hiddenFill>
            </a:ext>
          </a:extLst>
        </p:spPr>
        <p:txBody>
          <a:bodyPr wrap="square" lIns="68580" tIns="34290" rIns="68580" bIns="34290" rtlCol="0">
            <a:spAutoFit/>
          </a:bodyPr>
          <a:lstStyle/>
          <a:p>
            <a:pPr>
              <a:lnSpc>
                <a:spcPts val="1500"/>
              </a:lnSpc>
            </a:pPr>
            <a:r>
              <a:rPr lang="en-US" altLang="zh-CN" dirty="0">
                <a:latin typeface="Arial" panose="020B0604020202020204" pitchFamily="34" charset="0"/>
                <a:cs typeface="Arial" panose="020B0604020202020204" pitchFamily="34" charset="0"/>
                <a:sym typeface="+mn-lt"/>
              </a:rPr>
              <a:t>Reliability in off grid operations</a:t>
            </a:r>
            <a:endParaRPr lang="en-US" altLang="zh-CN" dirty="0">
              <a:latin typeface="Arial" panose="020B0604020202020204" pitchFamily="34" charset="0"/>
              <a:cs typeface="Arial" panose="020B0604020202020204" pitchFamily="34" charset="0"/>
              <a:sym typeface="+mn-lt"/>
            </a:endParaRPr>
          </a:p>
        </p:txBody>
      </p:sp>
      <p:sp>
        <p:nvSpPr>
          <p:cNvPr id="61" name="TextBox 1210"/>
          <p:cNvSpPr/>
          <p:nvPr/>
        </p:nvSpPr>
        <p:spPr>
          <a:xfrm>
            <a:off x="5432316" y="2303171"/>
            <a:ext cx="1449705" cy="345440"/>
          </a:xfrm>
          <a:prstGeom prst="rect">
            <a:avLst/>
          </a:prstGeom>
          <a:noFill/>
          <a:ln w="9525">
            <a:noFill/>
            <a:miter/>
          </a:ln>
          <a:extLst>
            <a:ext uri="{909E8E84-426E-40DD-AFC4-6F175D3DCCD1}">
              <a14:hiddenFill xmlns:a14="http://schemas.microsoft.com/office/drawing/2010/main">
                <a:solidFill>
                  <a:srgbClr val="5CA0B4"/>
                </a:solidFill>
              </a14:hiddenFill>
            </a:ext>
          </a:extLst>
        </p:spPr>
        <p:txBody>
          <a:bodyPr wrap="none" lIns="68580" tIns="34290" rIns="68580" bIns="34290">
            <a:spAutoFit/>
          </a:bodyPr>
          <a:lstStyle/>
          <a:p>
            <a:r>
              <a:rPr lang="en-US" altLang="zh-CN" sz="1800" b="1" dirty="0">
                <a:solidFill>
                  <a:srgbClr val="1B4367"/>
                </a:solidFill>
                <a:cs typeface="+mn-ea"/>
                <a:sym typeface="+mn-lt"/>
              </a:rPr>
              <a:t>Constraints</a:t>
            </a:r>
            <a:endParaRPr lang="zh-CN" altLang="en-US" sz="1800" b="1" dirty="0">
              <a:solidFill>
                <a:srgbClr val="1B4367"/>
              </a:solidFill>
              <a:cs typeface="+mn-ea"/>
              <a:sym typeface="+mn-lt"/>
            </a:endParaRPr>
          </a:p>
        </p:txBody>
      </p:sp>
      <p:sp>
        <p:nvSpPr>
          <p:cNvPr id="62" name="文本框 11"/>
          <p:cNvSpPr txBox="1"/>
          <p:nvPr/>
        </p:nvSpPr>
        <p:spPr>
          <a:xfrm>
            <a:off x="5432315" y="2606959"/>
            <a:ext cx="3081490" cy="452755"/>
          </a:xfrm>
          <a:prstGeom prst="rect">
            <a:avLst/>
          </a:prstGeom>
          <a:noFill/>
          <a:ln>
            <a:noFill/>
          </a:ln>
          <a:extLst>
            <a:ext uri="{909E8E84-426E-40DD-AFC4-6F175D3DCCD1}">
              <a14:hiddenFill xmlns:a14="http://schemas.microsoft.com/office/drawing/2010/main">
                <a:solidFill>
                  <a:srgbClr val="5CA0B4"/>
                </a:solidFill>
              </a14:hiddenFill>
            </a:ext>
          </a:extLst>
        </p:spPr>
        <p:txBody>
          <a:bodyPr wrap="square" lIns="68580" tIns="34290" rIns="68580" bIns="34290" rtlCol="0">
            <a:spAutoFit/>
          </a:bodyPr>
          <a:lstStyle/>
          <a:p>
            <a:pPr>
              <a:lnSpc>
                <a:spcPts val="1500"/>
              </a:lnSpc>
            </a:pPr>
            <a:r>
              <a:rPr lang="en-US" altLang="zh-CN" dirty="0">
                <a:latin typeface="Arial" panose="020B0604020202020204" pitchFamily="34" charset="0"/>
                <a:cs typeface="Arial" panose="020B0604020202020204" pitchFamily="34" charset="0"/>
                <a:sym typeface="+mn-lt"/>
              </a:rPr>
              <a:t>Constraints involved for performing EMS in the distribution system</a:t>
            </a:r>
            <a:endParaRPr lang="en-US" altLang="zh-CN" dirty="0">
              <a:latin typeface="Arial" panose="020B0604020202020204" pitchFamily="34" charset="0"/>
              <a:cs typeface="Arial" panose="020B0604020202020204" pitchFamily="34" charset="0"/>
              <a:sym typeface="+mn-lt"/>
            </a:endParaRPr>
          </a:p>
        </p:txBody>
      </p:sp>
      <p:cxnSp>
        <p:nvCxnSpPr>
          <p:cNvPr id="52" name="直接连接符 51"/>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grpSp>
        <p:nvGrpSpPr>
          <p:cNvPr id="3" name="组合 2"/>
          <p:cNvGrpSpPr/>
          <p:nvPr/>
        </p:nvGrpSpPr>
        <p:grpSpPr>
          <a:xfrm>
            <a:off x="4864314" y="2332948"/>
            <a:ext cx="502444" cy="503697"/>
            <a:chOff x="8565208" y="1856641"/>
            <a:chExt cx="1574800" cy="1603375"/>
          </a:xfrm>
          <a:solidFill>
            <a:srgbClr val="1B4367"/>
          </a:solidFill>
        </p:grpSpPr>
        <p:sp>
          <p:nvSpPr>
            <p:cNvPr id="4" name="Rectangle 7"/>
            <p:cNvSpPr/>
            <p:nvPr/>
          </p:nvSpPr>
          <p:spPr>
            <a:xfrm>
              <a:off x="8565208" y="1856641"/>
              <a:ext cx="1574800" cy="1603375"/>
            </a:xfrm>
            <a:prstGeom prst="flowChartConnector">
              <a:avLst/>
            </a:prstGeom>
            <a:grpFill/>
            <a:ln w="9525">
              <a:noFill/>
              <a:miter/>
            </a:ln>
          </p:spPr>
          <p:txBody>
            <a:bodyPr anchor="ctr"/>
            <a:lstStyle/>
            <a:p>
              <a:pPr lvl="0" algn="ctr" eaLnBrk="1" hangingPunct="1"/>
              <a:endParaRPr lang="en-US" altLang="zh-CN" sz="1000" dirty="0">
                <a:solidFill>
                  <a:srgbClr val="FFFFFF"/>
                </a:solidFill>
                <a:cs typeface="+mn-ea"/>
                <a:sym typeface="+mn-lt"/>
              </a:endParaRPr>
            </a:p>
          </p:txBody>
        </p:sp>
        <p:sp>
          <p:nvSpPr>
            <p:cNvPr id="6" name="Freeform 289"/>
            <p:cNvSpPr>
              <a:spLocks noEditPoints="1"/>
            </p:cNvSpPr>
            <p:nvPr/>
          </p:nvSpPr>
          <p:spPr>
            <a:xfrm>
              <a:off x="9100279" y="2382692"/>
              <a:ext cx="557770" cy="565878"/>
            </a:xfrm>
            <a:custGeom>
              <a:avLst/>
              <a:gdLst/>
              <a:ahLst/>
              <a:cxnLst>
                <a:cxn ang="0">
                  <a:pos x="244146" y="20836"/>
                </a:cxn>
                <a:cxn ang="0">
                  <a:pos x="163149" y="0"/>
                </a:cxn>
                <a:cxn ang="0">
                  <a:pos x="0" y="0"/>
                </a:cxn>
                <a:cxn ang="0">
                  <a:pos x="0" y="77556"/>
                </a:cxn>
                <a:cxn ang="0">
                  <a:pos x="161992" y="77556"/>
                </a:cxn>
                <a:cxn ang="0">
                  <a:pos x="208276" y="90289"/>
                </a:cxn>
                <a:cxn ang="0">
                  <a:pos x="251088" y="167845"/>
                </a:cxn>
                <a:cxn ang="0">
                  <a:pos x="210590" y="243086"/>
                </a:cxn>
                <a:cxn ang="0">
                  <a:pos x="161992" y="255819"/>
                </a:cxn>
                <a:cxn ang="0">
                  <a:pos x="0" y="255819"/>
                </a:cxn>
                <a:cxn ang="0">
                  <a:pos x="0" y="333375"/>
                </a:cxn>
                <a:cxn ang="0">
                  <a:pos x="161992" y="333375"/>
                </a:cxn>
                <a:cxn ang="0">
                  <a:pos x="242988" y="313697"/>
                </a:cxn>
                <a:cxn ang="0">
                  <a:pos x="328613" y="167845"/>
                </a:cxn>
                <a:cxn ang="0">
                  <a:pos x="244146" y="20836"/>
                </a:cxn>
                <a:cxn ang="0">
                  <a:pos x="60169" y="57878"/>
                </a:cxn>
                <a:cxn ang="0">
                  <a:pos x="21985" y="57878"/>
                </a:cxn>
                <a:cxn ang="0">
                  <a:pos x="21985" y="19678"/>
                </a:cxn>
                <a:cxn ang="0">
                  <a:pos x="60169" y="19678"/>
                </a:cxn>
                <a:cxn ang="0">
                  <a:pos x="60169" y="57878"/>
                </a:cxn>
                <a:cxn ang="0">
                  <a:pos x="60169" y="314854"/>
                </a:cxn>
                <a:cxn ang="0">
                  <a:pos x="21985" y="314854"/>
                </a:cxn>
                <a:cxn ang="0">
                  <a:pos x="21985" y="275497"/>
                </a:cxn>
                <a:cxn ang="0">
                  <a:pos x="60169" y="275497"/>
                </a:cxn>
                <a:cxn ang="0">
                  <a:pos x="60169" y="314854"/>
                </a:cxn>
              </a:cxnLst>
              <a:rect l="0" t="0" r="0" b="0"/>
              <a:pathLst>
                <a:path w="284" h="288">
                  <a:moveTo>
                    <a:pt x="211" y="18"/>
                  </a:moveTo>
                  <a:cubicBezTo>
                    <a:pt x="177" y="1"/>
                    <a:pt x="144" y="0"/>
                    <a:pt x="141" y="0"/>
                  </a:cubicBezTo>
                  <a:cubicBezTo>
                    <a:pt x="0" y="0"/>
                    <a:pt x="0" y="0"/>
                    <a:pt x="0" y="0"/>
                  </a:cubicBezTo>
                  <a:cubicBezTo>
                    <a:pt x="0" y="67"/>
                    <a:pt x="0" y="67"/>
                    <a:pt x="0" y="67"/>
                  </a:cubicBezTo>
                  <a:cubicBezTo>
                    <a:pt x="140" y="67"/>
                    <a:pt x="140" y="67"/>
                    <a:pt x="140" y="67"/>
                  </a:cubicBezTo>
                  <a:cubicBezTo>
                    <a:pt x="141" y="67"/>
                    <a:pt x="161" y="68"/>
                    <a:pt x="180" y="78"/>
                  </a:cubicBezTo>
                  <a:cubicBezTo>
                    <a:pt x="205" y="91"/>
                    <a:pt x="217" y="112"/>
                    <a:pt x="217" y="145"/>
                  </a:cubicBezTo>
                  <a:cubicBezTo>
                    <a:pt x="217" y="177"/>
                    <a:pt x="206" y="198"/>
                    <a:pt x="182" y="210"/>
                  </a:cubicBezTo>
                  <a:cubicBezTo>
                    <a:pt x="162" y="221"/>
                    <a:pt x="140" y="221"/>
                    <a:pt x="140" y="221"/>
                  </a:cubicBezTo>
                  <a:cubicBezTo>
                    <a:pt x="0" y="221"/>
                    <a:pt x="0" y="221"/>
                    <a:pt x="0" y="221"/>
                  </a:cubicBezTo>
                  <a:cubicBezTo>
                    <a:pt x="0" y="288"/>
                    <a:pt x="0" y="288"/>
                    <a:pt x="0" y="288"/>
                  </a:cubicBezTo>
                  <a:cubicBezTo>
                    <a:pt x="140" y="288"/>
                    <a:pt x="140" y="288"/>
                    <a:pt x="140" y="288"/>
                  </a:cubicBezTo>
                  <a:cubicBezTo>
                    <a:pt x="144" y="288"/>
                    <a:pt x="177" y="288"/>
                    <a:pt x="210" y="271"/>
                  </a:cubicBezTo>
                  <a:cubicBezTo>
                    <a:pt x="258" y="247"/>
                    <a:pt x="284" y="203"/>
                    <a:pt x="284" y="145"/>
                  </a:cubicBezTo>
                  <a:cubicBezTo>
                    <a:pt x="284" y="87"/>
                    <a:pt x="258" y="42"/>
                    <a:pt x="211" y="18"/>
                  </a:cubicBezTo>
                  <a:close/>
                  <a:moveTo>
                    <a:pt x="52" y="50"/>
                  </a:moveTo>
                  <a:cubicBezTo>
                    <a:pt x="19" y="50"/>
                    <a:pt x="19" y="50"/>
                    <a:pt x="19" y="50"/>
                  </a:cubicBezTo>
                  <a:cubicBezTo>
                    <a:pt x="19" y="17"/>
                    <a:pt x="19" y="17"/>
                    <a:pt x="19" y="17"/>
                  </a:cubicBezTo>
                  <a:cubicBezTo>
                    <a:pt x="52" y="17"/>
                    <a:pt x="52" y="17"/>
                    <a:pt x="52" y="17"/>
                  </a:cubicBezTo>
                  <a:lnTo>
                    <a:pt x="52" y="50"/>
                  </a:lnTo>
                  <a:close/>
                  <a:moveTo>
                    <a:pt x="52" y="272"/>
                  </a:moveTo>
                  <a:cubicBezTo>
                    <a:pt x="19" y="272"/>
                    <a:pt x="19" y="272"/>
                    <a:pt x="19" y="272"/>
                  </a:cubicBezTo>
                  <a:cubicBezTo>
                    <a:pt x="19" y="238"/>
                    <a:pt x="19" y="238"/>
                    <a:pt x="19" y="238"/>
                  </a:cubicBezTo>
                  <a:cubicBezTo>
                    <a:pt x="52" y="238"/>
                    <a:pt x="52" y="238"/>
                    <a:pt x="52" y="238"/>
                  </a:cubicBezTo>
                  <a:lnTo>
                    <a:pt x="52" y="272"/>
                  </a:lnTo>
                  <a:close/>
                </a:path>
              </a:pathLst>
            </a:custGeom>
            <a:solidFill>
              <a:schemeClr val="bg1"/>
            </a:solidFill>
            <a:ln w="9525">
              <a:noFill/>
            </a:ln>
          </p:spPr>
          <p:txBody>
            <a:bodyPr/>
            <a:lstStyle/>
            <a:p>
              <a:endParaRPr lang="zh-CN" altLang="en-US">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1200">
        <p14:flip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38"/>
                                        </p:tgtEl>
                                        <p:attrNameLst>
                                          <p:attrName>style.visibility</p:attrName>
                                        </p:attrNameLst>
                                      </p:cBhvr>
                                      <p:to>
                                        <p:strVal val="visible"/>
                                      </p:to>
                                    </p:set>
                                    <p:anim calcmode="lin" valueType="num">
                                      <p:cBhvr>
                                        <p:cTn id="7" dur="500" fill="hold"/>
                                        <p:tgtEl>
                                          <p:spTgt spid="38"/>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8"/>
                                        </p:tgtEl>
                                        <p:attrNameLst>
                                          <p:attrName>ppt_y</p:attrName>
                                        </p:attrNameLst>
                                      </p:cBhvr>
                                      <p:tavLst>
                                        <p:tav tm="0">
                                          <p:val>
                                            <p:strVal val="#ppt_y"/>
                                          </p:val>
                                        </p:tav>
                                        <p:tav tm="100000">
                                          <p:val>
                                            <p:strVal val="#ppt_y"/>
                                          </p:val>
                                        </p:tav>
                                      </p:tavLst>
                                    </p:anim>
                                    <p:anim calcmode="lin" valueType="num">
                                      <p:cBhvr>
                                        <p:cTn id="9" dur="500" fill="hold"/>
                                        <p:tgtEl>
                                          <p:spTgt spid="38"/>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8"/>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8"/>
                                        </p:tgtEl>
                                      </p:cBhvr>
                                    </p:animEffect>
                                  </p:childTnLst>
                                </p:cTn>
                              </p:par>
                            </p:childTnLst>
                          </p:cTn>
                        </p:par>
                        <p:par>
                          <p:cTn id="12" fill="hold">
                            <p:stCondLst>
                              <p:cond delay="1700"/>
                            </p:stCondLst>
                            <p:childTnLst>
                              <p:par>
                                <p:cTn id="13" presetID="22" presetClass="entr" presetSubtype="8" fill="hold" nodeType="afterEffect">
                                  <p:stCondLst>
                                    <p:cond delay="0"/>
                                  </p:stCondLst>
                                  <p:childTnLst>
                                    <p:set>
                                      <p:cBhvr>
                                        <p:cTn id="14" dur="1" fill="hold">
                                          <p:stCondLst>
                                            <p:cond delay="0"/>
                                          </p:stCondLst>
                                        </p:cTn>
                                        <p:tgtEl>
                                          <p:spTgt spid="52"/>
                                        </p:tgtEl>
                                        <p:attrNameLst>
                                          <p:attrName>style.visibility</p:attrName>
                                        </p:attrNameLst>
                                      </p:cBhvr>
                                      <p:to>
                                        <p:strVal val="visible"/>
                                      </p:to>
                                    </p:set>
                                    <p:animEffect transition="in" filter="wipe(left)">
                                      <p:cBhvr>
                                        <p:cTn id="15" dur="300"/>
                                        <p:tgtEl>
                                          <p:spTgt spid="52"/>
                                        </p:tgtEl>
                                      </p:cBhvr>
                                    </p:animEffect>
                                  </p:childTnLst>
                                </p:cTn>
                              </p:par>
                            </p:childTnLst>
                          </p:cTn>
                        </p:par>
                        <p:par>
                          <p:cTn id="16" fill="hold">
                            <p:stCondLst>
                              <p:cond delay="2200"/>
                            </p:stCondLst>
                            <p:childTnLst>
                              <p:par>
                                <p:cTn id="17" presetID="53" presetClass="entr" presetSubtype="16" fill="hold" nodeType="afterEffect">
                                  <p:stCondLst>
                                    <p:cond delay="0"/>
                                  </p:stCondLst>
                                  <p:childTnLst>
                                    <p:set>
                                      <p:cBhvr>
                                        <p:cTn id="18" dur="1" fill="hold">
                                          <p:stCondLst>
                                            <p:cond delay="0"/>
                                          </p:stCondLst>
                                        </p:cTn>
                                        <p:tgtEl>
                                          <p:spTgt spid="19"/>
                                        </p:tgtEl>
                                        <p:attrNameLst>
                                          <p:attrName>style.visibility</p:attrName>
                                        </p:attrNameLst>
                                      </p:cBhvr>
                                      <p:to>
                                        <p:strVal val="visible"/>
                                      </p:to>
                                    </p:set>
                                    <p:anim calcmode="lin" valueType="num">
                                      <p:cBhvr>
                                        <p:cTn id="19" dur="500" fill="hold"/>
                                        <p:tgtEl>
                                          <p:spTgt spid="19"/>
                                        </p:tgtEl>
                                        <p:attrNameLst>
                                          <p:attrName>ppt_w</p:attrName>
                                        </p:attrNameLst>
                                      </p:cBhvr>
                                      <p:tavLst>
                                        <p:tav tm="0">
                                          <p:val>
                                            <p:fltVal val="0"/>
                                          </p:val>
                                        </p:tav>
                                        <p:tav tm="100000">
                                          <p:val>
                                            <p:strVal val="#ppt_w"/>
                                          </p:val>
                                        </p:tav>
                                      </p:tavLst>
                                    </p:anim>
                                    <p:anim calcmode="lin" valueType="num">
                                      <p:cBhvr>
                                        <p:cTn id="20" dur="500" fill="hold"/>
                                        <p:tgtEl>
                                          <p:spTgt spid="19"/>
                                        </p:tgtEl>
                                        <p:attrNameLst>
                                          <p:attrName>ppt_h</p:attrName>
                                        </p:attrNameLst>
                                      </p:cBhvr>
                                      <p:tavLst>
                                        <p:tav tm="0">
                                          <p:val>
                                            <p:fltVal val="0"/>
                                          </p:val>
                                        </p:tav>
                                        <p:tav tm="100000">
                                          <p:val>
                                            <p:strVal val="#ppt_h"/>
                                          </p:val>
                                        </p:tav>
                                      </p:tavLst>
                                    </p:anim>
                                    <p:animEffect transition="in" filter="fade">
                                      <p:cBhvr>
                                        <p:cTn id="21" dur="500"/>
                                        <p:tgtEl>
                                          <p:spTgt spid="19"/>
                                        </p:tgtEl>
                                      </p:cBhvr>
                                    </p:animEffect>
                                  </p:childTnLst>
                                </p:cTn>
                              </p:par>
                              <p:par>
                                <p:cTn id="22" presetID="2" presetClass="entr" presetSubtype="2" fill="hold" grpId="0" nodeType="withEffect">
                                  <p:stCondLst>
                                    <p:cond delay="0"/>
                                  </p:stCondLst>
                                  <p:childTnLst>
                                    <p:set>
                                      <p:cBhvr>
                                        <p:cTn id="23" dur="1" fill="hold">
                                          <p:stCondLst>
                                            <p:cond delay="0"/>
                                          </p:stCondLst>
                                        </p:cTn>
                                        <p:tgtEl>
                                          <p:spTgt spid="40"/>
                                        </p:tgtEl>
                                        <p:attrNameLst>
                                          <p:attrName>style.visibility</p:attrName>
                                        </p:attrNameLst>
                                      </p:cBhvr>
                                      <p:to>
                                        <p:strVal val="visible"/>
                                      </p:to>
                                    </p:set>
                                    <p:anim calcmode="lin" valueType="num">
                                      <p:cBhvr additive="base">
                                        <p:cTn id="24" dur="500" fill="hold"/>
                                        <p:tgtEl>
                                          <p:spTgt spid="40"/>
                                        </p:tgtEl>
                                        <p:attrNameLst>
                                          <p:attrName>ppt_x</p:attrName>
                                        </p:attrNameLst>
                                      </p:cBhvr>
                                      <p:tavLst>
                                        <p:tav tm="0">
                                          <p:val>
                                            <p:strVal val="1+#ppt_w/2"/>
                                          </p:val>
                                        </p:tav>
                                        <p:tav tm="100000">
                                          <p:val>
                                            <p:strVal val="#ppt_x"/>
                                          </p:val>
                                        </p:tav>
                                      </p:tavLst>
                                    </p:anim>
                                    <p:anim calcmode="lin" valueType="num">
                                      <p:cBhvr additive="base">
                                        <p:cTn id="25" dur="500" fill="hold"/>
                                        <p:tgtEl>
                                          <p:spTgt spid="40"/>
                                        </p:tgtEl>
                                        <p:attrNameLst>
                                          <p:attrName>ppt_y</p:attrName>
                                        </p:attrNameLst>
                                      </p:cBhvr>
                                      <p:tavLst>
                                        <p:tav tm="0">
                                          <p:val>
                                            <p:strVal val="#ppt_y"/>
                                          </p:val>
                                        </p:tav>
                                        <p:tav tm="100000">
                                          <p:val>
                                            <p:strVal val="#ppt_y"/>
                                          </p:val>
                                        </p:tav>
                                      </p:tavLst>
                                    </p:anim>
                                  </p:childTnLst>
                                </p:cTn>
                              </p:par>
                              <p:par>
                                <p:cTn id="26" presetID="2" presetClass="entr" presetSubtype="2" fill="hold" grpId="0" nodeType="withEffect">
                                  <p:stCondLst>
                                    <p:cond delay="0"/>
                                  </p:stCondLst>
                                  <p:childTnLst>
                                    <p:set>
                                      <p:cBhvr>
                                        <p:cTn id="27" dur="1" fill="hold">
                                          <p:stCondLst>
                                            <p:cond delay="0"/>
                                          </p:stCondLst>
                                        </p:cTn>
                                        <p:tgtEl>
                                          <p:spTgt spid="41"/>
                                        </p:tgtEl>
                                        <p:attrNameLst>
                                          <p:attrName>style.visibility</p:attrName>
                                        </p:attrNameLst>
                                      </p:cBhvr>
                                      <p:to>
                                        <p:strVal val="visible"/>
                                      </p:to>
                                    </p:set>
                                    <p:anim calcmode="lin" valueType="num">
                                      <p:cBhvr additive="base">
                                        <p:cTn id="28" dur="500" fill="hold"/>
                                        <p:tgtEl>
                                          <p:spTgt spid="41"/>
                                        </p:tgtEl>
                                        <p:attrNameLst>
                                          <p:attrName>ppt_x</p:attrName>
                                        </p:attrNameLst>
                                      </p:cBhvr>
                                      <p:tavLst>
                                        <p:tav tm="0">
                                          <p:val>
                                            <p:strVal val="1+#ppt_w/2"/>
                                          </p:val>
                                        </p:tav>
                                        <p:tav tm="100000">
                                          <p:val>
                                            <p:strVal val="#ppt_x"/>
                                          </p:val>
                                        </p:tav>
                                      </p:tavLst>
                                    </p:anim>
                                    <p:anim calcmode="lin" valueType="num">
                                      <p:cBhvr additive="base">
                                        <p:cTn id="29" dur="500" fill="hold"/>
                                        <p:tgtEl>
                                          <p:spTgt spid="41"/>
                                        </p:tgtEl>
                                        <p:attrNameLst>
                                          <p:attrName>ppt_y</p:attrName>
                                        </p:attrNameLst>
                                      </p:cBhvr>
                                      <p:tavLst>
                                        <p:tav tm="0">
                                          <p:val>
                                            <p:strVal val="#ppt_y"/>
                                          </p:val>
                                        </p:tav>
                                        <p:tav tm="100000">
                                          <p:val>
                                            <p:strVal val="#ppt_y"/>
                                          </p:val>
                                        </p:tav>
                                      </p:tavLst>
                                    </p:anim>
                                  </p:childTnLst>
                                </p:cTn>
                              </p:par>
                            </p:childTnLst>
                          </p:cTn>
                        </p:par>
                        <p:par>
                          <p:cTn id="30" fill="hold">
                            <p:stCondLst>
                              <p:cond delay="2700"/>
                            </p:stCondLst>
                            <p:childTnLst>
                              <p:par>
                                <p:cTn id="31" presetID="53" presetClass="entr" presetSubtype="16" fill="hold" nodeType="afterEffect">
                                  <p:stCondLst>
                                    <p:cond delay="0"/>
                                  </p:stCondLst>
                                  <p:childTnLst>
                                    <p:set>
                                      <p:cBhvr>
                                        <p:cTn id="32" dur="1" fill="hold">
                                          <p:stCondLst>
                                            <p:cond delay="0"/>
                                          </p:stCondLst>
                                        </p:cTn>
                                        <p:tgtEl>
                                          <p:spTgt spid="5"/>
                                        </p:tgtEl>
                                        <p:attrNameLst>
                                          <p:attrName>style.visibility</p:attrName>
                                        </p:attrNameLst>
                                      </p:cBhvr>
                                      <p:to>
                                        <p:strVal val="visible"/>
                                      </p:to>
                                    </p:set>
                                    <p:anim calcmode="lin" valueType="num">
                                      <p:cBhvr>
                                        <p:cTn id="33" dur="500" fill="hold"/>
                                        <p:tgtEl>
                                          <p:spTgt spid="5"/>
                                        </p:tgtEl>
                                        <p:attrNameLst>
                                          <p:attrName>ppt_w</p:attrName>
                                        </p:attrNameLst>
                                      </p:cBhvr>
                                      <p:tavLst>
                                        <p:tav tm="0">
                                          <p:val>
                                            <p:fltVal val="0"/>
                                          </p:val>
                                        </p:tav>
                                        <p:tav tm="100000">
                                          <p:val>
                                            <p:strVal val="#ppt_w"/>
                                          </p:val>
                                        </p:tav>
                                      </p:tavLst>
                                    </p:anim>
                                    <p:anim calcmode="lin" valueType="num">
                                      <p:cBhvr>
                                        <p:cTn id="34" dur="500" fill="hold"/>
                                        <p:tgtEl>
                                          <p:spTgt spid="5"/>
                                        </p:tgtEl>
                                        <p:attrNameLst>
                                          <p:attrName>ppt_h</p:attrName>
                                        </p:attrNameLst>
                                      </p:cBhvr>
                                      <p:tavLst>
                                        <p:tav tm="0">
                                          <p:val>
                                            <p:fltVal val="0"/>
                                          </p:val>
                                        </p:tav>
                                        <p:tav tm="100000">
                                          <p:val>
                                            <p:strVal val="#ppt_h"/>
                                          </p:val>
                                        </p:tav>
                                      </p:tavLst>
                                    </p:anim>
                                    <p:animEffect transition="in" filter="fade">
                                      <p:cBhvr>
                                        <p:cTn id="35" dur="500"/>
                                        <p:tgtEl>
                                          <p:spTgt spid="5"/>
                                        </p:tgtEl>
                                      </p:cBhvr>
                                    </p:animEffect>
                                  </p:childTnLst>
                                </p:cTn>
                              </p:par>
                              <p:par>
                                <p:cTn id="36" presetID="2" presetClass="entr" presetSubtype="2" fill="hold" grpId="0" nodeType="withEffect">
                                  <p:stCondLst>
                                    <p:cond delay="0"/>
                                  </p:stCondLst>
                                  <p:childTnLst>
                                    <p:set>
                                      <p:cBhvr>
                                        <p:cTn id="37" dur="1" fill="hold">
                                          <p:stCondLst>
                                            <p:cond delay="0"/>
                                          </p:stCondLst>
                                        </p:cTn>
                                        <p:tgtEl>
                                          <p:spTgt spid="42"/>
                                        </p:tgtEl>
                                        <p:attrNameLst>
                                          <p:attrName>style.visibility</p:attrName>
                                        </p:attrNameLst>
                                      </p:cBhvr>
                                      <p:to>
                                        <p:strVal val="visible"/>
                                      </p:to>
                                    </p:set>
                                    <p:anim calcmode="lin" valueType="num">
                                      <p:cBhvr additive="base">
                                        <p:cTn id="38" dur="500" fill="hold"/>
                                        <p:tgtEl>
                                          <p:spTgt spid="42"/>
                                        </p:tgtEl>
                                        <p:attrNameLst>
                                          <p:attrName>ppt_x</p:attrName>
                                        </p:attrNameLst>
                                      </p:cBhvr>
                                      <p:tavLst>
                                        <p:tav tm="0">
                                          <p:val>
                                            <p:strVal val="1+#ppt_w/2"/>
                                          </p:val>
                                        </p:tav>
                                        <p:tav tm="100000">
                                          <p:val>
                                            <p:strVal val="#ppt_x"/>
                                          </p:val>
                                        </p:tav>
                                      </p:tavLst>
                                    </p:anim>
                                    <p:anim calcmode="lin" valueType="num">
                                      <p:cBhvr additive="base">
                                        <p:cTn id="39" dur="500" fill="hold"/>
                                        <p:tgtEl>
                                          <p:spTgt spid="42"/>
                                        </p:tgtEl>
                                        <p:attrNameLst>
                                          <p:attrName>ppt_y</p:attrName>
                                        </p:attrNameLst>
                                      </p:cBhvr>
                                      <p:tavLst>
                                        <p:tav tm="0">
                                          <p:val>
                                            <p:strVal val="#ppt_y"/>
                                          </p:val>
                                        </p:tav>
                                        <p:tav tm="100000">
                                          <p:val>
                                            <p:strVal val="#ppt_y"/>
                                          </p:val>
                                        </p:tav>
                                      </p:tavLst>
                                    </p:anim>
                                  </p:childTnLst>
                                </p:cTn>
                              </p:par>
                              <p:par>
                                <p:cTn id="40" presetID="2" presetClass="entr" presetSubtype="2" fill="hold" grpId="0" nodeType="withEffect">
                                  <p:stCondLst>
                                    <p:cond delay="0"/>
                                  </p:stCondLst>
                                  <p:childTnLst>
                                    <p:set>
                                      <p:cBhvr>
                                        <p:cTn id="41" dur="1" fill="hold">
                                          <p:stCondLst>
                                            <p:cond delay="0"/>
                                          </p:stCondLst>
                                        </p:cTn>
                                        <p:tgtEl>
                                          <p:spTgt spid="56"/>
                                        </p:tgtEl>
                                        <p:attrNameLst>
                                          <p:attrName>style.visibility</p:attrName>
                                        </p:attrNameLst>
                                      </p:cBhvr>
                                      <p:to>
                                        <p:strVal val="visible"/>
                                      </p:to>
                                    </p:set>
                                    <p:anim calcmode="lin" valueType="num">
                                      <p:cBhvr additive="base">
                                        <p:cTn id="42" dur="500" fill="hold"/>
                                        <p:tgtEl>
                                          <p:spTgt spid="56"/>
                                        </p:tgtEl>
                                        <p:attrNameLst>
                                          <p:attrName>ppt_x</p:attrName>
                                        </p:attrNameLst>
                                      </p:cBhvr>
                                      <p:tavLst>
                                        <p:tav tm="0">
                                          <p:val>
                                            <p:strVal val="1+#ppt_w/2"/>
                                          </p:val>
                                        </p:tav>
                                        <p:tav tm="100000">
                                          <p:val>
                                            <p:strVal val="#ppt_x"/>
                                          </p:val>
                                        </p:tav>
                                      </p:tavLst>
                                    </p:anim>
                                    <p:anim calcmode="lin" valueType="num">
                                      <p:cBhvr additive="base">
                                        <p:cTn id="43" dur="500" fill="hold"/>
                                        <p:tgtEl>
                                          <p:spTgt spid="56"/>
                                        </p:tgtEl>
                                        <p:attrNameLst>
                                          <p:attrName>ppt_y</p:attrName>
                                        </p:attrNameLst>
                                      </p:cBhvr>
                                      <p:tavLst>
                                        <p:tav tm="0">
                                          <p:val>
                                            <p:strVal val="#ppt_y"/>
                                          </p:val>
                                        </p:tav>
                                        <p:tav tm="100000">
                                          <p:val>
                                            <p:strVal val="#ppt_y"/>
                                          </p:val>
                                        </p:tav>
                                      </p:tavLst>
                                    </p:anim>
                                  </p:childTnLst>
                                </p:cTn>
                              </p:par>
                            </p:childTnLst>
                          </p:cTn>
                        </p:par>
                        <p:par>
                          <p:cTn id="44" fill="hold">
                            <p:stCondLst>
                              <p:cond delay="3200"/>
                            </p:stCondLst>
                            <p:childTnLst>
                              <p:par>
                                <p:cTn id="45" presetID="53" presetClass="entr" presetSubtype="16" fill="hold" nodeType="afterEffect">
                                  <p:stCondLst>
                                    <p:cond delay="0"/>
                                  </p:stCondLst>
                                  <p:childTnLst>
                                    <p:set>
                                      <p:cBhvr>
                                        <p:cTn id="46" dur="1" fill="hold">
                                          <p:stCondLst>
                                            <p:cond delay="0"/>
                                          </p:stCondLst>
                                        </p:cTn>
                                        <p:tgtEl>
                                          <p:spTgt spid="14"/>
                                        </p:tgtEl>
                                        <p:attrNameLst>
                                          <p:attrName>style.visibility</p:attrName>
                                        </p:attrNameLst>
                                      </p:cBhvr>
                                      <p:to>
                                        <p:strVal val="visible"/>
                                      </p:to>
                                    </p:set>
                                    <p:anim calcmode="lin" valueType="num">
                                      <p:cBhvr>
                                        <p:cTn id="47" dur="500" fill="hold"/>
                                        <p:tgtEl>
                                          <p:spTgt spid="14"/>
                                        </p:tgtEl>
                                        <p:attrNameLst>
                                          <p:attrName>ppt_w</p:attrName>
                                        </p:attrNameLst>
                                      </p:cBhvr>
                                      <p:tavLst>
                                        <p:tav tm="0">
                                          <p:val>
                                            <p:fltVal val="0"/>
                                          </p:val>
                                        </p:tav>
                                        <p:tav tm="100000">
                                          <p:val>
                                            <p:strVal val="#ppt_w"/>
                                          </p:val>
                                        </p:tav>
                                      </p:tavLst>
                                    </p:anim>
                                    <p:anim calcmode="lin" valueType="num">
                                      <p:cBhvr>
                                        <p:cTn id="48" dur="500" fill="hold"/>
                                        <p:tgtEl>
                                          <p:spTgt spid="14"/>
                                        </p:tgtEl>
                                        <p:attrNameLst>
                                          <p:attrName>ppt_h</p:attrName>
                                        </p:attrNameLst>
                                      </p:cBhvr>
                                      <p:tavLst>
                                        <p:tav tm="0">
                                          <p:val>
                                            <p:fltVal val="0"/>
                                          </p:val>
                                        </p:tav>
                                        <p:tav tm="100000">
                                          <p:val>
                                            <p:strVal val="#ppt_h"/>
                                          </p:val>
                                        </p:tav>
                                      </p:tavLst>
                                    </p:anim>
                                    <p:animEffect transition="in" filter="fade">
                                      <p:cBhvr>
                                        <p:cTn id="49" dur="500"/>
                                        <p:tgtEl>
                                          <p:spTgt spid="14"/>
                                        </p:tgtEl>
                                      </p:cBhvr>
                                    </p:animEffect>
                                  </p:childTnLst>
                                </p:cTn>
                              </p:par>
                              <p:par>
                                <p:cTn id="50" presetID="2" presetClass="entr" presetSubtype="2" fill="hold" grpId="0" nodeType="withEffect">
                                  <p:stCondLst>
                                    <p:cond delay="0"/>
                                  </p:stCondLst>
                                  <p:childTnLst>
                                    <p:set>
                                      <p:cBhvr>
                                        <p:cTn id="51" dur="1" fill="hold">
                                          <p:stCondLst>
                                            <p:cond delay="0"/>
                                          </p:stCondLst>
                                        </p:cTn>
                                        <p:tgtEl>
                                          <p:spTgt spid="57"/>
                                        </p:tgtEl>
                                        <p:attrNameLst>
                                          <p:attrName>style.visibility</p:attrName>
                                        </p:attrNameLst>
                                      </p:cBhvr>
                                      <p:to>
                                        <p:strVal val="visible"/>
                                      </p:to>
                                    </p:set>
                                    <p:anim calcmode="lin" valueType="num">
                                      <p:cBhvr additive="base">
                                        <p:cTn id="52" dur="500" fill="hold"/>
                                        <p:tgtEl>
                                          <p:spTgt spid="57"/>
                                        </p:tgtEl>
                                        <p:attrNameLst>
                                          <p:attrName>ppt_x</p:attrName>
                                        </p:attrNameLst>
                                      </p:cBhvr>
                                      <p:tavLst>
                                        <p:tav tm="0">
                                          <p:val>
                                            <p:strVal val="1+#ppt_w/2"/>
                                          </p:val>
                                        </p:tav>
                                        <p:tav tm="100000">
                                          <p:val>
                                            <p:strVal val="#ppt_x"/>
                                          </p:val>
                                        </p:tav>
                                      </p:tavLst>
                                    </p:anim>
                                    <p:anim calcmode="lin" valueType="num">
                                      <p:cBhvr additive="base">
                                        <p:cTn id="53" dur="500" fill="hold"/>
                                        <p:tgtEl>
                                          <p:spTgt spid="57"/>
                                        </p:tgtEl>
                                        <p:attrNameLst>
                                          <p:attrName>ppt_y</p:attrName>
                                        </p:attrNameLst>
                                      </p:cBhvr>
                                      <p:tavLst>
                                        <p:tav tm="0">
                                          <p:val>
                                            <p:strVal val="#ppt_y"/>
                                          </p:val>
                                        </p:tav>
                                        <p:tav tm="100000">
                                          <p:val>
                                            <p:strVal val="#ppt_y"/>
                                          </p:val>
                                        </p:tav>
                                      </p:tavLst>
                                    </p:anim>
                                  </p:childTnLst>
                                </p:cTn>
                              </p:par>
                              <p:par>
                                <p:cTn id="54" presetID="2" presetClass="entr" presetSubtype="2" fill="hold" grpId="0" nodeType="withEffect">
                                  <p:stCondLst>
                                    <p:cond delay="0"/>
                                  </p:stCondLst>
                                  <p:childTnLst>
                                    <p:set>
                                      <p:cBhvr>
                                        <p:cTn id="55" dur="1" fill="hold">
                                          <p:stCondLst>
                                            <p:cond delay="0"/>
                                          </p:stCondLst>
                                        </p:cTn>
                                        <p:tgtEl>
                                          <p:spTgt spid="58"/>
                                        </p:tgtEl>
                                        <p:attrNameLst>
                                          <p:attrName>style.visibility</p:attrName>
                                        </p:attrNameLst>
                                      </p:cBhvr>
                                      <p:to>
                                        <p:strVal val="visible"/>
                                      </p:to>
                                    </p:set>
                                    <p:anim calcmode="lin" valueType="num">
                                      <p:cBhvr additive="base">
                                        <p:cTn id="56" dur="500" fill="hold"/>
                                        <p:tgtEl>
                                          <p:spTgt spid="58"/>
                                        </p:tgtEl>
                                        <p:attrNameLst>
                                          <p:attrName>ppt_x</p:attrName>
                                        </p:attrNameLst>
                                      </p:cBhvr>
                                      <p:tavLst>
                                        <p:tav tm="0">
                                          <p:val>
                                            <p:strVal val="1+#ppt_w/2"/>
                                          </p:val>
                                        </p:tav>
                                        <p:tav tm="100000">
                                          <p:val>
                                            <p:strVal val="#ppt_x"/>
                                          </p:val>
                                        </p:tav>
                                      </p:tavLst>
                                    </p:anim>
                                    <p:anim calcmode="lin" valueType="num">
                                      <p:cBhvr additive="base">
                                        <p:cTn id="57" dur="500" fill="hold"/>
                                        <p:tgtEl>
                                          <p:spTgt spid="58"/>
                                        </p:tgtEl>
                                        <p:attrNameLst>
                                          <p:attrName>ppt_y</p:attrName>
                                        </p:attrNameLst>
                                      </p:cBhvr>
                                      <p:tavLst>
                                        <p:tav tm="0">
                                          <p:val>
                                            <p:strVal val="#ppt_y"/>
                                          </p:val>
                                        </p:tav>
                                        <p:tav tm="100000">
                                          <p:val>
                                            <p:strVal val="#ppt_y"/>
                                          </p:val>
                                        </p:tav>
                                      </p:tavLst>
                                    </p:anim>
                                  </p:childTnLst>
                                </p:cTn>
                              </p:par>
                            </p:childTnLst>
                          </p:cTn>
                        </p:par>
                        <p:par>
                          <p:cTn id="58" fill="hold">
                            <p:stCondLst>
                              <p:cond delay="3700"/>
                            </p:stCondLst>
                            <p:childTnLst>
                              <p:par>
                                <p:cTn id="59" presetID="53" presetClass="entr" presetSubtype="16" fill="hold" nodeType="afterEffect">
                                  <p:stCondLst>
                                    <p:cond delay="0"/>
                                  </p:stCondLst>
                                  <p:childTnLst>
                                    <p:set>
                                      <p:cBhvr>
                                        <p:cTn id="60" dur="1" fill="hold">
                                          <p:stCondLst>
                                            <p:cond delay="0"/>
                                          </p:stCondLst>
                                        </p:cTn>
                                        <p:tgtEl>
                                          <p:spTgt spid="2"/>
                                        </p:tgtEl>
                                        <p:attrNameLst>
                                          <p:attrName>style.visibility</p:attrName>
                                        </p:attrNameLst>
                                      </p:cBhvr>
                                      <p:to>
                                        <p:strVal val="visible"/>
                                      </p:to>
                                    </p:set>
                                    <p:anim calcmode="lin" valueType="num">
                                      <p:cBhvr>
                                        <p:cTn id="61" dur="500" fill="hold"/>
                                        <p:tgtEl>
                                          <p:spTgt spid="2"/>
                                        </p:tgtEl>
                                        <p:attrNameLst>
                                          <p:attrName>ppt_w</p:attrName>
                                        </p:attrNameLst>
                                      </p:cBhvr>
                                      <p:tavLst>
                                        <p:tav tm="0">
                                          <p:val>
                                            <p:fltVal val="0"/>
                                          </p:val>
                                        </p:tav>
                                        <p:tav tm="100000">
                                          <p:val>
                                            <p:strVal val="#ppt_w"/>
                                          </p:val>
                                        </p:tav>
                                      </p:tavLst>
                                    </p:anim>
                                    <p:anim calcmode="lin" valueType="num">
                                      <p:cBhvr>
                                        <p:cTn id="62" dur="500" fill="hold"/>
                                        <p:tgtEl>
                                          <p:spTgt spid="2"/>
                                        </p:tgtEl>
                                        <p:attrNameLst>
                                          <p:attrName>ppt_h</p:attrName>
                                        </p:attrNameLst>
                                      </p:cBhvr>
                                      <p:tavLst>
                                        <p:tav tm="0">
                                          <p:val>
                                            <p:fltVal val="0"/>
                                          </p:val>
                                        </p:tav>
                                        <p:tav tm="100000">
                                          <p:val>
                                            <p:strVal val="#ppt_h"/>
                                          </p:val>
                                        </p:tav>
                                      </p:tavLst>
                                    </p:anim>
                                    <p:animEffect transition="in" filter="fade">
                                      <p:cBhvr>
                                        <p:cTn id="63" dur="500"/>
                                        <p:tgtEl>
                                          <p:spTgt spid="2"/>
                                        </p:tgtEl>
                                      </p:cBhvr>
                                    </p:animEffect>
                                  </p:childTnLst>
                                </p:cTn>
                              </p:par>
                              <p:par>
                                <p:cTn id="64" presetID="2" presetClass="entr" presetSubtype="2" fill="hold" grpId="0" nodeType="withEffect">
                                  <p:stCondLst>
                                    <p:cond delay="0"/>
                                  </p:stCondLst>
                                  <p:childTnLst>
                                    <p:set>
                                      <p:cBhvr>
                                        <p:cTn id="65" dur="1" fill="hold">
                                          <p:stCondLst>
                                            <p:cond delay="0"/>
                                          </p:stCondLst>
                                        </p:cTn>
                                        <p:tgtEl>
                                          <p:spTgt spid="59"/>
                                        </p:tgtEl>
                                        <p:attrNameLst>
                                          <p:attrName>style.visibility</p:attrName>
                                        </p:attrNameLst>
                                      </p:cBhvr>
                                      <p:to>
                                        <p:strVal val="visible"/>
                                      </p:to>
                                    </p:set>
                                    <p:anim calcmode="lin" valueType="num">
                                      <p:cBhvr additive="base">
                                        <p:cTn id="66" dur="500" fill="hold"/>
                                        <p:tgtEl>
                                          <p:spTgt spid="59"/>
                                        </p:tgtEl>
                                        <p:attrNameLst>
                                          <p:attrName>ppt_x</p:attrName>
                                        </p:attrNameLst>
                                      </p:cBhvr>
                                      <p:tavLst>
                                        <p:tav tm="0">
                                          <p:val>
                                            <p:strVal val="1+#ppt_w/2"/>
                                          </p:val>
                                        </p:tav>
                                        <p:tav tm="100000">
                                          <p:val>
                                            <p:strVal val="#ppt_x"/>
                                          </p:val>
                                        </p:tav>
                                      </p:tavLst>
                                    </p:anim>
                                    <p:anim calcmode="lin" valueType="num">
                                      <p:cBhvr additive="base">
                                        <p:cTn id="67" dur="500" fill="hold"/>
                                        <p:tgtEl>
                                          <p:spTgt spid="59"/>
                                        </p:tgtEl>
                                        <p:attrNameLst>
                                          <p:attrName>ppt_y</p:attrName>
                                        </p:attrNameLst>
                                      </p:cBhvr>
                                      <p:tavLst>
                                        <p:tav tm="0">
                                          <p:val>
                                            <p:strVal val="#ppt_y"/>
                                          </p:val>
                                        </p:tav>
                                        <p:tav tm="100000">
                                          <p:val>
                                            <p:strVal val="#ppt_y"/>
                                          </p:val>
                                        </p:tav>
                                      </p:tavLst>
                                    </p:anim>
                                  </p:childTnLst>
                                </p:cTn>
                              </p:par>
                              <p:par>
                                <p:cTn id="68" presetID="2" presetClass="entr" presetSubtype="2" fill="hold" grpId="0" nodeType="withEffect">
                                  <p:stCondLst>
                                    <p:cond delay="0"/>
                                  </p:stCondLst>
                                  <p:childTnLst>
                                    <p:set>
                                      <p:cBhvr>
                                        <p:cTn id="69" dur="1" fill="hold">
                                          <p:stCondLst>
                                            <p:cond delay="0"/>
                                          </p:stCondLst>
                                        </p:cTn>
                                        <p:tgtEl>
                                          <p:spTgt spid="60"/>
                                        </p:tgtEl>
                                        <p:attrNameLst>
                                          <p:attrName>style.visibility</p:attrName>
                                        </p:attrNameLst>
                                      </p:cBhvr>
                                      <p:to>
                                        <p:strVal val="visible"/>
                                      </p:to>
                                    </p:set>
                                    <p:anim calcmode="lin" valueType="num">
                                      <p:cBhvr additive="base">
                                        <p:cTn id="70" dur="500" fill="hold"/>
                                        <p:tgtEl>
                                          <p:spTgt spid="60"/>
                                        </p:tgtEl>
                                        <p:attrNameLst>
                                          <p:attrName>ppt_x</p:attrName>
                                        </p:attrNameLst>
                                      </p:cBhvr>
                                      <p:tavLst>
                                        <p:tav tm="0">
                                          <p:val>
                                            <p:strVal val="1+#ppt_w/2"/>
                                          </p:val>
                                        </p:tav>
                                        <p:tav tm="100000">
                                          <p:val>
                                            <p:strVal val="#ppt_x"/>
                                          </p:val>
                                        </p:tav>
                                      </p:tavLst>
                                    </p:anim>
                                    <p:anim calcmode="lin" valueType="num">
                                      <p:cBhvr additive="base">
                                        <p:cTn id="71" dur="500" fill="hold"/>
                                        <p:tgtEl>
                                          <p:spTgt spid="60"/>
                                        </p:tgtEl>
                                        <p:attrNameLst>
                                          <p:attrName>ppt_y</p:attrName>
                                        </p:attrNameLst>
                                      </p:cBhvr>
                                      <p:tavLst>
                                        <p:tav tm="0">
                                          <p:val>
                                            <p:strVal val="#ppt_y"/>
                                          </p:val>
                                        </p:tav>
                                        <p:tav tm="100000">
                                          <p:val>
                                            <p:strVal val="#ppt_y"/>
                                          </p:val>
                                        </p:tav>
                                      </p:tavLst>
                                    </p:anim>
                                  </p:childTnLst>
                                </p:cTn>
                              </p:par>
                              <p:par>
                                <p:cTn id="72" presetID="2" presetClass="entr" presetSubtype="2" fill="hold" grpId="0" nodeType="withEffect">
                                  <p:stCondLst>
                                    <p:cond delay="0"/>
                                  </p:stCondLst>
                                  <p:childTnLst>
                                    <p:set>
                                      <p:cBhvr>
                                        <p:cTn id="73" dur="1" fill="hold">
                                          <p:stCondLst>
                                            <p:cond delay="0"/>
                                          </p:stCondLst>
                                        </p:cTn>
                                        <p:tgtEl>
                                          <p:spTgt spid="61"/>
                                        </p:tgtEl>
                                        <p:attrNameLst>
                                          <p:attrName>style.visibility</p:attrName>
                                        </p:attrNameLst>
                                      </p:cBhvr>
                                      <p:to>
                                        <p:strVal val="visible"/>
                                      </p:to>
                                    </p:set>
                                    <p:anim calcmode="lin" valueType="num">
                                      <p:cBhvr additive="base">
                                        <p:cTn id="74" dur="500" fill="hold"/>
                                        <p:tgtEl>
                                          <p:spTgt spid="61"/>
                                        </p:tgtEl>
                                        <p:attrNameLst>
                                          <p:attrName>ppt_x</p:attrName>
                                        </p:attrNameLst>
                                      </p:cBhvr>
                                      <p:tavLst>
                                        <p:tav tm="0">
                                          <p:val>
                                            <p:strVal val="1+#ppt_w/2"/>
                                          </p:val>
                                        </p:tav>
                                        <p:tav tm="100000">
                                          <p:val>
                                            <p:strVal val="#ppt_x"/>
                                          </p:val>
                                        </p:tav>
                                      </p:tavLst>
                                    </p:anim>
                                    <p:anim calcmode="lin" valueType="num">
                                      <p:cBhvr additive="base">
                                        <p:cTn id="75" dur="500" fill="hold"/>
                                        <p:tgtEl>
                                          <p:spTgt spid="61"/>
                                        </p:tgtEl>
                                        <p:attrNameLst>
                                          <p:attrName>ppt_y</p:attrName>
                                        </p:attrNameLst>
                                      </p:cBhvr>
                                      <p:tavLst>
                                        <p:tav tm="0">
                                          <p:val>
                                            <p:strVal val="#ppt_y"/>
                                          </p:val>
                                        </p:tav>
                                        <p:tav tm="100000">
                                          <p:val>
                                            <p:strVal val="#ppt_y"/>
                                          </p:val>
                                        </p:tav>
                                      </p:tavLst>
                                    </p:anim>
                                  </p:childTnLst>
                                </p:cTn>
                              </p:par>
                              <p:par>
                                <p:cTn id="76" presetID="2" presetClass="entr" presetSubtype="2" fill="hold" grpId="0" nodeType="withEffect">
                                  <p:stCondLst>
                                    <p:cond delay="0"/>
                                  </p:stCondLst>
                                  <p:childTnLst>
                                    <p:set>
                                      <p:cBhvr>
                                        <p:cTn id="77" dur="1" fill="hold">
                                          <p:stCondLst>
                                            <p:cond delay="0"/>
                                          </p:stCondLst>
                                        </p:cTn>
                                        <p:tgtEl>
                                          <p:spTgt spid="62"/>
                                        </p:tgtEl>
                                        <p:attrNameLst>
                                          <p:attrName>style.visibility</p:attrName>
                                        </p:attrNameLst>
                                      </p:cBhvr>
                                      <p:to>
                                        <p:strVal val="visible"/>
                                      </p:to>
                                    </p:set>
                                    <p:anim calcmode="lin" valueType="num">
                                      <p:cBhvr additive="base">
                                        <p:cTn id="78" dur="500" fill="hold"/>
                                        <p:tgtEl>
                                          <p:spTgt spid="62"/>
                                        </p:tgtEl>
                                        <p:attrNameLst>
                                          <p:attrName>ppt_x</p:attrName>
                                        </p:attrNameLst>
                                      </p:cBhvr>
                                      <p:tavLst>
                                        <p:tav tm="0">
                                          <p:val>
                                            <p:strVal val="1+#ppt_w/2"/>
                                          </p:val>
                                        </p:tav>
                                        <p:tav tm="100000">
                                          <p:val>
                                            <p:strVal val="#ppt_x"/>
                                          </p:val>
                                        </p:tav>
                                      </p:tavLst>
                                    </p:anim>
                                    <p:anim calcmode="lin" valueType="num">
                                      <p:cBhvr additive="base">
                                        <p:cTn id="79" dur="500" fill="hold"/>
                                        <p:tgtEl>
                                          <p:spTgt spid="62"/>
                                        </p:tgtEl>
                                        <p:attrNameLst>
                                          <p:attrName>ppt_y</p:attrName>
                                        </p:attrNameLst>
                                      </p:cBhvr>
                                      <p:tavLst>
                                        <p:tav tm="0">
                                          <p:val>
                                            <p:strVal val="#ppt_y"/>
                                          </p:val>
                                        </p:tav>
                                        <p:tav tm="100000">
                                          <p:val>
                                            <p:strVal val="#ppt_y"/>
                                          </p:val>
                                        </p:tav>
                                      </p:tavLst>
                                    </p:anim>
                                  </p:childTnLst>
                                </p:cTn>
                              </p:par>
                            </p:childTnLst>
                          </p:cTn>
                        </p:par>
                        <p:par>
                          <p:cTn id="80" fill="hold">
                            <p:stCondLst>
                              <p:cond delay="4200"/>
                            </p:stCondLst>
                            <p:childTnLst>
                              <p:par>
                                <p:cTn id="81" presetID="53" presetClass="entr" presetSubtype="528" fill="hold" nodeType="afterEffect">
                                  <p:stCondLst>
                                    <p:cond delay="0"/>
                                  </p:stCondLst>
                                  <p:childTnLst>
                                    <p:set>
                                      <p:cBhvr>
                                        <p:cTn id="82" dur="1" fill="hold">
                                          <p:stCondLst>
                                            <p:cond delay="0"/>
                                          </p:stCondLst>
                                        </p:cTn>
                                        <p:tgtEl>
                                          <p:spTgt spid="3"/>
                                        </p:tgtEl>
                                        <p:attrNameLst>
                                          <p:attrName>style.visibility</p:attrName>
                                        </p:attrNameLst>
                                      </p:cBhvr>
                                      <p:to>
                                        <p:strVal val="visible"/>
                                      </p:to>
                                    </p:set>
                                    <p:anim calcmode="lin" valueType="num">
                                      <p:cBhvr>
                                        <p:cTn id="83" dur="500" fill="hold"/>
                                        <p:tgtEl>
                                          <p:spTgt spid="3"/>
                                        </p:tgtEl>
                                        <p:attrNameLst>
                                          <p:attrName>ppt_w</p:attrName>
                                        </p:attrNameLst>
                                      </p:cBhvr>
                                      <p:tavLst>
                                        <p:tav tm="0">
                                          <p:val>
                                            <p:fltVal val="0"/>
                                          </p:val>
                                        </p:tav>
                                        <p:tav tm="100000">
                                          <p:val>
                                            <p:strVal val="#ppt_w"/>
                                          </p:val>
                                        </p:tav>
                                      </p:tavLst>
                                    </p:anim>
                                    <p:anim calcmode="lin" valueType="num">
                                      <p:cBhvr>
                                        <p:cTn id="84" dur="500" fill="hold"/>
                                        <p:tgtEl>
                                          <p:spTgt spid="3"/>
                                        </p:tgtEl>
                                        <p:attrNameLst>
                                          <p:attrName>ppt_h</p:attrName>
                                        </p:attrNameLst>
                                      </p:cBhvr>
                                      <p:tavLst>
                                        <p:tav tm="0">
                                          <p:val>
                                            <p:fltVal val="0"/>
                                          </p:val>
                                        </p:tav>
                                        <p:tav tm="100000">
                                          <p:val>
                                            <p:strVal val="#ppt_h"/>
                                          </p:val>
                                        </p:tav>
                                      </p:tavLst>
                                    </p:anim>
                                    <p:animEffect transition="in" filter="fade">
                                      <p:cBhvr>
                                        <p:cTn id="85" dur="500"/>
                                        <p:tgtEl>
                                          <p:spTgt spid="3"/>
                                        </p:tgtEl>
                                      </p:cBhvr>
                                    </p:animEffect>
                                    <p:anim calcmode="lin" valueType="num">
                                      <p:cBhvr>
                                        <p:cTn id="86" dur="500" fill="hold"/>
                                        <p:tgtEl>
                                          <p:spTgt spid="3"/>
                                        </p:tgtEl>
                                        <p:attrNameLst>
                                          <p:attrName>ppt_x</p:attrName>
                                        </p:attrNameLst>
                                      </p:cBhvr>
                                      <p:tavLst>
                                        <p:tav tm="0">
                                          <p:val>
                                            <p:fltVal val="0.5"/>
                                          </p:val>
                                        </p:tav>
                                        <p:tav tm="100000">
                                          <p:val>
                                            <p:strVal val="#ppt_x"/>
                                          </p:val>
                                        </p:tav>
                                      </p:tavLst>
                                    </p:anim>
                                    <p:anim calcmode="lin" valueType="num">
                                      <p:cBhvr>
                                        <p:cTn id="87" dur="500" fill="hold"/>
                                        <p:tgtEl>
                                          <p:spTgt spid="3"/>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40" grpId="0"/>
      <p:bldP spid="41" grpId="0"/>
      <p:bldP spid="42" grpId="0"/>
      <p:bldP spid="56" grpId="0"/>
      <p:bldP spid="57" grpId="0"/>
      <p:bldP spid="58" grpId="0"/>
      <p:bldP spid="59" grpId="0"/>
      <p:bldP spid="60" grpId="0"/>
      <p:bldP spid="61" grpId="0"/>
      <p:bldP spid="6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框 15"/>
          <p:cNvSpPr txBox="1"/>
          <p:nvPr/>
        </p:nvSpPr>
        <p:spPr>
          <a:xfrm>
            <a:off x="709386" y="309785"/>
            <a:ext cx="2261711" cy="377026"/>
          </a:xfrm>
          <a:prstGeom prst="rect">
            <a:avLst/>
          </a:prstGeom>
          <a:noFill/>
        </p:spPr>
        <p:txBody>
          <a:bodyPr wrap="square" lIns="68580" tIns="34290" rIns="68580" bIns="34290" rtlCol="0">
            <a:spAutoFit/>
          </a:bodyPr>
          <a:lstStyle/>
          <a:p>
            <a:r>
              <a:rPr lang="en-US" altLang="zh-CN" sz="2000" b="1" dirty="0">
                <a:solidFill>
                  <a:srgbClr val="1B4367"/>
                </a:solidFill>
                <a:cs typeface="+mn-ea"/>
                <a:sym typeface="+mn-lt"/>
              </a:rPr>
              <a:t>Future works</a:t>
            </a:r>
            <a:endParaRPr lang="zh-CN" altLang="en-US" sz="2000" b="1" dirty="0">
              <a:solidFill>
                <a:srgbClr val="1B4367"/>
              </a:solidFill>
              <a:cs typeface="+mn-ea"/>
              <a:sym typeface="+mn-lt"/>
            </a:endParaRPr>
          </a:p>
        </p:txBody>
      </p:sp>
      <p:sp>
        <p:nvSpPr>
          <p:cNvPr id="33" name="燕尾形 12"/>
          <p:cNvSpPr>
            <a:spLocks noChangeArrowheads="1"/>
          </p:cNvSpPr>
          <p:nvPr/>
        </p:nvSpPr>
        <p:spPr bwMode="auto">
          <a:xfrm>
            <a:off x="1536124" y="2322161"/>
            <a:ext cx="1646635" cy="614363"/>
          </a:xfrm>
          <a:prstGeom prst="chevron">
            <a:avLst>
              <a:gd name="adj" fmla="val 38367"/>
            </a:avLst>
          </a:prstGeom>
          <a:solidFill>
            <a:srgbClr val="1B4367"/>
          </a:solidFill>
          <a:ln w="9525">
            <a:solidFill>
              <a:schemeClr val="tx1">
                <a:lumMod val="75000"/>
                <a:lumOff val="25000"/>
              </a:schemeClr>
            </a:solidFill>
          </a:ln>
        </p:spPr>
        <p:txBody>
          <a:bodyPr lIns="68580" tIns="34290" rIns="68580" bIns="34290" anchor="ctr"/>
          <a:lstStyle/>
          <a:p>
            <a:pPr algn="ctr"/>
            <a:r>
              <a:rPr lang="en-US" altLang="zh-CN" b="1" dirty="0">
                <a:solidFill>
                  <a:schemeClr val="bg1"/>
                </a:solidFill>
              </a:rPr>
              <a:t>A</a:t>
            </a:r>
            <a:endParaRPr lang="zh-CN" altLang="en-US" b="1" dirty="0">
              <a:solidFill>
                <a:schemeClr val="bg1"/>
              </a:solidFill>
            </a:endParaRPr>
          </a:p>
        </p:txBody>
      </p:sp>
      <p:sp>
        <p:nvSpPr>
          <p:cNvPr id="34" name="燕尾形 13"/>
          <p:cNvSpPr>
            <a:spLocks noChangeArrowheads="1"/>
          </p:cNvSpPr>
          <p:nvPr/>
        </p:nvSpPr>
        <p:spPr bwMode="auto">
          <a:xfrm>
            <a:off x="3028681" y="2322161"/>
            <a:ext cx="1646635" cy="614363"/>
          </a:xfrm>
          <a:prstGeom prst="chevron">
            <a:avLst>
              <a:gd name="adj" fmla="val 38367"/>
            </a:avLst>
          </a:prstGeom>
          <a:solidFill>
            <a:srgbClr val="1B4367"/>
          </a:solidFill>
          <a:ln w="9525">
            <a:solidFill>
              <a:schemeClr val="tx1">
                <a:lumMod val="75000"/>
                <a:lumOff val="25000"/>
              </a:schemeClr>
            </a:solidFill>
          </a:ln>
        </p:spPr>
        <p:txBody>
          <a:bodyPr lIns="68580" tIns="34290" rIns="68580" bIns="34290" anchor="ctr"/>
          <a:lstStyle/>
          <a:p>
            <a:pPr algn="ctr"/>
            <a:r>
              <a:rPr lang="en-US" altLang="zh-CN" b="1" dirty="0">
                <a:solidFill>
                  <a:schemeClr val="bg1"/>
                </a:solidFill>
              </a:rPr>
              <a:t>B</a:t>
            </a:r>
            <a:endParaRPr lang="zh-CN" altLang="en-US" b="1" dirty="0">
              <a:solidFill>
                <a:schemeClr val="bg1"/>
              </a:solidFill>
            </a:endParaRPr>
          </a:p>
        </p:txBody>
      </p:sp>
      <p:sp>
        <p:nvSpPr>
          <p:cNvPr id="35" name="燕尾形 14"/>
          <p:cNvSpPr>
            <a:spLocks noChangeArrowheads="1"/>
          </p:cNvSpPr>
          <p:nvPr/>
        </p:nvSpPr>
        <p:spPr bwMode="auto">
          <a:xfrm>
            <a:off x="4516300" y="2322161"/>
            <a:ext cx="1646634" cy="614363"/>
          </a:xfrm>
          <a:prstGeom prst="chevron">
            <a:avLst>
              <a:gd name="adj" fmla="val 38367"/>
            </a:avLst>
          </a:prstGeom>
          <a:solidFill>
            <a:srgbClr val="1B4367"/>
          </a:solidFill>
          <a:ln w="9525">
            <a:solidFill>
              <a:schemeClr val="tx1">
                <a:lumMod val="75000"/>
                <a:lumOff val="25000"/>
              </a:schemeClr>
            </a:solidFill>
          </a:ln>
        </p:spPr>
        <p:txBody>
          <a:bodyPr lIns="68580" tIns="34290" rIns="68580" bIns="34290" anchor="ctr"/>
          <a:lstStyle/>
          <a:p>
            <a:pPr algn="ctr"/>
            <a:r>
              <a:rPr lang="en-US" altLang="zh-CN" b="1" dirty="0">
                <a:solidFill>
                  <a:schemeClr val="bg1"/>
                </a:solidFill>
              </a:rPr>
              <a:t>C</a:t>
            </a:r>
            <a:endParaRPr lang="zh-CN" altLang="en-US" b="1" dirty="0">
              <a:solidFill>
                <a:schemeClr val="bg1"/>
              </a:solidFill>
            </a:endParaRPr>
          </a:p>
        </p:txBody>
      </p:sp>
      <p:sp>
        <p:nvSpPr>
          <p:cNvPr id="36" name="燕尾形 15"/>
          <p:cNvSpPr>
            <a:spLocks noChangeArrowheads="1"/>
          </p:cNvSpPr>
          <p:nvPr/>
        </p:nvSpPr>
        <p:spPr bwMode="auto">
          <a:xfrm>
            <a:off x="5997423" y="2322161"/>
            <a:ext cx="1646634" cy="614363"/>
          </a:xfrm>
          <a:prstGeom prst="chevron">
            <a:avLst>
              <a:gd name="adj" fmla="val 38367"/>
            </a:avLst>
          </a:prstGeom>
          <a:solidFill>
            <a:srgbClr val="1B4367"/>
          </a:solidFill>
          <a:ln w="9525">
            <a:solidFill>
              <a:schemeClr val="tx1">
                <a:lumMod val="75000"/>
                <a:lumOff val="25000"/>
              </a:schemeClr>
            </a:solidFill>
          </a:ln>
        </p:spPr>
        <p:txBody>
          <a:bodyPr lIns="68580" tIns="34290" rIns="68580" bIns="34290" anchor="ctr"/>
          <a:lstStyle/>
          <a:p>
            <a:pPr algn="ctr"/>
            <a:r>
              <a:rPr lang="en-US" altLang="zh-CN" b="1" dirty="0">
                <a:solidFill>
                  <a:schemeClr val="bg1"/>
                </a:solidFill>
              </a:rPr>
              <a:t>D</a:t>
            </a:r>
            <a:endParaRPr lang="zh-CN" altLang="en-US" b="1" dirty="0">
              <a:solidFill>
                <a:schemeClr val="bg1"/>
              </a:solidFill>
            </a:endParaRPr>
          </a:p>
        </p:txBody>
      </p:sp>
      <p:cxnSp>
        <p:nvCxnSpPr>
          <p:cNvPr id="37" name="直接连接符 16"/>
          <p:cNvCxnSpPr>
            <a:cxnSpLocks noChangeShapeType="1"/>
          </p:cNvCxnSpPr>
          <p:nvPr/>
        </p:nvCxnSpPr>
        <p:spPr bwMode="auto">
          <a:xfrm>
            <a:off x="2360036" y="2936524"/>
            <a:ext cx="0" cy="270272"/>
          </a:xfrm>
          <a:prstGeom prst="line">
            <a:avLst/>
          </a:prstGeom>
          <a:noFill/>
          <a:ln w="9525">
            <a:solidFill>
              <a:srgbClr val="1B4367"/>
            </a:solidFill>
            <a:round/>
            <a:tailEnd type="oval" w="med" len="med"/>
          </a:ln>
          <a:extLst>
            <a:ext uri="{909E8E84-426E-40DD-AFC4-6F175D3DCCD1}">
              <a14:hiddenFill xmlns:a14="http://schemas.microsoft.com/office/drawing/2010/main">
                <a:noFill/>
              </a14:hiddenFill>
            </a:ext>
          </a:extLst>
        </p:spPr>
      </p:cxnSp>
      <p:cxnSp>
        <p:nvCxnSpPr>
          <p:cNvPr id="38" name="直接连接符 17"/>
          <p:cNvCxnSpPr>
            <a:cxnSpLocks noChangeShapeType="1"/>
          </p:cNvCxnSpPr>
          <p:nvPr/>
        </p:nvCxnSpPr>
        <p:spPr bwMode="auto">
          <a:xfrm flipV="1">
            <a:off x="3852593" y="2045937"/>
            <a:ext cx="0" cy="270272"/>
          </a:xfrm>
          <a:prstGeom prst="line">
            <a:avLst/>
          </a:prstGeom>
          <a:noFill/>
          <a:ln w="9525">
            <a:solidFill>
              <a:srgbClr val="1B4367"/>
            </a:solidFill>
            <a:round/>
            <a:tailEnd type="oval" w="med" len="med"/>
          </a:ln>
          <a:extLst>
            <a:ext uri="{909E8E84-426E-40DD-AFC4-6F175D3DCCD1}">
              <a14:hiddenFill xmlns:a14="http://schemas.microsoft.com/office/drawing/2010/main">
                <a:noFill/>
              </a14:hiddenFill>
            </a:ext>
          </a:extLst>
        </p:spPr>
      </p:cxnSp>
      <p:cxnSp>
        <p:nvCxnSpPr>
          <p:cNvPr id="39" name="直接连接符 18"/>
          <p:cNvCxnSpPr>
            <a:cxnSpLocks noChangeShapeType="1"/>
          </p:cNvCxnSpPr>
          <p:nvPr/>
        </p:nvCxnSpPr>
        <p:spPr bwMode="auto">
          <a:xfrm>
            <a:off x="5339022" y="2936524"/>
            <a:ext cx="0" cy="270272"/>
          </a:xfrm>
          <a:prstGeom prst="line">
            <a:avLst/>
          </a:prstGeom>
          <a:noFill/>
          <a:ln w="9525">
            <a:solidFill>
              <a:srgbClr val="1B4367"/>
            </a:solidFill>
            <a:round/>
            <a:tailEnd type="oval" w="med" len="med"/>
          </a:ln>
          <a:extLst>
            <a:ext uri="{909E8E84-426E-40DD-AFC4-6F175D3DCCD1}">
              <a14:hiddenFill xmlns:a14="http://schemas.microsoft.com/office/drawing/2010/main">
                <a:noFill/>
              </a14:hiddenFill>
            </a:ext>
          </a:extLst>
        </p:spPr>
      </p:cxnSp>
      <p:cxnSp>
        <p:nvCxnSpPr>
          <p:cNvPr id="40" name="直接连接符 19"/>
          <p:cNvCxnSpPr>
            <a:cxnSpLocks noChangeShapeType="1"/>
          </p:cNvCxnSpPr>
          <p:nvPr/>
        </p:nvCxnSpPr>
        <p:spPr bwMode="auto">
          <a:xfrm flipV="1">
            <a:off x="6820144" y="2045937"/>
            <a:ext cx="0" cy="270272"/>
          </a:xfrm>
          <a:prstGeom prst="line">
            <a:avLst/>
          </a:prstGeom>
          <a:noFill/>
          <a:ln w="9525">
            <a:solidFill>
              <a:srgbClr val="1B4367"/>
            </a:solidFill>
            <a:round/>
            <a:tailEnd type="oval" w="med" len="med"/>
          </a:ln>
          <a:extLst>
            <a:ext uri="{909E8E84-426E-40DD-AFC4-6F175D3DCCD1}">
              <a14:hiddenFill xmlns:a14="http://schemas.microsoft.com/office/drawing/2010/main">
                <a:noFill/>
              </a14:hiddenFill>
            </a:ext>
          </a:extLst>
        </p:spPr>
      </p:cxnSp>
      <p:sp>
        <p:nvSpPr>
          <p:cNvPr id="41" name="TextBox 1210"/>
          <p:cNvSpPr/>
          <p:nvPr/>
        </p:nvSpPr>
        <p:spPr>
          <a:xfrm>
            <a:off x="1313900" y="3279829"/>
            <a:ext cx="2118978" cy="838691"/>
          </a:xfrm>
          <a:prstGeom prst="rect">
            <a:avLst/>
          </a:prstGeom>
          <a:noFill/>
          <a:ln w="9525">
            <a:noFill/>
            <a:miter/>
          </a:ln>
          <a:extLst>
            <a:ext uri="{909E8E84-426E-40DD-AFC4-6F175D3DCCD1}">
              <a14:hiddenFill xmlns:a14="http://schemas.microsoft.com/office/drawing/2010/main">
                <a:solidFill>
                  <a:srgbClr val="5CA0B4"/>
                </a:solidFill>
              </a14:hiddenFill>
            </a:ext>
          </a:extLst>
        </p:spPr>
        <p:txBody>
          <a:bodyPr wrap="none" lIns="68580" tIns="34290" rIns="68580" bIns="34290">
            <a:spAutoFit/>
          </a:bodyPr>
          <a:lstStyle/>
          <a:p>
            <a:pPr algn="ctr"/>
            <a:r>
              <a:rPr lang="en-US" altLang="zh-CN" sz="1800" b="1" dirty="0">
                <a:solidFill>
                  <a:srgbClr val="1B4367"/>
                </a:solidFill>
                <a:cs typeface="+mn-ea"/>
                <a:sym typeface="+mn-lt"/>
              </a:rPr>
              <a:t>System Upgrade </a:t>
            </a:r>
            <a:endParaRPr lang="en-US" altLang="zh-CN" sz="1800" b="1" dirty="0">
              <a:solidFill>
                <a:srgbClr val="1B4367"/>
              </a:solidFill>
              <a:cs typeface="+mn-ea"/>
              <a:sym typeface="+mn-lt"/>
            </a:endParaRPr>
          </a:p>
          <a:p>
            <a:pPr algn="ctr"/>
            <a:r>
              <a:rPr lang="en-US" altLang="zh-CN" sz="1800" b="1" dirty="0">
                <a:solidFill>
                  <a:srgbClr val="1B4367"/>
                </a:solidFill>
                <a:cs typeface="+mn-ea"/>
                <a:sym typeface="+mn-lt"/>
              </a:rPr>
              <a:t>Using DERs</a:t>
            </a:r>
            <a:endParaRPr lang="en-US" altLang="zh-CN" sz="1800" b="1" dirty="0">
              <a:solidFill>
                <a:srgbClr val="1B4367"/>
              </a:solidFill>
              <a:cs typeface="+mn-ea"/>
              <a:sym typeface="+mn-lt"/>
            </a:endParaRPr>
          </a:p>
          <a:p>
            <a:pPr lvl="0" algn="ctr"/>
            <a:endParaRPr lang="zh-CN" altLang="en-US" b="1" dirty="0">
              <a:solidFill>
                <a:srgbClr val="1B4367"/>
              </a:solidFill>
              <a:cs typeface="+mn-ea"/>
              <a:sym typeface="+mn-lt"/>
            </a:endParaRPr>
          </a:p>
        </p:txBody>
      </p:sp>
      <p:sp>
        <p:nvSpPr>
          <p:cNvPr id="43" name="TextBox 1210"/>
          <p:cNvSpPr/>
          <p:nvPr/>
        </p:nvSpPr>
        <p:spPr>
          <a:xfrm>
            <a:off x="3213682" y="1678911"/>
            <a:ext cx="1276632" cy="346249"/>
          </a:xfrm>
          <a:prstGeom prst="rect">
            <a:avLst/>
          </a:prstGeom>
          <a:noFill/>
          <a:ln w="9525">
            <a:noFill/>
            <a:miter/>
          </a:ln>
          <a:extLst>
            <a:ext uri="{909E8E84-426E-40DD-AFC4-6F175D3DCCD1}">
              <a14:hiddenFill xmlns:a14="http://schemas.microsoft.com/office/drawing/2010/main">
                <a:solidFill>
                  <a:srgbClr val="5CA0B4"/>
                </a:solidFill>
              </a14:hiddenFill>
            </a:ext>
          </a:extLst>
        </p:spPr>
        <p:txBody>
          <a:bodyPr wrap="none" lIns="68580" tIns="34290" rIns="68580" bIns="34290">
            <a:spAutoFit/>
          </a:bodyPr>
          <a:lstStyle/>
          <a:p>
            <a:pPr lvl="0" algn="ctr"/>
            <a:r>
              <a:rPr lang="en-US" altLang="zh-CN" sz="1800" b="1" dirty="0">
                <a:solidFill>
                  <a:srgbClr val="1B4367"/>
                </a:solidFill>
                <a:cs typeface="+mn-ea"/>
                <a:sym typeface="+mn-lt"/>
              </a:rPr>
              <a:t>Emissions</a:t>
            </a:r>
            <a:endParaRPr lang="zh-CN" altLang="en-US" sz="1800" b="1" dirty="0">
              <a:solidFill>
                <a:srgbClr val="1B4367"/>
              </a:solidFill>
              <a:cs typeface="+mn-ea"/>
              <a:sym typeface="+mn-lt"/>
            </a:endParaRPr>
          </a:p>
        </p:txBody>
      </p:sp>
      <p:sp>
        <p:nvSpPr>
          <p:cNvPr id="47" name="TextBox 1210"/>
          <p:cNvSpPr/>
          <p:nvPr/>
        </p:nvSpPr>
        <p:spPr>
          <a:xfrm>
            <a:off x="4068924" y="3279829"/>
            <a:ext cx="2534920" cy="345440"/>
          </a:xfrm>
          <a:prstGeom prst="rect">
            <a:avLst/>
          </a:prstGeom>
          <a:noFill/>
          <a:ln w="9525">
            <a:noFill/>
            <a:miter/>
          </a:ln>
          <a:extLst>
            <a:ext uri="{909E8E84-426E-40DD-AFC4-6F175D3DCCD1}">
              <a14:hiddenFill xmlns:a14="http://schemas.microsoft.com/office/drawing/2010/main">
                <a:solidFill>
                  <a:srgbClr val="5CA0B4"/>
                </a:solidFill>
              </a14:hiddenFill>
            </a:ext>
          </a:extLst>
        </p:spPr>
        <p:txBody>
          <a:bodyPr wrap="none" lIns="68580" tIns="34290" rIns="68580" bIns="34290">
            <a:spAutoFit/>
          </a:bodyPr>
          <a:lstStyle/>
          <a:p>
            <a:pPr lvl="0" algn="ctr"/>
            <a:r>
              <a:rPr lang="en-US" altLang="zh-CN" sz="1800" b="1" dirty="0">
                <a:solidFill>
                  <a:srgbClr val="1B4367"/>
                </a:solidFill>
                <a:cs typeface="+mn-ea"/>
                <a:sym typeface="+mn-lt"/>
              </a:rPr>
              <a:t>Reconfiguration cost</a:t>
            </a:r>
            <a:endParaRPr lang="en-US" altLang="zh-CN" b="1" dirty="0">
              <a:solidFill>
                <a:srgbClr val="1B4367"/>
              </a:solidFill>
              <a:cs typeface="+mn-ea"/>
              <a:sym typeface="+mn-lt"/>
            </a:endParaRPr>
          </a:p>
        </p:txBody>
      </p:sp>
      <p:sp>
        <p:nvSpPr>
          <p:cNvPr id="49" name="TextBox 1210"/>
          <p:cNvSpPr/>
          <p:nvPr/>
        </p:nvSpPr>
        <p:spPr>
          <a:xfrm>
            <a:off x="5977041" y="1678910"/>
            <a:ext cx="1781578" cy="346249"/>
          </a:xfrm>
          <a:prstGeom prst="rect">
            <a:avLst/>
          </a:prstGeom>
          <a:noFill/>
          <a:ln w="9525">
            <a:noFill/>
            <a:miter/>
          </a:ln>
          <a:extLst>
            <a:ext uri="{909E8E84-426E-40DD-AFC4-6F175D3DCCD1}">
              <a14:hiddenFill xmlns:a14="http://schemas.microsoft.com/office/drawing/2010/main">
                <a:solidFill>
                  <a:srgbClr val="5CA0B4"/>
                </a:solidFill>
              </a14:hiddenFill>
            </a:ext>
          </a:extLst>
        </p:spPr>
        <p:txBody>
          <a:bodyPr wrap="none" lIns="68580" tIns="34290" rIns="68580" bIns="34290">
            <a:spAutoFit/>
          </a:bodyPr>
          <a:lstStyle/>
          <a:p>
            <a:pPr algn="ctr"/>
            <a:r>
              <a:rPr lang="en-US" altLang="zh-CN" sz="1800" b="1" dirty="0">
                <a:solidFill>
                  <a:srgbClr val="1B4367"/>
                </a:solidFill>
                <a:cs typeface="+mn-ea"/>
                <a:sym typeface="+mn-lt"/>
              </a:rPr>
              <a:t>Miscellaneous</a:t>
            </a:r>
            <a:endParaRPr lang="zh-CN" altLang="en-US" sz="1800" b="1" dirty="0">
              <a:solidFill>
                <a:srgbClr val="1B4367"/>
              </a:solidFill>
              <a:cs typeface="+mn-ea"/>
              <a:sym typeface="+mn-lt"/>
            </a:endParaRPr>
          </a:p>
        </p:txBody>
      </p:sp>
      <p:cxnSp>
        <p:nvCxnSpPr>
          <p:cNvPr id="20" name="直接连接符 19"/>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31"/>
                                        </p:tgtEl>
                                        <p:attrNameLst>
                                          <p:attrName>style.visibility</p:attrName>
                                        </p:attrNameLst>
                                      </p:cBhvr>
                                      <p:to>
                                        <p:strVal val="visible"/>
                                      </p:to>
                                    </p:set>
                                    <p:anim calcmode="lin" valueType="num">
                                      <p:cBhvr>
                                        <p:cTn id="7" dur="500" fill="hold"/>
                                        <p:tgtEl>
                                          <p:spTgt spid="31"/>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1"/>
                                        </p:tgtEl>
                                        <p:attrNameLst>
                                          <p:attrName>ppt_y</p:attrName>
                                        </p:attrNameLst>
                                      </p:cBhvr>
                                      <p:tavLst>
                                        <p:tav tm="0">
                                          <p:val>
                                            <p:strVal val="#ppt_y"/>
                                          </p:val>
                                        </p:tav>
                                        <p:tav tm="100000">
                                          <p:val>
                                            <p:strVal val="#ppt_y"/>
                                          </p:val>
                                        </p:tav>
                                      </p:tavLst>
                                    </p:anim>
                                    <p:anim calcmode="lin" valueType="num">
                                      <p:cBhvr>
                                        <p:cTn id="9" dur="500" fill="hold"/>
                                        <p:tgtEl>
                                          <p:spTgt spid="31"/>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1"/>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1"/>
                                        </p:tgtEl>
                                      </p:cBhvr>
                                    </p:animEffect>
                                  </p:childTnLst>
                                </p:cTn>
                              </p:par>
                            </p:childTnLst>
                          </p:cTn>
                        </p:par>
                        <p:par>
                          <p:cTn id="12" fill="hold">
                            <p:stCondLst>
                              <p:cond delay="1049"/>
                            </p:stCondLst>
                            <p:childTnLst>
                              <p:par>
                                <p:cTn id="13" presetID="22" presetClass="entr" presetSubtype="8" fill="hold" nodeType="after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wipe(left)">
                                      <p:cBhvr>
                                        <p:cTn id="15" dur="300"/>
                                        <p:tgtEl>
                                          <p:spTgt spid="20"/>
                                        </p:tgtEl>
                                      </p:cBhvr>
                                    </p:animEffect>
                                  </p:childTnLst>
                                </p:cTn>
                              </p:par>
                            </p:childTnLst>
                          </p:cTn>
                        </p:par>
                        <p:par>
                          <p:cTn id="16" fill="hold">
                            <p:stCondLst>
                              <p:cond delay="1549"/>
                            </p:stCondLst>
                            <p:childTnLst>
                              <p:par>
                                <p:cTn id="17" presetID="12" presetClass="entr" presetSubtype="8" fill="hold" grpId="0" nodeType="afterEffect">
                                  <p:stCondLst>
                                    <p:cond delay="0"/>
                                  </p:stCondLst>
                                  <p:childTnLst>
                                    <p:set>
                                      <p:cBhvr>
                                        <p:cTn id="18" dur="1" fill="hold">
                                          <p:stCondLst>
                                            <p:cond delay="0"/>
                                          </p:stCondLst>
                                        </p:cTn>
                                        <p:tgtEl>
                                          <p:spTgt spid="33"/>
                                        </p:tgtEl>
                                        <p:attrNameLst>
                                          <p:attrName>style.visibility</p:attrName>
                                        </p:attrNameLst>
                                      </p:cBhvr>
                                      <p:to>
                                        <p:strVal val="visible"/>
                                      </p:to>
                                    </p:set>
                                    <p:anim calcmode="lin" valueType="num">
                                      <p:cBhvr additive="base">
                                        <p:cTn id="19" dur="500"/>
                                        <p:tgtEl>
                                          <p:spTgt spid="33"/>
                                        </p:tgtEl>
                                        <p:attrNameLst>
                                          <p:attrName>ppt_x</p:attrName>
                                        </p:attrNameLst>
                                      </p:cBhvr>
                                      <p:tavLst>
                                        <p:tav tm="0">
                                          <p:val>
                                            <p:strVal val="#ppt_x-#ppt_w*1.125000"/>
                                          </p:val>
                                        </p:tav>
                                        <p:tav tm="100000">
                                          <p:val>
                                            <p:strVal val="#ppt_x"/>
                                          </p:val>
                                        </p:tav>
                                      </p:tavLst>
                                    </p:anim>
                                    <p:animEffect transition="in" filter="wipe(right)">
                                      <p:cBhvr>
                                        <p:cTn id="20" dur="500"/>
                                        <p:tgtEl>
                                          <p:spTgt spid="33"/>
                                        </p:tgtEl>
                                      </p:cBhvr>
                                    </p:animEffect>
                                  </p:childTnLst>
                                </p:cTn>
                              </p:par>
                            </p:childTnLst>
                          </p:cTn>
                        </p:par>
                        <p:par>
                          <p:cTn id="21" fill="hold">
                            <p:stCondLst>
                              <p:cond delay="2049"/>
                            </p:stCondLst>
                            <p:childTnLst>
                              <p:par>
                                <p:cTn id="22" presetID="22" presetClass="entr" presetSubtype="1" fill="hold" nodeType="afterEffect">
                                  <p:stCondLst>
                                    <p:cond delay="0"/>
                                  </p:stCondLst>
                                  <p:childTnLst>
                                    <p:set>
                                      <p:cBhvr>
                                        <p:cTn id="23" dur="1" fill="hold">
                                          <p:stCondLst>
                                            <p:cond delay="0"/>
                                          </p:stCondLst>
                                        </p:cTn>
                                        <p:tgtEl>
                                          <p:spTgt spid="37"/>
                                        </p:tgtEl>
                                        <p:attrNameLst>
                                          <p:attrName>style.visibility</p:attrName>
                                        </p:attrNameLst>
                                      </p:cBhvr>
                                      <p:to>
                                        <p:strVal val="visible"/>
                                      </p:to>
                                    </p:set>
                                    <p:animEffect transition="in" filter="wipe(up)">
                                      <p:cBhvr>
                                        <p:cTn id="24" dur="500"/>
                                        <p:tgtEl>
                                          <p:spTgt spid="37"/>
                                        </p:tgtEl>
                                      </p:cBhvr>
                                    </p:animEffect>
                                  </p:childTnLst>
                                </p:cTn>
                              </p:par>
                            </p:childTnLst>
                          </p:cTn>
                        </p:par>
                        <p:par>
                          <p:cTn id="25" fill="hold">
                            <p:stCondLst>
                              <p:cond delay="2549"/>
                            </p:stCondLst>
                            <p:childTnLst>
                              <p:par>
                                <p:cTn id="26" presetID="2" presetClass="entr" presetSubtype="4" fill="hold" grpId="0" nodeType="afterEffect">
                                  <p:stCondLst>
                                    <p:cond delay="0"/>
                                  </p:stCondLst>
                                  <p:childTnLst>
                                    <p:set>
                                      <p:cBhvr>
                                        <p:cTn id="27" dur="1" fill="hold">
                                          <p:stCondLst>
                                            <p:cond delay="0"/>
                                          </p:stCondLst>
                                        </p:cTn>
                                        <p:tgtEl>
                                          <p:spTgt spid="41"/>
                                        </p:tgtEl>
                                        <p:attrNameLst>
                                          <p:attrName>style.visibility</p:attrName>
                                        </p:attrNameLst>
                                      </p:cBhvr>
                                      <p:to>
                                        <p:strVal val="visible"/>
                                      </p:to>
                                    </p:set>
                                    <p:anim calcmode="lin" valueType="num">
                                      <p:cBhvr additive="base">
                                        <p:cTn id="28" dur="500" fill="hold"/>
                                        <p:tgtEl>
                                          <p:spTgt spid="41"/>
                                        </p:tgtEl>
                                        <p:attrNameLst>
                                          <p:attrName>ppt_x</p:attrName>
                                        </p:attrNameLst>
                                      </p:cBhvr>
                                      <p:tavLst>
                                        <p:tav tm="0">
                                          <p:val>
                                            <p:strVal val="#ppt_x"/>
                                          </p:val>
                                        </p:tav>
                                        <p:tav tm="100000">
                                          <p:val>
                                            <p:strVal val="#ppt_x"/>
                                          </p:val>
                                        </p:tav>
                                      </p:tavLst>
                                    </p:anim>
                                    <p:anim calcmode="lin" valueType="num">
                                      <p:cBhvr additive="base">
                                        <p:cTn id="29" dur="500" fill="hold"/>
                                        <p:tgtEl>
                                          <p:spTgt spid="41"/>
                                        </p:tgtEl>
                                        <p:attrNameLst>
                                          <p:attrName>ppt_y</p:attrName>
                                        </p:attrNameLst>
                                      </p:cBhvr>
                                      <p:tavLst>
                                        <p:tav tm="0">
                                          <p:val>
                                            <p:strVal val="1+#ppt_h/2"/>
                                          </p:val>
                                        </p:tav>
                                        <p:tav tm="100000">
                                          <p:val>
                                            <p:strVal val="#ppt_y"/>
                                          </p:val>
                                        </p:tav>
                                      </p:tavLst>
                                    </p:anim>
                                  </p:childTnLst>
                                </p:cTn>
                              </p:par>
                            </p:childTnLst>
                          </p:cTn>
                        </p:par>
                        <p:par>
                          <p:cTn id="30" fill="hold">
                            <p:stCondLst>
                              <p:cond delay="3049"/>
                            </p:stCondLst>
                            <p:childTnLst>
                              <p:par>
                                <p:cTn id="31" presetID="12" presetClass="entr" presetSubtype="8" fill="hold" grpId="0" nodeType="afterEffect">
                                  <p:stCondLst>
                                    <p:cond delay="0"/>
                                  </p:stCondLst>
                                  <p:childTnLst>
                                    <p:set>
                                      <p:cBhvr>
                                        <p:cTn id="32" dur="1" fill="hold">
                                          <p:stCondLst>
                                            <p:cond delay="0"/>
                                          </p:stCondLst>
                                        </p:cTn>
                                        <p:tgtEl>
                                          <p:spTgt spid="34"/>
                                        </p:tgtEl>
                                        <p:attrNameLst>
                                          <p:attrName>style.visibility</p:attrName>
                                        </p:attrNameLst>
                                      </p:cBhvr>
                                      <p:to>
                                        <p:strVal val="visible"/>
                                      </p:to>
                                    </p:set>
                                    <p:anim calcmode="lin" valueType="num">
                                      <p:cBhvr additive="base">
                                        <p:cTn id="33" dur="500"/>
                                        <p:tgtEl>
                                          <p:spTgt spid="34"/>
                                        </p:tgtEl>
                                        <p:attrNameLst>
                                          <p:attrName>ppt_x</p:attrName>
                                        </p:attrNameLst>
                                      </p:cBhvr>
                                      <p:tavLst>
                                        <p:tav tm="0">
                                          <p:val>
                                            <p:strVal val="#ppt_x-#ppt_w*1.125000"/>
                                          </p:val>
                                        </p:tav>
                                        <p:tav tm="100000">
                                          <p:val>
                                            <p:strVal val="#ppt_x"/>
                                          </p:val>
                                        </p:tav>
                                      </p:tavLst>
                                    </p:anim>
                                    <p:animEffect transition="in" filter="wipe(right)">
                                      <p:cBhvr>
                                        <p:cTn id="34" dur="500"/>
                                        <p:tgtEl>
                                          <p:spTgt spid="34"/>
                                        </p:tgtEl>
                                      </p:cBhvr>
                                    </p:animEffect>
                                  </p:childTnLst>
                                </p:cTn>
                              </p:par>
                            </p:childTnLst>
                          </p:cTn>
                        </p:par>
                        <p:par>
                          <p:cTn id="35" fill="hold">
                            <p:stCondLst>
                              <p:cond delay="3549"/>
                            </p:stCondLst>
                            <p:childTnLst>
                              <p:par>
                                <p:cTn id="36" presetID="22" presetClass="entr" presetSubtype="4" fill="hold" nodeType="afterEffect">
                                  <p:stCondLst>
                                    <p:cond delay="0"/>
                                  </p:stCondLst>
                                  <p:childTnLst>
                                    <p:set>
                                      <p:cBhvr>
                                        <p:cTn id="37" dur="1" fill="hold">
                                          <p:stCondLst>
                                            <p:cond delay="0"/>
                                          </p:stCondLst>
                                        </p:cTn>
                                        <p:tgtEl>
                                          <p:spTgt spid="38"/>
                                        </p:tgtEl>
                                        <p:attrNameLst>
                                          <p:attrName>style.visibility</p:attrName>
                                        </p:attrNameLst>
                                      </p:cBhvr>
                                      <p:to>
                                        <p:strVal val="visible"/>
                                      </p:to>
                                    </p:set>
                                    <p:animEffect transition="in" filter="wipe(down)">
                                      <p:cBhvr>
                                        <p:cTn id="38" dur="500"/>
                                        <p:tgtEl>
                                          <p:spTgt spid="38"/>
                                        </p:tgtEl>
                                      </p:cBhvr>
                                    </p:animEffect>
                                  </p:childTnLst>
                                </p:cTn>
                              </p:par>
                            </p:childTnLst>
                          </p:cTn>
                        </p:par>
                        <p:par>
                          <p:cTn id="39" fill="hold">
                            <p:stCondLst>
                              <p:cond delay="4049"/>
                            </p:stCondLst>
                            <p:childTnLst>
                              <p:par>
                                <p:cTn id="40" presetID="2" presetClass="entr" presetSubtype="4" fill="hold" grpId="0" nodeType="afterEffect">
                                  <p:stCondLst>
                                    <p:cond delay="0"/>
                                  </p:stCondLst>
                                  <p:childTnLst>
                                    <p:set>
                                      <p:cBhvr>
                                        <p:cTn id="41" dur="1" fill="hold">
                                          <p:stCondLst>
                                            <p:cond delay="0"/>
                                          </p:stCondLst>
                                        </p:cTn>
                                        <p:tgtEl>
                                          <p:spTgt spid="43"/>
                                        </p:tgtEl>
                                        <p:attrNameLst>
                                          <p:attrName>style.visibility</p:attrName>
                                        </p:attrNameLst>
                                      </p:cBhvr>
                                      <p:to>
                                        <p:strVal val="visible"/>
                                      </p:to>
                                    </p:set>
                                    <p:anim calcmode="lin" valueType="num">
                                      <p:cBhvr additive="base">
                                        <p:cTn id="42" dur="500" fill="hold"/>
                                        <p:tgtEl>
                                          <p:spTgt spid="43"/>
                                        </p:tgtEl>
                                        <p:attrNameLst>
                                          <p:attrName>ppt_x</p:attrName>
                                        </p:attrNameLst>
                                      </p:cBhvr>
                                      <p:tavLst>
                                        <p:tav tm="0">
                                          <p:val>
                                            <p:strVal val="#ppt_x"/>
                                          </p:val>
                                        </p:tav>
                                        <p:tav tm="100000">
                                          <p:val>
                                            <p:strVal val="#ppt_x"/>
                                          </p:val>
                                        </p:tav>
                                      </p:tavLst>
                                    </p:anim>
                                    <p:anim calcmode="lin" valueType="num">
                                      <p:cBhvr additive="base">
                                        <p:cTn id="43" dur="500" fill="hold"/>
                                        <p:tgtEl>
                                          <p:spTgt spid="43"/>
                                        </p:tgtEl>
                                        <p:attrNameLst>
                                          <p:attrName>ppt_y</p:attrName>
                                        </p:attrNameLst>
                                      </p:cBhvr>
                                      <p:tavLst>
                                        <p:tav tm="0">
                                          <p:val>
                                            <p:strVal val="1+#ppt_h/2"/>
                                          </p:val>
                                        </p:tav>
                                        <p:tav tm="100000">
                                          <p:val>
                                            <p:strVal val="#ppt_y"/>
                                          </p:val>
                                        </p:tav>
                                      </p:tavLst>
                                    </p:anim>
                                  </p:childTnLst>
                                </p:cTn>
                              </p:par>
                            </p:childTnLst>
                          </p:cTn>
                        </p:par>
                        <p:par>
                          <p:cTn id="44" fill="hold">
                            <p:stCondLst>
                              <p:cond delay="4549"/>
                            </p:stCondLst>
                            <p:childTnLst>
                              <p:par>
                                <p:cTn id="45" presetID="12" presetClass="entr" presetSubtype="8" fill="hold" grpId="0" nodeType="afterEffect">
                                  <p:stCondLst>
                                    <p:cond delay="0"/>
                                  </p:stCondLst>
                                  <p:childTnLst>
                                    <p:set>
                                      <p:cBhvr>
                                        <p:cTn id="46" dur="1" fill="hold">
                                          <p:stCondLst>
                                            <p:cond delay="0"/>
                                          </p:stCondLst>
                                        </p:cTn>
                                        <p:tgtEl>
                                          <p:spTgt spid="35"/>
                                        </p:tgtEl>
                                        <p:attrNameLst>
                                          <p:attrName>style.visibility</p:attrName>
                                        </p:attrNameLst>
                                      </p:cBhvr>
                                      <p:to>
                                        <p:strVal val="visible"/>
                                      </p:to>
                                    </p:set>
                                    <p:anim calcmode="lin" valueType="num">
                                      <p:cBhvr additive="base">
                                        <p:cTn id="47" dur="500"/>
                                        <p:tgtEl>
                                          <p:spTgt spid="35"/>
                                        </p:tgtEl>
                                        <p:attrNameLst>
                                          <p:attrName>ppt_x</p:attrName>
                                        </p:attrNameLst>
                                      </p:cBhvr>
                                      <p:tavLst>
                                        <p:tav tm="0">
                                          <p:val>
                                            <p:strVal val="#ppt_x-#ppt_w*1.125000"/>
                                          </p:val>
                                        </p:tav>
                                        <p:tav tm="100000">
                                          <p:val>
                                            <p:strVal val="#ppt_x"/>
                                          </p:val>
                                        </p:tav>
                                      </p:tavLst>
                                    </p:anim>
                                    <p:animEffect transition="in" filter="wipe(right)">
                                      <p:cBhvr>
                                        <p:cTn id="48" dur="500"/>
                                        <p:tgtEl>
                                          <p:spTgt spid="35"/>
                                        </p:tgtEl>
                                      </p:cBhvr>
                                    </p:animEffect>
                                  </p:childTnLst>
                                </p:cTn>
                              </p:par>
                            </p:childTnLst>
                          </p:cTn>
                        </p:par>
                        <p:par>
                          <p:cTn id="49" fill="hold">
                            <p:stCondLst>
                              <p:cond delay="5049"/>
                            </p:stCondLst>
                            <p:childTnLst>
                              <p:par>
                                <p:cTn id="50" presetID="22" presetClass="entr" presetSubtype="1" fill="hold" nodeType="afterEffect">
                                  <p:stCondLst>
                                    <p:cond delay="0"/>
                                  </p:stCondLst>
                                  <p:childTnLst>
                                    <p:set>
                                      <p:cBhvr>
                                        <p:cTn id="51" dur="1" fill="hold">
                                          <p:stCondLst>
                                            <p:cond delay="0"/>
                                          </p:stCondLst>
                                        </p:cTn>
                                        <p:tgtEl>
                                          <p:spTgt spid="39"/>
                                        </p:tgtEl>
                                        <p:attrNameLst>
                                          <p:attrName>style.visibility</p:attrName>
                                        </p:attrNameLst>
                                      </p:cBhvr>
                                      <p:to>
                                        <p:strVal val="visible"/>
                                      </p:to>
                                    </p:set>
                                    <p:animEffect transition="in" filter="wipe(up)">
                                      <p:cBhvr>
                                        <p:cTn id="52" dur="500"/>
                                        <p:tgtEl>
                                          <p:spTgt spid="39"/>
                                        </p:tgtEl>
                                      </p:cBhvr>
                                    </p:animEffect>
                                  </p:childTnLst>
                                </p:cTn>
                              </p:par>
                            </p:childTnLst>
                          </p:cTn>
                        </p:par>
                        <p:par>
                          <p:cTn id="53" fill="hold">
                            <p:stCondLst>
                              <p:cond delay="5549"/>
                            </p:stCondLst>
                            <p:childTnLst>
                              <p:par>
                                <p:cTn id="54" presetID="2" presetClass="entr" presetSubtype="4" fill="hold" grpId="0" nodeType="afterEffect">
                                  <p:stCondLst>
                                    <p:cond delay="0"/>
                                  </p:stCondLst>
                                  <p:childTnLst>
                                    <p:set>
                                      <p:cBhvr>
                                        <p:cTn id="55" dur="1" fill="hold">
                                          <p:stCondLst>
                                            <p:cond delay="0"/>
                                          </p:stCondLst>
                                        </p:cTn>
                                        <p:tgtEl>
                                          <p:spTgt spid="47"/>
                                        </p:tgtEl>
                                        <p:attrNameLst>
                                          <p:attrName>style.visibility</p:attrName>
                                        </p:attrNameLst>
                                      </p:cBhvr>
                                      <p:to>
                                        <p:strVal val="visible"/>
                                      </p:to>
                                    </p:set>
                                    <p:anim calcmode="lin" valueType="num">
                                      <p:cBhvr additive="base">
                                        <p:cTn id="56" dur="500" fill="hold"/>
                                        <p:tgtEl>
                                          <p:spTgt spid="47"/>
                                        </p:tgtEl>
                                        <p:attrNameLst>
                                          <p:attrName>ppt_x</p:attrName>
                                        </p:attrNameLst>
                                      </p:cBhvr>
                                      <p:tavLst>
                                        <p:tav tm="0">
                                          <p:val>
                                            <p:strVal val="#ppt_x"/>
                                          </p:val>
                                        </p:tav>
                                        <p:tav tm="100000">
                                          <p:val>
                                            <p:strVal val="#ppt_x"/>
                                          </p:val>
                                        </p:tav>
                                      </p:tavLst>
                                    </p:anim>
                                    <p:anim calcmode="lin" valueType="num">
                                      <p:cBhvr additive="base">
                                        <p:cTn id="57" dur="500" fill="hold"/>
                                        <p:tgtEl>
                                          <p:spTgt spid="47"/>
                                        </p:tgtEl>
                                        <p:attrNameLst>
                                          <p:attrName>ppt_y</p:attrName>
                                        </p:attrNameLst>
                                      </p:cBhvr>
                                      <p:tavLst>
                                        <p:tav tm="0">
                                          <p:val>
                                            <p:strVal val="1+#ppt_h/2"/>
                                          </p:val>
                                        </p:tav>
                                        <p:tav tm="100000">
                                          <p:val>
                                            <p:strVal val="#ppt_y"/>
                                          </p:val>
                                        </p:tav>
                                      </p:tavLst>
                                    </p:anim>
                                  </p:childTnLst>
                                </p:cTn>
                              </p:par>
                            </p:childTnLst>
                          </p:cTn>
                        </p:par>
                        <p:par>
                          <p:cTn id="58" fill="hold">
                            <p:stCondLst>
                              <p:cond delay="6049"/>
                            </p:stCondLst>
                            <p:childTnLst>
                              <p:par>
                                <p:cTn id="59" presetID="12" presetClass="entr" presetSubtype="8" fill="hold" grpId="0" nodeType="afterEffect">
                                  <p:stCondLst>
                                    <p:cond delay="0"/>
                                  </p:stCondLst>
                                  <p:childTnLst>
                                    <p:set>
                                      <p:cBhvr>
                                        <p:cTn id="60" dur="1" fill="hold">
                                          <p:stCondLst>
                                            <p:cond delay="0"/>
                                          </p:stCondLst>
                                        </p:cTn>
                                        <p:tgtEl>
                                          <p:spTgt spid="36"/>
                                        </p:tgtEl>
                                        <p:attrNameLst>
                                          <p:attrName>style.visibility</p:attrName>
                                        </p:attrNameLst>
                                      </p:cBhvr>
                                      <p:to>
                                        <p:strVal val="visible"/>
                                      </p:to>
                                    </p:set>
                                    <p:anim calcmode="lin" valueType="num">
                                      <p:cBhvr additive="base">
                                        <p:cTn id="61" dur="500"/>
                                        <p:tgtEl>
                                          <p:spTgt spid="36"/>
                                        </p:tgtEl>
                                        <p:attrNameLst>
                                          <p:attrName>ppt_x</p:attrName>
                                        </p:attrNameLst>
                                      </p:cBhvr>
                                      <p:tavLst>
                                        <p:tav tm="0">
                                          <p:val>
                                            <p:strVal val="#ppt_x-#ppt_w*1.125000"/>
                                          </p:val>
                                        </p:tav>
                                        <p:tav tm="100000">
                                          <p:val>
                                            <p:strVal val="#ppt_x"/>
                                          </p:val>
                                        </p:tav>
                                      </p:tavLst>
                                    </p:anim>
                                    <p:animEffect transition="in" filter="wipe(right)">
                                      <p:cBhvr>
                                        <p:cTn id="62" dur="500"/>
                                        <p:tgtEl>
                                          <p:spTgt spid="36"/>
                                        </p:tgtEl>
                                      </p:cBhvr>
                                    </p:animEffect>
                                  </p:childTnLst>
                                </p:cTn>
                              </p:par>
                            </p:childTnLst>
                          </p:cTn>
                        </p:par>
                        <p:par>
                          <p:cTn id="63" fill="hold">
                            <p:stCondLst>
                              <p:cond delay="6549"/>
                            </p:stCondLst>
                            <p:childTnLst>
                              <p:par>
                                <p:cTn id="64" presetID="22" presetClass="entr" presetSubtype="4" fill="hold" nodeType="afterEffect">
                                  <p:stCondLst>
                                    <p:cond delay="0"/>
                                  </p:stCondLst>
                                  <p:childTnLst>
                                    <p:set>
                                      <p:cBhvr>
                                        <p:cTn id="65" dur="1" fill="hold">
                                          <p:stCondLst>
                                            <p:cond delay="0"/>
                                          </p:stCondLst>
                                        </p:cTn>
                                        <p:tgtEl>
                                          <p:spTgt spid="40"/>
                                        </p:tgtEl>
                                        <p:attrNameLst>
                                          <p:attrName>style.visibility</p:attrName>
                                        </p:attrNameLst>
                                      </p:cBhvr>
                                      <p:to>
                                        <p:strVal val="visible"/>
                                      </p:to>
                                    </p:set>
                                    <p:animEffect transition="in" filter="wipe(down)">
                                      <p:cBhvr>
                                        <p:cTn id="66" dur="500"/>
                                        <p:tgtEl>
                                          <p:spTgt spid="40"/>
                                        </p:tgtEl>
                                      </p:cBhvr>
                                    </p:animEffect>
                                  </p:childTnLst>
                                </p:cTn>
                              </p:par>
                            </p:childTnLst>
                          </p:cTn>
                        </p:par>
                        <p:par>
                          <p:cTn id="67" fill="hold">
                            <p:stCondLst>
                              <p:cond delay="7049"/>
                            </p:stCondLst>
                            <p:childTnLst>
                              <p:par>
                                <p:cTn id="68" presetID="2" presetClass="entr" presetSubtype="4" fill="hold" grpId="0" nodeType="afterEffect">
                                  <p:stCondLst>
                                    <p:cond delay="0"/>
                                  </p:stCondLst>
                                  <p:childTnLst>
                                    <p:set>
                                      <p:cBhvr>
                                        <p:cTn id="69" dur="1" fill="hold">
                                          <p:stCondLst>
                                            <p:cond delay="0"/>
                                          </p:stCondLst>
                                        </p:cTn>
                                        <p:tgtEl>
                                          <p:spTgt spid="49"/>
                                        </p:tgtEl>
                                        <p:attrNameLst>
                                          <p:attrName>style.visibility</p:attrName>
                                        </p:attrNameLst>
                                      </p:cBhvr>
                                      <p:to>
                                        <p:strVal val="visible"/>
                                      </p:to>
                                    </p:set>
                                    <p:anim calcmode="lin" valueType="num">
                                      <p:cBhvr additive="base">
                                        <p:cTn id="70" dur="500" fill="hold"/>
                                        <p:tgtEl>
                                          <p:spTgt spid="49"/>
                                        </p:tgtEl>
                                        <p:attrNameLst>
                                          <p:attrName>ppt_x</p:attrName>
                                        </p:attrNameLst>
                                      </p:cBhvr>
                                      <p:tavLst>
                                        <p:tav tm="0">
                                          <p:val>
                                            <p:strVal val="#ppt_x"/>
                                          </p:val>
                                        </p:tav>
                                        <p:tav tm="100000">
                                          <p:val>
                                            <p:strVal val="#ppt_x"/>
                                          </p:val>
                                        </p:tav>
                                      </p:tavLst>
                                    </p:anim>
                                    <p:anim calcmode="lin" valueType="num">
                                      <p:cBhvr additive="base">
                                        <p:cTn id="71"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3" grpId="0" bldLvl="0" animBg="1"/>
      <p:bldP spid="34" grpId="0" bldLvl="0" animBg="1"/>
      <p:bldP spid="35" grpId="0" bldLvl="0" animBg="1"/>
      <p:bldP spid="36" grpId="0" bldLvl="0" animBg="1"/>
      <p:bldP spid="41" grpId="0"/>
      <p:bldP spid="43" grpId="0"/>
      <p:bldP spid="47" grpId="0"/>
      <p:bldP spid="4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框 15"/>
          <p:cNvSpPr txBox="1"/>
          <p:nvPr>
            <p:custDataLst>
              <p:tags r:id="rId1"/>
            </p:custDataLst>
          </p:nvPr>
        </p:nvSpPr>
        <p:spPr>
          <a:xfrm>
            <a:off x="709386" y="309785"/>
            <a:ext cx="2261711" cy="377026"/>
          </a:xfrm>
          <a:prstGeom prst="rect">
            <a:avLst/>
          </a:prstGeom>
          <a:noFill/>
        </p:spPr>
        <p:txBody>
          <a:bodyPr wrap="square" lIns="68580" tIns="34290" rIns="68580" bIns="34290" rtlCol="0">
            <a:spAutoFit/>
          </a:bodyPr>
          <a:lstStyle/>
          <a:p>
            <a:r>
              <a:rPr lang="en-US" altLang="zh-CN" sz="2000" b="1" dirty="0">
                <a:solidFill>
                  <a:srgbClr val="1B4367"/>
                </a:solidFill>
                <a:cs typeface="+mn-ea"/>
                <a:sym typeface="+mn-lt"/>
              </a:rPr>
              <a:t>Conclusion</a:t>
            </a:r>
            <a:endParaRPr lang="en-US" altLang="zh-CN" sz="2000" b="1" dirty="0">
              <a:solidFill>
                <a:srgbClr val="1B4367"/>
              </a:solidFill>
              <a:cs typeface="+mn-ea"/>
              <a:sym typeface="+mn-lt"/>
            </a:endParaRPr>
          </a:p>
        </p:txBody>
      </p:sp>
      <p:cxnSp>
        <p:nvCxnSpPr>
          <p:cNvPr id="20" name="直接连接符 19"/>
          <p:cNvCxnSpPr/>
          <p:nvPr>
            <p:custDataLst>
              <p:tags r:id="rId2"/>
            </p:custDataLst>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41" name="文本框 11"/>
          <p:cNvSpPr txBox="1"/>
          <p:nvPr>
            <p:custDataLst>
              <p:tags r:id="rId3"/>
            </p:custDataLst>
          </p:nvPr>
        </p:nvSpPr>
        <p:spPr>
          <a:xfrm>
            <a:off x="1386631" y="1283907"/>
            <a:ext cx="6734264" cy="4152804"/>
          </a:xfrm>
          <a:prstGeom prst="rect">
            <a:avLst/>
          </a:prstGeom>
          <a:noFill/>
          <a:ln>
            <a:noFill/>
          </a:ln>
          <a:extLst>
            <a:ext uri="{909E8E84-426E-40DD-AFC4-6F175D3DCCD1}">
              <a14:hiddenFill xmlns:a14="http://schemas.microsoft.com/office/drawing/2010/main">
                <a:solidFill>
                  <a:srgbClr val="5CA0B4"/>
                </a:solidFill>
              </a14:hiddenFill>
            </a:ext>
          </a:extLst>
        </p:spPr>
        <p:txBody>
          <a:bodyPr wrap="square" lIns="68580" tIns="34290" rIns="68580" bIns="34290" rtlCol="0">
            <a:spAutoFit/>
          </a:bodyPr>
          <a:lstStyle/>
          <a:p>
            <a:pPr indent="-171450">
              <a:lnSpc>
                <a:spcPct val="150000"/>
              </a:lnSpc>
              <a:buFont typeface="Wingdings" panose="05000000000000000000" pitchFamily="2" charset="2"/>
              <a:buChar char="l"/>
            </a:pPr>
            <a:r>
              <a:rPr lang="en-US" altLang="zh-CN" sz="1800" b="1" dirty="0">
                <a:solidFill>
                  <a:srgbClr val="1B4367"/>
                </a:solidFill>
                <a:cs typeface="+mn-ea"/>
                <a:sym typeface="+mn-lt"/>
              </a:rPr>
              <a:t>Comprehensive</a:t>
            </a:r>
            <a:r>
              <a:rPr lang="en-US" altLang="zh-CN" dirty="0">
                <a:solidFill>
                  <a:srgbClr val="1B4367"/>
                </a:solidFill>
                <a:cs typeface="+mn-ea"/>
                <a:sym typeface="+mn-lt"/>
              </a:rPr>
              <a:t> </a:t>
            </a:r>
            <a:r>
              <a:rPr lang="en-US" altLang="zh-CN" dirty="0">
                <a:latin typeface="Arial" panose="020B0604020202020204" pitchFamily="34" charset="0"/>
                <a:cs typeface="Arial" panose="020B0604020202020204" pitchFamily="34" charset="0"/>
                <a:sym typeface="+mn-lt"/>
              </a:rPr>
              <a:t>review of energy management in distribution systems.</a:t>
            </a:r>
            <a:endParaRPr lang="en-US" altLang="zh-CN" dirty="0">
              <a:latin typeface="Arial" panose="020B0604020202020204" pitchFamily="34" charset="0"/>
              <a:cs typeface="Arial" panose="020B0604020202020204" pitchFamily="34" charset="0"/>
              <a:sym typeface="+mn-lt"/>
            </a:endParaRPr>
          </a:p>
          <a:p>
            <a:pPr indent="-171450">
              <a:lnSpc>
                <a:spcPct val="150000"/>
              </a:lnSpc>
              <a:buFont typeface="Wingdings" panose="05000000000000000000" pitchFamily="2" charset="2"/>
              <a:buChar char="l"/>
            </a:pPr>
            <a:r>
              <a:rPr lang="en-US" altLang="zh-CN" sz="1800" b="1" dirty="0">
                <a:solidFill>
                  <a:srgbClr val="1B4367"/>
                </a:solidFill>
                <a:cs typeface="+mn-ea"/>
                <a:sym typeface="+mn-lt"/>
              </a:rPr>
              <a:t>Analysis</a:t>
            </a:r>
            <a:r>
              <a:rPr lang="en-US" altLang="zh-CN" dirty="0">
                <a:solidFill>
                  <a:srgbClr val="1B4367"/>
                </a:solidFill>
                <a:cs typeface="+mn-ea"/>
                <a:sym typeface="+mn-lt"/>
              </a:rPr>
              <a:t> </a:t>
            </a:r>
            <a:r>
              <a:rPr lang="en-US" altLang="zh-CN" dirty="0">
                <a:latin typeface="Arial" panose="020B0604020202020204" pitchFamily="34" charset="0"/>
                <a:cs typeface="Arial" panose="020B0604020202020204" pitchFamily="34" charset="0"/>
                <a:sym typeface="+mn-lt"/>
              </a:rPr>
              <a:t>of papers from diverse sources and perspectives.</a:t>
            </a:r>
            <a:endParaRPr lang="en-US" altLang="zh-CN" dirty="0">
              <a:latin typeface="Arial" panose="020B0604020202020204" pitchFamily="34" charset="0"/>
              <a:cs typeface="Arial" panose="020B0604020202020204" pitchFamily="34" charset="0"/>
              <a:sym typeface="+mn-lt"/>
            </a:endParaRPr>
          </a:p>
          <a:p>
            <a:pPr indent="-171450">
              <a:lnSpc>
                <a:spcPct val="150000"/>
              </a:lnSpc>
              <a:buFont typeface="Wingdings" panose="05000000000000000000" pitchFamily="2" charset="2"/>
              <a:buChar char="l"/>
            </a:pPr>
            <a:r>
              <a:rPr lang="en-US" altLang="zh-CN" sz="1800" b="1" dirty="0">
                <a:solidFill>
                  <a:srgbClr val="1B4367"/>
                </a:solidFill>
                <a:cs typeface="+mn-ea"/>
                <a:sym typeface="+mn-lt"/>
              </a:rPr>
              <a:t>Identification</a:t>
            </a:r>
            <a:r>
              <a:rPr lang="en-US" altLang="zh-CN" dirty="0">
                <a:solidFill>
                  <a:srgbClr val="1B4367"/>
                </a:solidFill>
                <a:cs typeface="+mn-ea"/>
                <a:sym typeface="+mn-lt"/>
              </a:rPr>
              <a:t> </a:t>
            </a:r>
            <a:r>
              <a:rPr lang="en-US" altLang="zh-CN" dirty="0">
                <a:latin typeface="Arial" panose="020B0604020202020204" pitchFamily="34" charset="0"/>
                <a:cs typeface="Arial" panose="020B0604020202020204" pitchFamily="34" charset="0"/>
                <a:sym typeface="+mn-lt"/>
              </a:rPr>
              <a:t>of challenges, including consumer reluctance and reliability concerns.</a:t>
            </a:r>
            <a:endParaRPr lang="en-US" altLang="zh-CN" dirty="0">
              <a:latin typeface="Arial" panose="020B0604020202020204" pitchFamily="34" charset="0"/>
              <a:cs typeface="Arial" panose="020B0604020202020204" pitchFamily="34" charset="0"/>
              <a:sym typeface="+mn-lt"/>
            </a:endParaRPr>
          </a:p>
          <a:p>
            <a:pPr indent="-171450">
              <a:lnSpc>
                <a:spcPct val="150000"/>
              </a:lnSpc>
              <a:buFont typeface="Wingdings" panose="05000000000000000000" pitchFamily="2" charset="2"/>
              <a:buChar char="l"/>
            </a:pPr>
            <a:r>
              <a:rPr lang="en-US" altLang="zh-CN" sz="1800" b="1" dirty="0">
                <a:solidFill>
                  <a:srgbClr val="1B4367"/>
                </a:solidFill>
                <a:cs typeface="+mn-ea"/>
                <a:sym typeface="+mn-lt"/>
              </a:rPr>
              <a:t>Emphasis</a:t>
            </a:r>
            <a:r>
              <a:rPr lang="en-US" altLang="zh-CN" dirty="0">
                <a:solidFill>
                  <a:srgbClr val="1B4367"/>
                </a:solidFill>
                <a:cs typeface="+mn-ea"/>
                <a:sym typeface="+mn-lt"/>
              </a:rPr>
              <a:t> </a:t>
            </a:r>
            <a:r>
              <a:rPr lang="en-US" altLang="zh-CN" dirty="0">
                <a:latin typeface="Arial" panose="020B0604020202020204" pitchFamily="34" charset="0"/>
                <a:cs typeface="Arial" panose="020B0604020202020204" pitchFamily="34" charset="0"/>
                <a:sym typeface="+mn-lt"/>
              </a:rPr>
              <a:t>on increasing interest in academic and industrial sectors.</a:t>
            </a:r>
            <a:endParaRPr lang="en-US" altLang="zh-CN" dirty="0">
              <a:latin typeface="Arial" panose="020B0604020202020204" pitchFamily="34" charset="0"/>
              <a:cs typeface="Arial" panose="020B0604020202020204" pitchFamily="34" charset="0"/>
              <a:sym typeface="+mn-lt"/>
            </a:endParaRPr>
          </a:p>
          <a:p>
            <a:pPr indent="-171450">
              <a:lnSpc>
                <a:spcPct val="150000"/>
              </a:lnSpc>
              <a:buFont typeface="Wingdings" panose="05000000000000000000" pitchFamily="2" charset="2"/>
              <a:buChar char="l"/>
            </a:pPr>
            <a:r>
              <a:rPr lang="en-US" altLang="zh-CN" sz="1800" b="1" dirty="0">
                <a:solidFill>
                  <a:srgbClr val="1B4367"/>
                </a:solidFill>
                <a:cs typeface="+mn-ea"/>
                <a:sym typeface="+mn-lt"/>
              </a:rPr>
              <a:t>Significance</a:t>
            </a:r>
            <a:r>
              <a:rPr lang="en-US" altLang="zh-CN" dirty="0">
                <a:solidFill>
                  <a:srgbClr val="1B4367"/>
                </a:solidFill>
                <a:cs typeface="+mn-ea"/>
                <a:sym typeface="+mn-lt"/>
              </a:rPr>
              <a:t> </a:t>
            </a:r>
            <a:r>
              <a:rPr lang="en-US" altLang="zh-CN" dirty="0">
                <a:latin typeface="Arial" panose="020B0604020202020204" pitchFamily="34" charset="0"/>
                <a:cs typeface="Arial" panose="020B0604020202020204" pitchFamily="34" charset="0"/>
                <a:sym typeface="+mn-lt"/>
              </a:rPr>
              <a:t>of energy management for sustainability and efficiency</a:t>
            </a:r>
            <a:r>
              <a:rPr lang="en-US" altLang="zh-CN" dirty="0">
                <a:solidFill>
                  <a:srgbClr val="1B4367"/>
                </a:solidFill>
                <a:cs typeface="+mn-ea"/>
                <a:sym typeface="+mn-lt"/>
              </a:rPr>
              <a:t>.</a:t>
            </a:r>
            <a:endParaRPr lang="en-US" altLang="zh-CN" dirty="0">
              <a:solidFill>
                <a:srgbClr val="1B4367"/>
              </a:solidFill>
              <a:cs typeface="+mn-ea"/>
              <a:sym typeface="+mn-lt"/>
            </a:endParaRPr>
          </a:p>
          <a:p>
            <a:pPr indent="-171450">
              <a:lnSpc>
                <a:spcPct val="150000"/>
              </a:lnSpc>
              <a:buFont typeface="Wingdings" panose="05000000000000000000" pitchFamily="2" charset="2"/>
              <a:buChar char="l"/>
            </a:pPr>
            <a:r>
              <a:rPr lang="en-US" altLang="zh-CN" sz="1800" b="1" dirty="0">
                <a:solidFill>
                  <a:srgbClr val="1B4367"/>
                </a:solidFill>
                <a:cs typeface="+mn-ea"/>
                <a:sym typeface="+mn-lt"/>
              </a:rPr>
              <a:t>Insights</a:t>
            </a:r>
            <a:r>
              <a:rPr lang="en-US" altLang="zh-CN" dirty="0">
                <a:solidFill>
                  <a:srgbClr val="1B4367"/>
                </a:solidFill>
                <a:cs typeface="+mn-ea"/>
                <a:sym typeface="+mn-lt"/>
              </a:rPr>
              <a:t> </a:t>
            </a:r>
            <a:r>
              <a:rPr lang="en-US" altLang="zh-CN" dirty="0">
                <a:latin typeface="Arial" panose="020B0604020202020204" pitchFamily="34" charset="0"/>
                <a:cs typeface="Arial" panose="020B0604020202020204" pitchFamily="34" charset="0"/>
                <a:sym typeface="+mn-lt"/>
              </a:rPr>
              <a:t>for</a:t>
            </a:r>
            <a:r>
              <a:rPr lang="en-US" altLang="zh-CN" dirty="0">
                <a:solidFill>
                  <a:srgbClr val="1B4367"/>
                </a:solidFill>
                <a:cs typeface="+mn-ea"/>
                <a:sym typeface="+mn-lt"/>
              </a:rPr>
              <a:t> </a:t>
            </a:r>
            <a:r>
              <a:rPr lang="en-US" altLang="zh-CN" sz="1800" b="1" dirty="0">
                <a:solidFill>
                  <a:srgbClr val="1B4367"/>
                </a:solidFill>
                <a:cs typeface="+mn-ea"/>
                <a:sym typeface="+mn-lt"/>
              </a:rPr>
              <a:t>future</a:t>
            </a:r>
            <a:r>
              <a:rPr lang="en-US" altLang="zh-CN" dirty="0">
                <a:solidFill>
                  <a:srgbClr val="1B4367"/>
                </a:solidFill>
                <a:cs typeface="+mn-ea"/>
                <a:sym typeface="+mn-lt"/>
              </a:rPr>
              <a:t> </a:t>
            </a:r>
            <a:r>
              <a:rPr lang="en-US" altLang="zh-CN" dirty="0">
                <a:latin typeface="Arial" panose="020B0604020202020204" pitchFamily="34" charset="0"/>
                <a:cs typeface="Arial" panose="020B0604020202020204" pitchFamily="34" charset="0"/>
                <a:sym typeface="+mn-lt"/>
              </a:rPr>
              <a:t>research directions, saving valuable time for researchers and engineers.</a:t>
            </a:r>
            <a:endParaRPr lang="en-US" altLang="zh-CN" dirty="0">
              <a:latin typeface="Arial" panose="020B0604020202020204" pitchFamily="34" charset="0"/>
              <a:cs typeface="Arial" panose="020B0604020202020204" pitchFamily="34" charset="0"/>
              <a:sym typeface="+mn-lt"/>
            </a:endParaRPr>
          </a:p>
          <a:p>
            <a:pPr>
              <a:lnSpc>
                <a:spcPts val="1500"/>
              </a:lnSpc>
            </a:pPr>
            <a:endParaRPr lang="en-US" altLang="zh-CN" sz="1000" dirty="0">
              <a:solidFill>
                <a:schemeClr val="tx1">
                  <a:lumMod val="75000"/>
                  <a:lumOff val="25000"/>
                </a:schemeClr>
              </a:solidFill>
              <a:cs typeface="+mn-ea"/>
              <a:sym typeface="+mn-lt"/>
            </a:endParaRPr>
          </a:p>
          <a:p>
            <a:pPr>
              <a:lnSpc>
                <a:spcPts val="1500"/>
              </a:lnSpc>
            </a:pPr>
            <a:endParaRPr lang="en-US" altLang="zh-CN" sz="1000" dirty="0">
              <a:solidFill>
                <a:schemeClr val="tx1">
                  <a:lumMod val="75000"/>
                  <a:lumOff val="25000"/>
                </a:schemeClr>
              </a:solidFill>
              <a:cs typeface="+mn-ea"/>
              <a:sym typeface="+mn-lt"/>
            </a:endParaRPr>
          </a:p>
          <a:p>
            <a:pPr>
              <a:lnSpc>
                <a:spcPts val="1500"/>
              </a:lnSpc>
            </a:pPr>
            <a:endParaRPr lang="en-US" altLang="zh-CN" sz="1000" dirty="0">
              <a:solidFill>
                <a:schemeClr val="tx1">
                  <a:lumMod val="75000"/>
                  <a:lumOff val="25000"/>
                </a:schemeClr>
              </a:solidFill>
              <a:cs typeface="+mn-ea"/>
              <a:sym typeface="+mn-lt"/>
            </a:endParaRPr>
          </a:p>
          <a:p>
            <a:pPr>
              <a:lnSpc>
                <a:spcPts val="1500"/>
              </a:lnSpc>
            </a:pPr>
            <a:endParaRPr lang="en-US" altLang="zh-CN" sz="1000" dirty="0">
              <a:solidFill>
                <a:schemeClr val="tx1">
                  <a:lumMod val="75000"/>
                  <a:lumOff val="25000"/>
                </a:schemeClr>
              </a:solidFill>
              <a:cs typeface="+mn-ea"/>
              <a:sym typeface="+mn-lt"/>
            </a:endParaRPr>
          </a:p>
          <a:p>
            <a:pPr>
              <a:lnSpc>
                <a:spcPts val="1500"/>
              </a:lnSpc>
            </a:pPr>
            <a:endParaRPr lang="en-US" altLang="zh-CN" sz="1000" dirty="0">
              <a:solidFill>
                <a:schemeClr val="tx1">
                  <a:lumMod val="75000"/>
                  <a:lumOff val="25000"/>
                </a:schemeClr>
              </a:solidFill>
              <a:cs typeface="+mn-ea"/>
              <a:sym typeface="+mn-l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31"/>
                                        </p:tgtEl>
                                        <p:attrNameLst>
                                          <p:attrName>style.visibility</p:attrName>
                                        </p:attrNameLst>
                                      </p:cBhvr>
                                      <p:to>
                                        <p:strVal val="visible"/>
                                      </p:to>
                                    </p:set>
                                    <p:anim calcmode="lin" valueType="num">
                                      <p:cBhvr>
                                        <p:cTn id="7" dur="500" fill="hold"/>
                                        <p:tgtEl>
                                          <p:spTgt spid="31"/>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1"/>
                                        </p:tgtEl>
                                        <p:attrNameLst>
                                          <p:attrName>ppt_y</p:attrName>
                                        </p:attrNameLst>
                                      </p:cBhvr>
                                      <p:tavLst>
                                        <p:tav tm="0">
                                          <p:val>
                                            <p:strVal val="#ppt_y"/>
                                          </p:val>
                                        </p:tav>
                                        <p:tav tm="100000">
                                          <p:val>
                                            <p:strVal val="#ppt_y"/>
                                          </p:val>
                                        </p:tav>
                                      </p:tavLst>
                                    </p:anim>
                                    <p:anim calcmode="lin" valueType="num">
                                      <p:cBhvr>
                                        <p:cTn id="9" dur="500" fill="hold"/>
                                        <p:tgtEl>
                                          <p:spTgt spid="31"/>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1"/>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1"/>
                                        </p:tgtEl>
                                      </p:cBhvr>
                                    </p:animEffect>
                                  </p:childTnLst>
                                </p:cTn>
                              </p:par>
                            </p:childTnLst>
                          </p:cTn>
                        </p:par>
                        <p:par>
                          <p:cTn id="12" fill="hold">
                            <p:stCondLst>
                              <p:cond delay="949"/>
                            </p:stCondLst>
                            <p:childTnLst>
                              <p:par>
                                <p:cTn id="13" presetID="22" presetClass="entr" presetSubtype="8" fill="hold" nodeType="after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wipe(left)">
                                      <p:cBhvr>
                                        <p:cTn id="15" dur="300"/>
                                        <p:tgtEl>
                                          <p:spTgt spid="20"/>
                                        </p:tgtEl>
                                      </p:cBhvr>
                                    </p:animEffect>
                                  </p:childTnLst>
                                </p:cTn>
                              </p:par>
                              <p:par>
                                <p:cTn id="16" presetID="2" presetClass="entr" presetSubtype="2" fill="hold" grpId="0" nodeType="withEffect">
                                  <p:stCondLst>
                                    <p:cond delay="0"/>
                                  </p:stCondLst>
                                  <p:childTnLst>
                                    <p:set>
                                      <p:cBhvr>
                                        <p:cTn id="17" dur="1" fill="hold">
                                          <p:stCondLst>
                                            <p:cond delay="0"/>
                                          </p:stCondLst>
                                        </p:cTn>
                                        <p:tgtEl>
                                          <p:spTgt spid="41"/>
                                        </p:tgtEl>
                                        <p:attrNameLst>
                                          <p:attrName>style.visibility</p:attrName>
                                        </p:attrNameLst>
                                      </p:cBhvr>
                                      <p:to>
                                        <p:strVal val="visible"/>
                                      </p:to>
                                    </p:set>
                                    <p:anim calcmode="lin" valueType="num">
                                      <p:cBhvr additive="base">
                                        <p:cTn id="18" dur="500" fill="hold"/>
                                        <p:tgtEl>
                                          <p:spTgt spid="41"/>
                                        </p:tgtEl>
                                        <p:attrNameLst>
                                          <p:attrName>ppt_x</p:attrName>
                                        </p:attrNameLst>
                                      </p:cBhvr>
                                      <p:tavLst>
                                        <p:tav tm="0">
                                          <p:val>
                                            <p:strVal val="1+#ppt_w/2"/>
                                          </p:val>
                                        </p:tav>
                                        <p:tav tm="100000">
                                          <p:val>
                                            <p:strVal val="#ppt_x"/>
                                          </p:val>
                                        </p:tav>
                                      </p:tavLst>
                                    </p:anim>
                                    <p:anim calcmode="lin" valueType="num">
                                      <p:cBhvr additive="base">
                                        <p:cTn id="19" dur="500" fill="hold"/>
                                        <p:tgtEl>
                                          <p:spTgt spid="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41"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5" name="文本框 15"/>
          <p:cNvSpPr txBox="1"/>
          <p:nvPr/>
        </p:nvSpPr>
        <p:spPr>
          <a:xfrm>
            <a:off x="193040" y="327660"/>
            <a:ext cx="2716530" cy="329565"/>
          </a:xfrm>
          <a:prstGeom prst="rect">
            <a:avLst/>
          </a:prstGeom>
          <a:noFill/>
        </p:spPr>
        <p:txBody>
          <a:bodyPr wrap="square" lIns="68580" tIns="34290" rIns="68580" bIns="34290" rtlCol="0">
            <a:spAutoFit/>
          </a:bodyPr>
          <a:lstStyle/>
          <a:p>
            <a:pPr algn="ctr"/>
            <a:r>
              <a:rPr lang="en-US" altLang="zh-CN" sz="1700" b="1" dirty="0">
                <a:solidFill>
                  <a:srgbClr val="1B4367"/>
                </a:solidFill>
                <a:cs typeface="+mn-ea"/>
                <a:sym typeface="+mn-lt"/>
              </a:rPr>
              <a:t>References</a:t>
            </a:r>
            <a:r>
              <a:rPr lang="zh-CN" altLang="en-US" sz="1700" b="1" dirty="0">
                <a:solidFill>
                  <a:srgbClr val="1B4367"/>
                </a:solidFill>
                <a:cs typeface="+mn-ea"/>
                <a:sym typeface="+mn-lt"/>
              </a:rPr>
              <a:t>（Selected）</a:t>
            </a:r>
            <a:endParaRPr lang="zh-CN" altLang="en-US" sz="1700" b="1" dirty="0">
              <a:solidFill>
                <a:srgbClr val="1B4367"/>
              </a:solidFill>
              <a:cs typeface="+mn-ea"/>
              <a:sym typeface="+mn-lt"/>
            </a:endParaRPr>
          </a:p>
        </p:txBody>
      </p:sp>
      <p:sp>
        <p:nvSpPr>
          <p:cNvPr id="2" name="文本框 1"/>
          <p:cNvSpPr txBox="1"/>
          <p:nvPr/>
        </p:nvSpPr>
        <p:spPr>
          <a:xfrm>
            <a:off x="311785" y="764540"/>
            <a:ext cx="8063230" cy="4399915"/>
          </a:xfrm>
          <a:prstGeom prst="rect">
            <a:avLst/>
          </a:prstGeom>
          <a:noFill/>
        </p:spPr>
        <p:txBody>
          <a:bodyPr wrap="square" rtlCol="0">
            <a:spAutoFit/>
          </a:bodyPr>
          <a:p>
            <a:r>
              <a:rPr lang="en-US" altLang="zh-CN"/>
              <a:t>[1]Y. Xu and X. Shen, "Optimal Control Based Energy Management of Multiple Energy Storage Systems in a Microgrid," in IEEE Access, vol. 6, pp. 32925-32934, 2018, doi: 10.1109/ACCESS.2018.2845408.</a:t>
            </a:r>
            <a:endParaRPr lang="en-US" altLang="zh-CN"/>
          </a:p>
          <a:p>
            <a:r>
              <a:rPr lang="en-US" altLang="zh-CN"/>
              <a:t>[2]B. Liu, F. Zhuo, Y. Zhu and H. Yi, "System Operation and Energy Management of a Renewable Energy-Based DC Micro-Grid for High Penetration Depth Application," in IEEE Transactions on Smart Grid, vol. 6, no. 3, pp. 1147-1155, May 2015, doi: 10.1109/TSG.2014.2374163.</a:t>
            </a:r>
            <a:endParaRPr lang="en-US" altLang="zh-CN"/>
          </a:p>
          <a:p>
            <a:r>
              <a:rPr lang="en-US" altLang="zh-CN"/>
              <a:t>[3]C. D. Rodríguez-Gallegos, O. Gandhi, D. Yang, M. S. Alvarez-Alvarado,</a:t>
            </a:r>
            <a:endParaRPr lang="en-US" altLang="zh-CN"/>
          </a:p>
          <a:p>
            <a:r>
              <a:rPr lang="en-US" altLang="zh-CN"/>
              <a:t>W. Zhang, T. Reindl, and S. K. Panda,  "A siting and sizing optimization</a:t>
            </a:r>
            <a:endParaRPr lang="en-US" altLang="zh-CN"/>
          </a:p>
          <a:p>
            <a:r>
              <a:rPr lang="en-US" altLang="zh-CN"/>
              <a:t>approach for PV–battery–diesel hybrid systems,"  IEEE Trans. Ind. Appl.,</a:t>
            </a:r>
            <a:endParaRPr lang="en-US" altLang="zh-CN"/>
          </a:p>
          <a:p>
            <a:r>
              <a:rPr lang="en-US" altLang="zh-CN"/>
              <a:t>vol. 54, no. 3, pp. 2637–2645, May/Jun. 2018</a:t>
            </a:r>
            <a:endParaRPr lang="en-US" altLang="zh-CN"/>
          </a:p>
          <a:p>
            <a:r>
              <a:rPr lang="en-US" altLang="zh-CN">
                <a:sym typeface="+mn-ea"/>
              </a:rPr>
              <a:t>[4]</a:t>
            </a:r>
            <a:r>
              <a:rPr lang="en-US" altLang="zh-CN"/>
              <a:t>S. A. Alavi, A. Ahmadian, and M. Aliakbar-Golkar,  "Optimal prob_x0002_abilistic energy management in a typical micro-grid based-on robust</a:t>
            </a:r>
            <a:endParaRPr lang="en-US" altLang="zh-CN"/>
          </a:p>
          <a:p>
            <a:r>
              <a:rPr lang="en-US" altLang="zh-CN"/>
              <a:t>optimization and point estimate method,"  Energy Convers. Manage.,</a:t>
            </a:r>
            <a:endParaRPr lang="en-US" altLang="zh-CN"/>
          </a:p>
          <a:p>
            <a:r>
              <a:rPr lang="en-US" altLang="zh-CN"/>
              <a:t>vol. 95, pp. 314–325, May 2015.</a:t>
            </a:r>
            <a:endParaRPr lang="en-US" altLang="zh-CN"/>
          </a:p>
          <a:p>
            <a:r>
              <a:rPr lang="en-US" altLang="zh-CN"/>
              <a:t> </a:t>
            </a:r>
            <a:r>
              <a:rPr lang="en-US" altLang="zh-CN">
                <a:sym typeface="+mn-ea"/>
              </a:rPr>
              <a:t>[5]</a:t>
            </a:r>
            <a:r>
              <a:rPr lang="en-US" altLang="zh-CN"/>
              <a:t>D. Arcos-Aviles, J. Pascual, F. Guinjoan, L. Marroyo, P. Sanchis, and</a:t>
            </a:r>
            <a:endParaRPr lang="en-US" altLang="zh-CN"/>
          </a:p>
          <a:p>
            <a:r>
              <a:rPr lang="en-US" altLang="zh-CN"/>
              <a:t>P. M. Marietta, "Low complexity energy management strategy for grid</a:t>
            </a:r>
            <a:endParaRPr lang="en-US" altLang="zh-CN"/>
          </a:p>
          <a:p>
            <a:r>
              <a:rPr lang="en-US" altLang="zh-CN"/>
              <a:t>profile smoothing of a residential grid-connected microgrid using gen_x0002_eration and demand forecasting,"  Appl. Energy, vol. 205, pp. 69–84,</a:t>
            </a:r>
            <a:endParaRPr lang="en-US" altLang="zh-CN"/>
          </a:p>
          <a:p>
            <a:r>
              <a:rPr lang="en-US" altLang="zh-CN"/>
              <a:t>Nov. 2017.</a:t>
            </a:r>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300"/>
                                        <p:tgtEl>
                                          <p:spTgt spid="3"/>
                                        </p:tgtEl>
                                      </p:cBhvr>
                                    </p:animEffect>
                                  </p:childTnLst>
                                </p:cTn>
                              </p:par>
                            </p:childTnLst>
                          </p:cTn>
                        </p:par>
                        <p:par>
                          <p:cTn id="8" fill="hold">
                            <p:stCondLst>
                              <p:cond delay="500"/>
                            </p:stCondLst>
                            <p:childTnLst>
                              <p:par>
                                <p:cTn id="9" presetID="41" presetClass="entr" presetSubtype="0" fill="hold" grpId="0" nodeType="afterEffect">
                                  <p:stCondLst>
                                    <p:cond delay="0"/>
                                  </p:stCondLst>
                                  <p:iterate type="lt">
                                    <p:tmPct val="10000"/>
                                  </p:iterate>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5"/>
                                        </p:tgtEl>
                                        <p:attrNameLst>
                                          <p:attrName>ppt_y</p:attrName>
                                        </p:attrNameLst>
                                      </p:cBhvr>
                                      <p:tavLst>
                                        <p:tav tm="0">
                                          <p:val>
                                            <p:strVal val="#ppt_y"/>
                                          </p:val>
                                        </p:tav>
                                        <p:tav tm="100000">
                                          <p:val>
                                            <p:strVal val="#ppt_y"/>
                                          </p:val>
                                        </p:tav>
                                      </p:tavLst>
                                    </p:anim>
                                    <p:anim calcmode="lin" valueType="num">
                                      <p:cBhvr>
                                        <p:cTn id="13" dur="500" fill="hold"/>
                                        <p:tgtEl>
                                          <p:spTgt spid="5"/>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5"/>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2374137" y="1884748"/>
            <a:ext cx="4272439" cy="1084912"/>
          </a:xfrm>
          <a:prstGeom prst="rect">
            <a:avLst/>
          </a:prstGeom>
          <a:noFill/>
        </p:spPr>
        <p:txBody>
          <a:bodyPr wrap="square" lIns="68580" tIns="34290" rIns="68580" bIns="34290" rtlCol="0">
            <a:spAutoFit/>
          </a:bodyPr>
          <a:lstStyle/>
          <a:p>
            <a:pPr algn="ctr">
              <a:defRPr/>
            </a:pPr>
            <a:r>
              <a:rPr lang="en-US" altLang="zh-CN" sz="6600" b="1" dirty="0">
                <a:solidFill>
                  <a:srgbClr val="1B4367"/>
                </a:solidFill>
                <a:cs typeface="+mn-ea"/>
                <a:sym typeface="+mn-lt"/>
              </a:rPr>
              <a:t>THANKS</a:t>
            </a:r>
            <a:endParaRPr lang="en-US" altLang="zh-CN" sz="6600" b="1" dirty="0">
              <a:solidFill>
                <a:srgbClr val="1B4367"/>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COMMONDATA" val="eyJoZGlkIjoiMGEzMjc3YzUxODkxMjIwMzNkOGY3YjE4NmY5MTM3MzUifQ=="/>
  <p:tag name="commondata" val="eyJoZGlkIjoiZjc4MDYyZDA4Yzg0YjE4NDdiNGU1MThjYzFmMGIxNjQ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emp">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12360</Words>
  <Application>WPS 演示</Application>
  <PresentationFormat>全屏显示(16:9)</PresentationFormat>
  <Paragraphs>411</Paragraphs>
  <Slides>33</Slides>
  <Notes>29</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33</vt:i4>
      </vt:variant>
    </vt:vector>
  </HeadingPairs>
  <TitlesOfParts>
    <vt:vector size="44" baseType="lpstr">
      <vt:lpstr>Arial</vt:lpstr>
      <vt:lpstr>宋体</vt:lpstr>
      <vt:lpstr>Wingdings</vt:lpstr>
      <vt:lpstr>Calibri</vt:lpstr>
      <vt:lpstr>微软雅黑</vt:lpstr>
      <vt:lpstr>Arial Unicode MS</vt:lpstr>
      <vt:lpstr>Nunito</vt:lpstr>
      <vt:lpstr>Segoe Print</vt:lpstr>
      <vt:lpstr>Helvetica Neue</vt:lpstr>
      <vt:lpstr>ElsevierGulliver</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电脑资讯</dc:title>
  <dc:creator>丁亮</dc:creator>
  <dc:description>公众号：电脑资讯</dc:description>
  <dc:subject>电脑资讯</dc:subject>
  <cp:lastModifiedBy>admin</cp:lastModifiedBy>
  <cp:revision>27</cp:revision>
  <dcterms:created xsi:type="dcterms:W3CDTF">2016-05-20T12:59:00Z</dcterms:created>
  <dcterms:modified xsi:type="dcterms:W3CDTF">2023-12-28T08:35:38Z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2052-12.1.0.16120</vt:lpwstr>
  </property>
  <property fmtid="{D5CDD505-2E9C-101B-9397-08002B2CF9AE}" pid="3" name="ICV">
    <vt:lpwstr>FD566FD367C64991A32E720FE7FDD785_12</vt:lpwstr>
  </property>
</Properties>
</file>