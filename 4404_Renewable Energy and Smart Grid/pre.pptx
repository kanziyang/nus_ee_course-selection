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3"/>
  </p:notesMasterIdLst>
  <p:handoutMasterIdLst>
    <p:handoutMasterId r:id="rId34"/>
  </p:handoutMasterIdLst>
  <p:sldIdLst>
    <p:sldId id="256" r:id="rId2"/>
    <p:sldId id="344" r:id="rId3"/>
    <p:sldId id="257" r:id="rId4"/>
    <p:sldId id="258" r:id="rId5"/>
    <p:sldId id="341" r:id="rId6"/>
    <p:sldId id="328" r:id="rId7"/>
    <p:sldId id="327" r:id="rId8"/>
    <p:sldId id="322" r:id="rId9"/>
    <p:sldId id="333" r:id="rId10"/>
    <p:sldId id="345" r:id="rId11"/>
    <p:sldId id="346" r:id="rId12"/>
    <p:sldId id="347" r:id="rId13"/>
    <p:sldId id="348" r:id="rId14"/>
    <p:sldId id="342" r:id="rId15"/>
    <p:sldId id="343" r:id="rId16"/>
    <p:sldId id="349" r:id="rId17"/>
    <p:sldId id="350" r:id="rId18"/>
    <p:sldId id="351" r:id="rId19"/>
    <p:sldId id="352" r:id="rId20"/>
    <p:sldId id="357" r:id="rId21"/>
    <p:sldId id="363" r:id="rId22"/>
    <p:sldId id="359" r:id="rId23"/>
    <p:sldId id="361" r:id="rId24"/>
    <p:sldId id="354" r:id="rId25"/>
    <p:sldId id="355" r:id="rId26"/>
    <p:sldId id="329" r:id="rId27"/>
    <p:sldId id="330" r:id="rId28"/>
    <p:sldId id="332" r:id="rId29"/>
    <p:sldId id="331" r:id="rId30"/>
    <p:sldId id="356" r:id="rId31"/>
    <p:sldId id="279" r:id="rId32"/>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C7A"/>
    <a:srgbClr val="A5A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C38436-E5B5-4F37-8012-42725340B5A9}" v="538" dt="2024-12-23T10:41:43.883"/>
    <p1510:client id="{6355D8F8-EC06-443C-3DD6-A8267783D270}" v="1495" dt="2024-12-23T10:07:39.325"/>
    <p1510:client id="{E8384793-5478-E0AE-0D6B-897F5D7DB918}" v="205" dt="2024-12-23T08:22:46.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16" autoAdjust="0"/>
  </p:normalViewPr>
  <p:slideViewPr>
    <p:cSldViewPr snapToGrid="0">
      <p:cViewPr varScale="1">
        <p:scale>
          <a:sx n="48" d="100"/>
          <a:sy n="48" d="100"/>
        </p:scale>
        <p:origin x="41" y="5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21EE294-314B-8909-BA2E-38DC210380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2AEC0A1-DA36-597B-11D7-EBB453E993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0D5598-6B71-4735-885B-502FE0A6B03D}" type="datetimeFigureOut">
              <a:rPr lang="zh-CN" altLang="en-US" smtClean="0"/>
              <a:t>2024/12/25</a:t>
            </a:fld>
            <a:endParaRPr lang="zh-CN" altLang="en-US"/>
          </a:p>
        </p:txBody>
      </p:sp>
      <p:sp>
        <p:nvSpPr>
          <p:cNvPr id="4" name="页脚占位符 3">
            <a:extLst>
              <a:ext uri="{FF2B5EF4-FFF2-40B4-BE49-F238E27FC236}">
                <a16:creationId xmlns:a16="http://schemas.microsoft.com/office/drawing/2014/main" id="{436ADFB4-C407-824B-1DCC-77A3A49ED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4A0A150-3683-80F5-70FC-F25D267E15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9AA961-A2BC-435C-BA84-ED831EFCE998}" type="slidenum">
              <a:rPr lang="zh-CN" altLang="en-US" smtClean="0"/>
              <a:t>‹#›</a:t>
            </a:fld>
            <a:endParaRPr lang="zh-CN" altLang="en-US"/>
          </a:p>
        </p:txBody>
      </p:sp>
    </p:spTree>
    <p:extLst>
      <p:ext uri="{BB962C8B-B14F-4D97-AF65-F5344CB8AC3E}">
        <p14:creationId xmlns:p14="http://schemas.microsoft.com/office/powerpoint/2010/main" val="179343046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CC7DC9-257A-4519-9037-6A2F866948E6}" type="datetimeFigureOut">
              <a:rPr lang="zh-CN" altLang="en-US" smtClean="0"/>
              <a:t>2024/12/25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D72DA-130F-4FFB-9FCC-969AEE223DFC}" type="slidenum">
              <a:rPr lang="zh-CN" altLang="en-US" smtClean="0"/>
              <a:t>‹#›</a:t>
            </a:fld>
            <a:endParaRPr lang="zh-CN" altLang="en-US"/>
          </a:p>
        </p:txBody>
      </p:sp>
    </p:spTree>
    <p:extLst>
      <p:ext uri="{BB962C8B-B14F-4D97-AF65-F5344CB8AC3E}">
        <p14:creationId xmlns:p14="http://schemas.microsoft.com/office/powerpoint/2010/main" val="21587498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03784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7FED5-91B0-0579-8052-C2EA8A069A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3F9539-72E7-185C-3A40-1F2AEF7D5E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21667C-1D93-BEB1-5706-7264563A57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25507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24824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26169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92398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FE11D33-A367-4791-86D6-A7C654C37ED4}" type="datetime1">
              <a:rPr kumimoji="1" lang="zh-CN" altLang="en-US" smtClean="0"/>
              <a:t>2024/12/25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F87B8A98-C5E6-4EC5-B31C-CEAA7D63FBD0}" type="datetime1">
              <a:rPr kumimoji="1" lang="zh-CN" altLang="en-US" smtClean="0"/>
              <a:t>2024/12/25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73CF6BAC-F2B8-44B6-9487-92880BA14787}" type="datetime1">
              <a:rPr kumimoji="1" lang="zh-CN" altLang="en-US" smtClean="0"/>
              <a:t>2024/12/25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D5D945CE-A82D-4BBE-B6B9-34BBF0D554D6}" type="datetime1">
              <a:rPr kumimoji="1" lang="zh-CN" altLang="en-US" smtClean="0"/>
              <a:t>2024/12/25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EA6F29C2-80E2-47A8-9DA1-E9D2D6E4E1A4}" type="datetime1">
              <a:rPr kumimoji="1" lang="zh-CN" altLang="en-US" smtClean="0"/>
              <a:t>2024/12/25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6D5752A-5FE1-4EC8-AA8C-19F70C3206D4}" type="datetime1">
              <a:rPr kumimoji="1" lang="zh-CN" altLang="en-US" smtClean="0"/>
              <a:t>2024/12/25</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438B7E-6988-4F21-98DA-F480BF8D083B}" type="datetime1">
              <a:rPr kumimoji="1" lang="zh-CN" altLang="en-US" smtClean="0"/>
              <a:t>2024/12/25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D94315E5-0735-476C-8F1F-D3312AA11B0A}" type="datetime1">
              <a:rPr kumimoji="1" lang="zh-CN" altLang="en-US" smtClean="0"/>
              <a:t>2024/12/25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D7FC0121-6CF8-4E86-BAFE-EBD39E30EB2B}" type="datetime1">
              <a:rPr kumimoji="1" lang="zh-CN" altLang="en-US" smtClean="0"/>
              <a:t>2024/12/25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38B624-08FD-470D-A7F7-01FB80CF525D}" type="datetime1">
              <a:rPr kumimoji="1" lang="zh-CN" altLang="en-US" smtClean="0"/>
              <a:t>2024/12/25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FD755E26-2A38-4EA4-9A42-3720CB6358EA}" type="datetime1">
              <a:rPr kumimoji="1" lang="zh-CN" altLang="en-US" smtClean="0"/>
              <a:t>2024/12/25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0F78FD8E-9479-1E49-A80A-EDA0A5EF8876}"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85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09EF97-174D-4E14-8D88-B15040E1FC7F}" type="datetime1">
              <a:rPr kumimoji="1" lang="zh-CN" altLang="en-US" smtClean="0"/>
              <a:t>2024/12/25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78FD8E-9479-1E49-A80A-EDA0A5EF887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2002970"/>
            <a:ext cx="12192000" cy="23625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latin typeface="Arial" panose="020B0604020202020204" pitchFamily="34" charset="0"/>
              <a:cs typeface="Arial" panose="020B0604020202020204" pitchFamily="34" charset="0"/>
            </a:endParaRPr>
          </a:p>
        </p:txBody>
      </p:sp>
      <p:sp>
        <p:nvSpPr>
          <p:cNvPr id="5" name="文本框 4"/>
          <p:cNvSpPr txBox="1"/>
          <p:nvPr/>
        </p:nvSpPr>
        <p:spPr>
          <a:xfrm>
            <a:off x="1780674" y="2247776"/>
            <a:ext cx="8630652" cy="707886"/>
          </a:xfrm>
          <a:prstGeom prst="rect">
            <a:avLst/>
          </a:prstGeom>
          <a:noFill/>
        </p:spPr>
        <p:txBody>
          <a:bodyPr wrap="square">
            <a:spAutoFit/>
          </a:bodyPr>
          <a:lstStyle/>
          <a:p>
            <a:pPr algn="ctr"/>
            <a:r>
              <a:rPr lang="en-US" altLang="zh-CN" sz="4000" dirty="0">
                <a:solidFill>
                  <a:schemeClr val="bg1"/>
                </a:solidFill>
                <a:latin typeface="Times" panose="02020603050405020304" pitchFamily="18" charset="0"/>
                <a:cs typeface="Times" panose="02020603050405020304" pitchFamily="18" charset="0"/>
              </a:rPr>
              <a:t>EE4404 Project </a:t>
            </a:r>
          </a:p>
        </p:txBody>
      </p:sp>
      <p:sp>
        <p:nvSpPr>
          <p:cNvPr id="8" name="文本框 7"/>
          <p:cNvSpPr txBox="1"/>
          <p:nvPr/>
        </p:nvSpPr>
        <p:spPr>
          <a:xfrm>
            <a:off x="4744965" y="4648825"/>
            <a:ext cx="1728987" cy="2334742"/>
          </a:xfrm>
          <a:prstGeom prst="rect">
            <a:avLst/>
          </a:prstGeom>
          <a:noFill/>
        </p:spPr>
        <p:txBody>
          <a:bodyPr wrap="square" lIns="91440" tIns="45720" rIns="91440" bIns="45720" rtlCol="0" anchor="t">
            <a:spAutoFit/>
          </a:bodyPr>
          <a:lstStyle/>
          <a:p>
            <a:r>
              <a:rPr kumimoji="1" lang="en-US" b="1" dirty="0">
                <a:solidFill>
                  <a:schemeClr val="accent1"/>
                </a:solidFill>
                <a:latin typeface="Times" panose="02020603050405020304" pitchFamily="18" charset="0"/>
                <a:ea typeface="微软雅黑"/>
                <a:cs typeface="Times" panose="02020603050405020304" pitchFamily="18" charset="0"/>
              </a:rPr>
              <a:t>Group member</a:t>
            </a:r>
            <a:r>
              <a:rPr kumimoji="1" lang="zh-CN" altLang="en-US" b="1" dirty="0">
                <a:solidFill>
                  <a:schemeClr val="accent1"/>
                </a:solidFill>
                <a:latin typeface="Times" panose="02020603050405020304" pitchFamily="18" charset="0"/>
                <a:ea typeface="微软雅黑"/>
                <a:cs typeface="Times" panose="02020603050405020304" pitchFamily="18" charset="0"/>
              </a:rPr>
              <a:t>：</a:t>
            </a:r>
          </a:p>
          <a:p>
            <a:pPr algn="just"/>
            <a:r>
              <a:rPr kumimoji="1" lang="en-US" altLang="zh-CN" b="1" dirty="0">
                <a:solidFill>
                  <a:schemeClr val="accent1"/>
                </a:solidFill>
                <a:latin typeface="Times" panose="02020603050405020304" pitchFamily="18" charset="0"/>
                <a:ea typeface="微软雅黑"/>
                <a:cs typeface="Times" panose="02020603050405020304" pitchFamily="18" charset="0"/>
              </a:rPr>
              <a:t>Wu </a:t>
            </a:r>
            <a:r>
              <a:rPr kumimoji="1" lang="en-US" altLang="zh-CN" b="1" dirty="0" err="1">
                <a:solidFill>
                  <a:schemeClr val="accent1"/>
                </a:solidFill>
                <a:latin typeface="Times" panose="02020603050405020304" pitchFamily="18" charset="0"/>
                <a:ea typeface="微软雅黑"/>
                <a:cs typeface="Times" panose="02020603050405020304" pitchFamily="18" charset="0"/>
              </a:rPr>
              <a:t>Shuye</a:t>
            </a:r>
            <a:endParaRPr kumimoji="1" lang="en-US" altLang="zh-CN" b="1" dirty="0">
              <a:solidFill>
                <a:schemeClr val="accent1"/>
              </a:solidFill>
              <a:latin typeface="Times" panose="02020603050405020304" pitchFamily="18" charset="0"/>
              <a:ea typeface="微软雅黑"/>
              <a:cs typeface="Times" panose="02020603050405020304" pitchFamily="18" charset="0"/>
            </a:endParaRPr>
          </a:p>
          <a:p>
            <a:r>
              <a:rPr kumimoji="1" lang="en-US" b="1" dirty="0">
                <a:solidFill>
                  <a:schemeClr val="accent1"/>
                </a:solidFill>
                <a:latin typeface="Times" panose="02020603050405020304" pitchFamily="18" charset="0"/>
                <a:ea typeface="微软雅黑"/>
                <a:cs typeface="Times" panose="02020603050405020304" pitchFamily="18" charset="0"/>
              </a:rPr>
              <a:t>Kan Ziyang</a:t>
            </a:r>
          </a:p>
          <a:p>
            <a:r>
              <a:rPr kumimoji="1" lang="en-US" altLang="zh-CN" b="1" dirty="0">
                <a:solidFill>
                  <a:schemeClr val="accent1"/>
                </a:solidFill>
                <a:latin typeface="Times" panose="02020603050405020304" pitchFamily="18" charset="0"/>
                <a:ea typeface="微软雅黑"/>
                <a:cs typeface="Times" panose="02020603050405020304" pitchFamily="18" charset="0"/>
              </a:rPr>
              <a:t>Wu </a:t>
            </a:r>
            <a:r>
              <a:rPr kumimoji="1" lang="en-US" altLang="zh-CN" b="1" dirty="0" err="1">
                <a:solidFill>
                  <a:schemeClr val="accent1"/>
                </a:solidFill>
                <a:latin typeface="Times" panose="02020603050405020304" pitchFamily="18" charset="0"/>
                <a:ea typeface="微软雅黑"/>
                <a:cs typeface="Times" panose="02020603050405020304" pitchFamily="18" charset="0"/>
              </a:rPr>
              <a:t>Junxi</a:t>
            </a:r>
            <a:endParaRPr kumimoji="1" lang="en-US" altLang="zh-CN" b="1" dirty="0">
              <a:solidFill>
                <a:schemeClr val="accent1"/>
              </a:solidFill>
              <a:latin typeface="Times" panose="02020603050405020304" pitchFamily="18" charset="0"/>
              <a:ea typeface="微软雅黑"/>
              <a:cs typeface="Times" panose="02020603050405020304" pitchFamily="18" charset="0"/>
            </a:endParaRPr>
          </a:p>
          <a:p>
            <a:r>
              <a:rPr kumimoji="1" lang="en-US" altLang="zh-CN" b="1" dirty="0">
                <a:solidFill>
                  <a:schemeClr val="accent1"/>
                </a:solidFill>
                <a:latin typeface="Times" panose="02020603050405020304" pitchFamily="18" charset="0"/>
                <a:ea typeface="微软雅黑"/>
                <a:cs typeface="Times" panose="02020603050405020304" pitchFamily="18" charset="0"/>
              </a:rPr>
              <a:t>Liao Yiming</a:t>
            </a:r>
            <a:endParaRPr kumimoji="1" lang="en-US" b="1" dirty="0">
              <a:solidFill>
                <a:schemeClr val="accent1"/>
              </a:solidFill>
              <a:latin typeface="Times" panose="02020603050405020304" pitchFamily="18" charset="0"/>
              <a:ea typeface="微软雅黑"/>
              <a:cs typeface="Times" panose="02020603050405020304" pitchFamily="18" charset="0"/>
            </a:endParaRPr>
          </a:p>
          <a:p>
            <a:endParaRPr lang="en-US" b="1" dirty="0">
              <a:solidFill>
                <a:schemeClr val="accent1"/>
              </a:solidFill>
              <a:latin typeface="Times" panose="02020603050405020304" pitchFamily="18" charset="0"/>
              <a:ea typeface="微软雅黑"/>
              <a:cs typeface="Times" panose="02020603050405020304" pitchFamily="18" charset="0"/>
            </a:endParaRPr>
          </a:p>
          <a:p>
            <a:endParaRPr lang="en-US" b="1" dirty="0">
              <a:solidFill>
                <a:schemeClr val="accent1"/>
              </a:solidFill>
              <a:latin typeface="Times" panose="02020603050405020304" pitchFamily="18" charset="0"/>
              <a:ea typeface="微软雅黑"/>
              <a:cs typeface="Times" panose="02020603050405020304" pitchFamily="18" charset="0"/>
            </a:endParaRPr>
          </a:p>
          <a:p>
            <a:pPr>
              <a:lnSpc>
                <a:spcPct val="120000"/>
              </a:lnSpc>
            </a:pPr>
            <a:endParaRPr lang="en-US" altLang="zh-CN" b="1" dirty="0">
              <a:solidFill>
                <a:schemeClr val="accent1"/>
              </a:solidFill>
              <a:latin typeface="Times" panose="02020603050405020304" pitchFamily="18" charset="0"/>
              <a:ea typeface="微软雅黑" panose="020B0503020204020204" pitchFamily="34" charset="-122"/>
              <a:cs typeface="Times" panose="02020603050405020304" pitchFamily="18" charset="0"/>
            </a:endParaRPr>
          </a:p>
        </p:txBody>
      </p:sp>
      <p:pic>
        <p:nvPicPr>
          <p:cNvPr id="12" name="图片 11"/>
          <p:cNvPicPr>
            <a:picLocks noChangeAspect="1"/>
          </p:cNvPicPr>
          <p:nvPr/>
        </p:nvPicPr>
        <p:blipFill>
          <a:blip r:embed="rId2"/>
          <a:stretch>
            <a:fillRect/>
          </a:stretch>
        </p:blipFill>
        <p:spPr>
          <a:xfrm>
            <a:off x="4766499" y="515863"/>
            <a:ext cx="1935102" cy="893255"/>
          </a:xfrm>
          <a:prstGeom prst="rect">
            <a:avLst/>
          </a:prstGeom>
        </p:spPr>
      </p:pic>
      <p:sp>
        <p:nvSpPr>
          <p:cNvPr id="3" name="文本框 2">
            <a:extLst>
              <a:ext uri="{FF2B5EF4-FFF2-40B4-BE49-F238E27FC236}">
                <a16:creationId xmlns:a16="http://schemas.microsoft.com/office/drawing/2014/main" id="{BB7B0091-A04E-A648-C240-05986F74DE4B}"/>
              </a:ext>
            </a:extLst>
          </p:cNvPr>
          <p:cNvSpPr txBox="1"/>
          <p:nvPr/>
        </p:nvSpPr>
        <p:spPr>
          <a:xfrm>
            <a:off x="500743" y="3107044"/>
            <a:ext cx="11190514" cy="954107"/>
          </a:xfrm>
          <a:prstGeom prst="rect">
            <a:avLst/>
          </a:prstGeom>
          <a:noFill/>
        </p:spPr>
        <p:txBody>
          <a:bodyPr wrap="square">
            <a:spAutoFit/>
          </a:bodyPr>
          <a:lstStyle/>
          <a:p>
            <a:pPr algn="ctr"/>
            <a:r>
              <a:rPr lang="zh-CN" altLang="en-US" sz="2800" b="1" dirty="0">
                <a:solidFill>
                  <a:schemeClr val="bg1"/>
                </a:solidFill>
                <a:latin typeface="Times" panose="02020603050405020304" pitchFamily="18" charset="0"/>
                <a:cs typeface="Times" panose="02020603050405020304" pitchFamily="18" charset="0"/>
              </a:rPr>
              <a:t>The Utilization of Shared Energy Storage in Energy Systems</a:t>
            </a:r>
            <a:endParaRPr lang="en-US" altLang="zh-CN" sz="2800" b="1" dirty="0">
              <a:solidFill>
                <a:schemeClr val="bg1"/>
              </a:solidFill>
              <a:latin typeface="Times" panose="02020603050405020304" pitchFamily="18" charset="0"/>
              <a:cs typeface="Times" panose="02020603050405020304" pitchFamily="18" charset="0"/>
            </a:endParaRPr>
          </a:p>
          <a:p>
            <a:pPr algn="ctr"/>
            <a:r>
              <a:rPr lang="zh-CN" altLang="en-US" sz="2800" b="1" dirty="0">
                <a:solidFill>
                  <a:schemeClr val="bg1"/>
                </a:solidFill>
                <a:latin typeface="Times" panose="02020603050405020304" pitchFamily="18" charset="0"/>
                <a:cs typeface="Times" panose="02020603050405020304" pitchFamily="18" charset="0"/>
              </a:rPr>
              <a:t>A Comprehensive Review</a:t>
            </a:r>
          </a:p>
        </p:txBody>
      </p:sp>
      <p:sp>
        <p:nvSpPr>
          <p:cNvPr id="6" name="文本框 5">
            <a:extLst>
              <a:ext uri="{FF2B5EF4-FFF2-40B4-BE49-F238E27FC236}">
                <a16:creationId xmlns:a16="http://schemas.microsoft.com/office/drawing/2014/main" id="{CAF481D6-EE87-3797-671A-08E422C35C45}"/>
              </a:ext>
            </a:extLst>
          </p:cNvPr>
          <p:cNvSpPr txBox="1"/>
          <p:nvPr/>
        </p:nvSpPr>
        <p:spPr>
          <a:xfrm>
            <a:off x="6139543" y="4959340"/>
            <a:ext cx="6096000" cy="1200329"/>
          </a:xfrm>
          <a:prstGeom prst="rect">
            <a:avLst/>
          </a:prstGeom>
          <a:noFill/>
        </p:spPr>
        <p:txBody>
          <a:bodyPr wrap="square">
            <a:spAutoFit/>
          </a:bodyPr>
          <a:lstStyle/>
          <a:p>
            <a:r>
              <a:rPr kumimoji="1" lang="en-US" altLang="zh-CN" b="1" dirty="0">
                <a:solidFill>
                  <a:schemeClr val="accent1"/>
                </a:solidFill>
                <a:latin typeface="Times" panose="02020603050405020304" pitchFamily="18" charset="0"/>
                <a:ea typeface="微软雅黑"/>
                <a:cs typeface="Times" panose="02020603050405020304" pitchFamily="18" charset="0"/>
              </a:rPr>
              <a:t>U2401022</a:t>
            </a:r>
          </a:p>
          <a:p>
            <a:r>
              <a:rPr kumimoji="1" lang="en-US" altLang="zh-CN" b="1" dirty="0">
                <a:solidFill>
                  <a:schemeClr val="accent1"/>
                </a:solidFill>
                <a:latin typeface="Times" panose="02020603050405020304" pitchFamily="18" charset="0"/>
                <a:ea typeface="微软雅黑"/>
                <a:cs typeface="Times" panose="02020603050405020304" pitchFamily="18" charset="0"/>
              </a:rPr>
              <a:t>U2401026</a:t>
            </a:r>
          </a:p>
          <a:p>
            <a:r>
              <a:rPr kumimoji="1" lang="en-US" altLang="zh-CN" b="1" dirty="0">
                <a:solidFill>
                  <a:schemeClr val="accent1"/>
                </a:solidFill>
                <a:latin typeface="Times" panose="02020603050405020304" pitchFamily="18" charset="0"/>
                <a:ea typeface="微软雅黑"/>
                <a:cs typeface="Times" panose="02020603050405020304" pitchFamily="18" charset="0"/>
              </a:rPr>
              <a:t>U2401029</a:t>
            </a:r>
          </a:p>
          <a:p>
            <a:r>
              <a:rPr kumimoji="1" lang="en-US" altLang="zh-CN" b="1" dirty="0">
                <a:solidFill>
                  <a:schemeClr val="accent1"/>
                </a:solidFill>
                <a:latin typeface="Times" panose="02020603050405020304" pitchFamily="18" charset="0"/>
                <a:ea typeface="微软雅黑"/>
                <a:cs typeface="Times" panose="02020603050405020304" pitchFamily="18" charset="0"/>
              </a:rPr>
              <a:t>U2401115</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A0FD49C8-4A03-F3E7-1FA0-ABFD13F45216}"/>
              </a:ext>
            </a:extLst>
          </p:cNvPr>
          <p:cNvPicPr>
            <a:picLocks noChangeAspect="1"/>
          </p:cNvPicPr>
          <p:nvPr/>
        </p:nvPicPr>
        <p:blipFill>
          <a:blip r:embed="rId3"/>
          <a:stretch>
            <a:fillRect/>
          </a:stretch>
        </p:blipFill>
        <p:spPr>
          <a:xfrm>
            <a:off x="0" y="0"/>
            <a:ext cx="12191999" cy="6858000"/>
          </a:xfrm>
          <a:prstGeom prst="rect">
            <a:avLst/>
          </a:prstGeom>
        </p:spPr>
      </p:pic>
      <p:sp>
        <p:nvSpPr>
          <p:cNvPr id="11" name="文本框 10"/>
          <p:cNvSpPr txBox="1"/>
          <p:nvPr/>
        </p:nvSpPr>
        <p:spPr>
          <a:xfrm>
            <a:off x="2913091" y="3533062"/>
            <a:ext cx="3880725" cy="720000"/>
          </a:xfrm>
          <a:prstGeom prst="roundRect">
            <a:avLst/>
          </a:prstGeom>
          <a:solidFill>
            <a:srgbClr val="1B4367"/>
          </a:solidFill>
        </p:spPr>
        <p:txBody>
          <a:bodyPr wrap="square" rtlCol="0" anchor="ctr">
            <a:spAutoFit/>
          </a:bodyPr>
          <a:lstStyle/>
          <a:p>
            <a:pPr algn="ctr" eaLnBrk="0">
              <a:lnSpc>
                <a:spcPct val="76000"/>
              </a:lnSpc>
            </a:pPr>
            <a:r>
              <a:rPr lang="zh-CN" altLang="zh-CN" b="1" dirty="0">
                <a:solidFill>
                  <a:schemeClr val="bg1"/>
                </a:solidFill>
                <a:latin typeface="Times" panose="02020603050405020304" pitchFamily="18" charset="0"/>
                <a:cs typeface="Times" panose="02020603050405020304" pitchFamily="18" charset="0"/>
              </a:rPr>
              <a:t>Energy storage sharing architecture</a:t>
            </a:r>
            <a:endParaRPr lang="en-US" altLang="zh-CN" b="1" kern="0" dirty="0">
              <a:solidFill>
                <a:schemeClr val="bg1"/>
              </a:solidFill>
              <a:latin typeface="Times" panose="02020603050405020304" pitchFamily="18" charset="0"/>
              <a:cs typeface="Times" panose="02020603050405020304" pitchFamily="18" charset="0"/>
            </a:endParaRPr>
          </a:p>
        </p:txBody>
      </p:sp>
      <p:grpSp>
        <p:nvGrpSpPr>
          <p:cNvPr id="4" name="组合 3"/>
          <p:cNvGrpSpPr/>
          <p:nvPr/>
        </p:nvGrpSpPr>
        <p:grpSpPr>
          <a:xfrm>
            <a:off x="2289689" y="1507879"/>
            <a:ext cx="505762" cy="394073"/>
            <a:chOff x="5640108" y="966369"/>
            <a:chExt cx="476097" cy="391567"/>
          </a:xfrm>
        </p:grpSpPr>
        <p:sp>
          <p:nvSpPr>
            <p:cNvPr id="25" name="椭圆 2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26" name="文本框 17"/>
            <p:cNvSpPr txBox="1"/>
            <p:nvPr/>
          </p:nvSpPr>
          <p:spPr>
            <a:xfrm>
              <a:off x="5640108" y="1001567"/>
              <a:ext cx="476097" cy="315952"/>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01</a:t>
              </a:r>
            </a:p>
          </p:txBody>
        </p:sp>
      </p:grpSp>
      <p:sp>
        <p:nvSpPr>
          <p:cNvPr id="5" name="文本框 4"/>
          <p:cNvSpPr txBox="1"/>
          <p:nvPr/>
        </p:nvSpPr>
        <p:spPr>
          <a:xfrm>
            <a:off x="524830" y="352294"/>
            <a:ext cx="2113154" cy="461665"/>
          </a:xfrm>
          <a:prstGeom prst="rect">
            <a:avLst/>
          </a:prstGeom>
          <a:noFill/>
        </p:spPr>
        <p:txBody>
          <a:bodyPr vert="horz" wrap="square" rtlCol="0">
            <a:spAutoFit/>
          </a:bodyPr>
          <a:lstStyle/>
          <a:p>
            <a:r>
              <a:rPr lang="en-US" altLang="zh-CN" sz="2400" b="1" dirty="0">
                <a:solidFill>
                  <a:srgbClr val="1B4367"/>
                </a:solidFill>
                <a:cs typeface="+mn-ea"/>
                <a:sym typeface="+mn-lt"/>
              </a:rPr>
              <a:t>CONTENTS</a:t>
            </a:r>
          </a:p>
        </p:txBody>
      </p:sp>
      <p:sp>
        <p:nvSpPr>
          <p:cNvPr id="79" name="文本框 10"/>
          <p:cNvSpPr txBox="1"/>
          <p:nvPr/>
        </p:nvSpPr>
        <p:spPr>
          <a:xfrm>
            <a:off x="2913091" y="4611224"/>
            <a:ext cx="3880725" cy="720000"/>
          </a:xfrm>
          <a:prstGeom prst="roundRect">
            <a:avLst/>
          </a:prstGeom>
          <a:solidFill>
            <a:srgbClr val="1B4367"/>
          </a:solidFill>
        </p:spPr>
        <p:txBody>
          <a:bodyPr wrap="square" rtlCol="0" anchor="ctr">
            <a:spAutoFit/>
          </a:bodyPr>
          <a:lstStyle/>
          <a:p>
            <a:pPr algn="ctr" eaLnBrk="0">
              <a:lnSpc>
                <a:spcPct val="76000"/>
              </a:lnSpc>
            </a:pPr>
            <a:r>
              <a:rPr lang="zh-CN" altLang="zh-CN" b="1" dirty="0">
                <a:solidFill>
                  <a:schemeClr val="bg1"/>
                </a:solidFill>
                <a:latin typeface="Times" panose="02020603050405020304" pitchFamily="18" charset="0"/>
                <a:cs typeface="Times" panose="02020603050405020304" pitchFamily="18" charset="0"/>
              </a:rPr>
              <a:t>Realization of shared energy storage</a:t>
            </a:r>
            <a:endParaRPr lang="en-US" altLang="zh-CN" b="1" kern="0" dirty="0">
              <a:solidFill>
                <a:schemeClr val="bg1"/>
              </a:solidFill>
              <a:latin typeface="Times" panose="02020603050405020304" pitchFamily="18" charset="0"/>
              <a:cs typeface="Times" panose="02020603050405020304" pitchFamily="18" charset="0"/>
            </a:endParaRPr>
          </a:p>
        </p:txBody>
      </p:sp>
      <p:sp>
        <p:nvSpPr>
          <p:cNvPr id="83" name="文本框 10"/>
          <p:cNvSpPr txBox="1"/>
          <p:nvPr/>
        </p:nvSpPr>
        <p:spPr>
          <a:xfrm>
            <a:off x="7901015" y="1376740"/>
            <a:ext cx="3880725" cy="720000"/>
          </a:xfrm>
          <a:prstGeom prst="roundRect">
            <a:avLst/>
          </a:prstGeom>
          <a:solidFill>
            <a:srgbClr val="1B4367"/>
          </a:solidFill>
        </p:spPr>
        <p:txBody>
          <a:bodyPr wrap="square" rtlCol="0" anchor="ctr">
            <a:spAutoFit/>
          </a:bodyPr>
          <a:lstStyle/>
          <a:p>
            <a:pPr algn="ctr" eaLnBrk="0">
              <a:lnSpc>
                <a:spcPct val="76000"/>
              </a:lnSpc>
              <a:spcBef>
                <a:spcPts val="7"/>
              </a:spcBef>
              <a:tabLst>
                <a:tab pos="990575" algn="l"/>
              </a:tabLst>
            </a:pPr>
            <a:r>
              <a:rPr lang="zh-CN" altLang="zh-CN" b="1" dirty="0">
                <a:solidFill>
                  <a:schemeClr val="bg1"/>
                </a:solidFill>
                <a:latin typeface="Times" panose="02020603050405020304" pitchFamily="18" charset="0"/>
                <a:cs typeface="Times" panose="02020603050405020304" pitchFamily="18" charset="0"/>
              </a:rPr>
              <a:t>Modeling and optimization of</a:t>
            </a:r>
            <a:r>
              <a:rPr lang="en-US" altLang="zh-CN" b="1" dirty="0">
                <a:solidFill>
                  <a:schemeClr val="bg1"/>
                </a:solidFill>
                <a:latin typeface="Times" panose="02020603050405020304" pitchFamily="18" charset="0"/>
                <a:cs typeface="Times" panose="02020603050405020304" pitchFamily="18" charset="0"/>
              </a:rPr>
              <a:t> </a:t>
            </a:r>
            <a:r>
              <a:rPr lang="zh-CN" altLang="zh-CN" b="1" dirty="0">
                <a:solidFill>
                  <a:schemeClr val="bg1"/>
                </a:solidFill>
                <a:latin typeface="Times" panose="02020603050405020304" pitchFamily="18" charset="0"/>
                <a:cs typeface="Times" panose="02020603050405020304" pitchFamily="18" charset="0"/>
              </a:rPr>
              <a:t>energy storage sharing</a:t>
            </a:r>
            <a:endParaRPr lang="en-US" altLang="zh-CN" b="1" dirty="0">
              <a:solidFill>
                <a:schemeClr val="bg1"/>
              </a:solidFill>
              <a:latin typeface="Times" panose="02020603050405020304" pitchFamily="18" charset="0"/>
              <a:ea typeface="Arial" panose="020B0604020202020204"/>
              <a:cs typeface="Times" panose="02020603050405020304" pitchFamily="18" charset="0"/>
            </a:endParaRPr>
          </a:p>
        </p:txBody>
      </p:sp>
      <p:sp>
        <p:nvSpPr>
          <p:cNvPr id="87" name="文本框 10"/>
          <p:cNvSpPr txBox="1"/>
          <p:nvPr/>
        </p:nvSpPr>
        <p:spPr>
          <a:xfrm>
            <a:off x="7901015" y="2454901"/>
            <a:ext cx="3880725" cy="720000"/>
          </a:xfrm>
          <a:prstGeom prst="roundRect">
            <a:avLst/>
          </a:prstGeom>
          <a:solidFill>
            <a:srgbClr val="1B4367"/>
          </a:solidFill>
        </p:spPr>
        <p:txBody>
          <a:bodyPr wrap="square" rtlCol="0" anchor="ctr">
            <a:spAutoFit/>
          </a:bodyPr>
          <a:lstStyle/>
          <a:p>
            <a:pPr algn="ctr"/>
            <a:r>
              <a:rPr lang="zh-CN" altLang="zh-CN" b="1" dirty="0">
                <a:solidFill>
                  <a:schemeClr val="bg1"/>
                </a:solidFill>
                <a:latin typeface="Times" panose="02020603050405020304" pitchFamily="18" charset="0"/>
                <a:cs typeface="Times" panose="02020603050405020304" pitchFamily="18" charset="0"/>
              </a:rPr>
              <a:t>Literature Classification</a:t>
            </a:r>
            <a:endParaRPr lang="en-US" altLang="zh-CN" b="1" dirty="0">
              <a:solidFill>
                <a:schemeClr val="bg1"/>
              </a:solidFill>
              <a:latin typeface="Times" panose="02020603050405020304" pitchFamily="18" charset="0"/>
              <a:cs typeface="Times" panose="02020603050405020304" pitchFamily="18" charset="0"/>
              <a:sym typeface="+mn-lt"/>
            </a:endParaRPr>
          </a:p>
        </p:txBody>
      </p:sp>
      <p:sp>
        <p:nvSpPr>
          <p:cNvPr id="6" name="文本框 5"/>
          <p:cNvSpPr txBox="1"/>
          <p:nvPr>
            <p:custDataLst>
              <p:tags r:id="rId1"/>
            </p:custDataLst>
          </p:nvPr>
        </p:nvSpPr>
        <p:spPr>
          <a:xfrm>
            <a:off x="2913091" y="1376740"/>
            <a:ext cx="3880725" cy="720000"/>
          </a:xfrm>
          <a:prstGeom prst="roundRect">
            <a:avLst/>
          </a:prstGeom>
          <a:solidFill>
            <a:srgbClr val="1B4367"/>
          </a:solidFill>
        </p:spPr>
        <p:txBody>
          <a:bodyPr wrap="square" rtlCol="0" anchor="ctr">
            <a:spAutoFit/>
          </a:bodyPr>
          <a:lstStyle>
            <a:defPPr>
              <a:defRPr lang="zh-CN"/>
            </a:defPPr>
            <a:lvl1pPr algn="ctr">
              <a:defRPr sz="1700">
                <a:solidFill>
                  <a:schemeClr val="bg1"/>
                </a:solidFill>
                <a:cs typeface="+mn-ea"/>
              </a:defRPr>
            </a:lvl1pPr>
          </a:lstStyle>
          <a:p>
            <a:r>
              <a:rPr lang="en-US" altLang="zh-CN" sz="1800" b="1" dirty="0">
                <a:latin typeface="Times" panose="02020603050405020304" pitchFamily="18" charset="0"/>
                <a:cs typeface="Times" panose="02020603050405020304" pitchFamily="18" charset="0"/>
                <a:sym typeface="+mn-lt"/>
              </a:rPr>
              <a:t>Introduction</a:t>
            </a:r>
            <a:endParaRPr lang="en-US" sz="1800" b="1" dirty="0">
              <a:latin typeface="Times" panose="02020603050405020304" pitchFamily="18" charset="0"/>
              <a:cs typeface="Times" panose="02020603050405020304" pitchFamily="18" charset="0"/>
              <a:sym typeface="+mn-lt"/>
            </a:endParaRPr>
          </a:p>
        </p:txBody>
      </p:sp>
      <p:sp>
        <p:nvSpPr>
          <p:cNvPr id="2" name="文本框 10">
            <a:extLst>
              <a:ext uri="{FF2B5EF4-FFF2-40B4-BE49-F238E27FC236}">
                <a16:creationId xmlns:a16="http://schemas.microsoft.com/office/drawing/2014/main" id="{BBB13BAB-861F-4432-BB0E-B40DE436B000}"/>
              </a:ext>
            </a:extLst>
          </p:cNvPr>
          <p:cNvSpPr txBox="1"/>
          <p:nvPr/>
        </p:nvSpPr>
        <p:spPr>
          <a:xfrm>
            <a:off x="7901015" y="3533062"/>
            <a:ext cx="3880725" cy="720000"/>
          </a:xfrm>
          <a:prstGeom prst="roundRect">
            <a:avLst/>
          </a:prstGeom>
          <a:solidFill>
            <a:srgbClr val="1B4367"/>
          </a:solidFill>
        </p:spPr>
        <p:txBody>
          <a:bodyPr wrap="square" rtlCol="0" anchor="ctr">
            <a:spAutoFit/>
          </a:bodyPr>
          <a:lstStyle/>
          <a:p>
            <a:pPr algn="ctr"/>
            <a:r>
              <a:rPr lang="zh-CN" altLang="zh-CN" b="1" dirty="0">
                <a:solidFill>
                  <a:schemeClr val="bg1"/>
                </a:solidFill>
                <a:latin typeface="Times" panose="02020603050405020304" pitchFamily="18" charset="0"/>
                <a:cs typeface="Times" panose="02020603050405020304" pitchFamily="18" charset="0"/>
              </a:rPr>
              <a:t>Future Research Directions</a:t>
            </a:r>
            <a:endParaRPr lang="en-US" altLang="zh-CN" b="1" dirty="0">
              <a:solidFill>
                <a:schemeClr val="bg1"/>
              </a:solidFill>
              <a:latin typeface="Times" panose="02020603050405020304" pitchFamily="18" charset="0"/>
              <a:cs typeface="Times" panose="02020603050405020304" pitchFamily="18" charset="0"/>
              <a:sym typeface="+mn-lt"/>
            </a:endParaRPr>
          </a:p>
        </p:txBody>
      </p:sp>
      <p:sp>
        <p:nvSpPr>
          <p:cNvPr id="20" name="文本框 10">
            <a:extLst>
              <a:ext uri="{FF2B5EF4-FFF2-40B4-BE49-F238E27FC236}">
                <a16:creationId xmlns:a16="http://schemas.microsoft.com/office/drawing/2014/main" id="{EE01A1BF-D84E-7233-5C0B-F848FFF62A3B}"/>
              </a:ext>
            </a:extLst>
          </p:cNvPr>
          <p:cNvSpPr txBox="1"/>
          <p:nvPr/>
        </p:nvSpPr>
        <p:spPr>
          <a:xfrm>
            <a:off x="2913091" y="2454901"/>
            <a:ext cx="3880725" cy="720000"/>
          </a:xfrm>
          <a:prstGeom prst="roundRect">
            <a:avLst/>
          </a:prstGeom>
          <a:solidFill>
            <a:srgbClr val="1B4367"/>
          </a:solidFill>
        </p:spPr>
        <p:txBody>
          <a:bodyPr wrap="square" rtlCol="0" anchor="ctr">
            <a:spAutoFit/>
          </a:bodyPr>
          <a:lstStyle/>
          <a:p>
            <a:pPr algn="ctr" eaLnBrk="0">
              <a:lnSpc>
                <a:spcPct val="76000"/>
              </a:lnSpc>
            </a:pPr>
            <a:r>
              <a:rPr lang="zh-CN" altLang="zh-CN" b="1" kern="0" dirty="0">
                <a:solidFill>
                  <a:schemeClr val="bg1"/>
                </a:solidFill>
                <a:latin typeface="Times" panose="02020603050405020304" pitchFamily="18" charset="0"/>
                <a:cs typeface="Times" panose="02020603050405020304" pitchFamily="18" charset="0"/>
              </a:rPr>
              <a:t>Background and significance</a:t>
            </a:r>
            <a:endParaRPr lang="en-US" altLang="zh-CN" b="1" kern="0" dirty="0">
              <a:solidFill>
                <a:schemeClr val="bg1"/>
              </a:solidFill>
              <a:latin typeface="Times" panose="02020603050405020304" pitchFamily="18" charset="0"/>
              <a:cs typeface="Times" panose="02020603050405020304" pitchFamily="18" charset="0"/>
            </a:endParaRPr>
          </a:p>
        </p:txBody>
      </p:sp>
      <p:sp>
        <p:nvSpPr>
          <p:cNvPr id="21" name="文本框 10">
            <a:extLst>
              <a:ext uri="{FF2B5EF4-FFF2-40B4-BE49-F238E27FC236}">
                <a16:creationId xmlns:a16="http://schemas.microsoft.com/office/drawing/2014/main" id="{EDDFD8E5-5870-0A0C-C24C-21DA4A99A3ED}"/>
              </a:ext>
            </a:extLst>
          </p:cNvPr>
          <p:cNvSpPr txBox="1"/>
          <p:nvPr/>
        </p:nvSpPr>
        <p:spPr>
          <a:xfrm>
            <a:off x="7901015" y="4611224"/>
            <a:ext cx="3880725" cy="720000"/>
          </a:xfrm>
          <a:prstGeom prst="roundRect">
            <a:avLst/>
          </a:prstGeom>
          <a:solidFill>
            <a:srgbClr val="1B4367"/>
          </a:solidFill>
        </p:spPr>
        <p:txBody>
          <a:bodyPr wrap="square" rtlCol="0" anchor="ctr">
            <a:spAutoFit/>
          </a:bodyPr>
          <a:lstStyle/>
          <a:p>
            <a:pPr algn="ctr"/>
            <a:r>
              <a:rPr lang="en-US" altLang="zh-CN" b="1" dirty="0">
                <a:solidFill>
                  <a:schemeClr val="bg1"/>
                </a:solidFill>
                <a:latin typeface="Times" panose="02020603050405020304" pitchFamily="18" charset="0"/>
                <a:cs typeface="Times" panose="02020603050405020304" pitchFamily="18" charset="0"/>
              </a:rPr>
              <a:t>Summary</a:t>
            </a:r>
            <a:endParaRPr lang="en-US" altLang="zh-CN" b="1" dirty="0">
              <a:solidFill>
                <a:schemeClr val="bg1"/>
              </a:solidFill>
              <a:latin typeface="Times" panose="02020603050405020304" pitchFamily="18" charset="0"/>
              <a:cs typeface="Times" panose="02020603050405020304" pitchFamily="18" charset="0"/>
              <a:sym typeface="+mn-lt"/>
            </a:endParaRPr>
          </a:p>
        </p:txBody>
      </p:sp>
      <p:grpSp>
        <p:nvGrpSpPr>
          <p:cNvPr id="46" name="组合 45">
            <a:extLst>
              <a:ext uri="{FF2B5EF4-FFF2-40B4-BE49-F238E27FC236}">
                <a16:creationId xmlns:a16="http://schemas.microsoft.com/office/drawing/2014/main" id="{8D6ADB9B-B75B-407D-549F-D1D70872D741}"/>
              </a:ext>
            </a:extLst>
          </p:cNvPr>
          <p:cNvGrpSpPr/>
          <p:nvPr/>
        </p:nvGrpSpPr>
        <p:grpSpPr>
          <a:xfrm>
            <a:off x="2289689" y="2598505"/>
            <a:ext cx="505762" cy="394073"/>
            <a:chOff x="5640108" y="966369"/>
            <a:chExt cx="476097" cy="391567"/>
          </a:xfrm>
        </p:grpSpPr>
        <p:sp>
          <p:nvSpPr>
            <p:cNvPr id="47" name="椭圆 46">
              <a:extLst>
                <a:ext uri="{FF2B5EF4-FFF2-40B4-BE49-F238E27FC236}">
                  <a16:creationId xmlns:a16="http://schemas.microsoft.com/office/drawing/2014/main" id="{AE3BED9E-811E-8006-F403-CD50C9941EFB}"/>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48" name="文本框 17">
              <a:extLst>
                <a:ext uri="{FF2B5EF4-FFF2-40B4-BE49-F238E27FC236}">
                  <a16:creationId xmlns:a16="http://schemas.microsoft.com/office/drawing/2014/main" id="{B55245CC-1791-EF6E-6163-9CEC1EF37FB5}"/>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02</a:t>
              </a:r>
            </a:p>
          </p:txBody>
        </p:sp>
      </p:grpSp>
      <p:grpSp>
        <p:nvGrpSpPr>
          <p:cNvPr id="49" name="组合 48">
            <a:extLst>
              <a:ext uri="{FF2B5EF4-FFF2-40B4-BE49-F238E27FC236}">
                <a16:creationId xmlns:a16="http://schemas.microsoft.com/office/drawing/2014/main" id="{0D773824-075E-0002-80C0-80F34A7C730D}"/>
              </a:ext>
            </a:extLst>
          </p:cNvPr>
          <p:cNvGrpSpPr/>
          <p:nvPr/>
        </p:nvGrpSpPr>
        <p:grpSpPr>
          <a:xfrm>
            <a:off x="2289689" y="3689131"/>
            <a:ext cx="505762" cy="394073"/>
            <a:chOff x="5640108" y="966369"/>
            <a:chExt cx="476097" cy="391567"/>
          </a:xfrm>
        </p:grpSpPr>
        <p:sp>
          <p:nvSpPr>
            <p:cNvPr id="50" name="椭圆 49">
              <a:extLst>
                <a:ext uri="{FF2B5EF4-FFF2-40B4-BE49-F238E27FC236}">
                  <a16:creationId xmlns:a16="http://schemas.microsoft.com/office/drawing/2014/main" id="{C9FB5436-0EBB-B973-E5E1-203EDDCAC032}"/>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51" name="文本框 17">
              <a:extLst>
                <a:ext uri="{FF2B5EF4-FFF2-40B4-BE49-F238E27FC236}">
                  <a16:creationId xmlns:a16="http://schemas.microsoft.com/office/drawing/2014/main" id="{61C0C385-BCCB-7E9E-CC16-A31F8549948C}"/>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03</a:t>
              </a:r>
            </a:p>
          </p:txBody>
        </p:sp>
      </p:grpSp>
      <p:grpSp>
        <p:nvGrpSpPr>
          <p:cNvPr id="52" name="组合 51">
            <a:extLst>
              <a:ext uri="{FF2B5EF4-FFF2-40B4-BE49-F238E27FC236}">
                <a16:creationId xmlns:a16="http://schemas.microsoft.com/office/drawing/2014/main" id="{F86C0D93-4CE0-12F3-38AB-204756FBDB01}"/>
              </a:ext>
            </a:extLst>
          </p:cNvPr>
          <p:cNvGrpSpPr/>
          <p:nvPr/>
        </p:nvGrpSpPr>
        <p:grpSpPr>
          <a:xfrm>
            <a:off x="2289689" y="4779757"/>
            <a:ext cx="505762" cy="394073"/>
            <a:chOff x="5640108" y="966369"/>
            <a:chExt cx="476097" cy="391567"/>
          </a:xfrm>
        </p:grpSpPr>
        <p:sp>
          <p:nvSpPr>
            <p:cNvPr id="53" name="椭圆 52">
              <a:extLst>
                <a:ext uri="{FF2B5EF4-FFF2-40B4-BE49-F238E27FC236}">
                  <a16:creationId xmlns:a16="http://schemas.microsoft.com/office/drawing/2014/main" id="{0FE18FAF-38E9-C331-58DB-397EECEC34BB}"/>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54" name="文本框 17">
              <a:extLst>
                <a:ext uri="{FF2B5EF4-FFF2-40B4-BE49-F238E27FC236}">
                  <a16:creationId xmlns:a16="http://schemas.microsoft.com/office/drawing/2014/main" id="{6D41FA1B-1B0F-BE57-9F07-4DABC6D3F677}"/>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04</a:t>
              </a:r>
            </a:p>
          </p:txBody>
        </p:sp>
      </p:grpSp>
      <p:grpSp>
        <p:nvGrpSpPr>
          <p:cNvPr id="55" name="组合 54">
            <a:extLst>
              <a:ext uri="{FF2B5EF4-FFF2-40B4-BE49-F238E27FC236}">
                <a16:creationId xmlns:a16="http://schemas.microsoft.com/office/drawing/2014/main" id="{7DEE3339-83A0-4CC0-DDAB-A0253B0165A9}"/>
              </a:ext>
            </a:extLst>
          </p:cNvPr>
          <p:cNvGrpSpPr/>
          <p:nvPr/>
        </p:nvGrpSpPr>
        <p:grpSpPr>
          <a:xfrm>
            <a:off x="7293090" y="1507879"/>
            <a:ext cx="505762" cy="394073"/>
            <a:chOff x="5640108" y="966369"/>
            <a:chExt cx="476097" cy="391567"/>
          </a:xfrm>
        </p:grpSpPr>
        <p:sp>
          <p:nvSpPr>
            <p:cNvPr id="56" name="椭圆 55">
              <a:extLst>
                <a:ext uri="{FF2B5EF4-FFF2-40B4-BE49-F238E27FC236}">
                  <a16:creationId xmlns:a16="http://schemas.microsoft.com/office/drawing/2014/main" id="{868F97FB-76C1-8972-3DE1-56440F4EDEF2}"/>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57" name="文本框 17">
              <a:extLst>
                <a:ext uri="{FF2B5EF4-FFF2-40B4-BE49-F238E27FC236}">
                  <a16:creationId xmlns:a16="http://schemas.microsoft.com/office/drawing/2014/main" id="{9E80EE8E-6A6E-8252-3B4A-EA63DD62C09B}"/>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05</a:t>
              </a:r>
            </a:p>
          </p:txBody>
        </p:sp>
      </p:grpSp>
      <p:grpSp>
        <p:nvGrpSpPr>
          <p:cNvPr id="58" name="组合 57">
            <a:extLst>
              <a:ext uri="{FF2B5EF4-FFF2-40B4-BE49-F238E27FC236}">
                <a16:creationId xmlns:a16="http://schemas.microsoft.com/office/drawing/2014/main" id="{D0970C40-BBD9-B532-60AC-D974436E7FA0}"/>
              </a:ext>
            </a:extLst>
          </p:cNvPr>
          <p:cNvGrpSpPr/>
          <p:nvPr/>
        </p:nvGrpSpPr>
        <p:grpSpPr>
          <a:xfrm>
            <a:off x="7293090" y="2598505"/>
            <a:ext cx="505762" cy="394073"/>
            <a:chOff x="5640108" y="966369"/>
            <a:chExt cx="476097" cy="391567"/>
          </a:xfrm>
        </p:grpSpPr>
        <p:sp>
          <p:nvSpPr>
            <p:cNvPr id="59" name="椭圆 58">
              <a:extLst>
                <a:ext uri="{FF2B5EF4-FFF2-40B4-BE49-F238E27FC236}">
                  <a16:creationId xmlns:a16="http://schemas.microsoft.com/office/drawing/2014/main" id="{782CDBC3-E871-4407-3CAF-845CB4A9C355}"/>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60" name="文本框 17">
              <a:extLst>
                <a:ext uri="{FF2B5EF4-FFF2-40B4-BE49-F238E27FC236}">
                  <a16:creationId xmlns:a16="http://schemas.microsoft.com/office/drawing/2014/main" id="{C6F62D5C-B505-9FD5-5030-2EDCD6BC0F27}"/>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06</a:t>
              </a:r>
            </a:p>
          </p:txBody>
        </p:sp>
      </p:grpSp>
      <p:grpSp>
        <p:nvGrpSpPr>
          <p:cNvPr id="61" name="组合 60">
            <a:extLst>
              <a:ext uri="{FF2B5EF4-FFF2-40B4-BE49-F238E27FC236}">
                <a16:creationId xmlns:a16="http://schemas.microsoft.com/office/drawing/2014/main" id="{7F34BDE5-7558-F149-2852-398684BDD6CA}"/>
              </a:ext>
            </a:extLst>
          </p:cNvPr>
          <p:cNvGrpSpPr/>
          <p:nvPr/>
        </p:nvGrpSpPr>
        <p:grpSpPr>
          <a:xfrm>
            <a:off x="7293090" y="3689131"/>
            <a:ext cx="505762" cy="394073"/>
            <a:chOff x="5640108" y="966369"/>
            <a:chExt cx="476097" cy="391567"/>
          </a:xfrm>
        </p:grpSpPr>
        <p:sp>
          <p:nvSpPr>
            <p:cNvPr id="62" name="椭圆 61">
              <a:extLst>
                <a:ext uri="{FF2B5EF4-FFF2-40B4-BE49-F238E27FC236}">
                  <a16:creationId xmlns:a16="http://schemas.microsoft.com/office/drawing/2014/main" id="{43C0E663-F14F-789E-4D01-968BB8540620}"/>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63" name="文本框 17">
              <a:extLst>
                <a:ext uri="{FF2B5EF4-FFF2-40B4-BE49-F238E27FC236}">
                  <a16:creationId xmlns:a16="http://schemas.microsoft.com/office/drawing/2014/main" id="{E33161AD-0C8C-D5D9-47CA-157DDAB2A244}"/>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07</a:t>
              </a:r>
            </a:p>
          </p:txBody>
        </p:sp>
      </p:grpSp>
      <p:grpSp>
        <p:nvGrpSpPr>
          <p:cNvPr id="64" name="组合 63">
            <a:extLst>
              <a:ext uri="{FF2B5EF4-FFF2-40B4-BE49-F238E27FC236}">
                <a16:creationId xmlns:a16="http://schemas.microsoft.com/office/drawing/2014/main" id="{25A10F56-0D4F-C3EA-C35F-C26C116031B0}"/>
              </a:ext>
            </a:extLst>
          </p:cNvPr>
          <p:cNvGrpSpPr/>
          <p:nvPr/>
        </p:nvGrpSpPr>
        <p:grpSpPr>
          <a:xfrm>
            <a:off x="7293090" y="4779757"/>
            <a:ext cx="505762" cy="394073"/>
            <a:chOff x="5640108" y="966369"/>
            <a:chExt cx="476097" cy="391567"/>
          </a:xfrm>
        </p:grpSpPr>
        <p:sp>
          <p:nvSpPr>
            <p:cNvPr id="65" name="椭圆 64">
              <a:extLst>
                <a:ext uri="{FF2B5EF4-FFF2-40B4-BE49-F238E27FC236}">
                  <a16:creationId xmlns:a16="http://schemas.microsoft.com/office/drawing/2014/main" id="{4B3F8531-C876-9A59-5968-135368168DAA}"/>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Times" panose="02020603050405020304" pitchFamily="18" charset="0"/>
                <a:cs typeface="Times" panose="02020603050405020304" pitchFamily="18" charset="0"/>
                <a:sym typeface="+mn-lt"/>
              </a:endParaRPr>
            </a:p>
          </p:txBody>
        </p:sp>
        <p:sp>
          <p:nvSpPr>
            <p:cNvPr id="66" name="文本框 17">
              <a:extLst>
                <a:ext uri="{FF2B5EF4-FFF2-40B4-BE49-F238E27FC236}">
                  <a16:creationId xmlns:a16="http://schemas.microsoft.com/office/drawing/2014/main" id="{704352B3-AAF7-F07E-5600-50389F3F973E}"/>
                </a:ext>
              </a:extLst>
            </p:cNvPr>
            <p:cNvSpPr txBox="1"/>
            <p:nvPr/>
          </p:nvSpPr>
          <p:spPr>
            <a:xfrm>
              <a:off x="5640108" y="976051"/>
              <a:ext cx="476097" cy="366983"/>
            </a:xfrm>
            <a:prstGeom prst="rect">
              <a:avLst/>
            </a:prstGeom>
            <a:noFill/>
          </p:spPr>
          <p:txBody>
            <a:bodyPr wrap="square" rtlCol="0" anchor="ctr">
              <a:spAutoFit/>
            </a:bodyPr>
            <a:lstStyle/>
            <a:p>
              <a:pPr algn="ctr">
                <a:defRPr/>
              </a:pPr>
              <a:r>
                <a:rPr lang="en-US" altLang="zh-CN" sz="1800" dirty="0">
                  <a:solidFill>
                    <a:schemeClr val="bg1"/>
                  </a:solidFill>
                  <a:latin typeface="Times" panose="02020603050405020304" pitchFamily="18" charset="0"/>
                  <a:cs typeface="Times" panose="02020603050405020304" pitchFamily="18" charset="0"/>
                  <a:sym typeface="+mn-lt"/>
                </a:rPr>
                <a:t>08</a:t>
              </a:r>
            </a:p>
          </p:txBody>
        </p:sp>
      </p:grpSp>
    </p:spTree>
    <p:extLst>
      <p:ext uri="{BB962C8B-B14F-4D97-AF65-F5344CB8AC3E}">
        <p14:creationId xmlns:p14="http://schemas.microsoft.com/office/powerpoint/2010/main" val="290208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right)">
                                      <p:cBhvr>
                                        <p:cTn id="8" dur="500"/>
                                        <p:tgtEl>
                                          <p:spTgt spid="5"/>
                                        </p:tgtEl>
                                      </p:cBhvr>
                                    </p:animEffect>
                                  </p:childTnLst>
                                </p:cTn>
                              </p:par>
                            </p:childTnLst>
                          </p:cTn>
                        </p:par>
                        <p:par>
                          <p:cTn id="9" fill="hold">
                            <p:stCondLst>
                              <p:cond delay="500"/>
                            </p:stCondLst>
                            <p:childTnLst>
                              <p:par>
                                <p:cTn id="10" presetID="53" presetClass="entr" presetSubtype="52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anim calcmode="lin" valueType="num">
                                      <p:cBhvr>
                                        <p:cTn id="15" dur="500" fill="hold"/>
                                        <p:tgtEl>
                                          <p:spTgt spid="4"/>
                                        </p:tgtEl>
                                        <p:attrNameLst>
                                          <p:attrName>ppt_x</p:attrName>
                                        </p:attrNameLst>
                                      </p:cBhvr>
                                      <p:tavLst>
                                        <p:tav tm="0">
                                          <p:val>
                                            <p:fltVal val="0.5"/>
                                          </p:val>
                                        </p:tav>
                                        <p:tav tm="100000">
                                          <p:val>
                                            <p:strVal val="#ppt_x"/>
                                          </p:val>
                                        </p:tav>
                                      </p:tavLst>
                                    </p:anim>
                                    <p:anim calcmode="lin" valueType="num">
                                      <p:cBhvr>
                                        <p:cTn id="16" dur="500" fill="hold"/>
                                        <p:tgtEl>
                                          <p:spTgt spid="4"/>
                                        </p:tgtEl>
                                        <p:attrNameLst>
                                          <p:attrName>ppt_y</p:attrName>
                                        </p:attrNameLst>
                                      </p:cBhvr>
                                      <p:tavLst>
                                        <p:tav tm="0">
                                          <p:val>
                                            <p:fltVal val="0.5"/>
                                          </p:val>
                                        </p:tav>
                                        <p:tav tm="100000">
                                          <p:val>
                                            <p:strVal val="#ppt_y"/>
                                          </p:val>
                                        </p:tav>
                                      </p:tavLst>
                                    </p:anim>
                                  </p:childTnLst>
                                </p:cTn>
                              </p:par>
                            </p:childTnLst>
                          </p:cTn>
                        </p:par>
                        <p:par>
                          <p:cTn id="17" fill="hold">
                            <p:stCondLst>
                              <p:cond delay="1000"/>
                            </p:stCondLst>
                            <p:childTnLst>
                              <p:par>
                                <p:cTn id="18" presetID="2" presetClass="entr" presetSubtype="2"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1+#ppt_w/2"/>
                                          </p:val>
                                        </p:tav>
                                        <p:tav tm="100000">
                                          <p:val>
                                            <p:strVal val="#ppt_x"/>
                                          </p:val>
                                        </p:tav>
                                      </p:tavLst>
                                    </p:anim>
                                    <p:anim calcmode="lin" valueType="num">
                                      <p:cBhvr additive="base">
                                        <p:cTn id="21" dur="500" fill="hold"/>
                                        <p:tgtEl>
                                          <p:spTgt spid="11"/>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2" fill="hold" grpId="0" nodeType="afterEffect">
                                  <p:stCondLst>
                                    <p:cond delay="0"/>
                                  </p:stCondLst>
                                  <p:childTnLst>
                                    <p:set>
                                      <p:cBhvr>
                                        <p:cTn id="24" dur="1" fill="hold">
                                          <p:stCondLst>
                                            <p:cond delay="0"/>
                                          </p:stCondLst>
                                        </p:cTn>
                                        <p:tgtEl>
                                          <p:spTgt spid="79"/>
                                        </p:tgtEl>
                                        <p:attrNameLst>
                                          <p:attrName>style.visibility</p:attrName>
                                        </p:attrNameLst>
                                      </p:cBhvr>
                                      <p:to>
                                        <p:strVal val="visible"/>
                                      </p:to>
                                    </p:set>
                                    <p:anim calcmode="lin" valueType="num">
                                      <p:cBhvr additive="base">
                                        <p:cTn id="25" dur="500" fill="hold"/>
                                        <p:tgtEl>
                                          <p:spTgt spid="79"/>
                                        </p:tgtEl>
                                        <p:attrNameLst>
                                          <p:attrName>ppt_x</p:attrName>
                                        </p:attrNameLst>
                                      </p:cBhvr>
                                      <p:tavLst>
                                        <p:tav tm="0">
                                          <p:val>
                                            <p:strVal val="1+#ppt_w/2"/>
                                          </p:val>
                                        </p:tav>
                                        <p:tav tm="100000">
                                          <p:val>
                                            <p:strVal val="#ppt_x"/>
                                          </p:val>
                                        </p:tav>
                                      </p:tavLst>
                                    </p:anim>
                                    <p:anim calcmode="lin" valueType="num">
                                      <p:cBhvr additive="base">
                                        <p:cTn id="26" dur="500" fill="hold"/>
                                        <p:tgtEl>
                                          <p:spTgt spid="79"/>
                                        </p:tgtEl>
                                        <p:attrNameLst>
                                          <p:attrName>ppt_y</p:attrName>
                                        </p:attrNameLst>
                                      </p:cBhvr>
                                      <p:tavLst>
                                        <p:tav tm="0">
                                          <p:val>
                                            <p:strVal val="#ppt_y"/>
                                          </p:val>
                                        </p:tav>
                                        <p:tav tm="100000">
                                          <p:val>
                                            <p:strVal val="#ppt_y"/>
                                          </p:val>
                                        </p:tav>
                                      </p:tavLst>
                                    </p:anim>
                                  </p:childTnLst>
                                </p:cTn>
                              </p:par>
                            </p:childTnLst>
                          </p:cTn>
                        </p:par>
                        <p:par>
                          <p:cTn id="27" fill="hold">
                            <p:stCondLst>
                              <p:cond delay="2000"/>
                            </p:stCondLst>
                            <p:childTnLst>
                              <p:par>
                                <p:cTn id="28" presetID="2" presetClass="entr" presetSubtype="2" fill="hold" grpId="0" nodeType="afterEffect">
                                  <p:stCondLst>
                                    <p:cond delay="0"/>
                                  </p:stCondLst>
                                  <p:childTnLst>
                                    <p:set>
                                      <p:cBhvr>
                                        <p:cTn id="29" dur="1" fill="hold">
                                          <p:stCondLst>
                                            <p:cond delay="0"/>
                                          </p:stCondLst>
                                        </p:cTn>
                                        <p:tgtEl>
                                          <p:spTgt spid="83"/>
                                        </p:tgtEl>
                                        <p:attrNameLst>
                                          <p:attrName>style.visibility</p:attrName>
                                        </p:attrNameLst>
                                      </p:cBhvr>
                                      <p:to>
                                        <p:strVal val="visible"/>
                                      </p:to>
                                    </p:set>
                                    <p:anim calcmode="lin" valueType="num">
                                      <p:cBhvr additive="base">
                                        <p:cTn id="30" dur="500" fill="hold"/>
                                        <p:tgtEl>
                                          <p:spTgt spid="83"/>
                                        </p:tgtEl>
                                        <p:attrNameLst>
                                          <p:attrName>ppt_x</p:attrName>
                                        </p:attrNameLst>
                                      </p:cBhvr>
                                      <p:tavLst>
                                        <p:tav tm="0">
                                          <p:val>
                                            <p:strVal val="1+#ppt_w/2"/>
                                          </p:val>
                                        </p:tav>
                                        <p:tav tm="100000">
                                          <p:val>
                                            <p:strVal val="#ppt_x"/>
                                          </p:val>
                                        </p:tav>
                                      </p:tavLst>
                                    </p:anim>
                                    <p:anim calcmode="lin" valueType="num">
                                      <p:cBhvr additive="base">
                                        <p:cTn id="31" dur="500" fill="hold"/>
                                        <p:tgtEl>
                                          <p:spTgt spid="83"/>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2" presetClass="entr" presetSubtype="2" fill="hold" grpId="0" nodeType="afterEffect">
                                  <p:stCondLst>
                                    <p:cond delay="0"/>
                                  </p:stCondLst>
                                  <p:childTnLst>
                                    <p:set>
                                      <p:cBhvr>
                                        <p:cTn id="34" dur="1" fill="hold">
                                          <p:stCondLst>
                                            <p:cond delay="0"/>
                                          </p:stCondLst>
                                        </p:cTn>
                                        <p:tgtEl>
                                          <p:spTgt spid="87"/>
                                        </p:tgtEl>
                                        <p:attrNameLst>
                                          <p:attrName>style.visibility</p:attrName>
                                        </p:attrNameLst>
                                      </p:cBhvr>
                                      <p:to>
                                        <p:strVal val="visible"/>
                                      </p:to>
                                    </p:set>
                                    <p:anim calcmode="lin" valueType="num">
                                      <p:cBhvr additive="base">
                                        <p:cTn id="35" dur="500" fill="hold"/>
                                        <p:tgtEl>
                                          <p:spTgt spid="87"/>
                                        </p:tgtEl>
                                        <p:attrNameLst>
                                          <p:attrName>ppt_x</p:attrName>
                                        </p:attrNameLst>
                                      </p:cBhvr>
                                      <p:tavLst>
                                        <p:tav tm="0">
                                          <p:val>
                                            <p:strVal val="1+#ppt_w/2"/>
                                          </p:val>
                                        </p:tav>
                                        <p:tav tm="100000">
                                          <p:val>
                                            <p:strVal val="#ppt_x"/>
                                          </p:val>
                                        </p:tav>
                                      </p:tavLst>
                                    </p:anim>
                                    <p:anim calcmode="lin" valueType="num">
                                      <p:cBhvr additive="base">
                                        <p:cTn id="36" dur="500" fill="hold"/>
                                        <p:tgtEl>
                                          <p:spTgt spid="87"/>
                                        </p:tgtEl>
                                        <p:attrNameLst>
                                          <p:attrName>ppt_y</p:attrName>
                                        </p:attrNameLst>
                                      </p:cBhvr>
                                      <p:tavLst>
                                        <p:tav tm="0">
                                          <p:val>
                                            <p:strVal val="#ppt_y"/>
                                          </p:val>
                                        </p:tav>
                                        <p:tav tm="100000">
                                          <p:val>
                                            <p:strVal val="#ppt_y"/>
                                          </p:val>
                                        </p:tav>
                                      </p:tavLst>
                                    </p:anim>
                                  </p:childTnLst>
                                </p:cTn>
                              </p:par>
                            </p:childTnLst>
                          </p:cTn>
                        </p:par>
                        <p:par>
                          <p:cTn id="37" fill="hold">
                            <p:stCondLst>
                              <p:cond delay="3000"/>
                            </p:stCondLst>
                            <p:childTnLst>
                              <p:par>
                                <p:cTn id="38" presetID="2" presetClass="entr" presetSubtype="2"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1+#ppt_w/2"/>
                                          </p:val>
                                        </p:tav>
                                        <p:tav tm="100000">
                                          <p:val>
                                            <p:strVal val="#ppt_x"/>
                                          </p:val>
                                        </p:tav>
                                      </p:tavLst>
                                    </p:anim>
                                    <p:anim calcmode="lin" valueType="num">
                                      <p:cBhvr additive="base">
                                        <p:cTn id="41" dur="500" fill="hold"/>
                                        <p:tgtEl>
                                          <p:spTgt spid="6"/>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2" presetClass="entr" presetSubtype="2" fill="hold" grpId="0" nodeType="after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1+#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2" presetClass="entr" presetSubtype="2"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additive="base">
                                        <p:cTn id="50" dur="500" fill="hold"/>
                                        <p:tgtEl>
                                          <p:spTgt spid="20"/>
                                        </p:tgtEl>
                                        <p:attrNameLst>
                                          <p:attrName>ppt_x</p:attrName>
                                        </p:attrNameLst>
                                      </p:cBhvr>
                                      <p:tavLst>
                                        <p:tav tm="0">
                                          <p:val>
                                            <p:strVal val="1+#ppt_w/2"/>
                                          </p:val>
                                        </p:tav>
                                        <p:tav tm="100000">
                                          <p:val>
                                            <p:strVal val="#ppt_x"/>
                                          </p:val>
                                        </p:tav>
                                      </p:tavLst>
                                    </p:anim>
                                    <p:anim calcmode="lin" valueType="num">
                                      <p:cBhvr additive="base">
                                        <p:cTn id="51" dur="500" fill="hold"/>
                                        <p:tgtEl>
                                          <p:spTgt spid="20"/>
                                        </p:tgtEl>
                                        <p:attrNameLst>
                                          <p:attrName>ppt_y</p:attrName>
                                        </p:attrNameLst>
                                      </p:cBhvr>
                                      <p:tavLst>
                                        <p:tav tm="0">
                                          <p:val>
                                            <p:strVal val="#ppt_y"/>
                                          </p:val>
                                        </p:tav>
                                        <p:tav tm="100000">
                                          <p:val>
                                            <p:strVal val="#ppt_y"/>
                                          </p:val>
                                        </p:tav>
                                      </p:tavLst>
                                    </p:anim>
                                  </p:childTnLst>
                                </p:cTn>
                              </p:par>
                            </p:childTnLst>
                          </p:cTn>
                        </p:par>
                        <p:par>
                          <p:cTn id="52" fill="hold">
                            <p:stCondLst>
                              <p:cond delay="4500"/>
                            </p:stCondLst>
                            <p:childTnLst>
                              <p:par>
                                <p:cTn id="53" presetID="2" presetClass="entr" presetSubtype="2"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1+#ppt_w/2"/>
                                          </p:val>
                                        </p:tav>
                                        <p:tav tm="100000">
                                          <p:val>
                                            <p:strVal val="#ppt_x"/>
                                          </p:val>
                                        </p:tav>
                                      </p:tavLst>
                                    </p:anim>
                                    <p:anim calcmode="lin" valueType="num">
                                      <p:cBhvr additive="base">
                                        <p:cTn id="56" dur="500" fill="hold"/>
                                        <p:tgtEl>
                                          <p:spTgt spid="21"/>
                                        </p:tgtEl>
                                        <p:attrNameLst>
                                          <p:attrName>ppt_y</p:attrName>
                                        </p:attrNameLst>
                                      </p:cBhvr>
                                      <p:tavLst>
                                        <p:tav tm="0">
                                          <p:val>
                                            <p:strVal val="#ppt_y"/>
                                          </p:val>
                                        </p:tav>
                                        <p:tav tm="100000">
                                          <p:val>
                                            <p:strVal val="#ppt_y"/>
                                          </p:val>
                                        </p:tav>
                                      </p:tavLst>
                                    </p:anim>
                                  </p:childTnLst>
                                </p:cTn>
                              </p:par>
                            </p:childTnLst>
                          </p:cTn>
                        </p:par>
                        <p:par>
                          <p:cTn id="57" fill="hold">
                            <p:stCondLst>
                              <p:cond delay="5000"/>
                            </p:stCondLst>
                            <p:childTnLst>
                              <p:par>
                                <p:cTn id="58" presetID="53" presetClass="entr" presetSubtype="528" fill="hold" nodeType="afterEffect">
                                  <p:stCondLst>
                                    <p:cond delay="0"/>
                                  </p:stCondLst>
                                  <p:childTnLst>
                                    <p:set>
                                      <p:cBhvr>
                                        <p:cTn id="59" dur="1" fill="hold">
                                          <p:stCondLst>
                                            <p:cond delay="0"/>
                                          </p:stCondLst>
                                        </p:cTn>
                                        <p:tgtEl>
                                          <p:spTgt spid="46"/>
                                        </p:tgtEl>
                                        <p:attrNameLst>
                                          <p:attrName>style.visibility</p:attrName>
                                        </p:attrNameLst>
                                      </p:cBhvr>
                                      <p:to>
                                        <p:strVal val="visible"/>
                                      </p:to>
                                    </p:set>
                                    <p:anim calcmode="lin" valueType="num">
                                      <p:cBhvr>
                                        <p:cTn id="60" dur="500" fill="hold"/>
                                        <p:tgtEl>
                                          <p:spTgt spid="46"/>
                                        </p:tgtEl>
                                        <p:attrNameLst>
                                          <p:attrName>ppt_w</p:attrName>
                                        </p:attrNameLst>
                                      </p:cBhvr>
                                      <p:tavLst>
                                        <p:tav tm="0">
                                          <p:val>
                                            <p:fltVal val="0"/>
                                          </p:val>
                                        </p:tav>
                                        <p:tav tm="100000">
                                          <p:val>
                                            <p:strVal val="#ppt_w"/>
                                          </p:val>
                                        </p:tav>
                                      </p:tavLst>
                                    </p:anim>
                                    <p:anim calcmode="lin" valueType="num">
                                      <p:cBhvr>
                                        <p:cTn id="61" dur="500" fill="hold"/>
                                        <p:tgtEl>
                                          <p:spTgt spid="46"/>
                                        </p:tgtEl>
                                        <p:attrNameLst>
                                          <p:attrName>ppt_h</p:attrName>
                                        </p:attrNameLst>
                                      </p:cBhvr>
                                      <p:tavLst>
                                        <p:tav tm="0">
                                          <p:val>
                                            <p:fltVal val="0"/>
                                          </p:val>
                                        </p:tav>
                                        <p:tav tm="100000">
                                          <p:val>
                                            <p:strVal val="#ppt_h"/>
                                          </p:val>
                                        </p:tav>
                                      </p:tavLst>
                                    </p:anim>
                                    <p:animEffect transition="in" filter="fade">
                                      <p:cBhvr>
                                        <p:cTn id="62" dur="500"/>
                                        <p:tgtEl>
                                          <p:spTgt spid="46"/>
                                        </p:tgtEl>
                                      </p:cBhvr>
                                    </p:animEffect>
                                    <p:anim calcmode="lin" valueType="num">
                                      <p:cBhvr>
                                        <p:cTn id="63" dur="500" fill="hold"/>
                                        <p:tgtEl>
                                          <p:spTgt spid="46"/>
                                        </p:tgtEl>
                                        <p:attrNameLst>
                                          <p:attrName>ppt_x</p:attrName>
                                        </p:attrNameLst>
                                      </p:cBhvr>
                                      <p:tavLst>
                                        <p:tav tm="0">
                                          <p:val>
                                            <p:fltVal val="0.5"/>
                                          </p:val>
                                        </p:tav>
                                        <p:tav tm="100000">
                                          <p:val>
                                            <p:strVal val="#ppt_x"/>
                                          </p:val>
                                        </p:tav>
                                      </p:tavLst>
                                    </p:anim>
                                    <p:anim calcmode="lin" valueType="num">
                                      <p:cBhvr>
                                        <p:cTn id="64" dur="500" fill="hold"/>
                                        <p:tgtEl>
                                          <p:spTgt spid="46"/>
                                        </p:tgtEl>
                                        <p:attrNameLst>
                                          <p:attrName>ppt_y</p:attrName>
                                        </p:attrNameLst>
                                      </p:cBhvr>
                                      <p:tavLst>
                                        <p:tav tm="0">
                                          <p:val>
                                            <p:fltVal val="0.5"/>
                                          </p:val>
                                        </p:tav>
                                        <p:tav tm="100000">
                                          <p:val>
                                            <p:strVal val="#ppt_y"/>
                                          </p:val>
                                        </p:tav>
                                      </p:tavLst>
                                    </p:anim>
                                  </p:childTnLst>
                                </p:cTn>
                              </p:par>
                            </p:childTnLst>
                          </p:cTn>
                        </p:par>
                        <p:par>
                          <p:cTn id="65" fill="hold">
                            <p:stCondLst>
                              <p:cond delay="5500"/>
                            </p:stCondLst>
                            <p:childTnLst>
                              <p:par>
                                <p:cTn id="66" presetID="53" presetClass="entr" presetSubtype="528" fill="hold" nodeType="afterEffect">
                                  <p:stCondLst>
                                    <p:cond delay="0"/>
                                  </p:stCondLst>
                                  <p:childTnLst>
                                    <p:set>
                                      <p:cBhvr>
                                        <p:cTn id="67" dur="1" fill="hold">
                                          <p:stCondLst>
                                            <p:cond delay="0"/>
                                          </p:stCondLst>
                                        </p:cTn>
                                        <p:tgtEl>
                                          <p:spTgt spid="49"/>
                                        </p:tgtEl>
                                        <p:attrNameLst>
                                          <p:attrName>style.visibility</p:attrName>
                                        </p:attrNameLst>
                                      </p:cBhvr>
                                      <p:to>
                                        <p:strVal val="visible"/>
                                      </p:to>
                                    </p:set>
                                    <p:anim calcmode="lin" valueType="num">
                                      <p:cBhvr>
                                        <p:cTn id="68" dur="500" fill="hold"/>
                                        <p:tgtEl>
                                          <p:spTgt spid="49"/>
                                        </p:tgtEl>
                                        <p:attrNameLst>
                                          <p:attrName>ppt_w</p:attrName>
                                        </p:attrNameLst>
                                      </p:cBhvr>
                                      <p:tavLst>
                                        <p:tav tm="0">
                                          <p:val>
                                            <p:fltVal val="0"/>
                                          </p:val>
                                        </p:tav>
                                        <p:tav tm="100000">
                                          <p:val>
                                            <p:strVal val="#ppt_w"/>
                                          </p:val>
                                        </p:tav>
                                      </p:tavLst>
                                    </p:anim>
                                    <p:anim calcmode="lin" valueType="num">
                                      <p:cBhvr>
                                        <p:cTn id="69" dur="500" fill="hold"/>
                                        <p:tgtEl>
                                          <p:spTgt spid="49"/>
                                        </p:tgtEl>
                                        <p:attrNameLst>
                                          <p:attrName>ppt_h</p:attrName>
                                        </p:attrNameLst>
                                      </p:cBhvr>
                                      <p:tavLst>
                                        <p:tav tm="0">
                                          <p:val>
                                            <p:fltVal val="0"/>
                                          </p:val>
                                        </p:tav>
                                        <p:tav tm="100000">
                                          <p:val>
                                            <p:strVal val="#ppt_h"/>
                                          </p:val>
                                        </p:tav>
                                      </p:tavLst>
                                    </p:anim>
                                    <p:animEffect transition="in" filter="fade">
                                      <p:cBhvr>
                                        <p:cTn id="70" dur="500"/>
                                        <p:tgtEl>
                                          <p:spTgt spid="49"/>
                                        </p:tgtEl>
                                      </p:cBhvr>
                                    </p:animEffect>
                                    <p:anim calcmode="lin" valueType="num">
                                      <p:cBhvr>
                                        <p:cTn id="71" dur="500" fill="hold"/>
                                        <p:tgtEl>
                                          <p:spTgt spid="49"/>
                                        </p:tgtEl>
                                        <p:attrNameLst>
                                          <p:attrName>ppt_x</p:attrName>
                                        </p:attrNameLst>
                                      </p:cBhvr>
                                      <p:tavLst>
                                        <p:tav tm="0">
                                          <p:val>
                                            <p:fltVal val="0.5"/>
                                          </p:val>
                                        </p:tav>
                                        <p:tav tm="100000">
                                          <p:val>
                                            <p:strVal val="#ppt_x"/>
                                          </p:val>
                                        </p:tav>
                                      </p:tavLst>
                                    </p:anim>
                                    <p:anim calcmode="lin" valueType="num">
                                      <p:cBhvr>
                                        <p:cTn id="72" dur="500" fill="hold"/>
                                        <p:tgtEl>
                                          <p:spTgt spid="49"/>
                                        </p:tgtEl>
                                        <p:attrNameLst>
                                          <p:attrName>ppt_y</p:attrName>
                                        </p:attrNameLst>
                                      </p:cBhvr>
                                      <p:tavLst>
                                        <p:tav tm="0">
                                          <p:val>
                                            <p:fltVal val="0.5"/>
                                          </p:val>
                                        </p:tav>
                                        <p:tav tm="100000">
                                          <p:val>
                                            <p:strVal val="#ppt_y"/>
                                          </p:val>
                                        </p:tav>
                                      </p:tavLst>
                                    </p:anim>
                                  </p:childTnLst>
                                </p:cTn>
                              </p:par>
                            </p:childTnLst>
                          </p:cTn>
                        </p:par>
                        <p:par>
                          <p:cTn id="73" fill="hold">
                            <p:stCondLst>
                              <p:cond delay="6000"/>
                            </p:stCondLst>
                            <p:childTnLst>
                              <p:par>
                                <p:cTn id="74" presetID="53" presetClass="entr" presetSubtype="528" fill="hold" nodeType="after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transition="in" filter="fade">
                                      <p:cBhvr>
                                        <p:cTn id="78" dur="500"/>
                                        <p:tgtEl>
                                          <p:spTgt spid="52"/>
                                        </p:tgtEl>
                                      </p:cBhvr>
                                    </p:animEffect>
                                    <p:anim calcmode="lin" valueType="num">
                                      <p:cBhvr>
                                        <p:cTn id="79" dur="500" fill="hold"/>
                                        <p:tgtEl>
                                          <p:spTgt spid="52"/>
                                        </p:tgtEl>
                                        <p:attrNameLst>
                                          <p:attrName>ppt_x</p:attrName>
                                        </p:attrNameLst>
                                      </p:cBhvr>
                                      <p:tavLst>
                                        <p:tav tm="0">
                                          <p:val>
                                            <p:fltVal val="0.5"/>
                                          </p:val>
                                        </p:tav>
                                        <p:tav tm="100000">
                                          <p:val>
                                            <p:strVal val="#ppt_x"/>
                                          </p:val>
                                        </p:tav>
                                      </p:tavLst>
                                    </p:anim>
                                    <p:anim calcmode="lin" valueType="num">
                                      <p:cBhvr>
                                        <p:cTn id="80" dur="500" fill="hold"/>
                                        <p:tgtEl>
                                          <p:spTgt spid="52"/>
                                        </p:tgtEl>
                                        <p:attrNameLst>
                                          <p:attrName>ppt_y</p:attrName>
                                        </p:attrNameLst>
                                      </p:cBhvr>
                                      <p:tavLst>
                                        <p:tav tm="0">
                                          <p:val>
                                            <p:fltVal val="0.5"/>
                                          </p:val>
                                        </p:tav>
                                        <p:tav tm="100000">
                                          <p:val>
                                            <p:strVal val="#ppt_y"/>
                                          </p:val>
                                        </p:tav>
                                      </p:tavLst>
                                    </p:anim>
                                  </p:childTnLst>
                                </p:cTn>
                              </p:par>
                            </p:childTnLst>
                          </p:cTn>
                        </p:par>
                        <p:par>
                          <p:cTn id="81" fill="hold">
                            <p:stCondLst>
                              <p:cond delay="6500"/>
                            </p:stCondLst>
                            <p:childTnLst>
                              <p:par>
                                <p:cTn id="82" presetID="53" presetClass="entr" presetSubtype="528" fill="hold" nodeType="afterEffect">
                                  <p:stCondLst>
                                    <p:cond delay="0"/>
                                  </p:stCondLst>
                                  <p:childTnLst>
                                    <p:set>
                                      <p:cBhvr>
                                        <p:cTn id="83" dur="1" fill="hold">
                                          <p:stCondLst>
                                            <p:cond delay="0"/>
                                          </p:stCondLst>
                                        </p:cTn>
                                        <p:tgtEl>
                                          <p:spTgt spid="55"/>
                                        </p:tgtEl>
                                        <p:attrNameLst>
                                          <p:attrName>style.visibility</p:attrName>
                                        </p:attrNameLst>
                                      </p:cBhvr>
                                      <p:to>
                                        <p:strVal val="visible"/>
                                      </p:to>
                                    </p:set>
                                    <p:anim calcmode="lin" valueType="num">
                                      <p:cBhvr>
                                        <p:cTn id="84" dur="500" fill="hold"/>
                                        <p:tgtEl>
                                          <p:spTgt spid="55"/>
                                        </p:tgtEl>
                                        <p:attrNameLst>
                                          <p:attrName>ppt_w</p:attrName>
                                        </p:attrNameLst>
                                      </p:cBhvr>
                                      <p:tavLst>
                                        <p:tav tm="0">
                                          <p:val>
                                            <p:fltVal val="0"/>
                                          </p:val>
                                        </p:tav>
                                        <p:tav tm="100000">
                                          <p:val>
                                            <p:strVal val="#ppt_w"/>
                                          </p:val>
                                        </p:tav>
                                      </p:tavLst>
                                    </p:anim>
                                    <p:anim calcmode="lin" valueType="num">
                                      <p:cBhvr>
                                        <p:cTn id="85" dur="500" fill="hold"/>
                                        <p:tgtEl>
                                          <p:spTgt spid="55"/>
                                        </p:tgtEl>
                                        <p:attrNameLst>
                                          <p:attrName>ppt_h</p:attrName>
                                        </p:attrNameLst>
                                      </p:cBhvr>
                                      <p:tavLst>
                                        <p:tav tm="0">
                                          <p:val>
                                            <p:fltVal val="0"/>
                                          </p:val>
                                        </p:tav>
                                        <p:tav tm="100000">
                                          <p:val>
                                            <p:strVal val="#ppt_h"/>
                                          </p:val>
                                        </p:tav>
                                      </p:tavLst>
                                    </p:anim>
                                    <p:animEffect transition="in" filter="fade">
                                      <p:cBhvr>
                                        <p:cTn id="86" dur="500"/>
                                        <p:tgtEl>
                                          <p:spTgt spid="55"/>
                                        </p:tgtEl>
                                      </p:cBhvr>
                                    </p:animEffect>
                                    <p:anim calcmode="lin" valueType="num">
                                      <p:cBhvr>
                                        <p:cTn id="87" dur="500" fill="hold"/>
                                        <p:tgtEl>
                                          <p:spTgt spid="55"/>
                                        </p:tgtEl>
                                        <p:attrNameLst>
                                          <p:attrName>ppt_x</p:attrName>
                                        </p:attrNameLst>
                                      </p:cBhvr>
                                      <p:tavLst>
                                        <p:tav tm="0">
                                          <p:val>
                                            <p:fltVal val="0.5"/>
                                          </p:val>
                                        </p:tav>
                                        <p:tav tm="100000">
                                          <p:val>
                                            <p:strVal val="#ppt_x"/>
                                          </p:val>
                                        </p:tav>
                                      </p:tavLst>
                                    </p:anim>
                                    <p:anim calcmode="lin" valueType="num">
                                      <p:cBhvr>
                                        <p:cTn id="88" dur="500" fill="hold"/>
                                        <p:tgtEl>
                                          <p:spTgt spid="55"/>
                                        </p:tgtEl>
                                        <p:attrNameLst>
                                          <p:attrName>ppt_y</p:attrName>
                                        </p:attrNameLst>
                                      </p:cBhvr>
                                      <p:tavLst>
                                        <p:tav tm="0">
                                          <p:val>
                                            <p:fltVal val="0.5"/>
                                          </p:val>
                                        </p:tav>
                                        <p:tav tm="100000">
                                          <p:val>
                                            <p:strVal val="#ppt_y"/>
                                          </p:val>
                                        </p:tav>
                                      </p:tavLst>
                                    </p:anim>
                                  </p:childTnLst>
                                </p:cTn>
                              </p:par>
                            </p:childTnLst>
                          </p:cTn>
                        </p:par>
                        <p:par>
                          <p:cTn id="89" fill="hold">
                            <p:stCondLst>
                              <p:cond delay="7000"/>
                            </p:stCondLst>
                            <p:childTnLst>
                              <p:par>
                                <p:cTn id="90" presetID="53" presetClass="entr" presetSubtype="528" fill="hold" nodeType="afterEffect">
                                  <p:stCondLst>
                                    <p:cond delay="0"/>
                                  </p:stCondLst>
                                  <p:childTnLst>
                                    <p:set>
                                      <p:cBhvr>
                                        <p:cTn id="91" dur="1" fill="hold">
                                          <p:stCondLst>
                                            <p:cond delay="0"/>
                                          </p:stCondLst>
                                        </p:cTn>
                                        <p:tgtEl>
                                          <p:spTgt spid="58"/>
                                        </p:tgtEl>
                                        <p:attrNameLst>
                                          <p:attrName>style.visibility</p:attrName>
                                        </p:attrNameLst>
                                      </p:cBhvr>
                                      <p:to>
                                        <p:strVal val="visible"/>
                                      </p:to>
                                    </p:set>
                                    <p:anim calcmode="lin" valueType="num">
                                      <p:cBhvr>
                                        <p:cTn id="92" dur="500" fill="hold"/>
                                        <p:tgtEl>
                                          <p:spTgt spid="58"/>
                                        </p:tgtEl>
                                        <p:attrNameLst>
                                          <p:attrName>ppt_w</p:attrName>
                                        </p:attrNameLst>
                                      </p:cBhvr>
                                      <p:tavLst>
                                        <p:tav tm="0">
                                          <p:val>
                                            <p:fltVal val="0"/>
                                          </p:val>
                                        </p:tav>
                                        <p:tav tm="100000">
                                          <p:val>
                                            <p:strVal val="#ppt_w"/>
                                          </p:val>
                                        </p:tav>
                                      </p:tavLst>
                                    </p:anim>
                                    <p:anim calcmode="lin" valueType="num">
                                      <p:cBhvr>
                                        <p:cTn id="93" dur="500" fill="hold"/>
                                        <p:tgtEl>
                                          <p:spTgt spid="58"/>
                                        </p:tgtEl>
                                        <p:attrNameLst>
                                          <p:attrName>ppt_h</p:attrName>
                                        </p:attrNameLst>
                                      </p:cBhvr>
                                      <p:tavLst>
                                        <p:tav tm="0">
                                          <p:val>
                                            <p:fltVal val="0"/>
                                          </p:val>
                                        </p:tav>
                                        <p:tav tm="100000">
                                          <p:val>
                                            <p:strVal val="#ppt_h"/>
                                          </p:val>
                                        </p:tav>
                                      </p:tavLst>
                                    </p:anim>
                                    <p:animEffect transition="in" filter="fade">
                                      <p:cBhvr>
                                        <p:cTn id="94" dur="500"/>
                                        <p:tgtEl>
                                          <p:spTgt spid="58"/>
                                        </p:tgtEl>
                                      </p:cBhvr>
                                    </p:animEffect>
                                    <p:anim calcmode="lin" valueType="num">
                                      <p:cBhvr>
                                        <p:cTn id="95" dur="500" fill="hold"/>
                                        <p:tgtEl>
                                          <p:spTgt spid="58"/>
                                        </p:tgtEl>
                                        <p:attrNameLst>
                                          <p:attrName>ppt_x</p:attrName>
                                        </p:attrNameLst>
                                      </p:cBhvr>
                                      <p:tavLst>
                                        <p:tav tm="0">
                                          <p:val>
                                            <p:fltVal val="0.5"/>
                                          </p:val>
                                        </p:tav>
                                        <p:tav tm="100000">
                                          <p:val>
                                            <p:strVal val="#ppt_x"/>
                                          </p:val>
                                        </p:tav>
                                      </p:tavLst>
                                    </p:anim>
                                    <p:anim calcmode="lin" valueType="num">
                                      <p:cBhvr>
                                        <p:cTn id="96" dur="500" fill="hold"/>
                                        <p:tgtEl>
                                          <p:spTgt spid="58"/>
                                        </p:tgtEl>
                                        <p:attrNameLst>
                                          <p:attrName>ppt_y</p:attrName>
                                        </p:attrNameLst>
                                      </p:cBhvr>
                                      <p:tavLst>
                                        <p:tav tm="0">
                                          <p:val>
                                            <p:fltVal val="0.5"/>
                                          </p:val>
                                        </p:tav>
                                        <p:tav tm="100000">
                                          <p:val>
                                            <p:strVal val="#ppt_y"/>
                                          </p:val>
                                        </p:tav>
                                      </p:tavLst>
                                    </p:anim>
                                  </p:childTnLst>
                                </p:cTn>
                              </p:par>
                            </p:childTnLst>
                          </p:cTn>
                        </p:par>
                        <p:par>
                          <p:cTn id="97" fill="hold">
                            <p:stCondLst>
                              <p:cond delay="7500"/>
                            </p:stCondLst>
                            <p:childTnLst>
                              <p:par>
                                <p:cTn id="98" presetID="53" presetClass="entr" presetSubtype="528" fill="hold" nodeType="afterEffect">
                                  <p:stCondLst>
                                    <p:cond delay="0"/>
                                  </p:stCondLst>
                                  <p:childTnLst>
                                    <p:set>
                                      <p:cBhvr>
                                        <p:cTn id="99" dur="1" fill="hold">
                                          <p:stCondLst>
                                            <p:cond delay="0"/>
                                          </p:stCondLst>
                                        </p:cTn>
                                        <p:tgtEl>
                                          <p:spTgt spid="61"/>
                                        </p:tgtEl>
                                        <p:attrNameLst>
                                          <p:attrName>style.visibility</p:attrName>
                                        </p:attrNameLst>
                                      </p:cBhvr>
                                      <p:to>
                                        <p:strVal val="visible"/>
                                      </p:to>
                                    </p:set>
                                    <p:anim calcmode="lin" valueType="num">
                                      <p:cBhvr>
                                        <p:cTn id="100" dur="500" fill="hold"/>
                                        <p:tgtEl>
                                          <p:spTgt spid="61"/>
                                        </p:tgtEl>
                                        <p:attrNameLst>
                                          <p:attrName>ppt_w</p:attrName>
                                        </p:attrNameLst>
                                      </p:cBhvr>
                                      <p:tavLst>
                                        <p:tav tm="0">
                                          <p:val>
                                            <p:fltVal val="0"/>
                                          </p:val>
                                        </p:tav>
                                        <p:tav tm="100000">
                                          <p:val>
                                            <p:strVal val="#ppt_w"/>
                                          </p:val>
                                        </p:tav>
                                      </p:tavLst>
                                    </p:anim>
                                    <p:anim calcmode="lin" valueType="num">
                                      <p:cBhvr>
                                        <p:cTn id="101" dur="500" fill="hold"/>
                                        <p:tgtEl>
                                          <p:spTgt spid="61"/>
                                        </p:tgtEl>
                                        <p:attrNameLst>
                                          <p:attrName>ppt_h</p:attrName>
                                        </p:attrNameLst>
                                      </p:cBhvr>
                                      <p:tavLst>
                                        <p:tav tm="0">
                                          <p:val>
                                            <p:fltVal val="0"/>
                                          </p:val>
                                        </p:tav>
                                        <p:tav tm="100000">
                                          <p:val>
                                            <p:strVal val="#ppt_h"/>
                                          </p:val>
                                        </p:tav>
                                      </p:tavLst>
                                    </p:anim>
                                    <p:animEffect transition="in" filter="fade">
                                      <p:cBhvr>
                                        <p:cTn id="102" dur="500"/>
                                        <p:tgtEl>
                                          <p:spTgt spid="61"/>
                                        </p:tgtEl>
                                      </p:cBhvr>
                                    </p:animEffect>
                                    <p:anim calcmode="lin" valueType="num">
                                      <p:cBhvr>
                                        <p:cTn id="103" dur="500" fill="hold"/>
                                        <p:tgtEl>
                                          <p:spTgt spid="61"/>
                                        </p:tgtEl>
                                        <p:attrNameLst>
                                          <p:attrName>ppt_x</p:attrName>
                                        </p:attrNameLst>
                                      </p:cBhvr>
                                      <p:tavLst>
                                        <p:tav tm="0">
                                          <p:val>
                                            <p:fltVal val="0.5"/>
                                          </p:val>
                                        </p:tav>
                                        <p:tav tm="100000">
                                          <p:val>
                                            <p:strVal val="#ppt_x"/>
                                          </p:val>
                                        </p:tav>
                                      </p:tavLst>
                                    </p:anim>
                                    <p:anim calcmode="lin" valueType="num">
                                      <p:cBhvr>
                                        <p:cTn id="104" dur="500" fill="hold"/>
                                        <p:tgtEl>
                                          <p:spTgt spid="61"/>
                                        </p:tgtEl>
                                        <p:attrNameLst>
                                          <p:attrName>ppt_y</p:attrName>
                                        </p:attrNameLst>
                                      </p:cBhvr>
                                      <p:tavLst>
                                        <p:tav tm="0">
                                          <p:val>
                                            <p:fltVal val="0.5"/>
                                          </p:val>
                                        </p:tav>
                                        <p:tav tm="100000">
                                          <p:val>
                                            <p:strVal val="#ppt_y"/>
                                          </p:val>
                                        </p:tav>
                                      </p:tavLst>
                                    </p:anim>
                                  </p:childTnLst>
                                </p:cTn>
                              </p:par>
                            </p:childTnLst>
                          </p:cTn>
                        </p:par>
                        <p:par>
                          <p:cTn id="105" fill="hold">
                            <p:stCondLst>
                              <p:cond delay="8000"/>
                            </p:stCondLst>
                            <p:childTnLst>
                              <p:par>
                                <p:cTn id="106" presetID="53" presetClass="entr" presetSubtype="528" fill="hold" nodeType="afterEffect">
                                  <p:stCondLst>
                                    <p:cond delay="0"/>
                                  </p:stCondLst>
                                  <p:childTnLst>
                                    <p:set>
                                      <p:cBhvr>
                                        <p:cTn id="107" dur="1" fill="hold">
                                          <p:stCondLst>
                                            <p:cond delay="0"/>
                                          </p:stCondLst>
                                        </p:cTn>
                                        <p:tgtEl>
                                          <p:spTgt spid="64"/>
                                        </p:tgtEl>
                                        <p:attrNameLst>
                                          <p:attrName>style.visibility</p:attrName>
                                        </p:attrNameLst>
                                      </p:cBhvr>
                                      <p:to>
                                        <p:strVal val="visible"/>
                                      </p:to>
                                    </p:set>
                                    <p:anim calcmode="lin" valueType="num">
                                      <p:cBhvr>
                                        <p:cTn id="108" dur="500" fill="hold"/>
                                        <p:tgtEl>
                                          <p:spTgt spid="64"/>
                                        </p:tgtEl>
                                        <p:attrNameLst>
                                          <p:attrName>ppt_w</p:attrName>
                                        </p:attrNameLst>
                                      </p:cBhvr>
                                      <p:tavLst>
                                        <p:tav tm="0">
                                          <p:val>
                                            <p:fltVal val="0"/>
                                          </p:val>
                                        </p:tav>
                                        <p:tav tm="100000">
                                          <p:val>
                                            <p:strVal val="#ppt_w"/>
                                          </p:val>
                                        </p:tav>
                                      </p:tavLst>
                                    </p:anim>
                                    <p:anim calcmode="lin" valueType="num">
                                      <p:cBhvr>
                                        <p:cTn id="109" dur="500" fill="hold"/>
                                        <p:tgtEl>
                                          <p:spTgt spid="64"/>
                                        </p:tgtEl>
                                        <p:attrNameLst>
                                          <p:attrName>ppt_h</p:attrName>
                                        </p:attrNameLst>
                                      </p:cBhvr>
                                      <p:tavLst>
                                        <p:tav tm="0">
                                          <p:val>
                                            <p:fltVal val="0"/>
                                          </p:val>
                                        </p:tav>
                                        <p:tav tm="100000">
                                          <p:val>
                                            <p:strVal val="#ppt_h"/>
                                          </p:val>
                                        </p:tav>
                                      </p:tavLst>
                                    </p:anim>
                                    <p:animEffect transition="in" filter="fade">
                                      <p:cBhvr>
                                        <p:cTn id="110" dur="500"/>
                                        <p:tgtEl>
                                          <p:spTgt spid="64"/>
                                        </p:tgtEl>
                                      </p:cBhvr>
                                    </p:animEffect>
                                    <p:anim calcmode="lin" valueType="num">
                                      <p:cBhvr>
                                        <p:cTn id="111" dur="500" fill="hold"/>
                                        <p:tgtEl>
                                          <p:spTgt spid="64"/>
                                        </p:tgtEl>
                                        <p:attrNameLst>
                                          <p:attrName>ppt_x</p:attrName>
                                        </p:attrNameLst>
                                      </p:cBhvr>
                                      <p:tavLst>
                                        <p:tav tm="0">
                                          <p:val>
                                            <p:fltVal val="0.5"/>
                                          </p:val>
                                        </p:tav>
                                        <p:tav tm="100000">
                                          <p:val>
                                            <p:strVal val="#ppt_x"/>
                                          </p:val>
                                        </p:tav>
                                      </p:tavLst>
                                    </p:anim>
                                    <p:anim calcmode="lin" valueType="num">
                                      <p:cBhvr>
                                        <p:cTn id="112" dur="500" fill="hold"/>
                                        <p:tgtEl>
                                          <p:spTgt spid="6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5" grpId="0"/>
      <p:bldP spid="79" grpId="0" bldLvl="0" animBg="1"/>
      <p:bldP spid="83" grpId="0" bldLvl="0" animBg="1"/>
      <p:bldP spid="87" grpId="0" bldLvl="0" animBg="1"/>
      <p:bldP spid="6" grpId="0" bldLvl="0" animBg="1"/>
      <p:bldP spid="2" grpId="0" bldLvl="0" animBg="1"/>
      <p:bldP spid="20" grpId="0" bldLvl="0" animBg="1"/>
      <p:bldP spid="2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3" dirty="0">
              <a:latin typeface="Arial" panose="020B0604020202020204"/>
              <a:ea typeface="Arial" panose="020B0604020202020204"/>
              <a:cs typeface="Arial" panose="020B0604020202020204"/>
            </a:endParaRPr>
          </a:p>
          <a:p>
            <a:pPr marL="699329" eaLnBrk="0">
              <a:lnSpc>
                <a:spcPct val="76000"/>
              </a:lnSpc>
              <a:spcBef>
                <a:spcPts val="7"/>
              </a:spcBef>
              <a:tabLst>
                <a:tab pos="99057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I</a:t>
            </a:r>
            <a:r>
              <a:rPr lang="en-US" altLang="zh-CN" sz="4400" b="1" kern="0" spc="-13" dirty="0">
                <a:solidFill>
                  <a:srgbClr val="004282">
                    <a:alpha val="100000"/>
                  </a:srgbClr>
                </a:solidFill>
                <a:latin typeface="Times New Roman" panose="02020603050405020304"/>
                <a:ea typeface="Times New Roman" panose="02020603050405020304"/>
                <a:cs typeface="Times New Roman" panose="02020603050405020304"/>
              </a:rPr>
              <a:t>ntroduction</a:t>
            </a:r>
            <a:endParaRPr sz="4400" dirty="0">
              <a:latin typeface="Times New Roman" panose="02020603050405020304"/>
              <a:ea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0000"/>
              </a:lnSpc>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A9B79DBE-A8F2-816F-C39A-A02500720A70}"/>
              </a:ext>
            </a:extLst>
          </p:cNvPr>
          <p:cNvSpPr txBox="1"/>
          <p:nvPr/>
        </p:nvSpPr>
        <p:spPr>
          <a:xfrm>
            <a:off x="838416" y="2074783"/>
            <a:ext cx="10880461" cy="2677656"/>
          </a:xfrm>
          <a:prstGeom prst="rect">
            <a:avLst/>
          </a:prstGeom>
          <a:noFill/>
        </p:spPr>
        <p:txBody>
          <a:bodyPr wrap="square">
            <a:spAutoFit/>
          </a:bodyPr>
          <a:lstStyle/>
          <a:p>
            <a:pPr algn="just"/>
            <a:r>
              <a:rPr lang="zh-CN" altLang="zh-CN" sz="2400" kern="100" dirty="0">
                <a:latin typeface="Times" panose="02020603050405020304" pitchFamily="18" charset="0"/>
                <a:ea typeface="微软雅黑" panose="020B0503020204020204" pitchFamily="34" charset="-122"/>
                <a:cs typeface="Times" panose="02020603050405020304" pitchFamily="18" charset="0"/>
              </a:rPr>
              <a:t>T</a:t>
            </a:r>
            <a:r>
              <a:rPr lang="en-US" altLang="zh-CN" sz="2400" kern="100" dirty="0" err="1">
                <a:latin typeface="Times" panose="02020603050405020304" pitchFamily="18" charset="0"/>
                <a:ea typeface="微软雅黑" panose="020B0503020204020204" pitchFamily="34" charset="-122"/>
                <a:cs typeface="Times" panose="02020603050405020304" pitchFamily="18" charset="0"/>
              </a:rPr>
              <a:t>oday</a:t>
            </a:r>
            <a:r>
              <a:rPr lang="en-US" altLang="zh-CN" sz="2400" kern="100" dirty="0">
                <a:latin typeface="Times" panose="02020603050405020304" pitchFamily="18" charset="0"/>
                <a:ea typeface="微软雅黑" panose="020B0503020204020204" pitchFamily="34" charset="-122"/>
                <a:cs typeface="Times" panose="02020603050405020304" pitchFamily="18" charset="0"/>
              </a:rPr>
              <a:t>, our group will give a presentation on</a:t>
            </a:r>
            <a:r>
              <a:rPr lang="zh-CN" altLang="zh-CN" sz="2400" kern="100" dirty="0">
                <a:latin typeface="Times" panose="02020603050405020304" pitchFamily="18" charset="0"/>
                <a:ea typeface="微软雅黑" panose="020B0503020204020204" pitchFamily="34" charset="-122"/>
                <a:cs typeface="Times" panose="02020603050405020304" pitchFamily="18" charset="0"/>
              </a:rPr>
              <a:t> the application of shared energy storage (SES) in energy systems</a:t>
            </a:r>
            <a:r>
              <a:rPr lang="en-US" altLang="zh-CN" sz="2400" kern="100" dirty="0">
                <a:latin typeface="Times" panose="02020603050405020304" pitchFamily="18" charset="0"/>
                <a:ea typeface="微软雅黑" panose="020B0503020204020204" pitchFamily="34" charset="-122"/>
                <a:cs typeface="Times" panose="02020603050405020304" pitchFamily="18" charset="0"/>
              </a:rPr>
              <a:t>. Our report is based on the paper which </a:t>
            </a:r>
            <a:r>
              <a:rPr lang="zh-CN" altLang="zh-CN" sz="2400" kern="100" dirty="0">
                <a:latin typeface="Times" panose="02020603050405020304" pitchFamily="18" charset="0"/>
                <a:ea typeface="微软雅黑" panose="020B0503020204020204" pitchFamily="34" charset="-122"/>
                <a:cs typeface="Times" panose="02020603050405020304" pitchFamily="18" charset="0"/>
              </a:rPr>
              <a:t>written by Rui Dai, Rasul Esmaeilbeigi and Hadi Charkhgard, and published in IEEE TRANSACTIONS ON SMART GRID. </a:t>
            </a:r>
            <a:endParaRPr lang="en-US" altLang="zh-CN" sz="2400" kern="100" dirty="0">
              <a:latin typeface="Times" panose="02020603050405020304" pitchFamily="18" charset="0"/>
              <a:ea typeface="微软雅黑" panose="020B0503020204020204" pitchFamily="34" charset="-122"/>
              <a:cs typeface="Times" panose="02020603050405020304" pitchFamily="18" charset="0"/>
            </a:endParaRPr>
          </a:p>
          <a:p>
            <a:pPr algn="just"/>
            <a:r>
              <a:rPr lang="zh-CN" altLang="zh-CN" sz="2400" kern="100" dirty="0">
                <a:latin typeface="Times" panose="02020603050405020304" pitchFamily="18" charset="0"/>
                <a:ea typeface="微软雅黑" panose="020B0503020204020204" pitchFamily="34" charset="-122"/>
                <a:cs typeface="Times" panose="02020603050405020304" pitchFamily="18" charset="0"/>
              </a:rPr>
              <a:t>The article mainly introduces the concept, architecture, implementation, modeling and optimization methods of shared energy storage, classifies and compares related literature, and explores future research directions.</a:t>
            </a:r>
          </a:p>
        </p:txBody>
      </p:sp>
      <p:sp>
        <p:nvSpPr>
          <p:cNvPr id="7" name="文本框 6">
            <a:extLst>
              <a:ext uri="{FF2B5EF4-FFF2-40B4-BE49-F238E27FC236}">
                <a16:creationId xmlns:a16="http://schemas.microsoft.com/office/drawing/2014/main" id="{7B48BFF8-3A69-7E08-C862-F31FA4E9918D}"/>
              </a:ext>
            </a:extLst>
          </p:cNvPr>
          <p:cNvSpPr txBox="1"/>
          <p:nvPr/>
        </p:nvSpPr>
        <p:spPr>
          <a:xfrm>
            <a:off x="506277" y="1530653"/>
            <a:ext cx="6096000" cy="381258"/>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According</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60"/>
          <p:cNvSpPr/>
          <p:nvPr/>
        </p:nvSpPr>
        <p:spPr>
          <a:xfrm>
            <a:off x="838417" y="803827"/>
            <a:ext cx="7839287" cy="605417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Background and significance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sz="1333" dirty="0">
              <a:latin typeface="Arial" panose="020B0604020202020204"/>
              <a:ea typeface="Arial" panose="020B0604020202020204"/>
              <a:cs typeface="Arial" panose="020B06040202020202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zh-CN" altLang="en-US" sz="2667" dirty="0">
              <a:latin typeface="Times New Roman" panose="02020603050405020304"/>
              <a:ea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p:txBody>
      </p:sp>
      <p:sp>
        <p:nvSpPr>
          <p:cNvPr id="62" name="rect 62"/>
          <p:cNvSpPr/>
          <p:nvPr/>
        </p:nvSpPr>
        <p:spPr>
          <a:xfrm>
            <a:off x="1" y="686528"/>
            <a:ext cx="682751" cy="682752"/>
          </a:xfrm>
          <a:prstGeom prst="rect">
            <a:avLst/>
          </a:prstGeom>
          <a:solidFill>
            <a:srgbClr val="ED7F0D">
              <a:alpha val="100000"/>
            </a:srgbClr>
          </a:solidFill>
          <a:ln w="0" cap="flat">
            <a:noFill/>
            <a:prstDash val="solid"/>
            <a:miter lim="0"/>
          </a:ln>
        </p:spPr>
        <p:txBody>
          <a:bodyPr rtlCol="0"/>
          <a:lstStyle/>
          <a:p>
            <a:pPr algn="ctr"/>
            <a:endParaRPr lang="zh-CN" altLang="en-US" sz="2400"/>
          </a:p>
        </p:txBody>
      </p:sp>
      <p:sp>
        <p:nvSpPr>
          <p:cNvPr id="3" name="文本框 2">
            <a:extLst>
              <a:ext uri="{FF2B5EF4-FFF2-40B4-BE49-F238E27FC236}">
                <a16:creationId xmlns:a16="http://schemas.microsoft.com/office/drawing/2014/main" id="{E6EBFCB1-A3E4-CBAB-1777-4D3CA37C2BE1}"/>
              </a:ext>
            </a:extLst>
          </p:cNvPr>
          <p:cNvSpPr txBox="1"/>
          <p:nvPr/>
        </p:nvSpPr>
        <p:spPr>
          <a:xfrm>
            <a:off x="993400" y="1979279"/>
            <a:ext cx="10826641" cy="1200329"/>
          </a:xfrm>
          <a:prstGeom prst="rect">
            <a:avLst/>
          </a:prstGeom>
          <a:noFill/>
        </p:spPr>
        <p:txBody>
          <a:bodyPr wrap="square" rtlCol="0">
            <a:spAutoFit/>
          </a:bodyPr>
          <a:lstStyle/>
          <a:p>
            <a:r>
              <a:rPr lang="zh-CN" altLang="zh-CN" sz="2400" dirty="0">
                <a:latin typeface="Times" panose="02020603050405020304" pitchFamily="18" charset="0"/>
                <a:ea typeface="等线" panose="02010600030101010101" pitchFamily="2" charset="-122"/>
                <a:cs typeface="Times" panose="02020603050405020304" pitchFamily="18" charset="0"/>
              </a:rPr>
              <a:t>Energy storage plays an important role in modern smart grids and energy systems. It can improve system efficiency and resilience, achieve energy arbitrage, and ensure stable power generation from renewable energy. </a:t>
            </a:r>
            <a:endParaRPr lang="zh-CN" altLang="en-US" sz="2400" dirty="0">
              <a:latin typeface="Times" panose="02020603050405020304" pitchFamily="18" charset="0"/>
              <a:cs typeface="Times" panose="02020603050405020304" pitchFamily="18" charset="0"/>
            </a:endParaRPr>
          </a:p>
        </p:txBody>
      </p:sp>
      <p:sp>
        <p:nvSpPr>
          <p:cNvPr id="5" name="文本框 4">
            <a:extLst>
              <a:ext uri="{FF2B5EF4-FFF2-40B4-BE49-F238E27FC236}">
                <a16:creationId xmlns:a16="http://schemas.microsoft.com/office/drawing/2014/main" id="{DA48257E-FF7D-C90A-9FE2-EF5C644C81E4}"/>
              </a:ext>
            </a:extLst>
          </p:cNvPr>
          <p:cNvSpPr txBox="1"/>
          <p:nvPr/>
        </p:nvSpPr>
        <p:spPr>
          <a:xfrm>
            <a:off x="609600" y="1567884"/>
            <a:ext cx="6096000" cy="381258"/>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400" kern="0" spc="-27" dirty="0">
                <a:solidFill>
                  <a:srgbClr val="ED7F0D">
                    <a:alpha val="100000"/>
                  </a:srgbClr>
                </a:solidFill>
                <a:latin typeface="Times New Roman" panose="02020603050405020304"/>
                <a:cs typeface="Times New Roman" panose="02020603050405020304"/>
              </a:rPr>
              <a:t>Background:</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1026" name="Picture 2" descr="Distributed Capacity Allocation of Shared Energy Storage Using Online  Convex Optimization">
            <a:extLst>
              <a:ext uri="{FF2B5EF4-FFF2-40B4-BE49-F238E27FC236}">
                <a16:creationId xmlns:a16="http://schemas.microsoft.com/office/drawing/2014/main" id="{0131B580-A012-4F80-086E-D10F4038A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486" y="3220080"/>
            <a:ext cx="5972228" cy="28340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84B4-4051-9DAA-75B3-54A23831B0A6}"/>
            </a:ext>
          </a:extLst>
        </p:cNvPr>
        <p:cNvGrpSpPr/>
        <p:nvPr/>
      </p:nvGrpSpPr>
      <p:grpSpPr>
        <a:xfrm>
          <a:off x="0" y="0"/>
          <a:ext cx="0" cy="0"/>
          <a:chOff x="0" y="0"/>
          <a:chExt cx="0" cy="0"/>
        </a:xfrm>
      </p:grpSpPr>
      <p:sp>
        <p:nvSpPr>
          <p:cNvPr id="60" name="textbox 60">
            <a:extLst>
              <a:ext uri="{FF2B5EF4-FFF2-40B4-BE49-F238E27FC236}">
                <a16:creationId xmlns:a16="http://schemas.microsoft.com/office/drawing/2014/main" id="{5472566F-1DD6-3270-4608-FACCC1CACE58}"/>
              </a:ext>
            </a:extLst>
          </p:cNvPr>
          <p:cNvSpPr/>
          <p:nvPr/>
        </p:nvSpPr>
        <p:spPr>
          <a:xfrm>
            <a:off x="838417" y="803827"/>
            <a:ext cx="7839287" cy="605417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Background and significance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sz="1333" dirty="0">
              <a:latin typeface="Arial" panose="020B0604020202020204"/>
              <a:ea typeface="Arial" panose="020B0604020202020204"/>
              <a:cs typeface="Arial" panose="020B06040202020202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en-US" altLang="zh-CN" sz="2667" dirty="0">
              <a:latin typeface="Times New Roman" panose="02020603050405020304"/>
              <a:ea typeface="Times New Roman" panose="02020603050405020304"/>
              <a:cs typeface="Times New Roman" panose="02020603050405020304"/>
            </a:endParaRPr>
          </a:p>
          <a:p>
            <a:pPr marL="306486" eaLnBrk="0">
              <a:lnSpc>
                <a:spcPct val="78000"/>
              </a:lnSpc>
              <a:spcBef>
                <a:spcPts val="380"/>
              </a:spcBef>
            </a:pPr>
            <a:endParaRPr lang="zh-CN" altLang="en-US" sz="2667" dirty="0">
              <a:latin typeface="Times New Roman" panose="02020603050405020304"/>
              <a:ea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62" name="rect 62">
            <a:extLst>
              <a:ext uri="{FF2B5EF4-FFF2-40B4-BE49-F238E27FC236}">
                <a16:creationId xmlns:a16="http://schemas.microsoft.com/office/drawing/2014/main" id="{B7CEEBAC-7F47-3572-F541-EB524776D916}"/>
              </a:ext>
            </a:extLst>
          </p:cNvPr>
          <p:cNvSpPr/>
          <p:nvPr/>
        </p:nvSpPr>
        <p:spPr>
          <a:xfrm>
            <a:off x="1" y="686528"/>
            <a:ext cx="682751" cy="682752"/>
          </a:xfrm>
          <a:prstGeom prst="rect">
            <a:avLst/>
          </a:prstGeom>
          <a:solidFill>
            <a:srgbClr val="ED7F0D">
              <a:alpha val="100000"/>
            </a:srgbClr>
          </a:solidFill>
          <a:ln w="0" cap="flat">
            <a:noFill/>
            <a:prstDash val="solid"/>
            <a:miter lim="0"/>
          </a:ln>
        </p:spPr>
        <p:txBody>
          <a:bodyPr rtlCol="0"/>
          <a:lstStyle/>
          <a:p>
            <a:pPr algn="ctr"/>
            <a:endParaRPr lang="zh-CN" altLang="en-US" sz="2400"/>
          </a:p>
        </p:txBody>
      </p:sp>
      <p:sp>
        <p:nvSpPr>
          <p:cNvPr id="3" name="文本框 2">
            <a:extLst>
              <a:ext uri="{FF2B5EF4-FFF2-40B4-BE49-F238E27FC236}">
                <a16:creationId xmlns:a16="http://schemas.microsoft.com/office/drawing/2014/main" id="{570F100A-CA77-5720-95B4-74BDFF039F1D}"/>
              </a:ext>
            </a:extLst>
          </p:cNvPr>
          <p:cNvSpPr txBox="1"/>
          <p:nvPr/>
        </p:nvSpPr>
        <p:spPr>
          <a:xfrm>
            <a:off x="838416" y="1979279"/>
            <a:ext cx="5524579" cy="3416320"/>
          </a:xfrm>
          <a:prstGeom prst="rect">
            <a:avLst/>
          </a:prstGeom>
          <a:noFill/>
        </p:spPr>
        <p:txBody>
          <a:bodyPr wrap="square" rtlCol="0">
            <a:spAutoFit/>
          </a:bodyPr>
          <a:lstStyle/>
          <a:p>
            <a:r>
              <a:rPr lang="zh-CN" altLang="zh-CN" sz="2400" dirty="0">
                <a:latin typeface="Times" panose="02020603050405020304" pitchFamily="18" charset="0"/>
                <a:ea typeface="等线" panose="02010600030101010101" pitchFamily="2" charset="-122"/>
                <a:cs typeface="Times" panose="02020603050405020304" pitchFamily="18" charset="0"/>
              </a:rPr>
              <a:t>However, it faces challenges in system framework design and management strategy development. Shared energy storage has attracted attention due to the increase in energy exchange in energy systems. It can overcome the limitations of traditional energy storage utilization frameworks and bring new economic opportunities.</a:t>
            </a:r>
            <a:endParaRPr lang="zh-CN" altLang="en-US" sz="2400" dirty="0">
              <a:latin typeface="Times" panose="02020603050405020304" pitchFamily="18" charset="0"/>
              <a:cs typeface="Times" panose="02020603050405020304" pitchFamily="18" charset="0"/>
            </a:endParaRPr>
          </a:p>
        </p:txBody>
      </p:sp>
      <p:sp>
        <p:nvSpPr>
          <p:cNvPr id="5" name="文本框 4">
            <a:extLst>
              <a:ext uri="{FF2B5EF4-FFF2-40B4-BE49-F238E27FC236}">
                <a16:creationId xmlns:a16="http://schemas.microsoft.com/office/drawing/2014/main" id="{674473A2-069E-72A3-3F4D-00E1BB57A831}"/>
              </a:ext>
            </a:extLst>
          </p:cNvPr>
          <p:cNvSpPr txBox="1"/>
          <p:nvPr/>
        </p:nvSpPr>
        <p:spPr>
          <a:xfrm>
            <a:off x="609600" y="1567884"/>
            <a:ext cx="6096000" cy="381258"/>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400" kern="0" spc="-27" dirty="0">
                <a:solidFill>
                  <a:srgbClr val="ED7F0D">
                    <a:alpha val="100000"/>
                  </a:srgbClr>
                </a:solidFill>
                <a:latin typeface="Times New Roman" panose="02020603050405020304"/>
                <a:cs typeface="Times New Roman" panose="02020603050405020304"/>
              </a:rPr>
              <a:t>Background:</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2052" name="Picture 4" descr="New energy supporting mode and shared energy storage-Tycorun Batteries">
            <a:extLst>
              <a:ext uri="{FF2B5EF4-FFF2-40B4-BE49-F238E27FC236}">
                <a16:creationId xmlns:a16="http://schemas.microsoft.com/office/drawing/2014/main" id="{8DF3C70B-38C7-DDE7-A58A-3A79F3D89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2995" y="1946803"/>
            <a:ext cx="5676035" cy="3512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413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2018D-3CAA-588E-E2D6-9C63833B4983}"/>
            </a:ext>
          </a:extLst>
        </p:cNvPr>
        <p:cNvGrpSpPr/>
        <p:nvPr/>
      </p:nvGrpSpPr>
      <p:grpSpPr>
        <a:xfrm>
          <a:off x="0" y="0"/>
          <a:ext cx="0" cy="0"/>
          <a:chOff x="0" y="0"/>
          <a:chExt cx="0" cy="0"/>
        </a:xfrm>
      </p:grpSpPr>
      <p:sp>
        <p:nvSpPr>
          <p:cNvPr id="60" name="textbox 60">
            <a:extLst>
              <a:ext uri="{FF2B5EF4-FFF2-40B4-BE49-F238E27FC236}">
                <a16:creationId xmlns:a16="http://schemas.microsoft.com/office/drawing/2014/main" id="{73011D31-8BE9-1613-E48B-D19606B05F09}"/>
              </a:ext>
            </a:extLst>
          </p:cNvPr>
          <p:cNvSpPr/>
          <p:nvPr/>
        </p:nvSpPr>
        <p:spPr>
          <a:xfrm>
            <a:off x="838417" y="803827"/>
            <a:ext cx="7839287" cy="605417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Background and significance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667"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Scope of the study:</a:t>
            </a:r>
            <a:endParaRPr lang="zh-CN" altLang="en-US" sz="2667" kern="0" spc="-27" dirty="0">
              <a:solidFill>
                <a:srgbClr val="ED7F0D">
                  <a:alpha val="100000"/>
                </a:srgbClr>
              </a:solidFill>
              <a:latin typeface="Times New Roman" panose="02020603050405020304"/>
              <a:cs typeface="Times New Roman" panose="02020603050405020304"/>
            </a:endParaRPr>
          </a:p>
          <a:p>
            <a:pPr marL="306486" eaLnBrk="0">
              <a:lnSpc>
                <a:spcPct val="78000"/>
              </a:lnSpc>
              <a:spcBef>
                <a:spcPts val="380"/>
              </a:spcBef>
            </a:pPr>
            <a:endParaRPr lang="zh-CN" altLang="en-US" sz="2667" dirty="0">
              <a:latin typeface="Times New Roman" panose="02020603050405020304"/>
              <a:ea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62" name="rect 62">
            <a:extLst>
              <a:ext uri="{FF2B5EF4-FFF2-40B4-BE49-F238E27FC236}">
                <a16:creationId xmlns:a16="http://schemas.microsoft.com/office/drawing/2014/main" id="{9F324E7F-2A10-B0C3-C271-4BE4740BD97D}"/>
              </a:ext>
            </a:extLst>
          </p:cNvPr>
          <p:cNvSpPr/>
          <p:nvPr/>
        </p:nvSpPr>
        <p:spPr>
          <a:xfrm>
            <a:off x="1" y="686528"/>
            <a:ext cx="682751" cy="682752"/>
          </a:xfrm>
          <a:prstGeom prst="rect">
            <a:avLst/>
          </a:prstGeom>
          <a:solidFill>
            <a:srgbClr val="ED7F0D">
              <a:alpha val="100000"/>
            </a:srgbClr>
          </a:solidFill>
          <a:ln w="0" cap="flat">
            <a:noFill/>
            <a:prstDash val="solid"/>
            <a:miter lim="0"/>
          </a:ln>
        </p:spPr>
        <p:txBody>
          <a:bodyPr rtlCol="0"/>
          <a:lstStyle/>
          <a:p>
            <a:pPr algn="ctr"/>
            <a:endParaRPr lang="zh-CN" altLang="en-US" sz="2400"/>
          </a:p>
        </p:txBody>
      </p:sp>
      <p:sp>
        <p:nvSpPr>
          <p:cNvPr id="2" name="文本框 1">
            <a:extLst>
              <a:ext uri="{FF2B5EF4-FFF2-40B4-BE49-F238E27FC236}">
                <a16:creationId xmlns:a16="http://schemas.microsoft.com/office/drawing/2014/main" id="{60DD254F-2E96-4354-4598-3F27CE18C874}"/>
              </a:ext>
            </a:extLst>
          </p:cNvPr>
          <p:cNvSpPr txBox="1"/>
          <p:nvPr/>
        </p:nvSpPr>
        <p:spPr>
          <a:xfrm>
            <a:off x="1210102" y="2292824"/>
            <a:ext cx="9207689" cy="1200329"/>
          </a:xfrm>
          <a:prstGeom prst="rect">
            <a:avLst/>
          </a:prstGeom>
          <a:noFill/>
        </p:spPr>
        <p:txBody>
          <a:bodyPr wrap="square" rtlCol="0">
            <a:spAutoFit/>
          </a:bodyPr>
          <a:lstStyle/>
          <a:p>
            <a:r>
              <a:rPr lang="zh-CN" altLang="zh-CN" sz="2400" kern="100" dirty="0">
                <a:latin typeface="Times" panose="02020603050405020304" pitchFamily="18" charset="0"/>
                <a:ea typeface="微软雅黑" panose="020B0503020204020204" pitchFamily="34" charset="-122"/>
                <a:cs typeface="Times" panose="02020603050405020304" pitchFamily="18" charset="0"/>
              </a:rPr>
              <a:t>Concepts related to energy storage sharing are explained, including users, capacity sharing and storage energy sharing, implementation methods of shared energy storage (direct and indirect), fairness and efficiency, etc.</a:t>
            </a:r>
          </a:p>
        </p:txBody>
      </p:sp>
    </p:spTree>
    <p:extLst>
      <p:ext uri="{BB962C8B-B14F-4D97-AF65-F5344CB8AC3E}">
        <p14:creationId xmlns:p14="http://schemas.microsoft.com/office/powerpoint/2010/main" val="917809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CFF8-FC55-44F1-404C-6EDD22BD8EF7}"/>
            </a:ext>
          </a:extLst>
        </p:cNvPr>
        <p:cNvGrpSpPr/>
        <p:nvPr/>
      </p:nvGrpSpPr>
      <p:grpSpPr>
        <a:xfrm>
          <a:off x="0" y="0"/>
          <a:ext cx="0" cy="0"/>
          <a:chOff x="0" y="0"/>
          <a:chExt cx="0" cy="0"/>
        </a:xfrm>
      </p:grpSpPr>
      <p:sp>
        <p:nvSpPr>
          <p:cNvPr id="62" name="rect 62">
            <a:extLst>
              <a:ext uri="{FF2B5EF4-FFF2-40B4-BE49-F238E27FC236}">
                <a16:creationId xmlns:a16="http://schemas.microsoft.com/office/drawing/2014/main" id="{3B875A1A-B0D6-8BCB-1FE3-2FBF28C43FF8}"/>
              </a:ext>
            </a:extLst>
          </p:cNvPr>
          <p:cNvSpPr/>
          <p:nvPr/>
        </p:nvSpPr>
        <p:spPr>
          <a:xfrm>
            <a:off x="1" y="686528"/>
            <a:ext cx="682751" cy="682752"/>
          </a:xfrm>
          <a:prstGeom prst="rect">
            <a:avLst/>
          </a:prstGeom>
          <a:solidFill>
            <a:srgbClr val="ED7F0D">
              <a:alpha val="100000"/>
            </a:srgbClr>
          </a:solidFill>
          <a:ln w="0" cap="flat">
            <a:noFill/>
            <a:prstDash val="solid"/>
            <a:miter lim="0"/>
          </a:ln>
        </p:spPr>
        <p:txBody>
          <a:bodyPr rtlCol="0"/>
          <a:lstStyle/>
          <a:p>
            <a:pPr algn="ctr"/>
            <a:endParaRPr lang="zh-CN" altLang="en-US" sz="2400"/>
          </a:p>
        </p:txBody>
      </p:sp>
      <p:sp>
        <p:nvSpPr>
          <p:cNvPr id="2" name="textbox 60">
            <a:extLst>
              <a:ext uri="{FF2B5EF4-FFF2-40B4-BE49-F238E27FC236}">
                <a16:creationId xmlns:a16="http://schemas.microsoft.com/office/drawing/2014/main" id="{2A501444-E28C-1499-A6B2-2BBB2C7B01F2}"/>
              </a:ext>
            </a:extLst>
          </p:cNvPr>
          <p:cNvSpPr/>
          <p:nvPr/>
        </p:nvSpPr>
        <p:spPr>
          <a:xfrm>
            <a:off x="838417" y="803827"/>
            <a:ext cx="7839287" cy="605417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Background and significance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667"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Literature collection method</a:t>
            </a:r>
            <a:r>
              <a:rPr lang="en-US" altLang="zh-CN" sz="2667" kern="0" spc="-27" dirty="0">
                <a:solidFill>
                  <a:srgbClr val="ED7F0D">
                    <a:alpha val="100000"/>
                  </a:srgbClr>
                </a:solidFill>
                <a:latin typeface="Times New Roman" panose="02020603050405020304"/>
                <a:cs typeface="Times New Roman" panose="02020603050405020304"/>
              </a:rPr>
              <a:t>:</a:t>
            </a:r>
            <a:endParaRPr lang="zh-CN" altLang="en-US" sz="2667" kern="0" spc="-27" dirty="0">
              <a:solidFill>
                <a:srgbClr val="ED7F0D">
                  <a:alpha val="100000"/>
                </a:srgbClr>
              </a:solidFill>
              <a:latin typeface="Times New Roman" panose="02020603050405020304"/>
              <a:cs typeface="Times New Roman" panose="02020603050405020304"/>
            </a:endParaRPr>
          </a:p>
          <a:p>
            <a:pPr marL="306486" eaLnBrk="0">
              <a:lnSpc>
                <a:spcPct val="78000"/>
              </a:lnSpc>
              <a:spcBef>
                <a:spcPts val="380"/>
              </a:spcBef>
            </a:pPr>
            <a:endParaRPr lang="zh-CN" altLang="en-US" sz="2667" dirty="0">
              <a:latin typeface="Times New Roman" panose="02020603050405020304"/>
              <a:ea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3" name="文本框 2">
            <a:extLst>
              <a:ext uri="{FF2B5EF4-FFF2-40B4-BE49-F238E27FC236}">
                <a16:creationId xmlns:a16="http://schemas.microsoft.com/office/drawing/2014/main" id="{BA0356DA-E51B-38F7-F33E-56A3DA5264C2}"/>
              </a:ext>
            </a:extLst>
          </p:cNvPr>
          <p:cNvSpPr txBox="1"/>
          <p:nvPr/>
        </p:nvSpPr>
        <p:spPr>
          <a:xfrm>
            <a:off x="1201003" y="1985020"/>
            <a:ext cx="9689911" cy="1938992"/>
          </a:xfrm>
          <a:prstGeom prst="rect">
            <a:avLst/>
          </a:prstGeom>
          <a:noFill/>
        </p:spPr>
        <p:txBody>
          <a:bodyPr wrap="square" rtlCol="0">
            <a:spAutoFit/>
          </a:bodyPr>
          <a:lstStyle/>
          <a:p>
            <a:r>
              <a:rPr lang="zh-CN" altLang="zh-CN" sz="2400" kern="100" dirty="0">
                <a:latin typeface="Times" panose="02020603050405020304" pitchFamily="18" charset="0"/>
                <a:ea typeface="微软雅黑" panose="020B0503020204020204" pitchFamily="34" charset="-122"/>
                <a:cs typeface="Times" panose="02020603050405020304" pitchFamily="18" charset="0"/>
              </a:rPr>
              <a:t>Through the Scopus database, specific keywords were used to search for papers related to shared energy storage in the past ten years. After screening, 281 papers were obtained, of which 67 were related to direct energy storage sharing. This paper mainly reviews these papers.</a:t>
            </a:r>
          </a:p>
          <a:p>
            <a:endParaRPr lang="zh-CN" altLang="en-US" sz="2400" dirty="0">
              <a:latin typeface="Times" panose="02020603050405020304" pitchFamily="18" charset="0"/>
              <a:cs typeface="Times" panose="02020603050405020304" pitchFamily="18" charset="0"/>
            </a:endParaRPr>
          </a:p>
        </p:txBody>
      </p:sp>
      <p:pic>
        <p:nvPicPr>
          <p:cNvPr id="5" name="图片 4">
            <a:extLst>
              <a:ext uri="{FF2B5EF4-FFF2-40B4-BE49-F238E27FC236}">
                <a16:creationId xmlns:a16="http://schemas.microsoft.com/office/drawing/2014/main" id="{DC66CCDA-A470-011E-E566-A65CA3A76462}"/>
              </a:ext>
            </a:extLst>
          </p:cNvPr>
          <p:cNvPicPr>
            <a:picLocks noChangeAspect="1"/>
          </p:cNvPicPr>
          <p:nvPr/>
        </p:nvPicPr>
        <p:blipFill>
          <a:blip r:embed="rId2"/>
          <a:stretch>
            <a:fillRect/>
          </a:stretch>
        </p:blipFill>
        <p:spPr>
          <a:xfrm>
            <a:off x="3275390" y="3521705"/>
            <a:ext cx="5164954" cy="3353267"/>
          </a:xfrm>
          <a:prstGeom prst="rect">
            <a:avLst/>
          </a:prstGeom>
        </p:spPr>
      </p:pic>
    </p:spTree>
    <p:extLst>
      <p:ext uri="{BB962C8B-B14F-4D97-AF65-F5344CB8AC3E}">
        <p14:creationId xmlns:p14="http://schemas.microsoft.com/office/powerpoint/2010/main" val="267232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4" name="table 1184"/>
          <p:cNvGraphicFramePr>
            <a:graphicFrameLocks noGrp="1"/>
          </p:cNvGraphicFramePr>
          <p:nvPr/>
        </p:nvGraphicFramePr>
        <p:xfrm>
          <a:off x="896924" y="4548277"/>
          <a:ext cx="9620672" cy="898313"/>
        </p:xfrm>
        <a:graphic>
          <a:graphicData uri="http://schemas.openxmlformats.org/drawingml/2006/table">
            <a:tbl>
              <a:tblPr>
                <a:solidFill>
                  <a:srgbClr val="FFFFFF"/>
                </a:solidFill>
              </a:tblPr>
              <a:tblGrid>
                <a:gridCol w="9620672">
                  <a:extLst>
                    <a:ext uri="{9D8B030D-6E8A-4147-A177-3AD203B41FA5}">
                      <a16:colId xmlns:a16="http://schemas.microsoft.com/office/drawing/2014/main" val="20000"/>
                    </a:ext>
                  </a:extLst>
                </a:gridCol>
              </a:tblGrid>
              <a:tr h="898313">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186" name="table 1186"/>
          <p:cNvGraphicFramePr>
            <a:graphicFrameLocks noGrp="1"/>
          </p:cNvGraphicFramePr>
          <p:nvPr/>
        </p:nvGraphicFramePr>
        <p:xfrm>
          <a:off x="896925" y="3024310"/>
          <a:ext cx="9289625" cy="455505"/>
        </p:xfrm>
        <a:graphic>
          <a:graphicData uri="http://schemas.openxmlformats.org/drawingml/2006/table">
            <a:tbl>
              <a:tblPr/>
              <a:tblGrid>
                <a:gridCol w="9289625">
                  <a:extLst>
                    <a:ext uri="{9D8B030D-6E8A-4147-A177-3AD203B41FA5}">
                      <a16:colId xmlns:a16="http://schemas.microsoft.com/office/drawing/2014/main" val="20000"/>
                    </a:ext>
                  </a:extLst>
                </a:gridCol>
              </a:tblGrid>
              <a:tr h="455505">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190" name="picture 1190"/>
          <p:cNvPicPr>
            <a:picLocks noChangeAspect="1"/>
          </p:cNvPicPr>
          <p:nvPr/>
        </p:nvPicPr>
        <p:blipFill>
          <a:blip r:embed="rId2"/>
          <a:stretch>
            <a:fillRect/>
          </a:stretch>
        </p:blipFill>
        <p:spPr>
          <a:xfrm rot="21600000">
            <a:off x="1" y="686528"/>
            <a:ext cx="682751" cy="682752"/>
          </a:xfrm>
          <a:prstGeom prst="rect">
            <a:avLst/>
          </a:prstGeom>
        </p:spPr>
      </p:pic>
      <p:sp>
        <p:nvSpPr>
          <p:cNvPr id="2" name="textbox 60">
            <a:extLst>
              <a:ext uri="{FF2B5EF4-FFF2-40B4-BE49-F238E27FC236}">
                <a16:creationId xmlns:a16="http://schemas.microsoft.com/office/drawing/2014/main" id="{785AF774-8109-664A-916F-F5D666E4D98F}"/>
              </a:ext>
            </a:extLst>
          </p:cNvPr>
          <p:cNvSpPr/>
          <p:nvPr/>
        </p:nvSpPr>
        <p:spPr>
          <a:xfrm>
            <a:off x="838417" y="803827"/>
            <a:ext cx="7839287" cy="605417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Background and significance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667"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Contributions and outline:</a:t>
            </a:r>
            <a:endParaRPr lang="zh-CN" altLang="en-US" sz="2667" kern="0" spc="-27" dirty="0">
              <a:solidFill>
                <a:srgbClr val="ED7F0D">
                  <a:alpha val="100000"/>
                </a:srgbClr>
              </a:solidFill>
              <a:latin typeface="Times New Roman" panose="02020603050405020304"/>
              <a:cs typeface="Times New Roman" panose="020206030504050203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3" name="文本框 2">
            <a:extLst>
              <a:ext uri="{FF2B5EF4-FFF2-40B4-BE49-F238E27FC236}">
                <a16:creationId xmlns:a16="http://schemas.microsoft.com/office/drawing/2014/main" id="{B9DCE758-9D96-9490-1DF1-2E7297B55120}"/>
              </a:ext>
            </a:extLst>
          </p:cNvPr>
          <p:cNvSpPr txBox="1"/>
          <p:nvPr/>
        </p:nvSpPr>
        <p:spPr>
          <a:xfrm>
            <a:off x="1310186" y="2247332"/>
            <a:ext cx="9289625" cy="1938992"/>
          </a:xfrm>
          <a:prstGeom prst="rect">
            <a:avLst/>
          </a:prstGeom>
          <a:noFill/>
        </p:spPr>
        <p:txBody>
          <a:bodyPr wrap="square" rtlCol="0">
            <a:spAutoFit/>
          </a:bodyPr>
          <a:lstStyle/>
          <a:p>
            <a:r>
              <a:rPr lang="zh-CN" altLang="zh-CN" sz="2400" kern="100" dirty="0">
                <a:latin typeface="Times" panose="02020603050405020304" pitchFamily="18" charset="0"/>
                <a:ea typeface="微软雅黑" panose="020B0503020204020204" pitchFamily="34" charset="-122"/>
                <a:cs typeface="Times" panose="02020603050405020304" pitchFamily="18" charset="0"/>
              </a:rPr>
              <a:t>Systematically review the research on shared energy storage, classify the shared energy storage architecture and explain the advantages and disadvantages, review and classify related papers from multiple aspects, point out the gaps in the literature and provide research directions.</a:t>
            </a:r>
          </a:p>
          <a:p>
            <a:endParaRPr lang="zh-CN" altLang="en-US" sz="2400" dirty="0">
              <a:latin typeface="Times" panose="02020603050405020304" pitchFamily="18" charset="0"/>
              <a:cs typeface="Times"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39E5E-E546-D788-768C-1A6EBB669FD8}"/>
            </a:ext>
          </a:extLst>
        </p:cNvPr>
        <p:cNvGrpSpPr/>
        <p:nvPr/>
      </p:nvGrpSpPr>
      <p:grpSpPr>
        <a:xfrm>
          <a:off x="0" y="0"/>
          <a:ext cx="0" cy="0"/>
          <a:chOff x="0" y="0"/>
          <a:chExt cx="0" cy="0"/>
        </a:xfrm>
      </p:grpSpPr>
      <p:graphicFrame>
        <p:nvGraphicFramePr>
          <p:cNvPr id="1184" name="table 1184">
            <a:extLst>
              <a:ext uri="{FF2B5EF4-FFF2-40B4-BE49-F238E27FC236}">
                <a16:creationId xmlns:a16="http://schemas.microsoft.com/office/drawing/2014/main" id="{04D6730E-66D9-C9FC-F3F3-F88316CE92D9}"/>
              </a:ext>
            </a:extLst>
          </p:cNvPr>
          <p:cNvGraphicFramePr>
            <a:graphicFrameLocks noGrp="1"/>
          </p:cNvGraphicFramePr>
          <p:nvPr/>
        </p:nvGraphicFramePr>
        <p:xfrm>
          <a:off x="896924" y="4548277"/>
          <a:ext cx="9620672" cy="898313"/>
        </p:xfrm>
        <a:graphic>
          <a:graphicData uri="http://schemas.openxmlformats.org/drawingml/2006/table">
            <a:tbl>
              <a:tblPr>
                <a:solidFill>
                  <a:srgbClr val="FFFFFF"/>
                </a:solidFill>
              </a:tblPr>
              <a:tblGrid>
                <a:gridCol w="9620672">
                  <a:extLst>
                    <a:ext uri="{9D8B030D-6E8A-4147-A177-3AD203B41FA5}">
                      <a16:colId xmlns:a16="http://schemas.microsoft.com/office/drawing/2014/main" val="20000"/>
                    </a:ext>
                  </a:extLst>
                </a:gridCol>
              </a:tblGrid>
              <a:tr h="898313">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186" name="table 1186">
            <a:extLst>
              <a:ext uri="{FF2B5EF4-FFF2-40B4-BE49-F238E27FC236}">
                <a16:creationId xmlns:a16="http://schemas.microsoft.com/office/drawing/2014/main" id="{64142FED-32BE-64B0-D2B9-EB8156480FD8}"/>
              </a:ext>
            </a:extLst>
          </p:cNvPr>
          <p:cNvGraphicFramePr>
            <a:graphicFrameLocks noGrp="1"/>
          </p:cNvGraphicFramePr>
          <p:nvPr>
            <p:extLst>
              <p:ext uri="{D42A27DB-BD31-4B8C-83A1-F6EECF244321}">
                <p14:modId xmlns:p14="http://schemas.microsoft.com/office/powerpoint/2010/main" val="2863318060"/>
              </p:ext>
            </p:extLst>
          </p:nvPr>
        </p:nvGraphicFramePr>
        <p:xfrm>
          <a:off x="896925" y="2710801"/>
          <a:ext cx="9289625" cy="455505"/>
        </p:xfrm>
        <a:graphic>
          <a:graphicData uri="http://schemas.openxmlformats.org/drawingml/2006/table">
            <a:tbl>
              <a:tblPr/>
              <a:tblGrid>
                <a:gridCol w="9289625">
                  <a:extLst>
                    <a:ext uri="{9D8B030D-6E8A-4147-A177-3AD203B41FA5}">
                      <a16:colId xmlns:a16="http://schemas.microsoft.com/office/drawing/2014/main" val="20000"/>
                    </a:ext>
                  </a:extLst>
                </a:gridCol>
              </a:tblGrid>
              <a:tr h="455505">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190" name="picture 1190">
            <a:extLst>
              <a:ext uri="{FF2B5EF4-FFF2-40B4-BE49-F238E27FC236}">
                <a16:creationId xmlns:a16="http://schemas.microsoft.com/office/drawing/2014/main" id="{93A1816D-2CEF-A12B-43D0-0DADACE630E8}"/>
              </a:ext>
            </a:extLst>
          </p:cNvPr>
          <p:cNvPicPr>
            <a:picLocks noChangeAspect="1"/>
          </p:cNvPicPr>
          <p:nvPr/>
        </p:nvPicPr>
        <p:blipFill>
          <a:blip r:embed="rId2"/>
          <a:stretch>
            <a:fillRect/>
          </a:stretch>
        </p:blipFill>
        <p:spPr>
          <a:xfrm rot="21600000">
            <a:off x="1" y="373019"/>
            <a:ext cx="682751" cy="682752"/>
          </a:xfrm>
          <a:prstGeom prst="rect">
            <a:avLst/>
          </a:prstGeom>
        </p:spPr>
      </p:pic>
      <p:sp>
        <p:nvSpPr>
          <p:cNvPr id="2" name="textbox 60">
            <a:extLst>
              <a:ext uri="{FF2B5EF4-FFF2-40B4-BE49-F238E27FC236}">
                <a16:creationId xmlns:a16="http://schemas.microsoft.com/office/drawing/2014/main" id="{E7F751AF-C0F0-F791-EE33-212B6C0F0E05}"/>
              </a:ext>
            </a:extLst>
          </p:cNvPr>
          <p:cNvSpPr/>
          <p:nvPr/>
        </p:nvSpPr>
        <p:spPr>
          <a:xfrm>
            <a:off x="838417" y="490318"/>
            <a:ext cx="8904852" cy="68275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Energy storage sharing architecture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lang="en-US"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667"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Private energy storage:</a:t>
            </a:r>
            <a:endParaRPr lang="zh-CN" altLang="en-US" sz="2667" kern="0" spc="-27" dirty="0">
              <a:solidFill>
                <a:srgbClr val="ED7F0D">
                  <a:alpha val="100000"/>
                </a:srgbClr>
              </a:solidFill>
              <a:latin typeface="Times New Roman" panose="02020603050405020304"/>
              <a:cs typeface="Times New Roman" panose="02020603050405020304"/>
            </a:endParaRPr>
          </a:p>
          <a:p>
            <a:pPr algn="l" rtl="0" eaLnBrk="0">
              <a:lnSpc>
                <a:spcPct val="106000"/>
              </a:lnSpc>
            </a:pPr>
            <a:endParaRPr sz="2400" dirty="0">
              <a:ea typeface="等线" panose="02010600030101010101" pitchFamily="2" charset="-122"/>
              <a:cs typeface="Times New Roman" panose="02020603050405020304" pitchFamily="18" charset="0"/>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3" name="文本框 2">
            <a:extLst>
              <a:ext uri="{FF2B5EF4-FFF2-40B4-BE49-F238E27FC236}">
                <a16:creationId xmlns:a16="http://schemas.microsoft.com/office/drawing/2014/main" id="{9D6725E8-CD7F-31FB-01BE-1F6CCCAFB8E7}"/>
              </a:ext>
            </a:extLst>
          </p:cNvPr>
          <p:cNvSpPr txBox="1"/>
          <p:nvPr/>
        </p:nvSpPr>
        <p:spPr>
          <a:xfrm>
            <a:off x="1205677" y="1635856"/>
            <a:ext cx="9289625" cy="1938992"/>
          </a:xfrm>
          <a:prstGeom prst="rect">
            <a:avLst/>
          </a:prstGeom>
          <a:noFill/>
        </p:spPr>
        <p:txBody>
          <a:bodyPr wrap="square" rtlCol="0">
            <a:spAutoFit/>
          </a:bodyPr>
          <a:lstStyle/>
          <a:p>
            <a:pPr algn="just"/>
            <a:r>
              <a:rPr lang="zh-CN" altLang="zh-CN" sz="2400" kern="100" dirty="0">
                <a:latin typeface="Times" panose="02020603050405020304" pitchFamily="18" charset="0"/>
                <a:ea typeface="微软雅黑" panose="020B0503020204020204" pitchFamily="34" charset="-122"/>
                <a:cs typeface="Times" panose="02020603050405020304" pitchFamily="18" charset="0"/>
              </a:rPr>
              <a:t>Each user owns and independently operates energy storage, which is the mainstream framework for energy trading and sharing systems, but there are problems such as cost inefficiency and difficulty in determining the scale of energy storage.</a:t>
            </a:r>
          </a:p>
          <a:p>
            <a:endParaRPr lang="zh-CN" altLang="en-US" sz="2400" dirty="0">
              <a:latin typeface="Times" panose="02020603050405020304" pitchFamily="18" charset="0"/>
              <a:cs typeface="Times" panose="02020603050405020304" pitchFamily="18" charset="0"/>
            </a:endParaRPr>
          </a:p>
        </p:txBody>
      </p:sp>
      <p:pic>
        <p:nvPicPr>
          <p:cNvPr id="5" name="图片 4">
            <a:extLst>
              <a:ext uri="{FF2B5EF4-FFF2-40B4-BE49-F238E27FC236}">
                <a16:creationId xmlns:a16="http://schemas.microsoft.com/office/drawing/2014/main" id="{38CC2888-BCAF-5101-92BB-D5F3D8A854A1}"/>
              </a:ext>
            </a:extLst>
          </p:cNvPr>
          <p:cNvPicPr>
            <a:picLocks noChangeAspect="1"/>
          </p:cNvPicPr>
          <p:nvPr/>
        </p:nvPicPr>
        <p:blipFill>
          <a:blip r:embed="rId3"/>
          <a:stretch>
            <a:fillRect/>
          </a:stretch>
        </p:blipFill>
        <p:spPr>
          <a:xfrm>
            <a:off x="2389058" y="3289662"/>
            <a:ext cx="6812419" cy="3415542"/>
          </a:xfrm>
          <a:prstGeom prst="rect">
            <a:avLst/>
          </a:prstGeom>
        </p:spPr>
      </p:pic>
    </p:spTree>
    <p:extLst>
      <p:ext uri="{BB962C8B-B14F-4D97-AF65-F5344CB8AC3E}">
        <p14:creationId xmlns:p14="http://schemas.microsoft.com/office/powerpoint/2010/main" val="408858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A15C-4123-9900-E433-6BA34D759630}"/>
            </a:ext>
          </a:extLst>
        </p:cNvPr>
        <p:cNvGrpSpPr/>
        <p:nvPr/>
      </p:nvGrpSpPr>
      <p:grpSpPr>
        <a:xfrm>
          <a:off x="0" y="0"/>
          <a:ext cx="0" cy="0"/>
          <a:chOff x="0" y="0"/>
          <a:chExt cx="0" cy="0"/>
        </a:xfrm>
      </p:grpSpPr>
      <p:graphicFrame>
        <p:nvGraphicFramePr>
          <p:cNvPr id="1184" name="table 1184">
            <a:extLst>
              <a:ext uri="{FF2B5EF4-FFF2-40B4-BE49-F238E27FC236}">
                <a16:creationId xmlns:a16="http://schemas.microsoft.com/office/drawing/2014/main" id="{E3D3B0C4-E1E5-EBFD-B106-DABDCC6AB444}"/>
              </a:ext>
            </a:extLst>
          </p:cNvPr>
          <p:cNvGraphicFramePr>
            <a:graphicFrameLocks noGrp="1"/>
          </p:cNvGraphicFramePr>
          <p:nvPr/>
        </p:nvGraphicFramePr>
        <p:xfrm>
          <a:off x="896924" y="4548277"/>
          <a:ext cx="9620672" cy="898313"/>
        </p:xfrm>
        <a:graphic>
          <a:graphicData uri="http://schemas.openxmlformats.org/drawingml/2006/table">
            <a:tbl>
              <a:tblPr>
                <a:solidFill>
                  <a:srgbClr val="FFFFFF"/>
                </a:solidFill>
              </a:tblPr>
              <a:tblGrid>
                <a:gridCol w="9620672">
                  <a:extLst>
                    <a:ext uri="{9D8B030D-6E8A-4147-A177-3AD203B41FA5}">
                      <a16:colId xmlns:a16="http://schemas.microsoft.com/office/drawing/2014/main" val="20000"/>
                    </a:ext>
                  </a:extLst>
                </a:gridCol>
              </a:tblGrid>
              <a:tr h="898313">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186" name="table 1186">
            <a:extLst>
              <a:ext uri="{FF2B5EF4-FFF2-40B4-BE49-F238E27FC236}">
                <a16:creationId xmlns:a16="http://schemas.microsoft.com/office/drawing/2014/main" id="{B2B370E9-4A1A-A5E5-01F5-24627959AA25}"/>
              </a:ext>
            </a:extLst>
          </p:cNvPr>
          <p:cNvGraphicFramePr>
            <a:graphicFrameLocks noGrp="1"/>
          </p:cNvGraphicFramePr>
          <p:nvPr/>
        </p:nvGraphicFramePr>
        <p:xfrm>
          <a:off x="896925" y="2710801"/>
          <a:ext cx="9289625" cy="455505"/>
        </p:xfrm>
        <a:graphic>
          <a:graphicData uri="http://schemas.openxmlformats.org/drawingml/2006/table">
            <a:tbl>
              <a:tblPr/>
              <a:tblGrid>
                <a:gridCol w="9289625">
                  <a:extLst>
                    <a:ext uri="{9D8B030D-6E8A-4147-A177-3AD203B41FA5}">
                      <a16:colId xmlns:a16="http://schemas.microsoft.com/office/drawing/2014/main" val="20000"/>
                    </a:ext>
                  </a:extLst>
                </a:gridCol>
              </a:tblGrid>
              <a:tr h="455505">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190" name="picture 1190">
            <a:extLst>
              <a:ext uri="{FF2B5EF4-FFF2-40B4-BE49-F238E27FC236}">
                <a16:creationId xmlns:a16="http://schemas.microsoft.com/office/drawing/2014/main" id="{368B3058-5424-D3D2-BA81-26C55F294D01}"/>
              </a:ext>
            </a:extLst>
          </p:cNvPr>
          <p:cNvPicPr>
            <a:picLocks noChangeAspect="1"/>
          </p:cNvPicPr>
          <p:nvPr/>
        </p:nvPicPr>
        <p:blipFill>
          <a:blip r:embed="rId2"/>
          <a:stretch>
            <a:fillRect/>
          </a:stretch>
        </p:blipFill>
        <p:spPr>
          <a:xfrm rot="21600000">
            <a:off x="1" y="373019"/>
            <a:ext cx="682751" cy="682752"/>
          </a:xfrm>
          <a:prstGeom prst="rect">
            <a:avLst/>
          </a:prstGeom>
        </p:spPr>
      </p:pic>
      <p:sp>
        <p:nvSpPr>
          <p:cNvPr id="2" name="textbox 60">
            <a:extLst>
              <a:ext uri="{FF2B5EF4-FFF2-40B4-BE49-F238E27FC236}">
                <a16:creationId xmlns:a16="http://schemas.microsoft.com/office/drawing/2014/main" id="{017F43A4-99A8-97A4-B9A7-69A57BA9C0C0}"/>
              </a:ext>
            </a:extLst>
          </p:cNvPr>
          <p:cNvSpPr/>
          <p:nvPr/>
        </p:nvSpPr>
        <p:spPr>
          <a:xfrm>
            <a:off x="838417" y="490318"/>
            <a:ext cx="8904852" cy="68275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Energy storage sharing architecture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lang="en-US"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667"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Interconnected energy storage:</a:t>
            </a:r>
            <a:endParaRPr lang="zh-CN" altLang="en-US" sz="2667" kern="0" spc="-27" dirty="0">
              <a:solidFill>
                <a:srgbClr val="ED7F0D">
                  <a:alpha val="100000"/>
                </a:srgbClr>
              </a:solidFill>
              <a:latin typeface="Times New Roman" panose="02020603050405020304"/>
              <a:cs typeface="Times New Roman" panose="02020603050405020304"/>
            </a:endParaRPr>
          </a:p>
          <a:p>
            <a:pPr algn="l" rtl="0" eaLnBrk="0">
              <a:lnSpc>
                <a:spcPct val="106000"/>
              </a:lnSpc>
            </a:pPr>
            <a:endParaRPr sz="2400" dirty="0">
              <a:ea typeface="等线" panose="02010600030101010101" pitchFamily="2" charset="-122"/>
              <a:cs typeface="Times New Roman" panose="02020603050405020304" pitchFamily="18" charset="0"/>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4" name="文本框 3">
            <a:extLst>
              <a:ext uri="{FF2B5EF4-FFF2-40B4-BE49-F238E27FC236}">
                <a16:creationId xmlns:a16="http://schemas.microsoft.com/office/drawing/2014/main" id="{FE44A3C5-3073-290B-4A54-8D1048D1BB1F}"/>
              </a:ext>
            </a:extLst>
          </p:cNvPr>
          <p:cNvSpPr txBox="1"/>
          <p:nvPr/>
        </p:nvSpPr>
        <p:spPr>
          <a:xfrm>
            <a:off x="1227972" y="1741305"/>
            <a:ext cx="9289625" cy="1938992"/>
          </a:xfrm>
          <a:prstGeom prst="rect">
            <a:avLst/>
          </a:prstGeom>
          <a:noFill/>
        </p:spPr>
        <p:txBody>
          <a:bodyPr wrap="square" rtlCol="0">
            <a:spAutoFit/>
          </a:bodyPr>
          <a:lstStyle/>
          <a:p>
            <a:pPr algn="just"/>
            <a:r>
              <a:rPr lang="zh-CN" altLang="zh-CN" sz="2400" kern="100" dirty="0">
                <a:latin typeface="Times" panose="02020603050405020304" pitchFamily="18" charset="0"/>
                <a:ea typeface="微软雅黑" panose="020B0503020204020204" pitchFamily="34" charset="-122"/>
                <a:cs typeface="Times" panose="02020603050405020304" pitchFamily="18" charset="0"/>
              </a:rPr>
              <a:t>Capacity sharing is achieved through interconnected users’ energy storage, and the storage capacity can be adjusted, but there are still cost issues in the distributed framework, and the management strategy focuses on incentive mechanisms.</a:t>
            </a:r>
          </a:p>
          <a:p>
            <a:endParaRPr lang="zh-CN" altLang="en-US" sz="2400" dirty="0">
              <a:latin typeface="Times" panose="02020603050405020304" pitchFamily="18" charset="0"/>
              <a:cs typeface="Times" panose="02020603050405020304" pitchFamily="18" charset="0"/>
            </a:endParaRPr>
          </a:p>
        </p:txBody>
      </p:sp>
      <p:pic>
        <p:nvPicPr>
          <p:cNvPr id="6" name="图片 5">
            <a:extLst>
              <a:ext uri="{FF2B5EF4-FFF2-40B4-BE49-F238E27FC236}">
                <a16:creationId xmlns:a16="http://schemas.microsoft.com/office/drawing/2014/main" id="{7904786D-D219-75A0-91CB-3BE8EAA93C0B}"/>
              </a:ext>
            </a:extLst>
          </p:cNvPr>
          <p:cNvPicPr>
            <a:picLocks noChangeAspect="1"/>
          </p:cNvPicPr>
          <p:nvPr/>
        </p:nvPicPr>
        <p:blipFill>
          <a:blip r:embed="rId3"/>
          <a:srcRect t="11291"/>
          <a:stretch/>
        </p:blipFill>
        <p:spPr>
          <a:xfrm>
            <a:off x="2181383" y="3274647"/>
            <a:ext cx="6879015" cy="3583353"/>
          </a:xfrm>
          <a:prstGeom prst="rect">
            <a:avLst/>
          </a:prstGeom>
        </p:spPr>
      </p:pic>
    </p:spTree>
    <p:extLst>
      <p:ext uri="{BB962C8B-B14F-4D97-AF65-F5344CB8AC3E}">
        <p14:creationId xmlns:p14="http://schemas.microsoft.com/office/powerpoint/2010/main" val="3484897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2B3D-A629-F7FB-A2C5-036E1F44F895}"/>
            </a:ext>
          </a:extLst>
        </p:cNvPr>
        <p:cNvGrpSpPr/>
        <p:nvPr/>
      </p:nvGrpSpPr>
      <p:grpSpPr>
        <a:xfrm>
          <a:off x="0" y="0"/>
          <a:ext cx="0" cy="0"/>
          <a:chOff x="0" y="0"/>
          <a:chExt cx="0" cy="0"/>
        </a:xfrm>
      </p:grpSpPr>
      <p:graphicFrame>
        <p:nvGraphicFramePr>
          <p:cNvPr id="1184" name="table 1184">
            <a:extLst>
              <a:ext uri="{FF2B5EF4-FFF2-40B4-BE49-F238E27FC236}">
                <a16:creationId xmlns:a16="http://schemas.microsoft.com/office/drawing/2014/main" id="{D7093614-2AD9-1ECC-EBFA-AE50B58B5454}"/>
              </a:ext>
            </a:extLst>
          </p:cNvPr>
          <p:cNvGraphicFramePr>
            <a:graphicFrameLocks noGrp="1"/>
          </p:cNvGraphicFramePr>
          <p:nvPr/>
        </p:nvGraphicFramePr>
        <p:xfrm>
          <a:off x="896924" y="4548277"/>
          <a:ext cx="9620672" cy="898313"/>
        </p:xfrm>
        <a:graphic>
          <a:graphicData uri="http://schemas.openxmlformats.org/drawingml/2006/table">
            <a:tbl>
              <a:tblPr>
                <a:solidFill>
                  <a:srgbClr val="FFFFFF"/>
                </a:solidFill>
              </a:tblPr>
              <a:tblGrid>
                <a:gridCol w="9620672">
                  <a:extLst>
                    <a:ext uri="{9D8B030D-6E8A-4147-A177-3AD203B41FA5}">
                      <a16:colId xmlns:a16="http://schemas.microsoft.com/office/drawing/2014/main" val="20000"/>
                    </a:ext>
                  </a:extLst>
                </a:gridCol>
              </a:tblGrid>
              <a:tr h="898313">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186" name="table 1186">
            <a:extLst>
              <a:ext uri="{FF2B5EF4-FFF2-40B4-BE49-F238E27FC236}">
                <a16:creationId xmlns:a16="http://schemas.microsoft.com/office/drawing/2014/main" id="{2499E722-2755-05C4-F98F-983D25CD5E67}"/>
              </a:ext>
            </a:extLst>
          </p:cNvPr>
          <p:cNvGraphicFramePr>
            <a:graphicFrameLocks noGrp="1"/>
          </p:cNvGraphicFramePr>
          <p:nvPr/>
        </p:nvGraphicFramePr>
        <p:xfrm>
          <a:off x="896925" y="2710801"/>
          <a:ext cx="9289625" cy="455505"/>
        </p:xfrm>
        <a:graphic>
          <a:graphicData uri="http://schemas.openxmlformats.org/drawingml/2006/table">
            <a:tbl>
              <a:tblPr/>
              <a:tblGrid>
                <a:gridCol w="9289625">
                  <a:extLst>
                    <a:ext uri="{9D8B030D-6E8A-4147-A177-3AD203B41FA5}">
                      <a16:colId xmlns:a16="http://schemas.microsoft.com/office/drawing/2014/main" val="20000"/>
                    </a:ext>
                  </a:extLst>
                </a:gridCol>
              </a:tblGrid>
              <a:tr h="455505">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190" name="picture 1190">
            <a:extLst>
              <a:ext uri="{FF2B5EF4-FFF2-40B4-BE49-F238E27FC236}">
                <a16:creationId xmlns:a16="http://schemas.microsoft.com/office/drawing/2014/main" id="{E9BFBCAB-4F59-E368-1B02-197D711685F2}"/>
              </a:ext>
            </a:extLst>
          </p:cNvPr>
          <p:cNvPicPr>
            <a:picLocks noChangeAspect="1"/>
          </p:cNvPicPr>
          <p:nvPr/>
        </p:nvPicPr>
        <p:blipFill>
          <a:blip r:embed="rId2"/>
          <a:stretch>
            <a:fillRect/>
          </a:stretch>
        </p:blipFill>
        <p:spPr>
          <a:xfrm rot="21600000">
            <a:off x="1" y="373019"/>
            <a:ext cx="682751" cy="682752"/>
          </a:xfrm>
          <a:prstGeom prst="rect">
            <a:avLst/>
          </a:prstGeom>
        </p:spPr>
      </p:pic>
      <p:sp>
        <p:nvSpPr>
          <p:cNvPr id="2" name="textbox 60">
            <a:extLst>
              <a:ext uri="{FF2B5EF4-FFF2-40B4-BE49-F238E27FC236}">
                <a16:creationId xmlns:a16="http://schemas.microsoft.com/office/drawing/2014/main" id="{C822C67C-3479-5717-30EA-905E885C88D3}"/>
              </a:ext>
            </a:extLst>
          </p:cNvPr>
          <p:cNvSpPr/>
          <p:nvPr/>
        </p:nvSpPr>
        <p:spPr>
          <a:xfrm>
            <a:off x="838417" y="490318"/>
            <a:ext cx="8904852" cy="68275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Energy storage sharing architecture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lang="en-US"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667" kern="0" spc="-27" dirty="0">
                <a:solidFill>
                  <a:srgbClr val="ED7F0D">
                    <a:alpha val="100000"/>
                  </a:srgbClr>
                </a:solidFill>
                <a:latin typeface="Times New Roman" panose="02020603050405020304"/>
                <a:cs typeface="Times New Roman" panose="02020603050405020304"/>
              </a:rPr>
              <a:t>Public energy storage:</a:t>
            </a:r>
            <a:endParaRPr lang="en-US" altLang="zh-CN" sz="2667" kern="0" spc="-27" dirty="0">
              <a:solidFill>
                <a:srgbClr val="ED7F0D">
                  <a:alpha val="100000"/>
                </a:srgbClr>
              </a:solidFill>
              <a:latin typeface="Times New Roman" panose="02020603050405020304"/>
              <a:cs typeface="Times New Roman" panose="02020603050405020304"/>
            </a:endParaRPr>
          </a:p>
          <a:p>
            <a:pPr algn="l" rtl="0" eaLnBrk="0">
              <a:lnSpc>
                <a:spcPct val="106000"/>
              </a:lnSpc>
            </a:pPr>
            <a:endParaRPr sz="2400" dirty="0">
              <a:ea typeface="等线" panose="02010600030101010101" pitchFamily="2" charset="-122"/>
              <a:cs typeface="Times New Roman" panose="02020603050405020304" pitchFamily="18" charset="0"/>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3" name="文本框 2">
            <a:extLst>
              <a:ext uri="{FF2B5EF4-FFF2-40B4-BE49-F238E27FC236}">
                <a16:creationId xmlns:a16="http://schemas.microsoft.com/office/drawing/2014/main" id="{CCB0FE1B-8687-4910-3823-FDB62C72ED9A}"/>
              </a:ext>
            </a:extLst>
          </p:cNvPr>
          <p:cNvSpPr txBox="1"/>
          <p:nvPr/>
        </p:nvSpPr>
        <p:spPr>
          <a:xfrm>
            <a:off x="1310186" y="1706511"/>
            <a:ext cx="9289625" cy="2308324"/>
          </a:xfrm>
          <a:prstGeom prst="rect">
            <a:avLst/>
          </a:prstGeom>
          <a:noFill/>
        </p:spPr>
        <p:txBody>
          <a:bodyPr wrap="square" rtlCol="0">
            <a:spAutoFit/>
          </a:bodyPr>
          <a:lstStyle/>
          <a:p>
            <a:pPr algn="just"/>
            <a:r>
              <a:rPr lang="en-US" altLang="zh-CN" sz="2400" kern="100" dirty="0">
                <a:latin typeface="Times" panose="02020603050405020304" pitchFamily="18" charset="0"/>
                <a:ea typeface="微软雅黑" panose="020B0503020204020204" pitchFamily="34" charset="-122"/>
                <a:cs typeface="Times" panose="02020603050405020304" pitchFamily="18" charset="0"/>
              </a:rPr>
              <a:t>I</a:t>
            </a:r>
            <a:r>
              <a:rPr lang="zh-CN" altLang="zh-CN" sz="2400" kern="100" dirty="0">
                <a:latin typeface="Times" panose="02020603050405020304" pitchFamily="18" charset="0"/>
                <a:ea typeface="微软雅黑" panose="020B0503020204020204" pitchFamily="34" charset="-122"/>
                <a:cs typeface="Times" panose="02020603050405020304" pitchFamily="18" charset="0"/>
              </a:rPr>
              <a:t>nstalling a shared energy storage for all users is the mainstream architecture, such as community energy storage. Operational strategies include allocating capacity to allow users to operate independently or coordinated and managed by aggregators, involving capacity allocation and storage energy allocation issues.</a:t>
            </a:r>
          </a:p>
          <a:p>
            <a:endParaRPr lang="zh-CN" altLang="en-US" sz="2400" dirty="0">
              <a:latin typeface="Times" panose="02020603050405020304" pitchFamily="18" charset="0"/>
              <a:cs typeface="Times" panose="02020603050405020304" pitchFamily="18" charset="0"/>
            </a:endParaRPr>
          </a:p>
        </p:txBody>
      </p:sp>
      <p:pic>
        <p:nvPicPr>
          <p:cNvPr id="5" name="图片 4">
            <a:extLst>
              <a:ext uri="{FF2B5EF4-FFF2-40B4-BE49-F238E27FC236}">
                <a16:creationId xmlns:a16="http://schemas.microsoft.com/office/drawing/2014/main" id="{3C2DECB4-7625-96C1-F823-B3AC5EDFF35C}"/>
              </a:ext>
            </a:extLst>
          </p:cNvPr>
          <p:cNvPicPr>
            <a:picLocks noChangeAspect="1"/>
          </p:cNvPicPr>
          <p:nvPr/>
        </p:nvPicPr>
        <p:blipFill>
          <a:blip r:embed="rId3"/>
          <a:srcRect t="9561" r="685"/>
          <a:stretch/>
        </p:blipFill>
        <p:spPr>
          <a:xfrm>
            <a:off x="2762694" y="3678622"/>
            <a:ext cx="5895367" cy="3087047"/>
          </a:xfrm>
          <a:prstGeom prst="rect">
            <a:avLst/>
          </a:prstGeom>
        </p:spPr>
      </p:pic>
    </p:spTree>
    <p:extLst>
      <p:ext uri="{BB962C8B-B14F-4D97-AF65-F5344CB8AC3E}">
        <p14:creationId xmlns:p14="http://schemas.microsoft.com/office/powerpoint/2010/main" val="1184538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3A279-512C-0925-E523-E73F6D2CCF03}"/>
            </a:ext>
          </a:extLst>
        </p:cNvPr>
        <p:cNvGrpSpPr/>
        <p:nvPr/>
      </p:nvGrpSpPr>
      <p:grpSpPr>
        <a:xfrm>
          <a:off x="0" y="0"/>
          <a:ext cx="0" cy="0"/>
          <a:chOff x="0" y="0"/>
          <a:chExt cx="0" cy="0"/>
        </a:xfrm>
      </p:grpSpPr>
      <p:graphicFrame>
        <p:nvGraphicFramePr>
          <p:cNvPr id="1184" name="table 1184">
            <a:extLst>
              <a:ext uri="{FF2B5EF4-FFF2-40B4-BE49-F238E27FC236}">
                <a16:creationId xmlns:a16="http://schemas.microsoft.com/office/drawing/2014/main" id="{0DDB8BA2-D231-2B2D-5B0E-63A6CA06CCA1}"/>
              </a:ext>
            </a:extLst>
          </p:cNvPr>
          <p:cNvGraphicFramePr>
            <a:graphicFrameLocks noGrp="1"/>
          </p:cNvGraphicFramePr>
          <p:nvPr/>
        </p:nvGraphicFramePr>
        <p:xfrm>
          <a:off x="896924" y="4548277"/>
          <a:ext cx="9620672" cy="898313"/>
        </p:xfrm>
        <a:graphic>
          <a:graphicData uri="http://schemas.openxmlformats.org/drawingml/2006/table">
            <a:tbl>
              <a:tblPr>
                <a:solidFill>
                  <a:srgbClr val="FFFFFF"/>
                </a:solidFill>
              </a:tblPr>
              <a:tblGrid>
                <a:gridCol w="9620672">
                  <a:extLst>
                    <a:ext uri="{9D8B030D-6E8A-4147-A177-3AD203B41FA5}">
                      <a16:colId xmlns:a16="http://schemas.microsoft.com/office/drawing/2014/main" val="20000"/>
                    </a:ext>
                  </a:extLst>
                </a:gridCol>
              </a:tblGrid>
              <a:tr h="898313">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1186" name="table 1186">
            <a:extLst>
              <a:ext uri="{FF2B5EF4-FFF2-40B4-BE49-F238E27FC236}">
                <a16:creationId xmlns:a16="http://schemas.microsoft.com/office/drawing/2014/main" id="{A83A1A6B-649C-E44F-4D48-48E514A132A5}"/>
              </a:ext>
            </a:extLst>
          </p:cNvPr>
          <p:cNvGraphicFramePr>
            <a:graphicFrameLocks noGrp="1"/>
          </p:cNvGraphicFramePr>
          <p:nvPr/>
        </p:nvGraphicFramePr>
        <p:xfrm>
          <a:off x="896925" y="2710801"/>
          <a:ext cx="9289625" cy="455505"/>
        </p:xfrm>
        <a:graphic>
          <a:graphicData uri="http://schemas.openxmlformats.org/drawingml/2006/table">
            <a:tbl>
              <a:tblPr/>
              <a:tblGrid>
                <a:gridCol w="9289625">
                  <a:extLst>
                    <a:ext uri="{9D8B030D-6E8A-4147-A177-3AD203B41FA5}">
                      <a16:colId xmlns:a16="http://schemas.microsoft.com/office/drawing/2014/main" val="20000"/>
                    </a:ext>
                  </a:extLst>
                </a:gridCol>
              </a:tblGrid>
              <a:tr h="455505">
                <a:tc>
                  <a:txBody>
                    <a:bodyPr/>
                    <a:lstStyle/>
                    <a:p>
                      <a:pPr algn="l" rtl="0" eaLnBrk="0">
                        <a:lnSpc>
                          <a:spcPct val="100000"/>
                        </a:lnSpc>
                      </a:pPr>
                      <a:endParaRPr sz="1300" dirty="0">
                        <a:latin typeface="Arial" panose="020B0604020202020204"/>
                        <a:ea typeface="Arial" panose="020B0604020202020204"/>
                        <a:cs typeface="Arial" panose="020B0604020202020204"/>
                      </a:endParaRPr>
                    </a:p>
                  </a:txBody>
                  <a:tcPr marL="0" marR="0" marT="0" marB="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190" name="picture 1190">
            <a:extLst>
              <a:ext uri="{FF2B5EF4-FFF2-40B4-BE49-F238E27FC236}">
                <a16:creationId xmlns:a16="http://schemas.microsoft.com/office/drawing/2014/main" id="{974FF523-7AAF-A6A3-3142-B93F460BEB4F}"/>
              </a:ext>
            </a:extLst>
          </p:cNvPr>
          <p:cNvPicPr>
            <a:picLocks noChangeAspect="1"/>
          </p:cNvPicPr>
          <p:nvPr/>
        </p:nvPicPr>
        <p:blipFill>
          <a:blip r:embed="rId2"/>
          <a:stretch>
            <a:fillRect/>
          </a:stretch>
        </p:blipFill>
        <p:spPr>
          <a:xfrm rot="21600000">
            <a:off x="1" y="373019"/>
            <a:ext cx="682751" cy="682752"/>
          </a:xfrm>
          <a:prstGeom prst="rect">
            <a:avLst/>
          </a:prstGeom>
        </p:spPr>
      </p:pic>
      <p:sp>
        <p:nvSpPr>
          <p:cNvPr id="2" name="textbox 60">
            <a:extLst>
              <a:ext uri="{FF2B5EF4-FFF2-40B4-BE49-F238E27FC236}">
                <a16:creationId xmlns:a16="http://schemas.microsoft.com/office/drawing/2014/main" id="{182FF939-D1F9-DD9A-A35B-6ACA1D9D3822}"/>
              </a:ext>
            </a:extLst>
          </p:cNvPr>
          <p:cNvSpPr/>
          <p:nvPr/>
        </p:nvSpPr>
        <p:spPr>
          <a:xfrm>
            <a:off x="838417" y="490318"/>
            <a:ext cx="8904852" cy="682752"/>
          </a:xfrm>
          <a:prstGeom prst="rect">
            <a:avLst/>
          </a:prstGeom>
          <a:noFill/>
          <a:ln w="0" cap="flat">
            <a:noFill/>
            <a:prstDash val="solid"/>
            <a:miter lim="0"/>
          </a:ln>
        </p:spPr>
        <p:txBody>
          <a:bodyPr vert="horz" wrap="square" lIns="0" tIns="0" rIns="0" bIns="0"/>
          <a:lstStyle/>
          <a:p>
            <a:pPr algn="r" rtl="0" eaLnBrk="0">
              <a:lnSpc>
                <a:spcPct val="76000"/>
              </a:lnSpc>
            </a:pPr>
            <a:r>
              <a:rPr lang="zh-CN" altLang="zh-CN" sz="4400" b="1" kern="0" dirty="0">
                <a:solidFill>
                  <a:srgbClr val="004282">
                    <a:alpha val="100000"/>
                  </a:srgbClr>
                </a:solidFill>
                <a:latin typeface="Times New Roman" panose="02020603050405020304"/>
                <a:cs typeface="Times New Roman" panose="02020603050405020304"/>
              </a:rPr>
              <a:t>Energy storage sharing architecture</a:t>
            </a:r>
            <a:endParaRPr lang="en-US" sz="4400" b="1" kern="0" dirty="0">
              <a:solidFill>
                <a:srgbClr val="004282">
                  <a:alpha val="100000"/>
                </a:srgbClr>
              </a:solidFill>
              <a:latin typeface="Times New Roman" panose="02020603050405020304"/>
              <a:cs typeface="Times New Roman" panose="02020603050405020304"/>
            </a:endParaRPr>
          </a:p>
          <a:p>
            <a:pPr algn="l" rtl="0" eaLnBrk="0">
              <a:lnSpc>
                <a:spcPct val="124000"/>
              </a:lnSpc>
            </a:pPr>
            <a:endParaRPr lang="en-US" sz="1333" dirty="0">
              <a:latin typeface="Arial" panose="020B0604020202020204"/>
              <a:ea typeface="Arial" panose="020B0604020202020204"/>
              <a:cs typeface="Arial" panose="020B0604020202020204"/>
            </a:endParaRPr>
          </a:p>
          <a:p>
            <a:pPr marL="287013" eaLnBrk="0">
              <a:lnSpc>
                <a:spcPct val="78000"/>
              </a:lnSpc>
              <a:spcBef>
                <a:spcPts val="807"/>
              </a:spcBef>
            </a:pPr>
            <a:r>
              <a:rPr lang="zh-CN" altLang="en-US" sz="2667"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zh-CN" sz="2400" dirty="0">
                <a:ea typeface="等线" panose="02010600030101010101" pitchFamily="2" charset="-122"/>
                <a:cs typeface="Times New Roman" panose="02020603050405020304" pitchFamily="18" charset="0"/>
              </a:rPr>
              <a:t> </a:t>
            </a:r>
            <a:r>
              <a:rPr lang="zh-CN" altLang="zh-CN" sz="2667" kern="0" spc="-27" dirty="0">
                <a:solidFill>
                  <a:srgbClr val="ED7F0D">
                    <a:alpha val="100000"/>
                  </a:srgbClr>
                </a:solidFill>
                <a:latin typeface="Times New Roman" panose="02020603050405020304"/>
                <a:cs typeface="Times New Roman" panose="02020603050405020304"/>
              </a:rPr>
              <a:t>Independent energy storage:</a:t>
            </a:r>
            <a:endParaRPr lang="en-US" altLang="zh-CN" sz="2667" kern="0" spc="-27" dirty="0">
              <a:solidFill>
                <a:srgbClr val="ED7F0D">
                  <a:alpha val="100000"/>
                </a:srgbClr>
              </a:solidFill>
              <a:latin typeface="Times New Roman" panose="02020603050405020304"/>
              <a:cs typeface="Times New Roman" panose="02020603050405020304"/>
            </a:endParaRPr>
          </a:p>
          <a:p>
            <a:pPr algn="l" rtl="0" eaLnBrk="0">
              <a:lnSpc>
                <a:spcPct val="106000"/>
              </a:lnSpc>
            </a:pPr>
            <a:endParaRPr sz="2400" dirty="0">
              <a:ea typeface="等线" panose="02010600030101010101" pitchFamily="2" charset="-122"/>
              <a:cs typeface="Times New Roman" panose="02020603050405020304" pitchFamily="18" charset="0"/>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lang="en-US"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6000"/>
              </a:lnSpc>
            </a:pPr>
            <a:endParaRPr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lang="en-US" sz="1333" dirty="0">
              <a:latin typeface="Arial" panose="020B0604020202020204"/>
              <a:ea typeface="Arial" panose="020B0604020202020204"/>
              <a:cs typeface="Arial" panose="020B0604020202020204"/>
            </a:endParaRPr>
          </a:p>
          <a:p>
            <a:pPr algn="l" rtl="0" eaLnBrk="0">
              <a:lnSpc>
                <a:spcPct val="107000"/>
              </a:lnSpc>
            </a:pPr>
            <a:endParaRPr sz="1333" dirty="0">
              <a:latin typeface="Arial" panose="020B0604020202020204"/>
              <a:ea typeface="Arial" panose="020B0604020202020204"/>
              <a:cs typeface="Arial" panose="020B0604020202020204"/>
            </a:endParaRPr>
          </a:p>
        </p:txBody>
      </p:sp>
      <p:sp>
        <p:nvSpPr>
          <p:cNvPr id="4" name="文本框 3">
            <a:extLst>
              <a:ext uri="{FF2B5EF4-FFF2-40B4-BE49-F238E27FC236}">
                <a16:creationId xmlns:a16="http://schemas.microsoft.com/office/drawing/2014/main" id="{2C42D6F8-6C81-66CC-491D-F004612A553C}"/>
              </a:ext>
            </a:extLst>
          </p:cNvPr>
          <p:cNvSpPr txBox="1"/>
          <p:nvPr/>
        </p:nvSpPr>
        <p:spPr>
          <a:xfrm>
            <a:off x="1310186" y="1685386"/>
            <a:ext cx="9289625" cy="1938992"/>
          </a:xfrm>
          <a:prstGeom prst="rect">
            <a:avLst/>
          </a:prstGeom>
          <a:noFill/>
        </p:spPr>
        <p:txBody>
          <a:bodyPr wrap="square" rtlCol="0">
            <a:spAutoFit/>
          </a:bodyPr>
          <a:lstStyle/>
          <a:p>
            <a:pPr algn="just"/>
            <a:r>
              <a:rPr lang="zh-CN" altLang="zh-CN" sz="2400" dirty="0">
                <a:latin typeface="Times" panose="02020603050405020304" pitchFamily="18" charset="0"/>
                <a:ea typeface="微软雅黑" panose="020B0503020204020204" pitchFamily="34" charset="-122"/>
                <a:cs typeface="Times" panose="02020603050405020304" pitchFamily="18" charset="0"/>
              </a:rPr>
              <a:t>Shared energy storage is managed by independent operators who determine the storage capacity and price of stored energy. It is suitable for markets that serve many users, such as cloud energy storage, but faces challenges such as price determination, fairness in energy distribution, and balancing conflicts of interest between operators and users.</a:t>
            </a:r>
            <a:endParaRPr lang="zh-CN" altLang="en-US" sz="2400" dirty="0">
              <a:latin typeface="Times" panose="02020603050405020304" pitchFamily="18" charset="0"/>
              <a:ea typeface="微软雅黑" panose="020B0503020204020204" pitchFamily="34" charset="-122"/>
              <a:cs typeface="Times" panose="02020603050405020304" pitchFamily="18" charset="0"/>
            </a:endParaRPr>
          </a:p>
        </p:txBody>
      </p:sp>
      <p:pic>
        <p:nvPicPr>
          <p:cNvPr id="6" name="图片 5">
            <a:extLst>
              <a:ext uri="{FF2B5EF4-FFF2-40B4-BE49-F238E27FC236}">
                <a16:creationId xmlns:a16="http://schemas.microsoft.com/office/drawing/2014/main" id="{FDFA1B4D-8F87-6A1C-0DDF-75732D9951ED}"/>
              </a:ext>
            </a:extLst>
          </p:cNvPr>
          <p:cNvPicPr>
            <a:picLocks noChangeAspect="1"/>
          </p:cNvPicPr>
          <p:nvPr/>
        </p:nvPicPr>
        <p:blipFill>
          <a:blip r:embed="rId3"/>
          <a:srcRect t="2084"/>
          <a:stretch/>
        </p:blipFill>
        <p:spPr>
          <a:xfrm>
            <a:off x="2859931" y="3584606"/>
            <a:ext cx="6169115" cy="3155006"/>
          </a:xfrm>
          <a:prstGeom prst="rect">
            <a:avLst/>
          </a:prstGeom>
        </p:spPr>
      </p:pic>
    </p:spTree>
    <p:extLst>
      <p:ext uri="{BB962C8B-B14F-4D97-AF65-F5344CB8AC3E}">
        <p14:creationId xmlns:p14="http://schemas.microsoft.com/office/powerpoint/2010/main" val="349112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Application scenarios</a:t>
            </a:r>
            <a:endParaRPr sz="665" dirty="0">
              <a:latin typeface="Arial" panose="020B0604020202020204"/>
              <a:ea typeface="Arial" panose="020B0604020202020204"/>
              <a:cs typeface="Arial" panose="020B0604020202020204"/>
            </a:endParaRPr>
          </a:p>
          <a:p>
            <a:pPr marL="812800" indent="-3175" eaLnBrk="0">
              <a:lnSpc>
                <a:spcPct val="89000"/>
              </a:lnSpc>
              <a:spcBef>
                <a:spcPts val="5"/>
              </a:spcBef>
            </a:pP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416" y="2660316"/>
            <a:ext cx="5257584" cy="2676525"/>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Providing energy storage services to multiple homes or buildings in a community or neighborhood area. This can be achieved through interconnected energy storage or public energy storage architecture, usually operated by an aggregator.</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7" y="1530653"/>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Community energy storage</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3" name="图片 2"/>
          <p:cNvPicPr>
            <a:picLocks noChangeAspect="1"/>
          </p:cNvPicPr>
          <p:nvPr/>
        </p:nvPicPr>
        <p:blipFill>
          <a:blip r:embed="rId3"/>
          <a:stretch>
            <a:fillRect/>
          </a:stretch>
        </p:blipFill>
        <p:spPr>
          <a:xfrm>
            <a:off x="6393848" y="2391642"/>
            <a:ext cx="5503493" cy="32130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Application scenarios</a:t>
            </a:r>
            <a:endParaRPr sz="665" dirty="0">
              <a:latin typeface="Arial" panose="020B0604020202020204"/>
              <a:ea typeface="Arial" panose="020B0604020202020204"/>
              <a:cs typeface="Arial" panose="020B0604020202020204"/>
            </a:endParaRPr>
          </a:p>
          <a:p>
            <a:pPr marL="812800" indent="-3175" eaLnBrk="0">
              <a:lnSpc>
                <a:spcPct val="89000"/>
              </a:lnSpc>
              <a:spcBef>
                <a:spcPts val="5"/>
              </a:spcBef>
            </a:pP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416" y="2798746"/>
            <a:ext cx="6373461" cy="2306955"/>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Using cloud computing concepts and combining a variety of energy storage technologies to provide services to a large number of customers in the energy market, it is large-scale, serves a wide range of user types, and has low costs, but only achieves capacity sharing.</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7" y="1530653"/>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Cloud energy storage</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4" name="图片 3"/>
          <p:cNvPicPr>
            <a:picLocks noChangeAspect="1"/>
          </p:cNvPicPr>
          <p:nvPr/>
        </p:nvPicPr>
        <p:blipFill>
          <a:blip r:embed="rId3"/>
          <a:stretch>
            <a:fillRect/>
          </a:stretch>
        </p:blipFill>
        <p:spPr>
          <a:xfrm>
            <a:off x="7707825" y="1911881"/>
            <a:ext cx="4099260" cy="40801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Application scenarios</a:t>
            </a:r>
            <a:endParaRPr sz="665" dirty="0">
              <a:latin typeface="Arial" panose="020B0604020202020204"/>
              <a:ea typeface="Arial" panose="020B0604020202020204"/>
              <a:cs typeface="Arial" panose="020B0604020202020204"/>
            </a:endParaRPr>
          </a:p>
          <a:p>
            <a:pPr marL="812800" indent="-3175" eaLnBrk="0">
              <a:lnSpc>
                <a:spcPct val="89000"/>
              </a:lnSpc>
              <a:spcBef>
                <a:spcPts val="5"/>
              </a:spcBef>
            </a:pP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925411" y="2829860"/>
            <a:ext cx="5257584" cy="119888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Built by integrating distributed energy storage units and virtualizing the allocation of storage capacity to users. </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7" y="1530654"/>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Virtual energy storage power plant</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4" name="图片 3"/>
          <p:cNvPicPr>
            <a:picLocks noChangeAspect="1"/>
          </p:cNvPicPr>
          <p:nvPr/>
        </p:nvPicPr>
        <p:blipFill>
          <a:blip r:embed="rId3"/>
          <a:stretch>
            <a:fillRect/>
          </a:stretch>
        </p:blipFill>
        <p:spPr>
          <a:xfrm>
            <a:off x="6399265" y="1369281"/>
            <a:ext cx="5466553" cy="48873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Application scenarios</a:t>
            </a:r>
            <a:endParaRPr sz="665" dirty="0">
              <a:latin typeface="Arial" panose="020B0604020202020204"/>
              <a:ea typeface="Arial" panose="020B0604020202020204"/>
              <a:cs typeface="Arial" panose="020B0604020202020204"/>
            </a:endParaRPr>
          </a:p>
          <a:p>
            <a:pPr marL="812800" indent="-3175" eaLnBrk="0">
              <a:lnSpc>
                <a:spcPct val="89000"/>
              </a:lnSpc>
              <a:spcBef>
                <a:spcPts val="5"/>
              </a:spcBef>
            </a:pP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417" y="2644140"/>
            <a:ext cx="9090833" cy="156966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The application of the sharing economy model to energy storage sharing can enable investors and operators to profit, such as companies investing in energy storage for arbitrage and residents optimizing their energy needs and storage levels.</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6" y="1530654"/>
            <a:ext cx="6850253"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Business models based on the sharing economy</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Integration with other energy technologies</a:t>
            </a: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416" y="3059731"/>
            <a:ext cx="6776419" cy="193802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Renewable energy sources such as solar and wind power have intermittent power generation, and integration with shared energy storage can ensure a stable supply. Balancing energy storage is needed to share and support the use of renewable energy. </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7" y="1530654"/>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Integration with renewable energy</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2" name="图片 1"/>
          <p:cNvPicPr>
            <a:picLocks noChangeAspect="1"/>
          </p:cNvPicPr>
          <p:nvPr/>
        </p:nvPicPr>
        <p:blipFill>
          <a:blip r:embed="rId3"/>
          <a:stretch>
            <a:fillRect/>
          </a:stretch>
        </p:blipFill>
        <p:spPr>
          <a:xfrm>
            <a:off x="8058488" y="2851688"/>
            <a:ext cx="3625693" cy="23531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Integration with other energy technologies</a:t>
            </a: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200" y="2459990"/>
            <a:ext cx="6045835" cy="193802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Electric vehicle batteries can be used as shared energy storage or shared energy storage at charging stations, such as using retired batteries to support charging stations, Tesla sharing energy storage at charging stations, etc.</a:t>
            </a:r>
            <a:endParaRPr lang="zh-CN" altLang="zh-CN" sz="2400" kern="100" dirty="0">
              <a:latin typeface="Times" panose="02020603050405020304" pitchFamily="18" charset="0"/>
              <a:ea typeface="微软雅黑" panose="020B0503020204020204" charset="-122"/>
              <a:cs typeface="Times" panose="02020603050405020304" pitchFamily="18" charset="0"/>
            </a:endParaRPr>
          </a:p>
        </p:txBody>
      </p:sp>
      <p:sp>
        <p:nvSpPr>
          <p:cNvPr id="7" name="文本框 6"/>
          <p:cNvSpPr txBox="1"/>
          <p:nvPr/>
        </p:nvSpPr>
        <p:spPr>
          <a:xfrm>
            <a:off x="506277" y="1530654"/>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Integration with electric vehicles</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pic>
        <p:nvPicPr>
          <p:cNvPr id="9" name="图片 8"/>
          <p:cNvPicPr>
            <a:picLocks noChangeAspect="1"/>
          </p:cNvPicPr>
          <p:nvPr/>
        </p:nvPicPr>
        <p:blipFill>
          <a:blip r:embed="rId3"/>
          <a:stretch>
            <a:fillRect/>
          </a:stretch>
        </p:blipFill>
        <p:spPr>
          <a:xfrm>
            <a:off x="6884218" y="4234563"/>
            <a:ext cx="4556807" cy="18993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p:nvPr/>
        </p:nvSpPr>
        <p:spPr>
          <a:xfrm>
            <a:off x="-16934" y="669595"/>
            <a:ext cx="11173459" cy="1722119"/>
          </a:xfrm>
          <a:prstGeom prst="rect">
            <a:avLst/>
          </a:prstGeom>
          <a:noFill/>
          <a:ln w="0" cap="flat">
            <a:noFill/>
            <a:prstDash val="solid"/>
            <a:miter lim="0"/>
          </a:ln>
        </p:spPr>
        <p:txBody>
          <a:bodyPr vert="horz" wrap="square" lIns="0" tIns="0" rIns="0" bIns="0"/>
          <a:lstStyle/>
          <a:p>
            <a:pPr algn="l" rtl="0" eaLnBrk="0">
              <a:lnSpc>
                <a:spcPct val="108000"/>
              </a:lnSpc>
            </a:pPr>
            <a:endParaRPr sz="935" dirty="0">
              <a:latin typeface="Arial" panose="020B0604020202020204"/>
              <a:ea typeface="Arial" panose="020B0604020202020204"/>
              <a:cs typeface="Arial" panose="020B0604020202020204"/>
            </a:endParaRPr>
          </a:p>
          <a:p>
            <a:pPr marL="699135" eaLnBrk="0">
              <a:lnSpc>
                <a:spcPct val="76000"/>
              </a:lnSpc>
              <a:spcBef>
                <a:spcPts val="5"/>
              </a:spcBef>
              <a:tabLst>
                <a:tab pos="989965" algn="l"/>
              </a:tabLst>
            </a:pPr>
            <a:r>
              <a:rPr sz="4400" kern="0" dirty="0">
                <a:solidFill>
                  <a:srgbClr val="004282">
                    <a:alpha val="100000"/>
                  </a:srgbClr>
                </a:solidFill>
                <a:latin typeface="Times New Roman" panose="02020603050405020304"/>
                <a:ea typeface="Times New Roman" panose="02020603050405020304"/>
                <a:cs typeface="Times New Roman" panose="02020603050405020304"/>
              </a:rPr>
              <a:t>	</a:t>
            </a:r>
            <a:r>
              <a:rPr lang="en-US" sz="4400" b="1" kern="0" spc="-13" dirty="0">
                <a:solidFill>
                  <a:srgbClr val="004282">
                    <a:alpha val="100000"/>
                  </a:srgbClr>
                </a:solidFill>
                <a:latin typeface="Times New Roman" panose="02020603050405020304"/>
                <a:ea typeface="Times New Roman" panose="02020603050405020304"/>
                <a:cs typeface="Times New Roman" panose="02020603050405020304"/>
              </a:rPr>
              <a:t>Practical applications and case studies</a:t>
            </a:r>
            <a:endParaRPr lang="en-US" sz="2665"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5" dirty="0">
              <a:latin typeface="Arial" panose="020B0604020202020204"/>
              <a:ea typeface="Arial" panose="020B0604020202020204"/>
              <a:cs typeface="Arial" panose="020B0604020202020204"/>
            </a:endParaRPr>
          </a:p>
          <a:p>
            <a:pPr marL="17145"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838415" y="2103420"/>
            <a:ext cx="8770535" cy="119888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Actual projects include SMUD's Energy StorageShares, Tesla's ConnectedSolutions, and the EU’s SHAR-Q, connecting distributed energy storage for virtual power plants and sustainable energy supply.</a:t>
            </a:r>
          </a:p>
        </p:txBody>
      </p:sp>
      <p:sp>
        <p:nvSpPr>
          <p:cNvPr id="7" name="文本框 6"/>
          <p:cNvSpPr txBox="1"/>
          <p:nvPr/>
        </p:nvSpPr>
        <p:spPr>
          <a:xfrm>
            <a:off x="506277" y="1530653"/>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Actual projects</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sp>
        <p:nvSpPr>
          <p:cNvPr id="2" name="文本框 1"/>
          <p:cNvSpPr txBox="1"/>
          <p:nvPr/>
        </p:nvSpPr>
        <p:spPr>
          <a:xfrm>
            <a:off x="633277" y="3493438"/>
            <a:ext cx="6096000" cy="381258"/>
          </a:xfrm>
          <a:prstGeom prst="rect">
            <a:avLst/>
          </a:prstGeom>
          <a:noFill/>
        </p:spPr>
        <p:txBody>
          <a:bodyPr wrap="square">
            <a:spAutoFit/>
          </a:bodyPr>
          <a:lstStyle/>
          <a:p>
            <a:pPr marL="287020" eaLnBrk="0">
              <a:lnSpc>
                <a:spcPct val="78000"/>
              </a:lnSpc>
              <a:spcBef>
                <a:spcPts val="805"/>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5" dirty="0">
                <a:ea typeface="等线" panose="02010600030101010101" pitchFamily="2" charset="-122"/>
                <a:cs typeface="Times New Roman" panose="02020603050405020304"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Case studies</a:t>
            </a:r>
            <a:r>
              <a:rPr lang="en-US" altLang="zh-CN" sz="2400" kern="0" spc="-27" dirty="0">
                <a:solidFill>
                  <a:srgbClr val="ED7F0D">
                    <a:alpha val="100000"/>
                  </a:srgbClr>
                </a:solidFill>
                <a:latin typeface="Times New Roman" panose="02020603050405020304"/>
                <a:cs typeface="Times New Roman" panose="02020603050405020304"/>
              </a:rPr>
              <a:t>:</a:t>
            </a:r>
            <a:endParaRPr lang="zh-CN" altLang="en-US" sz="2400" kern="0" spc="-27" dirty="0">
              <a:solidFill>
                <a:srgbClr val="ED7F0D">
                  <a:alpha val="100000"/>
                </a:srgbClr>
              </a:solidFill>
              <a:latin typeface="Times New Roman" panose="02020603050405020304"/>
              <a:cs typeface="Times New Roman" panose="02020603050405020304"/>
            </a:endParaRPr>
          </a:p>
        </p:txBody>
      </p:sp>
      <p:sp>
        <p:nvSpPr>
          <p:cNvPr id="3" name="文本框 2"/>
          <p:cNvSpPr txBox="1"/>
          <p:nvPr/>
        </p:nvSpPr>
        <p:spPr>
          <a:xfrm>
            <a:off x="838415" y="4066205"/>
            <a:ext cx="8770535" cy="1568450"/>
          </a:xfrm>
          <a:prstGeom prst="rect">
            <a:avLst/>
          </a:prstGeom>
          <a:noFill/>
        </p:spPr>
        <p:txBody>
          <a:bodyPr wrap="square">
            <a:spAutoFit/>
          </a:bodyPr>
          <a:lstStyle/>
          <a:p>
            <a:pPr algn="just"/>
            <a:r>
              <a:rPr lang="en-US" altLang="zh-CN" sz="2400" kern="100" dirty="0">
                <a:latin typeface="Times" panose="02020603050405020304" pitchFamily="18" charset="0"/>
                <a:ea typeface="微软雅黑" panose="020B0503020204020204" charset="-122"/>
                <a:cs typeface="Times" panose="02020603050405020304" pitchFamily="18" charset="0"/>
              </a:rPr>
              <a:t>Case studies cover community and cloud energy storage evaluations, including UK and Germany's economic assessments, feasibility analyses, and the benefits of shared energy storage compared to other systems.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D383-6577-AD1C-0F87-D8F2112548A5}"/>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565B4B30-9E50-0647-726C-426F50FCFD33}"/>
              </a:ext>
            </a:extLst>
          </p:cNvPr>
          <p:cNvSpPr/>
          <p:nvPr/>
        </p:nvSpPr>
        <p:spPr>
          <a:xfrm>
            <a:off x="838416" y="335640"/>
            <a:ext cx="10070774" cy="1949318"/>
          </a:xfrm>
          <a:prstGeom prst="rect">
            <a:avLst/>
          </a:prstGeom>
          <a:noFill/>
          <a:ln w="0" cap="flat">
            <a:noFill/>
            <a:prstDash val="solid"/>
            <a:miter lim="0"/>
          </a:ln>
        </p:spPr>
        <p:txBody>
          <a:bodyPr vert="horz" wrap="square" lIns="0" tIns="0" rIns="0" bIns="0"/>
          <a:lstStyle/>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Modeling and optimization </a:t>
            </a:r>
          </a:p>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of energy storage sharing</a:t>
            </a:r>
            <a:endParaRPr lang="en-US" sz="4400" b="1" kern="0" spc="-13" dirty="0">
              <a:solidFill>
                <a:srgbClr val="004282">
                  <a:alpha val="100000"/>
                </a:srgbClr>
              </a:solidFill>
              <a:latin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3FE0FF7F-DBD3-9597-BC03-8F6FAC410EDC}"/>
              </a:ext>
            </a:extLst>
          </p:cNvPr>
          <p:cNvPicPr>
            <a:picLocks noChangeAspect="1"/>
          </p:cNvPicPr>
          <p:nvPr/>
        </p:nvPicPr>
        <p:blipFill>
          <a:blip r:embed="rId3"/>
          <a:stretch>
            <a:fillRect/>
          </a:stretch>
        </p:blipFill>
        <p:spPr>
          <a:xfrm rot="21600000">
            <a:off x="-10406" y="474854"/>
            <a:ext cx="682751" cy="682752"/>
          </a:xfrm>
          <a:prstGeom prst="rect">
            <a:avLst/>
          </a:prstGeom>
        </p:spPr>
      </p:pic>
      <p:sp>
        <p:nvSpPr>
          <p:cNvPr id="54" name="textbox 54">
            <a:extLst>
              <a:ext uri="{FF2B5EF4-FFF2-40B4-BE49-F238E27FC236}">
                <a16:creationId xmlns:a16="http://schemas.microsoft.com/office/drawing/2014/main" id="{21A2895F-CB89-11CD-6505-85B05D88CAF4}"/>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7" name="文本框 6">
            <a:extLst>
              <a:ext uri="{FF2B5EF4-FFF2-40B4-BE49-F238E27FC236}">
                <a16:creationId xmlns:a16="http://schemas.microsoft.com/office/drawing/2014/main" id="{5DFFA2BC-37B4-FA01-34CD-E58095728DD2}"/>
              </a:ext>
            </a:extLst>
          </p:cNvPr>
          <p:cNvSpPr txBox="1"/>
          <p:nvPr/>
        </p:nvSpPr>
        <p:spPr>
          <a:xfrm>
            <a:off x="506277" y="1530653"/>
            <a:ext cx="6096000" cy="381258"/>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Management Strategies for ES Sharing:</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3" name="文本框 2">
            <a:extLst>
              <a:ext uri="{FF2B5EF4-FFF2-40B4-BE49-F238E27FC236}">
                <a16:creationId xmlns:a16="http://schemas.microsoft.com/office/drawing/2014/main" id="{020900BF-BDF3-A0E2-4762-CAE3E794C9EB}"/>
              </a:ext>
            </a:extLst>
          </p:cNvPr>
          <p:cNvSpPr txBox="1"/>
          <p:nvPr/>
        </p:nvSpPr>
        <p:spPr>
          <a:xfrm>
            <a:off x="667099" y="3021496"/>
            <a:ext cx="10857802" cy="1200329"/>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 Game theory model: </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en-US" altLang="zh-CN" sz="2400" kern="100" dirty="0">
                <a:effectLst/>
                <a:latin typeface="Times" panose="02020603050405020304" pitchFamily="18" charset="0"/>
                <a:ea typeface="等线" panose="02010600030101010101" pitchFamily="2" charset="-122"/>
                <a:cs typeface="Times" panose="02020603050405020304" pitchFamily="18" charset="0"/>
              </a:rPr>
              <a:t>Game Theory is a theoretical framework to study the interactions among the competing players. It can be employed to model the conflicts among the users of ES sharing.</a:t>
            </a:r>
          </a:p>
        </p:txBody>
      </p:sp>
      <p:sp>
        <p:nvSpPr>
          <p:cNvPr id="4" name="矩形: 圆角 3">
            <a:extLst>
              <a:ext uri="{FF2B5EF4-FFF2-40B4-BE49-F238E27FC236}">
                <a16:creationId xmlns:a16="http://schemas.microsoft.com/office/drawing/2014/main" id="{80C4AC82-125C-7583-722D-99F62AB9AA3E}"/>
              </a:ext>
            </a:extLst>
          </p:cNvPr>
          <p:cNvSpPr/>
          <p:nvPr/>
        </p:nvSpPr>
        <p:spPr>
          <a:xfrm>
            <a:off x="2328596" y="2063682"/>
            <a:ext cx="2483239" cy="957814"/>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FF0000"/>
                </a:solidFill>
                <a:latin typeface="Times" panose="02020603050405020304" pitchFamily="18" charset="0"/>
                <a:cs typeface="Times" panose="02020603050405020304" pitchFamily="18" charset="0"/>
              </a:rPr>
              <a:t>Benefit</a:t>
            </a:r>
            <a:endParaRPr lang="zh-CN" altLang="en-US" sz="4400" dirty="0">
              <a:solidFill>
                <a:srgbClr val="FF0000"/>
              </a:solidFill>
              <a:latin typeface="Times" panose="02020603050405020304" pitchFamily="18" charset="0"/>
              <a:cs typeface="Times" panose="02020603050405020304" pitchFamily="18" charset="0"/>
            </a:endParaRPr>
          </a:p>
        </p:txBody>
      </p:sp>
      <p:sp>
        <p:nvSpPr>
          <p:cNvPr id="6" name="矩形: 圆角 5">
            <a:extLst>
              <a:ext uri="{FF2B5EF4-FFF2-40B4-BE49-F238E27FC236}">
                <a16:creationId xmlns:a16="http://schemas.microsoft.com/office/drawing/2014/main" id="{A60B524D-1935-5302-F4C1-304FA46D698A}"/>
              </a:ext>
            </a:extLst>
          </p:cNvPr>
          <p:cNvSpPr/>
          <p:nvPr/>
        </p:nvSpPr>
        <p:spPr>
          <a:xfrm>
            <a:off x="6544552" y="2063682"/>
            <a:ext cx="2483239" cy="957814"/>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FF0000"/>
                </a:solidFill>
                <a:latin typeface="Times" panose="02020603050405020304" pitchFamily="18" charset="0"/>
                <a:cs typeface="Times" panose="02020603050405020304" pitchFamily="18" charset="0"/>
              </a:rPr>
              <a:t>Fairness</a:t>
            </a:r>
            <a:endParaRPr lang="zh-CN" altLang="en-US" sz="4400" dirty="0">
              <a:solidFill>
                <a:srgbClr val="FF0000"/>
              </a:solidFill>
              <a:latin typeface="Times" panose="02020603050405020304" pitchFamily="18" charset="0"/>
              <a:cs typeface="Times" panose="02020603050405020304" pitchFamily="18" charset="0"/>
            </a:endParaRPr>
          </a:p>
        </p:txBody>
      </p:sp>
      <p:cxnSp>
        <p:nvCxnSpPr>
          <p:cNvPr id="9" name="直接箭头连接符 8">
            <a:extLst>
              <a:ext uri="{FF2B5EF4-FFF2-40B4-BE49-F238E27FC236}">
                <a16:creationId xmlns:a16="http://schemas.microsoft.com/office/drawing/2014/main" id="{8F9BEC18-EDDE-FD30-46AA-A24071E26781}"/>
              </a:ext>
            </a:extLst>
          </p:cNvPr>
          <p:cNvCxnSpPr>
            <a:cxnSpLocks/>
            <a:stCxn id="4" idx="3"/>
            <a:endCxn id="6" idx="1"/>
          </p:cNvCxnSpPr>
          <p:nvPr/>
        </p:nvCxnSpPr>
        <p:spPr>
          <a:xfrm>
            <a:off x="4811835" y="2542589"/>
            <a:ext cx="1732717" cy="0"/>
          </a:xfrm>
          <a:prstGeom prst="straightConnector1">
            <a:avLst/>
          </a:prstGeom>
          <a:ln w="952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矩形: 圆角 9">
            <a:extLst>
              <a:ext uri="{FF2B5EF4-FFF2-40B4-BE49-F238E27FC236}">
                <a16:creationId xmlns:a16="http://schemas.microsoft.com/office/drawing/2014/main" id="{CD367354-513D-3DE6-2ADE-C871C22DA29B}"/>
              </a:ext>
            </a:extLst>
          </p:cNvPr>
          <p:cNvSpPr/>
          <p:nvPr/>
        </p:nvSpPr>
        <p:spPr>
          <a:xfrm>
            <a:off x="786330" y="4588015"/>
            <a:ext cx="2705056" cy="55368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non-cooperative model</a:t>
            </a:r>
            <a:endParaRPr lang="zh-CN" altLang="en-US" sz="2000" dirty="0"/>
          </a:p>
        </p:txBody>
      </p:sp>
      <p:sp>
        <p:nvSpPr>
          <p:cNvPr id="22" name="矩形: 圆角 21">
            <a:extLst>
              <a:ext uri="{FF2B5EF4-FFF2-40B4-BE49-F238E27FC236}">
                <a16:creationId xmlns:a16="http://schemas.microsoft.com/office/drawing/2014/main" id="{3A4DBB27-50B0-28FC-B843-AC1F5A98635E}"/>
              </a:ext>
            </a:extLst>
          </p:cNvPr>
          <p:cNvSpPr/>
          <p:nvPr/>
        </p:nvSpPr>
        <p:spPr>
          <a:xfrm>
            <a:off x="4279335" y="4588015"/>
            <a:ext cx="2705056" cy="55368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independent decisions</a:t>
            </a:r>
            <a:endParaRPr lang="zh-CN" altLang="en-US" sz="2000" dirty="0"/>
          </a:p>
        </p:txBody>
      </p:sp>
      <p:sp>
        <p:nvSpPr>
          <p:cNvPr id="23" name="矩形: 圆角 22">
            <a:extLst>
              <a:ext uri="{FF2B5EF4-FFF2-40B4-BE49-F238E27FC236}">
                <a16:creationId xmlns:a16="http://schemas.microsoft.com/office/drawing/2014/main" id="{71A24DE2-86DF-09BF-476A-DEE22D1660F6}"/>
              </a:ext>
            </a:extLst>
          </p:cNvPr>
          <p:cNvSpPr/>
          <p:nvPr/>
        </p:nvSpPr>
        <p:spPr>
          <a:xfrm>
            <a:off x="786330" y="5327347"/>
            <a:ext cx="2705056" cy="55368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cooperative model</a:t>
            </a:r>
            <a:endParaRPr lang="zh-CN" altLang="en-US" sz="2000" dirty="0"/>
          </a:p>
        </p:txBody>
      </p:sp>
      <p:sp>
        <p:nvSpPr>
          <p:cNvPr id="24" name="矩形: 圆角 23">
            <a:extLst>
              <a:ext uri="{FF2B5EF4-FFF2-40B4-BE49-F238E27FC236}">
                <a16:creationId xmlns:a16="http://schemas.microsoft.com/office/drawing/2014/main" id="{68792C4D-7C61-E894-E5D1-B5A343AE55F5}"/>
              </a:ext>
            </a:extLst>
          </p:cNvPr>
          <p:cNvSpPr/>
          <p:nvPr/>
        </p:nvSpPr>
        <p:spPr>
          <a:xfrm>
            <a:off x="4279335" y="5327347"/>
            <a:ext cx="2705056" cy="55368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kern="100" dirty="0">
                <a:effectLst/>
                <a:latin typeface="Times" panose="02020603050405020304" pitchFamily="18" charset="0"/>
                <a:ea typeface="等线" panose="02010600030101010101" pitchFamily="2" charset="-122"/>
                <a:cs typeface="Times" panose="02020603050405020304" pitchFamily="18" charset="0"/>
              </a:rPr>
              <a:t>joint</a:t>
            </a: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 decisions</a:t>
            </a:r>
            <a:endParaRPr lang="zh-CN" altLang="en-US" sz="2000" dirty="0"/>
          </a:p>
        </p:txBody>
      </p:sp>
      <p:sp>
        <p:nvSpPr>
          <p:cNvPr id="25" name="右大括号 24">
            <a:extLst>
              <a:ext uri="{FF2B5EF4-FFF2-40B4-BE49-F238E27FC236}">
                <a16:creationId xmlns:a16="http://schemas.microsoft.com/office/drawing/2014/main" id="{A54E8A64-4002-D2FC-C1E5-04A2EDC87B04}"/>
              </a:ext>
            </a:extLst>
          </p:cNvPr>
          <p:cNvSpPr/>
          <p:nvPr/>
        </p:nvSpPr>
        <p:spPr>
          <a:xfrm>
            <a:off x="7034114" y="4672675"/>
            <a:ext cx="527579" cy="1027855"/>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5C2E7F20-7208-77AB-E764-18012273F0F3}"/>
              </a:ext>
            </a:extLst>
          </p:cNvPr>
          <p:cNvSpPr/>
          <p:nvPr/>
        </p:nvSpPr>
        <p:spPr>
          <a:xfrm>
            <a:off x="8495818" y="4700731"/>
            <a:ext cx="3401776" cy="91109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energy consumption </a:t>
            </a:r>
            <a:endParaRPr lang="en-US" altLang="zh-CN" sz="2000" kern="100" dirty="0">
              <a:effectLst/>
              <a:latin typeface="Times" panose="02020603050405020304" pitchFamily="18" charset="0"/>
              <a:ea typeface="等线" panose="02010600030101010101" pitchFamily="2" charset="-122"/>
              <a:cs typeface="Times" panose="02020603050405020304" pitchFamily="18" charset="0"/>
            </a:endParaRPr>
          </a:p>
          <a:p>
            <a:pPr algn="ctr"/>
            <a:r>
              <a:rPr lang="zh-CN" altLang="zh-CN" sz="2000" kern="100" dirty="0">
                <a:effectLst/>
                <a:latin typeface="Times" panose="02020603050405020304" pitchFamily="18" charset="0"/>
                <a:ea typeface="等线" panose="02010600030101010101" pitchFamily="2" charset="-122"/>
                <a:cs typeface="Times" panose="02020603050405020304" pitchFamily="18" charset="0"/>
              </a:rPr>
              <a:t>battery capacity allocation</a:t>
            </a:r>
            <a:endParaRPr lang="zh-CN" altLang="en-US" sz="2000" dirty="0"/>
          </a:p>
        </p:txBody>
      </p:sp>
      <p:cxnSp>
        <p:nvCxnSpPr>
          <p:cNvPr id="28" name="直接箭头连接符 27">
            <a:extLst>
              <a:ext uri="{FF2B5EF4-FFF2-40B4-BE49-F238E27FC236}">
                <a16:creationId xmlns:a16="http://schemas.microsoft.com/office/drawing/2014/main" id="{5E2DBBBC-DCAC-139A-1EC5-BCC53650B788}"/>
              </a:ext>
            </a:extLst>
          </p:cNvPr>
          <p:cNvCxnSpPr>
            <a:stCxn id="10" idx="3"/>
            <a:endCxn id="22" idx="1"/>
          </p:cNvCxnSpPr>
          <p:nvPr/>
        </p:nvCxnSpPr>
        <p:spPr>
          <a:xfrm>
            <a:off x="3491386" y="4864858"/>
            <a:ext cx="7879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D09FF23C-1444-D447-9D9F-BE180405C68D}"/>
              </a:ext>
            </a:extLst>
          </p:cNvPr>
          <p:cNvCxnSpPr>
            <a:stCxn id="23" idx="3"/>
            <a:endCxn id="24" idx="1"/>
          </p:cNvCxnSpPr>
          <p:nvPr/>
        </p:nvCxnSpPr>
        <p:spPr>
          <a:xfrm>
            <a:off x="3491386" y="5604190"/>
            <a:ext cx="7879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箭头: 右 30">
            <a:extLst>
              <a:ext uri="{FF2B5EF4-FFF2-40B4-BE49-F238E27FC236}">
                <a16:creationId xmlns:a16="http://schemas.microsoft.com/office/drawing/2014/main" id="{8022348A-59BD-71FF-9F4B-D8667D52EEBC}"/>
              </a:ext>
            </a:extLst>
          </p:cNvPr>
          <p:cNvSpPr/>
          <p:nvPr/>
        </p:nvSpPr>
        <p:spPr>
          <a:xfrm>
            <a:off x="7733571" y="5033600"/>
            <a:ext cx="723478" cy="3196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FF56EF1B-2FFA-72BF-A03B-E9136EE1E32A}"/>
              </a:ext>
            </a:extLst>
          </p:cNvPr>
          <p:cNvSpPr txBox="1"/>
          <p:nvPr/>
        </p:nvSpPr>
        <p:spPr>
          <a:xfrm>
            <a:off x="7431011" y="4738946"/>
            <a:ext cx="1095172" cy="369332"/>
          </a:xfrm>
          <a:prstGeom prst="rect">
            <a:avLst/>
          </a:prstGeom>
          <a:noFill/>
        </p:spPr>
        <p:txBody>
          <a:bodyPr wrap="none" rtlCol="0">
            <a:spAutoFit/>
          </a:bodyPr>
          <a:lstStyle/>
          <a:p>
            <a:r>
              <a:rPr lang="en-US" altLang="zh-CN" b="1" dirty="0">
                <a:solidFill>
                  <a:srgbClr val="FF0000"/>
                </a:solidFill>
                <a:latin typeface="Times" panose="02020603050405020304" pitchFamily="18" charset="0"/>
                <a:cs typeface="Times" panose="02020603050405020304" pitchFamily="18" charset="0"/>
              </a:rPr>
              <a:t>Optimize</a:t>
            </a:r>
            <a:endParaRPr lang="zh-CN" altLang="en-US" b="1" dirty="0">
              <a:solidFill>
                <a:srgbClr val="FF0000"/>
              </a:solidFill>
              <a:latin typeface="Times" panose="02020603050405020304" pitchFamily="18" charset="0"/>
              <a:cs typeface="Times" panose="02020603050405020304" pitchFamily="18" charset="0"/>
            </a:endParaRPr>
          </a:p>
        </p:txBody>
      </p:sp>
      <p:pic>
        <p:nvPicPr>
          <p:cNvPr id="1026" name="Picture 2" descr="Image result for Game theory model">
            <a:extLst>
              <a:ext uri="{FF2B5EF4-FFF2-40B4-BE49-F238E27FC236}">
                <a16:creationId xmlns:a16="http://schemas.microsoft.com/office/drawing/2014/main" id="{2C948E1F-1124-1873-F8D4-CE2DB39E11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5689" y="215353"/>
            <a:ext cx="3255743" cy="1696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12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88FB-A0F3-F155-48CE-90642DDE7F43}"/>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1E36F3DE-DB87-ECE3-62C4-E693EF1485FA}"/>
              </a:ext>
            </a:extLst>
          </p:cNvPr>
          <p:cNvSpPr/>
          <p:nvPr/>
        </p:nvSpPr>
        <p:spPr>
          <a:xfrm>
            <a:off x="838416" y="335640"/>
            <a:ext cx="10070774" cy="1949318"/>
          </a:xfrm>
          <a:prstGeom prst="rect">
            <a:avLst/>
          </a:prstGeom>
          <a:noFill/>
          <a:ln w="0" cap="flat">
            <a:noFill/>
            <a:prstDash val="solid"/>
            <a:miter lim="0"/>
          </a:ln>
        </p:spPr>
        <p:txBody>
          <a:bodyPr vert="horz" wrap="square" lIns="0" tIns="0" rIns="0" bIns="0"/>
          <a:lstStyle/>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Modeling and optimization </a:t>
            </a:r>
          </a:p>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of energy storage sharing</a:t>
            </a:r>
            <a:endParaRPr lang="en-US" sz="4400" b="1" kern="0" spc="-13" dirty="0">
              <a:solidFill>
                <a:srgbClr val="004282">
                  <a:alpha val="100000"/>
                </a:srgbClr>
              </a:solidFill>
              <a:latin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78EBBBC7-4072-9C92-C0CD-034652E36531}"/>
              </a:ext>
            </a:extLst>
          </p:cNvPr>
          <p:cNvPicPr>
            <a:picLocks noChangeAspect="1"/>
          </p:cNvPicPr>
          <p:nvPr/>
        </p:nvPicPr>
        <p:blipFill>
          <a:blip r:embed="rId3"/>
          <a:stretch>
            <a:fillRect/>
          </a:stretch>
        </p:blipFill>
        <p:spPr>
          <a:xfrm rot="21600000">
            <a:off x="-10406" y="474854"/>
            <a:ext cx="682751" cy="682752"/>
          </a:xfrm>
          <a:prstGeom prst="rect">
            <a:avLst/>
          </a:prstGeom>
        </p:spPr>
      </p:pic>
      <p:sp>
        <p:nvSpPr>
          <p:cNvPr id="54" name="textbox 54">
            <a:extLst>
              <a:ext uri="{FF2B5EF4-FFF2-40B4-BE49-F238E27FC236}">
                <a16:creationId xmlns:a16="http://schemas.microsoft.com/office/drawing/2014/main" id="{5285BAF0-7D26-0252-EE2F-A30C55F4B0B8}"/>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7" name="文本框 6">
            <a:extLst>
              <a:ext uri="{FF2B5EF4-FFF2-40B4-BE49-F238E27FC236}">
                <a16:creationId xmlns:a16="http://schemas.microsoft.com/office/drawing/2014/main" id="{698EB162-5346-4688-ACF2-FFA150D6F211}"/>
              </a:ext>
            </a:extLst>
          </p:cNvPr>
          <p:cNvSpPr txBox="1"/>
          <p:nvPr/>
        </p:nvSpPr>
        <p:spPr>
          <a:xfrm>
            <a:off x="506277" y="1530653"/>
            <a:ext cx="6096000" cy="381258"/>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Management Strategies for ES Sharing:</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3" name="文本框 2">
            <a:extLst>
              <a:ext uri="{FF2B5EF4-FFF2-40B4-BE49-F238E27FC236}">
                <a16:creationId xmlns:a16="http://schemas.microsoft.com/office/drawing/2014/main" id="{A449C796-B331-177D-6B8D-6BB41A2DDD0E}"/>
              </a:ext>
            </a:extLst>
          </p:cNvPr>
          <p:cNvSpPr txBox="1"/>
          <p:nvPr/>
        </p:nvSpPr>
        <p:spPr>
          <a:xfrm>
            <a:off x="506277" y="1945268"/>
            <a:ext cx="11317262" cy="4893647"/>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 Auction model: </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Users obtain energy storage resources through competitive bidding to ensure fair sharing of capacity and energy.</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 Capacity allocation model:</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en-US" altLang="zh-CN" sz="2400" kern="100" dirty="0">
                <a:effectLst/>
                <a:latin typeface="Times" panose="02020603050405020304" pitchFamily="18" charset="0"/>
                <a:ea typeface="等线" panose="02010600030101010101" pitchFamily="2" charset="-122"/>
                <a:cs typeface="Times" panose="02020603050405020304" pitchFamily="18" charset="0"/>
              </a:rPr>
              <a:t> ES sharing can also be studied as a resource allocation problem by allowing the capacity of the shared ES to be separable. Such models first determine how to allocate the capacity of the shared ES to each user. Then the users independently operate their portion of the ES capacity without exchanging their stored energy.</a:t>
            </a:r>
            <a:r>
              <a:rPr lang="zh-CN" altLang="zh-CN" sz="2400" kern="100" dirty="0">
                <a:effectLst/>
                <a:latin typeface="Times" panose="02020603050405020304" pitchFamily="18" charset="0"/>
                <a:ea typeface="等线" panose="02010600030101010101" pitchFamily="2" charset="-122"/>
                <a:cs typeface="Times" panose="02020603050405020304" pitchFamily="18" charset="0"/>
              </a:rPr>
              <a:t> </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endParaRPr lang="zh-CN"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 Pricing model: </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en-US" altLang="zh-CN" sz="2400" kern="100" dirty="0">
                <a:effectLst/>
                <a:latin typeface="Times" panose="02020603050405020304" pitchFamily="18" charset="0"/>
                <a:ea typeface="等线" panose="02010600030101010101" pitchFamily="2" charset="-122"/>
                <a:cs typeface="Times" panose="02020603050405020304" pitchFamily="18" charset="0"/>
              </a:rPr>
              <a:t>Ensure fairness through appropriate pricing mechanisms and incentivize users to participate in energy storage sharing.</a:t>
            </a:r>
            <a:endParaRPr lang="zh-CN" altLang="zh-CN" sz="2400" kern="100" dirty="0">
              <a:effectLst/>
              <a:latin typeface="Times" panose="02020603050405020304" pitchFamily="18" charset="0"/>
              <a:ea typeface="等线" panose="02010600030101010101" pitchFamily="2" charset="-122"/>
              <a:cs typeface="Times" panose="02020603050405020304" pitchFamily="18" charset="0"/>
            </a:endParaRPr>
          </a:p>
        </p:txBody>
      </p:sp>
      <p:pic>
        <p:nvPicPr>
          <p:cNvPr id="2050" name="Picture 2" descr="Image result for Auction model">
            <a:extLst>
              <a:ext uri="{FF2B5EF4-FFF2-40B4-BE49-F238E27FC236}">
                <a16:creationId xmlns:a16="http://schemas.microsoft.com/office/drawing/2014/main" id="{EA1F89B6-2AAD-3E28-2A87-A21A54B62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5872" y="335640"/>
            <a:ext cx="2630346" cy="2012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622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1AE04-8728-599D-2859-FDCA1E6F01C4}"/>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D66A4FD8-FBA8-D69C-1BCE-DDB5DC1C8F58}"/>
              </a:ext>
            </a:extLst>
          </p:cNvPr>
          <p:cNvSpPr/>
          <p:nvPr/>
        </p:nvSpPr>
        <p:spPr>
          <a:xfrm>
            <a:off x="838416" y="335640"/>
            <a:ext cx="10070774" cy="1949318"/>
          </a:xfrm>
          <a:prstGeom prst="rect">
            <a:avLst/>
          </a:prstGeom>
          <a:noFill/>
          <a:ln w="0" cap="flat">
            <a:noFill/>
            <a:prstDash val="solid"/>
            <a:miter lim="0"/>
          </a:ln>
        </p:spPr>
        <p:txBody>
          <a:bodyPr vert="horz" wrap="square" lIns="0" tIns="0" rIns="0" bIns="0"/>
          <a:lstStyle/>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Modeling and optimization </a:t>
            </a:r>
          </a:p>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of energy storage sharing</a:t>
            </a:r>
            <a:endParaRPr lang="en-US" sz="4400" b="1" kern="0" spc="-13" dirty="0">
              <a:solidFill>
                <a:srgbClr val="004282">
                  <a:alpha val="100000"/>
                </a:srgbClr>
              </a:solidFill>
              <a:latin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09526BFB-5C78-7219-DA0E-24A5529E4962}"/>
              </a:ext>
            </a:extLst>
          </p:cNvPr>
          <p:cNvPicPr>
            <a:picLocks noChangeAspect="1"/>
          </p:cNvPicPr>
          <p:nvPr/>
        </p:nvPicPr>
        <p:blipFill>
          <a:blip r:embed="rId3"/>
          <a:stretch>
            <a:fillRect/>
          </a:stretch>
        </p:blipFill>
        <p:spPr>
          <a:xfrm rot="21600000">
            <a:off x="-10406" y="474854"/>
            <a:ext cx="682751" cy="682752"/>
          </a:xfrm>
          <a:prstGeom prst="rect">
            <a:avLst/>
          </a:prstGeom>
        </p:spPr>
      </p:pic>
      <p:sp>
        <p:nvSpPr>
          <p:cNvPr id="54" name="textbox 54">
            <a:extLst>
              <a:ext uri="{FF2B5EF4-FFF2-40B4-BE49-F238E27FC236}">
                <a16:creationId xmlns:a16="http://schemas.microsoft.com/office/drawing/2014/main" id="{89E71043-258F-2EE6-EA8C-93FC5F93CC6A}"/>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7" name="文本框 6">
            <a:extLst>
              <a:ext uri="{FF2B5EF4-FFF2-40B4-BE49-F238E27FC236}">
                <a16:creationId xmlns:a16="http://schemas.microsoft.com/office/drawing/2014/main" id="{36B71A26-1D42-967D-6D8F-4012983BB4E1}"/>
              </a:ext>
            </a:extLst>
          </p:cNvPr>
          <p:cNvSpPr txBox="1"/>
          <p:nvPr/>
        </p:nvSpPr>
        <p:spPr>
          <a:xfrm>
            <a:off x="506276" y="1530653"/>
            <a:ext cx="6713507" cy="388440"/>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a:t>
            </a:r>
            <a:r>
              <a:rPr lang="zh-CN"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Determining the scale of shared energy storage</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3" name="文本框 2">
            <a:extLst>
              <a:ext uri="{FF2B5EF4-FFF2-40B4-BE49-F238E27FC236}">
                <a16:creationId xmlns:a16="http://schemas.microsoft.com/office/drawing/2014/main" id="{92BA7DC8-3A83-A50E-5856-83DA3858FEC6}"/>
              </a:ext>
            </a:extLst>
          </p:cNvPr>
          <p:cNvSpPr txBox="1"/>
          <p:nvPr/>
        </p:nvSpPr>
        <p:spPr>
          <a:xfrm>
            <a:off x="838416" y="1946960"/>
            <a:ext cx="10070774" cy="1569660"/>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The appropriate scale of energy storage can reduce costs. Capacity and energy sharing factors need to be considered in shared energy storage systems. </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a:p>
            <a:pPr algn="just"/>
            <a:r>
              <a:rPr lang="en-US" altLang="zh-CN" sz="2400" kern="100" dirty="0">
                <a:latin typeface="Times" panose="02020603050405020304" pitchFamily="18" charset="0"/>
                <a:ea typeface="等线" panose="02010600030101010101" pitchFamily="2" charset="-122"/>
                <a:cs typeface="Times" panose="02020603050405020304" pitchFamily="18" charset="0"/>
              </a:rPr>
              <a:t>Using </a:t>
            </a:r>
            <a:r>
              <a:rPr lang="zh-CN" altLang="zh-CN" sz="2400" kern="100" dirty="0">
                <a:effectLst/>
                <a:latin typeface="Times" panose="02020603050405020304" pitchFamily="18" charset="0"/>
                <a:ea typeface="等线" panose="02010600030101010101" pitchFamily="2" charset="-122"/>
                <a:cs typeface="Times" panose="02020603050405020304" pitchFamily="18" charset="0"/>
              </a:rPr>
              <a:t>random methods or planning models based on the sharing economy to determine the scale of shared energy storage.</a:t>
            </a:r>
          </a:p>
        </p:txBody>
      </p:sp>
      <p:sp>
        <p:nvSpPr>
          <p:cNvPr id="5" name="textbox 54">
            <a:extLst>
              <a:ext uri="{FF2B5EF4-FFF2-40B4-BE49-F238E27FC236}">
                <a16:creationId xmlns:a16="http://schemas.microsoft.com/office/drawing/2014/main" id="{1F84BA25-010C-9A34-D03D-F3DCF4AB50F3}"/>
              </a:ext>
            </a:extLst>
          </p:cNvPr>
          <p:cNvSpPr/>
          <p:nvPr/>
        </p:nvSpPr>
        <p:spPr>
          <a:xfrm>
            <a:off x="3764025" y="5110762"/>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6" name="文本框 5">
            <a:extLst>
              <a:ext uri="{FF2B5EF4-FFF2-40B4-BE49-F238E27FC236}">
                <a16:creationId xmlns:a16="http://schemas.microsoft.com/office/drawing/2014/main" id="{D7E7F640-B948-71F6-4747-AA9F7673E395}"/>
              </a:ext>
            </a:extLst>
          </p:cNvPr>
          <p:cNvSpPr txBox="1"/>
          <p:nvPr/>
        </p:nvSpPr>
        <p:spPr>
          <a:xfrm>
            <a:off x="506276" y="3793100"/>
            <a:ext cx="6713507" cy="388440"/>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a:t>
            </a:r>
            <a:r>
              <a:rPr lang="zh-CN"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Shared energy storage control</a:t>
            </a:r>
            <a:r>
              <a:rPr lang="en-US"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8" name="文本框 7">
            <a:extLst>
              <a:ext uri="{FF2B5EF4-FFF2-40B4-BE49-F238E27FC236}">
                <a16:creationId xmlns:a16="http://schemas.microsoft.com/office/drawing/2014/main" id="{9E3ABB50-1786-AADC-2252-D0E09AA9F420}"/>
              </a:ext>
            </a:extLst>
          </p:cNvPr>
          <p:cNvSpPr txBox="1"/>
          <p:nvPr/>
        </p:nvSpPr>
        <p:spPr>
          <a:xfrm>
            <a:off x="838416" y="4148238"/>
            <a:ext cx="10070774" cy="1569660"/>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Develop control strategies to achieve real-time energy management, optimize charging and discharging, coordinate energy storage sharing among different entities, use reinforcement learning to control energy storage, reduce grid congestion, etc.</a:t>
            </a:r>
            <a:endParaRPr lang="en-US" altLang="zh-CN" sz="2400" kern="100" dirty="0">
              <a:effectLst/>
              <a:latin typeface="Times" panose="02020603050405020304" pitchFamily="18" charset="0"/>
              <a:ea typeface="等线" panose="02010600030101010101" pitchFamily="2" charset="-122"/>
              <a:cs typeface="Times" panose="02020603050405020304" pitchFamily="18" charset="0"/>
            </a:endParaRPr>
          </a:p>
        </p:txBody>
      </p:sp>
    </p:spTree>
    <p:extLst>
      <p:ext uri="{BB962C8B-B14F-4D97-AF65-F5344CB8AC3E}">
        <p14:creationId xmlns:p14="http://schemas.microsoft.com/office/powerpoint/2010/main" val="1950977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D36DD-FEE2-D129-67BA-CC9B361D2D71}"/>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1EBCFDB9-38C2-7A0E-C255-8F3B1DE82D6F}"/>
              </a:ext>
            </a:extLst>
          </p:cNvPr>
          <p:cNvSpPr/>
          <p:nvPr/>
        </p:nvSpPr>
        <p:spPr>
          <a:xfrm>
            <a:off x="838416" y="335640"/>
            <a:ext cx="10070774" cy="1949318"/>
          </a:xfrm>
          <a:prstGeom prst="rect">
            <a:avLst/>
          </a:prstGeom>
          <a:noFill/>
          <a:ln w="0" cap="flat">
            <a:noFill/>
            <a:prstDash val="solid"/>
            <a:miter lim="0"/>
          </a:ln>
        </p:spPr>
        <p:txBody>
          <a:bodyPr vert="horz" wrap="square" lIns="0" tIns="0" rIns="0" bIns="0"/>
          <a:lstStyle/>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Modeling and optimization </a:t>
            </a:r>
          </a:p>
          <a:p>
            <a:pPr eaLnBrk="0">
              <a:lnSpc>
                <a:spcPct val="76000"/>
              </a:lnSpc>
              <a:spcBef>
                <a:spcPts val="7"/>
              </a:spcBef>
              <a:tabLst>
                <a:tab pos="990575" algn="l"/>
              </a:tabLst>
            </a:pPr>
            <a:r>
              <a:rPr lang="en-US" altLang="zh-CN" sz="4400" b="1" kern="0" spc="-13" dirty="0">
                <a:solidFill>
                  <a:srgbClr val="004282">
                    <a:alpha val="100000"/>
                  </a:srgbClr>
                </a:solidFill>
                <a:latin typeface="Times New Roman" panose="02020603050405020304"/>
                <a:cs typeface="Times New Roman" panose="02020603050405020304"/>
              </a:rPr>
              <a:t>of energy storage sharing</a:t>
            </a:r>
            <a:endParaRPr lang="en-US" sz="4400" b="1" kern="0" spc="-13" dirty="0">
              <a:solidFill>
                <a:srgbClr val="004282">
                  <a:alpha val="100000"/>
                </a:srgbClr>
              </a:solidFill>
              <a:latin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EDFB113F-A9AD-551E-4F5A-8F29BCC41435}"/>
              </a:ext>
            </a:extLst>
          </p:cNvPr>
          <p:cNvPicPr>
            <a:picLocks noChangeAspect="1"/>
          </p:cNvPicPr>
          <p:nvPr/>
        </p:nvPicPr>
        <p:blipFill>
          <a:blip r:embed="rId2"/>
          <a:stretch>
            <a:fillRect/>
          </a:stretch>
        </p:blipFill>
        <p:spPr>
          <a:xfrm rot="21600000">
            <a:off x="-10406" y="474854"/>
            <a:ext cx="682751" cy="682752"/>
          </a:xfrm>
          <a:prstGeom prst="rect">
            <a:avLst/>
          </a:prstGeom>
        </p:spPr>
      </p:pic>
      <p:sp>
        <p:nvSpPr>
          <p:cNvPr id="54" name="textbox 54">
            <a:extLst>
              <a:ext uri="{FF2B5EF4-FFF2-40B4-BE49-F238E27FC236}">
                <a16:creationId xmlns:a16="http://schemas.microsoft.com/office/drawing/2014/main" id="{7CADE5D5-2350-D083-12B4-5CA86C672FB8}"/>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7" name="文本框 6">
            <a:extLst>
              <a:ext uri="{FF2B5EF4-FFF2-40B4-BE49-F238E27FC236}">
                <a16:creationId xmlns:a16="http://schemas.microsoft.com/office/drawing/2014/main" id="{933630A8-964C-EACE-8713-A05FD795B0C3}"/>
              </a:ext>
            </a:extLst>
          </p:cNvPr>
          <p:cNvSpPr txBox="1"/>
          <p:nvPr/>
        </p:nvSpPr>
        <p:spPr>
          <a:xfrm>
            <a:off x="506276" y="1530653"/>
            <a:ext cx="6713507" cy="388440"/>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a:t>
            </a:r>
            <a:r>
              <a:rPr lang="zh-CN"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Multi-objective optimization:</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3" name="文本框 2">
            <a:extLst>
              <a:ext uri="{FF2B5EF4-FFF2-40B4-BE49-F238E27FC236}">
                <a16:creationId xmlns:a16="http://schemas.microsoft.com/office/drawing/2014/main" id="{98B47011-31AB-9C90-F017-1BE1120623FA}"/>
              </a:ext>
            </a:extLst>
          </p:cNvPr>
          <p:cNvSpPr txBox="1"/>
          <p:nvPr/>
        </p:nvSpPr>
        <p:spPr>
          <a:xfrm>
            <a:off x="838416" y="1898197"/>
            <a:ext cx="10070774" cy="1569660"/>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Apply multi-objective optimization frameworks to solve multi-conflicting objective problems in shared energy storage systems, such as collaborative decision-making frameworks, bi-objective mixed integer linear programming, and multi-objective optimization techniques</a:t>
            </a:r>
            <a:r>
              <a:rPr lang="en-US" altLang="zh-CN" sz="2400" kern="100" dirty="0">
                <a:effectLst/>
                <a:latin typeface="Times" panose="02020603050405020304" pitchFamily="18" charset="0"/>
                <a:ea typeface="等线" panose="02010600030101010101" pitchFamily="2" charset="-122"/>
                <a:cs typeface="Times" panose="02020603050405020304" pitchFamily="18" charset="0"/>
              </a:rPr>
              <a:t>.</a:t>
            </a:r>
            <a:endParaRPr lang="zh-CN" altLang="zh-CN" sz="2400" kern="100" dirty="0">
              <a:effectLst/>
              <a:latin typeface="Times" panose="02020603050405020304" pitchFamily="18" charset="0"/>
              <a:ea typeface="等线" panose="02010600030101010101" pitchFamily="2" charset="-122"/>
              <a:cs typeface="Times" panose="02020603050405020304" pitchFamily="18" charset="0"/>
            </a:endParaRPr>
          </a:p>
        </p:txBody>
      </p:sp>
      <p:sp>
        <p:nvSpPr>
          <p:cNvPr id="2" name="文本框 1">
            <a:extLst>
              <a:ext uri="{FF2B5EF4-FFF2-40B4-BE49-F238E27FC236}">
                <a16:creationId xmlns:a16="http://schemas.microsoft.com/office/drawing/2014/main" id="{7C8EF904-BC29-B4B6-0AE0-E091B72C6D00}"/>
              </a:ext>
            </a:extLst>
          </p:cNvPr>
          <p:cNvSpPr txBox="1"/>
          <p:nvPr/>
        </p:nvSpPr>
        <p:spPr>
          <a:xfrm>
            <a:off x="506276" y="4268268"/>
            <a:ext cx="6713507" cy="388440"/>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a:t>
            </a:r>
            <a:r>
              <a:rPr lang="zh-CN" altLang="zh-CN" sz="2400" kern="0" spc="-27" dirty="0">
                <a:solidFill>
                  <a:srgbClr val="ED7F0D">
                    <a:alpha val="100000"/>
                  </a:srgbClr>
                </a:solidFill>
                <a:latin typeface="Times New Roman" panose="02020603050405020304"/>
                <a:ea typeface="等线" panose="02010600030101010101" pitchFamily="2" charset="-122"/>
                <a:cs typeface="Times New Roman" panose="02020603050405020304"/>
              </a:rPr>
              <a:t> Uncertainty handling:</a:t>
            </a:r>
            <a:endParaRPr lang="zh-CN" altLang="en-US" sz="2400"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4" name="文本框 3">
            <a:extLst>
              <a:ext uri="{FF2B5EF4-FFF2-40B4-BE49-F238E27FC236}">
                <a16:creationId xmlns:a16="http://schemas.microsoft.com/office/drawing/2014/main" id="{CABB68C3-74E3-CDDB-7A22-1A6149354109}"/>
              </a:ext>
            </a:extLst>
          </p:cNvPr>
          <p:cNvSpPr txBox="1"/>
          <p:nvPr/>
        </p:nvSpPr>
        <p:spPr>
          <a:xfrm>
            <a:off x="838416" y="4780202"/>
            <a:ext cx="10070774" cy="1569660"/>
          </a:xfrm>
          <a:prstGeom prst="rect">
            <a:avLst/>
          </a:prstGeom>
          <a:noFill/>
        </p:spPr>
        <p:txBody>
          <a:bodyPr wrap="square">
            <a:spAutoFit/>
          </a:bodyPr>
          <a:lstStyle/>
          <a:p>
            <a:pPr algn="just"/>
            <a:r>
              <a:rPr lang="zh-CN" altLang="zh-CN" sz="2400" kern="100" dirty="0">
                <a:effectLst/>
                <a:latin typeface="Times" panose="02020603050405020304" pitchFamily="18" charset="0"/>
                <a:ea typeface="等线" panose="02010600030101010101" pitchFamily="2" charset="-122"/>
                <a:cs typeface="Times" panose="02020603050405020304" pitchFamily="18" charset="0"/>
              </a:rPr>
              <a:t>Uncertainty is crucial to energy storage sharing management. It includes three forms: random, robust and fuzzy</a:t>
            </a:r>
            <a:r>
              <a:rPr lang="en-US" altLang="zh-CN" sz="2400" kern="100" dirty="0">
                <a:latin typeface="Times" panose="02020603050405020304" pitchFamily="18" charset="0"/>
                <a:ea typeface="等线" panose="02010600030101010101" pitchFamily="2" charset="-122"/>
                <a:cs typeface="Times" panose="02020603050405020304" pitchFamily="18" charset="0"/>
              </a:rPr>
              <a:t>.</a:t>
            </a:r>
            <a:r>
              <a:rPr lang="zh-CN" altLang="en-US" sz="2400" kern="100" dirty="0">
                <a:latin typeface="Times" panose="02020603050405020304" pitchFamily="18" charset="0"/>
                <a:ea typeface="等线" panose="02010600030101010101" pitchFamily="2" charset="-122"/>
                <a:cs typeface="Times" panose="02020603050405020304" pitchFamily="18" charset="0"/>
              </a:rPr>
              <a:t> </a:t>
            </a:r>
            <a:r>
              <a:rPr lang="zh-CN" altLang="zh-CN" sz="2400" kern="100" dirty="0">
                <a:effectLst/>
                <a:latin typeface="Times" panose="02020603050405020304" pitchFamily="18" charset="0"/>
                <a:ea typeface="等线" panose="02010600030101010101" pitchFamily="2" charset="-122"/>
                <a:cs typeface="Times" panose="02020603050405020304" pitchFamily="18" charset="0"/>
              </a:rPr>
              <a:t>Currently, fuzzy and uncertain programming have not been applied in energy storage sharing and are future research directions.</a:t>
            </a:r>
          </a:p>
        </p:txBody>
      </p:sp>
    </p:spTree>
    <p:extLst>
      <p:ext uri="{BB962C8B-B14F-4D97-AF65-F5344CB8AC3E}">
        <p14:creationId xmlns:p14="http://schemas.microsoft.com/office/powerpoint/2010/main" val="715532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Times" panose="02020603050405020304" pitchFamily="18" charset="0"/>
              <a:ea typeface="Arial" panose="020B0604020202020204"/>
              <a:cs typeface="Times" panose="02020603050405020304" pitchFamily="18" charset="0"/>
            </a:endParaRPr>
          </a:p>
          <a:p>
            <a:pPr marL="16933" eaLnBrk="0">
              <a:lnSpc>
                <a:spcPct val="75000"/>
              </a:lnSpc>
            </a:pPr>
            <a:r>
              <a:rPr sz="1600" kern="0" spc="-40" dirty="0">
                <a:solidFill>
                  <a:srgbClr val="FFFFFF">
                    <a:alpha val="100000"/>
                  </a:srgbClr>
                </a:solidFill>
                <a:latin typeface="Times" panose="02020603050405020304" pitchFamily="18" charset="0"/>
                <a:ea typeface="Times New Roman" panose="02020603050405020304"/>
                <a:cs typeface="Times" panose="02020603050405020304" pitchFamily="18" charset="0"/>
              </a:rPr>
              <a:t>LED</a:t>
            </a:r>
            <a:endParaRPr sz="1600" dirty="0">
              <a:latin typeface="Times" panose="02020603050405020304" pitchFamily="18" charset="0"/>
              <a:ea typeface="Times New Roman" panose="02020603050405020304"/>
              <a:cs typeface="Times" panose="02020603050405020304" pitchFamily="18" charset="0"/>
            </a:endParaRPr>
          </a:p>
        </p:txBody>
      </p:sp>
      <p:sp>
        <p:nvSpPr>
          <p:cNvPr id="5" name="文本框 4">
            <a:extLst>
              <a:ext uri="{FF2B5EF4-FFF2-40B4-BE49-F238E27FC236}">
                <a16:creationId xmlns:a16="http://schemas.microsoft.com/office/drawing/2014/main" id="{A9B79DBE-A8F2-816F-C39A-A02500720A70}"/>
              </a:ext>
            </a:extLst>
          </p:cNvPr>
          <p:cNvSpPr txBox="1"/>
          <p:nvPr/>
        </p:nvSpPr>
        <p:spPr>
          <a:xfrm>
            <a:off x="838416" y="1943331"/>
            <a:ext cx="11279707" cy="4709366"/>
          </a:xfrm>
          <a:prstGeom prst="rect">
            <a:avLst/>
          </a:prstGeom>
          <a:noFill/>
        </p:spPr>
        <p:txBody>
          <a:bodyPr wrap="square">
            <a:spAutoFit/>
          </a:bodyPr>
          <a:lstStyle/>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Architectures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Interconnected: Show connection diagram. In small communities, users share idle capacity. It reduces cost by using existing equipment but has complex coordination.</a:t>
            </a:r>
          </a:p>
          <a:p>
            <a:pPr lvl="1">
              <a:spcBef>
                <a:spcPts val="800"/>
              </a:spcBef>
              <a:buFont typeface="Arial" panose="020B0604020202020204" pitchFamily="34" charset="0"/>
              <a:buChar char="•"/>
            </a:pPr>
            <a:r>
              <a:rPr lang="en-US" altLang="zh-CN" sz="3200" dirty="0">
                <a:latin typeface="Times" panose="02020603050405020304" pitchFamily="18" charset="0"/>
                <a:cs typeface="Times" panose="02020603050405020304" pitchFamily="18" charset="0"/>
              </a:rPr>
              <a:t> </a:t>
            </a:r>
            <a:r>
              <a:rPr lang="en-US" altLang="zh-CN" sz="2667" dirty="0">
                <a:latin typeface="Times" panose="02020603050405020304" pitchFamily="18" charset="0"/>
                <a:cs typeface="Times" panose="02020603050405020304" pitchFamily="18" charset="0"/>
              </a:rPr>
              <a:t>Common: Present layout of community storage. In large residential areas, it enables centralized management. It needs large initial investment.</a:t>
            </a:r>
          </a:p>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Sharing Types</a:t>
            </a:r>
            <a:endParaRPr lang="en-US" altLang="zh-CN" sz="3200" dirty="0">
              <a:latin typeface="Times" panose="02020603050405020304" pitchFamily="18" charset="0"/>
              <a:cs typeface="Times" panose="02020603050405020304" pitchFamily="18" charset="0"/>
            </a:endParaRP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Capacity: Use bar chart to show differences with comprehensive sharing. In industrial parks, enterprises allocate standby capacity.</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7B48BFF8-3A69-7E08-C862-F31FA4E9918D}"/>
              </a:ext>
            </a:extLst>
          </p:cNvPr>
          <p:cNvSpPr txBox="1"/>
          <p:nvPr/>
        </p:nvSpPr>
        <p:spPr>
          <a:xfrm>
            <a:off x="419208" y="1530654"/>
            <a:ext cx="10617760" cy="412677"/>
          </a:xfrm>
          <a:prstGeom prst="rect">
            <a:avLst/>
          </a:prstGeom>
          <a:noFill/>
        </p:spPr>
        <p:txBody>
          <a:bodyPr wrap="square">
            <a:spAutoFit/>
          </a:bodyPr>
          <a:lstStyle/>
          <a:p>
            <a:pPr marL="287013" eaLnBrk="0">
              <a:lnSpc>
                <a:spcPct val="78000"/>
              </a:lnSpc>
              <a:spcBef>
                <a:spcPts val="807"/>
              </a:spcBef>
            </a:pPr>
            <a:r>
              <a:rPr lang="zh-CN" altLang="en-US" sz="2400" kern="0" spc="-27" dirty="0">
                <a:solidFill>
                  <a:srgbClr val="ED7F0D">
                    <a:alpha val="100000"/>
                  </a:srgbClr>
                </a:solidFill>
                <a:latin typeface="Times" panose="02020603050405020304" pitchFamily="18" charset="0"/>
                <a:ea typeface="Times New Roman" panose="02020603050405020304"/>
                <a:cs typeface="Times" panose="02020603050405020304" pitchFamily="18" charset="0"/>
              </a:rPr>
              <a:t>●</a:t>
            </a:r>
            <a:r>
              <a:rPr lang="zh-CN" altLang="en-US" sz="2400" kern="0" spc="67" dirty="0">
                <a:solidFill>
                  <a:srgbClr val="ED7F0D">
                    <a:alpha val="100000"/>
                  </a:srgbClr>
                </a:solidFill>
                <a:latin typeface="Times" panose="02020603050405020304" pitchFamily="18" charset="0"/>
                <a:ea typeface="Times New Roman" panose="02020603050405020304"/>
                <a:cs typeface="Times" panose="02020603050405020304" pitchFamily="18" charset="0"/>
              </a:rPr>
              <a:t> </a:t>
            </a:r>
            <a:r>
              <a:rPr lang="zh-CN" altLang="zh-CN" sz="2133" dirty="0">
                <a:latin typeface="Times" panose="02020603050405020304" pitchFamily="18" charset="0"/>
                <a:ea typeface="等线" panose="02010600030101010101" pitchFamily="2" charset="-122"/>
                <a:cs typeface="Times" panose="02020603050405020304" pitchFamily="18" charset="0"/>
              </a:rPr>
              <a:t> </a:t>
            </a:r>
            <a:r>
              <a:rPr lang="en-US" altLang="zh-CN" sz="2667" kern="0" spc="-27" dirty="0">
                <a:solidFill>
                  <a:srgbClr val="ED7F0D">
                    <a:alpha val="100000"/>
                  </a:srgbClr>
                </a:solidFill>
                <a:latin typeface="Times" panose="02020603050405020304" pitchFamily="18" charset="0"/>
                <a:ea typeface="等线" panose="02010600030101010101" pitchFamily="2" charset="-122"/>
                <a:cs typeface="Times" panose="02020603050405020304" pitchFamily="18" charset="0"/>
              </a:rPr>
              <a:t>Architectures &amp; Energy Sharing Types</a:t>
            </a:r>
            <a:endParaRPr lang="zh-CN" altLang="en-US" sz="2667" kern="0" spc="-27" dirty="0">
              <a:solidFill>
                <a:srgbClr val="ED7F0D">
                  <a:alpha val="100000"/>
                </a:srgbClr>
              </a:solidFill>
              <a:latin typeface="Times" panose="02020603050405020304" pitchFamily="18" charset="0"/>
              <a:ea typeface="等线" panose="02010600030101010101" pitchFamily="2" charset="-122"/>
              <a:cs typeface="Times" panose="02020603050405020304" pitchFamily="18" charset="0"/>
            </a:endParaRPr>
          </a:p>
        </p:txBody>
      </p:sp>
      <p:sp>
        <p:nvSpPr>
          <p:cNvPr id="2" name="textbox 18">
            <a:extLst>
              <a:ext uri="{FF2B5EF4-FFF2-40B4-BE49-F238E27FC236}">
                <a16:creationId xmlns:a16="http://schemas.microsoft.com/office/drawing/2014/main" id="{7164455D-6A4F-642C-A45D-3EE9BD544F74}"/>
              </a:ext>
            </a:extLst>
          </p:cNvPr>
          <p:cNvSpPr/>
          <p:nvPr/>
        </p:nvSpPr>
        <p:spPr>
          <a:xfrm>
            <a:off x="73878" y="371249"/>
            <a:ext cx="6760610" cy="1313310"/>
          </a:xfrm>
          <a:prstGeom prst="rect">
            <a:avLst/>
          </a:prstGeom>
          <a:noFill/>
          <a:ln w="0" cap="flat">
            <a:noFill/>
            <a:prstDash val="solid"/>
            <a:miter lim="0"/>
          </a:ln>
        </p:spPr>
        <p:txBody>
          <a:bodyPr vert="horz" wrap="square" lIns="0" tIns="0" rIns="0" bIns="0"/>
          <a:lstStyle/>
          <a:p>
            <a:pPr marL="699329" eaLnBrk="0">
              <a:lnSpc>
                <a:spcPct val="76000"/>
              </a:lnSpc>
              <a:spcBef>
                <a:spcPts val="7"/>
              </a:spcBef>
              <a:tabLst>
                <a:tab pos="990575" algn="l"/>
              </a:tabLst>
            </a:pPr>
            <a:r>
              <a:rPr lang="en-US" altLang="zh-CN" sz="3733" b="1" kern="0" spc="-13" dirty="0">
                <a:solidFill>
                  <a:srgbClr val="004282">
                    <a:alpha val="100000"/>
                  </a:srgbClr>
                </a:solidFill>
                <a:latin typeface="Times New Roman" panose="02020603050405020304"/>
                <a:cs typeface="Times New Roman" panose="02020603050405020304"/>
              </a:rPr>
              <a:t>Literature Classification </a:t>
            </a:r>
          </a:p>
          <a:p>
            <a:pPr marL="699329" eaLnBrk="0">
              <a:lnSpc>
                <a:spcPct val="76000"/>
              </a:lnSpc>
              <a:spcBef>
                <a:spcPts val="7"/>
              </a:spcBef>
              <a:tabLst>
                <a:tab pos="990575" algn="l"/>
              </a:tabLst>
            </a:pPr>
            <a:r>
              <a:rPr lang="en-US" altLang="zh-CN" sz="3733" b="1" kern="0" spc="-13" dirty="0">
                <a:solidFill>
                  <a:srgbClr val="004282">
                    <a:alpha val="100000"/>
                  </a:srgbClr>
                </a:solidFill>
                <a:latin typeface="Times New Roman" panose="02020603050405020304"/>
                <a:cs typeface="Times New Roman" panose="02020603050405020304"/>
              </a:rPr>
              <a:t>–System Design Dimension</a:t>
            </a: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3" name="picture 20">
            <a:extLst>
              <a:ext uri="{FF2B5EF4-FFF2-40B4-BE49-F238E27FC236}">
                <a16:creationId xmlns:a16="http://schemas.microsoft.com/office/drawing/2014/main" id="{B38B4678-2827-A334-3FB9-F5D4ADE4D05E}"/>
              </a:ext>
            </a:extLst>
          </p:cNvPr>
          <p:cNvPicPr>
            <a:picLocks noChangeAspect="1"/>
          </p:cNvPicPr>
          <p:nvPr/>
        </p:nvPicPr>
        <p:blipFill>
          <a:blip r:embed="rId3"/>
          <a:stretch>
            <a:fillRect/>
          </a:stretch>
        </p:blipFill>
        <p:spPr>
          <a:xfrm rot="21600000">
            <a:off x="1" y="407521"/>
            <a:ext cx="682751" cy="68275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9712-07FA-3EBD-0D06-055B2693155E}"/>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DF0C4AED-3F3E-0FF7-2441-DD04067CE23E}"/>
              </a:ext>
            </a:extLst>
          </p:cNvPr>
          <p:cNvSpPr/>
          <p:nvPr/>
        </p:nvSpPr>
        <p:spPr>
          <a:xfrm>
            <a:off x="73878" y="371249"/>
            <a:ext cx="6760610" cy="1313310"/>
          </a:xfrm>
          <a:prstGeom prst="rect">
            <a:avLst/>
          </a:prstGeom>
          <a:noFill/>
          <a:ln w="0" cap="flat">
            <a:noFill/>
            <a:prstDash val="solid"/>
            <a:miter lim="0"/>
          </a:ln>
        </p:spPr>
        <p:txBody>
          <a:bodyPr vert="horz" wrap="square" lIns="0" tIns="0" rIns="0" bIns="0"/>
          <a:lstStyle/>
          <a:p>
            <a:pPr marL="699329" eaLnBrk="0">
              <a:lnSpc>
                <a:spcPct val="76000"/>
              </a:lnSpc>
              <a:spcBef>
                <a:spcPts val="7"/>
              </a:spcBef>
              <a:tabLst>
                <a:tab pos="990575" algn="l"/>
              </a:tabLst>
            </a:pPr>
            <a:r>
              <a:rPr lang="en-US" altLang="zh-CN" sz="3733" b="1" kern="0" spc="-13" dirty="0">
                <a:solidFill>
                  <a:srgbClr val="004282">
                    <a:alpha val="100000"/>
                  </a:srgbClr>
                </a:solidFill>
                <a:latin typeface="Times New Roman" panose="02020603050405020304"/>
                <a:cs typeface="Times New Roman" panose="02020603050405020304"/>
              </a:rPr>
              <a:t>Literature Classification </a:t>
            </a:r>
          </a:p>
          <a:p>
            <a:pPr marL="699329" eaLnBrk="0">
              <a:lnSpc>
                <a:spcPct val="76000"/>
              </a:lnSpc>
              <a:spcBef>
                <a:spcPts val="7"/>
              </a:spcBef>
              <a:tabLst>
                <a:tab pos="990575" algn="l"/>
              </a:tabLst>
            </a:pPr>
            <a:r>
              <a:rPr lang="en-US" altLang="zh-CN" sz="3733" b="1" kern="0" spc="-13" dirty="0">
                <a:solidFill>
                  <a:srgbClr val="004282">
                    <a:alpha val="100000"/>
                  </a:srgbClr>
                </a:solidFill>
                <a:latin typeface="Times New Roman" panose="02020603050405020304"/>
                <a:cs typeface="Times New Roman" panose="02020603050405020304"/>
              </a:rPr>
              <a:t>–System Design Dimension</a:t>
            </a: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5A7F5E73-3D5C-9229-3ECB-105FFD21E53C}"/>
              </a:ext>
            </a:extLst>
          </p:cNvPr>
          <p:cNvPicPr>
            <a:picLocks noChangeAspect="1"/>
          </p:cNvPicPr>
          <p:nvPr/>
        </p:nvPicPr>
        <p:blipFill>
          <a:blip r:embed="rId2"/>
          <a:stretch>
            <a:fillRect/>
          </a:stretch>
        </p:blipFill>
        <p:spPr>
          <a:xfrm rot="21600000">
            <a:off x="1" y="407521"/>
            <a:ext cx="682751" cy="682752"/>
          </a:xfrm>
          <a:prstGeom prst="rect">
            <a:avLst/>
          </a:prstGeom>
        </p:spPr>
      </p:pic>
      <p:sp>
        <p:nvSpPr>
          <p:cNvPr id="54" name="textbox 54">
            <a:extLst>
              <a:ext uri="{FF2B5EF4-FFF2-40B4-BE49-F238E27FC236}">
                <a16:creationId xmlns:a16="http://schemas.microsoft.com/office/drawing/2014/main" id="{9DFF0667-D7D2-7C08-B401-50D24D873997}"/>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DB5381B0-2FAD-7B13-F84A-A4D39B7737FC}"/>
              </a:ext>
            </a:extLst>
          </p:cNvPr>
          <p:cNvSpPr txBox="1"/>
          <p:nvPr/>
        </p:nvSpPr>
        <p:spPr>
          <a:xfrm>
            <a:off x="419209" y="1564441"/>
            <a:ext cx="10138612" cy="2801023"/>
          </a:xfrm>
          <a:prstGeom prst="rect">
            <a:avLst/>
          </a:prstGeom>
          <a:noFill/>
        </p:spPr>
        <p:txBody>
          <a:bodyPr wrap="square">
            <a:spAutoFit/>
          </a:bodyPr>
          <a:lstStyle/>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Scenarios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Cloud: Display multi-layer architecture. It has a large market share and diverse services compared to others.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Community: show community layout with storage facility and energy transmission lines. It reduces community electricity cost.</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D54346E8-D02C-2C5C-7CF4-371F0CF284BD}"/>
              </a:ext>
            </a:extLst>
          </p:cNvPr>
          <p:cNvSpPr txBox="1"/>
          <p:nvPr/>
        </p:nvSpPr>
        <p:spPr>
          <a:xfrm>
            <a:off x="629576" y="1126545"/>
            <a:ext cx="10617760" cy="1426224"/>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Application Scenarios &amp; Energy Integration</a:t>
            </a:r>
          </a:p>
          <a:p>
            <a:br>
              <a:rPr lang="en-US" altLang="zh-CN" sz="2667" dirty="0"/>
            </a:br>
            <a:endParaRPr lang="zh-CN" altLang="en-US" sz="2667"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
        <p:nvSpPr>
          <p:cNvPr id="6" name="文本框 5">
            <a:extLst>
              <a:ext uri="{FF2B5EF4-FFF2-40B4-BE49-F238E27FC236}">
                <a16:creationId xmlns:a16="http://schemas.microsoft.com/office/drawing/2014/main" id="{AC002D67-3A57-D7BE-101C-224C94742D7B}"/>
              </a:ext>
            </a:extLst>
          </p:cNvPr>
          <p:cNvSpPr txBox="1"/>
          <p:nvPr/>
        </p:nvSpPr>
        <p:spPr>
          <a:xfrm>
            <a:off x="419209" y="4007355"/>
            <a:ext cx="9116145" cy="2801023"/>
          </a:xfrm>
          <a:prstGeom prst="rect">
            <a:avLst/>
          </a:prstGeom>
          <a:noFill/>
        </p:spPr>
        <p:txBody>
          <a:bodyPr wrap="square" rtlCol="0">
            <a:spAutoFit/>
          </a:bodyPr>
          <a:lstStyle/>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Energy Technologies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Renewable (R): Present schematic of combination with storage. Explain how it achieves stable power supply.</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Local Generation: Illustrate connection with storage. Describe its role in ensuring power supply for critical loads.</a:t>
            </a:r>
          </a:p>
          <a:p>
            <a:endParaRPr lang="zh-CN" altLang="en-US" sz="2400" dirty="0">
              <a:latin typeface="Times" panose="02020603050405020304" pitchFamily="18" charset="0"/>
              <a:cs typeface="Times" panose="02020603050405020304" pitchFamily="18" charset="0"/>
            </a:endParaRPr>
          </a:p>
        </p:txBody>
      </p:sp>
      <p:pic>
        <p:nvPicPr>
          <p:cNvPr id="13" name="图片 12">
            <a:extLst>
              <a:ext uri="{FF2B5EF4-FFF2-40B4-BE49-F238E27FC236}">
                <a16:creationId xmlns:a16="http://schemas.microsoft.com/office/drawing/2014/main" id="{7489140C-A784-6592-5A9E-279DBA1053DC}"/>
              </a:ext>
            </a:extLst>
          </p:cNvPr>
          <p:cNvPicPr>
            <a:picLocks noChangeAspect="1"/>
          </p:cNvPicPr>
          <p:nvPr/>
        </p:nvPicPr>
        <p:blipFill>
          <a:blip r:embed="rId3"/>
          <a:stretch>
            <a:fillRect/>
          </a:stretch>
        </p:blipFill>
        <p:spPr>
          <a:xfrm>
            <a:off x="9298149" y="4007355"/>
            <a:ext cx="2893852" cy="2831544"/>
          </a:xfrm>
          <a:prstGeom prst="rect">
            <a:avLst/>
          </a:prstGeom>
        </p:spPr>
      </p:pic>
    </p:spTree>
    <p:extLst>
      <p:ext uri="{BB962C8B-B14F-4D97-AF65-F5344CB8AC3E}">
        <p14:creationId xmlns:p14="http://schemas.microsoft.com/office/powerpoint/2010/main" val="669779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13C4C-3BCD-411F-5FEE-E4E620B912E0}"/>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A9026D16-CFE4-8FDA-73ED-1171632E1286}"/>
              </a:ext>
            </a:extLst>
          </p:cNvPr>
          <p:cNvSpPr/>
          <p:nvPr/>
        </p:nvSpPr>
        <p:spPr>
          <a:xfrm>
            <a:off x="73877" y="240524"/>
            <a:ext cx="12118123" cy="1980096"/>
          </a:xfrm>
          <a:prstGeom prst="rect">
            <a:avLst/>
          </a:prstGeom>
          <a:noFill/>
          <a:ln w="0" cap="flat">
            <a:noFill/>
            <a:prstDash val="solid"/>
            <a:miter lim="0"/>
          </a:ln>
        </p:spPr>
        <p:txBody>
          <a:bodyPr vert="horz" wrap="square" lIns="0" tIns="0" rIns="0" bIns="0"/>
          <a:lstStyle/>
          <a:p>
            <a:pPr algn="l" rtl="0" eaLnBrk="0">
              <a:lnSpc>
                <a:spcPct val="108000"/>
              </a:lnSpc>
            </a:pPr>
            <a:endParaRPr sz="3200" dirty="0">
              <a:latin typeface="Arial" panose="020B0604020202020204"/>
              <a:ea typeface="Arial" panose="020B0604020202020204"/>
              <a:cs typeface="Arial" panose="020B0604020202020204"/>
            </a:endParaRPr>
          </a:p>
          <a:p>
            <a:pPr marL="699329" eaLnBrk="0">
              <a:lnSpc>
                <a:spcPct val="76000"/>
              </a:lnSpc>
              <a:spcBef>
                <a:spcPts val="7"/>
              </a:spcBef>
              <a:tabLst>
                <a:tab pos="990575" algn="l"/>
              </a:tabLst>
            </a:pPr>
            <a:r>
              <a:rPr lang="en-US" altLang="zh-CN" sz="3200" b="1" kern="0" spc="-13" dirty="0">
                <a:solidFill>
                  <a:srgbClr val="004282">
                    <a:alpha val="100000"/>
                  </a:srgbClr>
                </a:solidFill>
                <a:latin typeface="Times New Roman" panose="02020603050405020304"/>
                <a:cs typeface="Times New Roman" panose="02020603050405020304"/>
              </a:rPr>
              <a:t>Literature Classification</a:t>
            </a:r>
          </a:p>
          <a:p>
            <a:pPr marL="699329" eaLnBrk="0">
              <a:lnSpc>
                <a:spcPct val="76000"/>
              </a:lnSpc>
              <a:spcBef>
                <a:spcPts val="7"/>
              </a:spcBef>
              <a:tabLst>
                <a:tab pos="990575" algn="l"/>
              </a:tabLst>
            </a:pPr>
            <a:r>
              <a:rPr lang="en-US" altLang="zh-CN" sz="3200" b="1" kern="0" spc="-13" dirty="0">
                <a:solidFill>
                  <a:srgbClr val="004282">
                    <a:alpha val="100000"/>
                  </a:srgbClr>
                </a:solidFill>
                <a:latin typeface="Times New Roman" panose="02020603050405020304"/>
                <a:cs typeface="Times New Roman" panose="02020603050405020304"/>
              </a:rPr>
              <a:t> - Modeling and Optimization Technology Dimension</a:t>
            </a:r>
          </a:p>
          <a:p>
            <a:pPr marL="699329" eaLnBrk="0">
              <a:lnSpc>
                <a:spcPct val="76000"/>
              </a:lnSpc>
              <a:spcBef>
                <a:spcPts val="7"/>
              </a:spcBef>
              <a:tabLst>
                <a:tab pos="990575" algn="l"/>
              </a:tabLst>
            </a:pPr>
            <a:endParaRPr lang="en-US" altLang="zh-CN" sz="3733" b="1" kern="0" spc="-13" dirty="0">
              <a:solidFill>
                <a:srgbClr val="004282">
                  <a:alpha val="100000"/>
                </a:srgbClr>
              </a:solidFill>
              <a:latin typeface="Times New Roman" panose="02020603050405020304"/>
              <a:cs typeface="Times New Roman" panose="02020603050405020304"/>
            </a:endParaRP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7842DAC7-B8DC-DB7C-DAE8-78F7749C3AE1}"/>
              </a:ext>
            </a:extLst>
          </p:cNvPr>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a:extLst>
              <a:ext uri="{FF2B5EF4-FFF2-40B4-BE49-F238E27FC236}">
                <a16:creationId xmlns:a16="http://schemas.microsoft.com/office/drawing/2014/main" id="{3FDCD2B4-3569-150B-81AE-FE3927E3D71E}"/>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12FC2663-CA55-242A-07AB-861CE036EC32}"/>
              </a:ext>
            </a:extLst>
          </p:cNvPr>
          <p:cNvSpPr txBox="1"/>
          <p:nvPr/>
        </p:nvSpPr>
        <p:spPr>
          <a:xfrm>
            <a:off x="876918" y="1918826"/>
            <a:ext cx="8298433" cy="5140382"/>
          </a:xfrm>
          <a:prstGeom prst="rect">
            <a:avLst/>
          </a:prstGeom>
          <a:noFill/>
        </p:spPr>
        <p:txBody>
          <a:bodyPr wrap="square">
            <a:spAutoFit/>
          </a:bodyPr>
          <a:lstStyle/>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Fairness and Decision Frameworks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Capacity Allocation: Provide flowchart. It allocates based on demand    proportion or priority.</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Pricing: Display models and curves. It motivates user behavior.</a:t>
            </a:r>
          </a:p>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Decision Frameworks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Cooperative Game: Use case to show cost and benefit   changes. Present game tree for decision and allocation.</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Non-cooperative Game: Use scatter plot to compare efficiencies. Analyze limitations like resource waste.</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9DF1CBF9-E3BD-E843-C2DD-D615D42897EE}"/>
              </a:ext>
            </a:extLst>
          </p:cNvPr>
          <p:cNvSpPr txBox="1"/>
          <p:nvPr/>
        </p:nvSpPr>
        <p:spPr>
          <a:xfrm>
            <a:off x="470543" y="1479784"/>
            <a:ext cx="10617760" cy="1426224"/>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Fairness and Decision Frameworks</a:t>
            </a:r>
          </a:p>
          <a:p>
            <a:br>
              <a:rPr lang="en-US" altLang="zh-CN" sz="2667" dirty="0"/>
            </a:br>
            <a:endParaRPr lang="zh-CN" altLang="en-US" sz="2667"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pic>
        <p:nvPicPr>
          <p:cNvPr id="3" name="图片 2">
            <a:extLst>
              <a:ext uri="{FF2B5EF4-FFF2-40B4-BE49-F238E27FC236}">
                <a16:creationId xmlns:a16="http://schemas.microsoft.com/office/drawing/2014/main" id="{C4162DFF-21A4-0C06-C88E-ECE4C7F1923B}"/>
              </a:ext>
            </a:extLst>
          </p:cNvPr>
          <p:cNvPicPr>
            <a:picLocks noChangeAspect="1"/>
          </p:cNvPicPr>
          <p:nvPr/>
        </p:nvPicPr>
        <p:blipFill>
          <a:blip r:embed="rId3"/>
          <a:stretch>
            <a:fillRect/>
          </a:stretch>
        </p:blipFill>
        <p:spPr>
          <a:xfrm flipH="1">
            <a:off x="9509853" y="4175853"/>
            <a:ext cx="2682147" cy="2682147"/>
          </a:xfrm>
          <a:prstGeom prst="rect">
            <a:avLst/>
          </a:prstGeom>
        </p:spPr>
      </p:pic>
    </p:spTree>
    <p:extLst>
      <p:ext uri="{BB962C8B-B14F-4D97-AF65-F5344CB8AC3E}">
        <p14:creationId xmlns:p14="http://schemas.microsoft.com/office/powerpoint/2010/main" val="4077186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35BAF-CD1C-A7C7-3CDD-FC315A02AE6A}"/>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CC3D35D2-1EA4-6C4C-4AC9-7065AEE6D620}"/>
              </a:ext>
            </a:extLst>
          </p:cNvPr>
          <p:cNvSpPr/>
          <p:nvPr/>
        </p:nvSpPr>
        <p:spPr>
          <a:xfrm>
            <a:off x="73877" y="240524"/>
            <a:ext cx="12118123" cy="1980096"/>
          </a:xfrm>
          <a:prstGeom prst="rect">
            <a:avLst/>
          </a:prstGeom>
          <a:noFill/>
          <a:ln w="0" cap="flat">
            <a:noFill/>
            <a:prstDash val="solid"/>
            <a:miter lim="0"/>
          </a:ln>
        </p:spPr>
        <p:txBody>
          <a:bodyPr vert="horz" wrap="square" lIns="0" tIns="0" rIns="0" bIns="0"/>
          <a:lstStyle/>
          <a:p>
            <a:pPr algn="l" rtl="0" eaLnBrk="0">
              <a:lnSpc>
                <a:spcPct val="108000"/>
              </a:lnSpc>
            </a:pPr>
            <a:endParaRPr sz="3200" dirty="0">
              <a:latin typeface="Arial" panose="020B0604020202020204"/>
              <a:ea typeface="Arial" panose="020B0604020202020204"/>
              <a:cs typeface="Arial" panose="020B0604020202020204"/>
            </a:endParaRPr>
          </a:p>
          <a:p>
            <a:pPr marL="699329" eaLnBrk="0">
              <a:lnSpc>
                <a:spcPct val="76000"/>
              </a:lnSpc>
              <a:spcBef>
                <a:spcPts val="7"/>
              </a:spcBef>
              <a:tabLst>
                <a:tab pos="990575" algn="l"/>
              </a:tabLst>
            </a:pPr>
            <a:r>
              <a:rPr lang="en-US" altLang="zh-CN" sz="3200" b="1" kern="0" spc="-13" dirty="0">
                <a:solidFill>
                  <a:srgbClr val="004282">
                    <a:alpha val="100000"/>
                  </a:srgbClr>
                </a:solidFill>
                <a:latin typeface="Times New Roman" panose="02020603050405020304"/>
                <a:cs typeface="Times New Roman" panose="02020603050405020304"/>
              </a:rPr>
              <a:t>Literature Classification </a:t>
            </a:r>
          </a:p>
          <a:p>
            <a:pPr marL="699329" eaLnBrk="0">
              <a:lnSpc>
                <a:spcPct val="76000"/>
              </a:lnSpc>
              <a:spcBef>
                <a:spcPts val="7"/>
              </a:spcBef>
              <a:tabLst>
                <a:tab pos="990575" algn="l"/>
              </a:tabLst>
            </a:pPr>
            <a:r>
              <a:rPr lang="en-US" altLang="zh-CN" sz="3200" b="1" kern="0" spc="-13" dirty="0">
                <a:solidFill>
                  <a:srgbClr val="004282">
                    <a:alpha val="100000"/>
                  </a:srgbClr>
                </a:solidFill>
                <a:latin typeface="Times New Roman" panose="02020603050405020304"/>
                <a:cs typeface="Times New Roman" panose="02020603050405020304"/>
              </a:rPr>
              <a:t>- Modeling and Optimization Technology Dimension</a:t>
            </a:r>
          </a:p>
          <a:p>
            <a:pPr marL="699329" eaLnBrk="0">
              <a:lnSpc>
                <a:spcPct val="76000"/>
              </a:lnSpc>
              <a:spcBef>
                <a:spcPts val="7"/>
              </a:spcBef>
              <a:tabLst>
                <a:tab pos="990575" algn="l"/>
              </a:tabLst>
            </a:pPr>
            <a:endParaRPr lang="en-US" altLang="zh-CN" sz="3733" b="1" kern="0" spc="-13" dirty="0">
              <a:solidFill>
                <a:srgbClr val="004282">
                  <a:alpha val="100000"/>
                </a:srgbClr>
              </a:solidFill>
              <a:latin typeface="Times New Roman" panose="02020603050405020304"/>
              <a:cs typeface="Times New Roman" panose="02020603050405020304"/>
            </a:endParaRP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9049DCF2-A5B4-61CE-5CAF-932EDE50E13D}"/>
              </a:ext>
            </a:extLst>
          </p:cNvPr>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a:extLst>
              <a:ext uri="{FF2B5EF4-FFF2-40B4-BE49-F238E27FC236}">
                <a16:creationId xmlns:a16="http://schemas.microsoft.com/office/drawing/2014/main" id="{25D0EB0E-B31A-7760-1B9D-C79FB1EC66FB}"/>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FD73291E-D9C9-E9DE-D699-931FF6C3AF3E}"/>
              </a:ext>
            </a:extLst>
          </p:cNvPr>
          <p:cNvSpPr txBox="1"/>
          <p:nvPr/>
        </p:nvSpPr>
        <p:spPr>
          <a:xfrm>
            <a:off x="1103698" y="2000899"/>
            <a:ext cx="9685205" cy="4319516"/>
          </a:xfrm>
          <a:prstGeom prst="rect">
            <a:avLst/>
          </a:prstGeom>
          <a:noFill/>
        </p:spPr>
        <p:txBody>
          <a:bodyPr wrap="square">
            <a:spAutoFit/>
          </a:bodyPr>
          <a:lstStyle/>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Mathematical Formulas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Multi-level/Stage: Show timeline with decision points. Present formula evolution.</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 Multi-objective: Use radar chart for weight distribution. Explain solution ideas.</a:t>
            </a:r>
          </a:p>
          <a:p>
            <a:pPr marL="380990" indent="-380990" algn="just">
              <a:buFont typeface="Arial" panose="020B0604020202020204" pitchFamily="34" charset="0"/>
              <a:buChar char="•"/>
            </a:pPr>
            <a:r>
              <a:rPr lang="en-US" altLang="zh-CN" sz="3200" b="1" dirty="0">
                <a:latin typeface="Times" panose="02020603050405020304" pitchFamily="18" charset="0"/>
                <a:cs typeface="Times" panose="02020603050405020304" pitchFamily="18" charset="0"/>
              </a:rPr>
              <a:t>Solution Technologies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Solvers/Algorithms: List common ones and evaluate effects.</a:t>
            </a:r>
          </a:p>
          <a:p>
            <a:pPr lvl="1">
              <a:spcBef>
                <a:spcPts val="800"/>
              </a:spcBef>
              <a:buFont typeface="Arial" panose="020B0604020202020204" pitchFamily="34" charset="0"/>
              <a:buChar char="•"/>
            </a:pPr>
            <a:r>
              <a:rPr lang="en-US" altLang="zh-CN" sz="2667" dirty="0">
                <a:latin typeface="Times" panose="02020603050405020304" pitchFamily="18" charset="0"/>
                <a:cs typeface="Times" panose="02020603050405020304" pitchFamily="18" charset="0"/>
              </a:rPr>
              <a:t>Custom: Highlight innovations and define applicable scenarios.</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6969E4B3-8B54-3E81-DE5C-68E473CDD7C3}"/>
              </a:ext>
            </a:extLst>
          </p:cNvPr>
          <p:cNvSpPr txBox="1"/>
          <p:nvPr/>
        </p:nvSpPr>
        <p:spPr>
          <a:xfrm>
            <a:off x="470543" y="1479784"/>
            <a:ext cx="10617760" cy="1426224"/>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Mathematical and Solution Technologies</a:t>
            </a:r>
          </a:p>
          <a:p>
            <a:br>
              <a:rPr lang="en-US" altLang="zh-CN" sz="2667" dirty="0"/>
            </a:br>
            <a:endParaRPr lang="zh-CN" altLang="en-US" sz="2667"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Tree>
    <p:extLst>
      <p:ext uri="{BB962C8B-B14F-4D97-AF65-F5344CB8AC3E}">
        <p14:creationId xmlns:p14="http://schemas.microsoft.com/office/powerpoint/2010/main" val="2060408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FB4CB-B344-7212-7569-12D1FBDD34A1}"/>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68C33FD0-D100-B77E-335C-8ADB99C6D6B4}"/>
              </a:ext>
            </a:extLst>
          </p:cNvPr>
          <p:cNvPicPr>
            <a:picLocks noChangeAspect="1"/>
          </p:cNvPicPr>
          <p:nvPr/>
        </p:nvPicPr>
        <p:blipFill>
          <a:blip r:embed="rId3"/>
          <a:stretch>
            <a:fillRect/>
          </a:stretch>
        </p:blipFill>
        <p:spPr>
          <a:xfrm>
            <a:off x="7197304" y="1561313"/>
            <a:ext cx="4664739" cy="4394200"/>
          </a:xfrm>
          <a:prstGeom prst="rect">
            <a:avLst/>
          </a:prstGeom>
        </p:spPr>
      </p:pic>
      <p:sp>
        <p:nvSpPr>
          <p:cNvPr id="18" name="textbox 18">
            <a:extLst>
              <a:ext uri="{FF2B5EF4-FFF2-40B4-BE49-F238E27FC236}">
                <a16:creationId xmlns:a16="http://schemas.microsoft.com/office/drawing/2014/main" id="{49C1067A-006F-BF25-E844-80585A0CA885}"/>
              </a:ext>
            </a:extLst>
          </p:cNvPr>
          <p:cNvSpPr/>
          <p:nvPr/>
        </p:nvSpPr>
        <p:spPr>
          <a:xfrm>
            <a:off x="838416" y="177655"/>
            <a:ext cx="12118123" cy="1427157"/>
          </a:xfrm>
          <a:prstGeom prst="rect">
            <a:avLst/>
          </a:prstGeom>
          <a:noFill/>
          <a:ln w="0" cap="flat">
            <a:noFill/>
            <a:prstDash val="solid"/>
            <a:miter lim="0"/>
          </a:ln>
        </p:spPr>
        <p:txBody>
          <a:bodyPr vert="horz" wrap="square" lIns="0" tIns="0" rIns="0" bIns="0"/>
          <a:lstStyle/>
          <a:p>
            <a:pPr>
              <a:spcAft>
                <a:spcPts val="400"/>
              </a:spcAft>
            </a:pPr>
            <a:r>
              <a:rPr lang="en-US" altLang="zh-CN" sz="4267" b="1" kern="0" spc="-13" dirty="0">
                <a:solidFill>
                  <a:srgbClr val="004282">
                    <a:alpha val="100000"/>
                  </a:srgbClr>
                </a:solidFill>
                <a:latin typeface="Times New Roman" panose="02020603050405020304"/>
                <a:cs typeface="Times New Roman" panose="02020603050405020304"/>
              </a:rPr>
              <a:t>Future Research</a:t>
            </a:r>
          </a:p>
          <a:p>
            <a:pPr>
              <a:spcAft>
                <a:spcPts val="400"/>
              </a:spcAft>
            </a:pPr>
            <a:r>
              <a:rPr lang="en-US" altLang="zh-CN" sz="4267" b="1" kern="0" spc="-13" dirty="0">
                <a:solidFill>
                  <a:srgbClr val="004282">
                    <a:alpha val="100000"/>
                  </a:srgbClr>
                </a:solidFill>
                <a:latin typeface="Times New Roman" panose="02020603050405020304"/>
                <a:cs typeface="Times New Roman" panose="02020603050405020304"/>
              </a:rPr>
              <a:t>-benefit expansion and technology innovation</a:t>
            </a:r>
            <a:endParaRPr sz="667" dirty="0">
              <a:latin typeface="Arial" panose="020B0604020202020204"/>
              <a:ea typeface="Arial" panose="020B0604020202020204"/>
              <a:cs typeface="Arial" panose="020B0604020202020204"/>
            </a:endParaRPr>
          </a:p>
        </p:txBody>
      </p:sp>
      <p:pic>
        <p:nvPicPr>
          <p:cNvPr id="20" name="picture 20">
            <a:extLst>
              <a:ext uri="{FF2B5EF4-FFF2-40B4-BE49-F238E27FC236}">
                <a16:creationId xmlns:a16="http://schemas.microsoft.com/office/drawing/2014/main" id="{AFB23A96-EBB1-6DCB-CE1A-99B18B0CC4C6}"/>
              </a:ext>
            </a:extLst>
          </p:cNvPr>
          <p:cNvPicPr>
            <a:picLocks noChangeAspect="1"/>
          </p:cNvPicPr>
          <p:nvPr/>
        </p:nvPicPr>
        <p:blipFill>
          <a:blip r:embed="rId4"/>
          <a:stretch>
            <a:fillRect/>
          </a:stretch>
        </p:blipFill>
        <p:spPr>
          <a:xfrm rot="21600000">
            <a:off x="1" y="686528"/>
            <a:ext cx="682751" cy="682752"/>
          </a:xfrm>
          <a:prstGeom prst="rect">
            <a:avLst/>
          </a:prstGeom>
        </p:spPr>
      </p:pic>
      <p:sp>
        <p:nvSpPr>
          <p:cNvPr id="54" name="textbox 54">
            <a:extLst>
              <a:ext uri="{FF2B5EF4-FFF2-40B4-BE49-F238E27FC236}">
                <a16:creationId xmlns:a16="http://schemas.microsoft.com/office/drawing/2014/main" id="{BED5FEC8-B338-2337-ED70-EC098E79DFC8}"/>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96C6B224-EA93-D3D6-F523-78C9603E87A8}"/>
              </a:ext>
            </a:extLst>
          </p:cNvPr>
          <p:cNvSpPr txBox="1"/>
          <p:nvPr/>
        </p:nvSpPr>
        <p:spPr>
          <a:xfrm>
            <a:off x="47026" y="2449488"/>
            <a:ext cx="7248354" cy="1734064"/>
          </a:xfrm>
          <a:prstGeom prst="rect">
            <a:avLst/>
          </a:prstGeom>
          <a:noFill/>
        </p:spPr>
        <p:txBody>
          <a:bodyPr wrap="square">
            <a:spAutoFit/>
          </a:bodyPr>
          <a:lstStyle/>
          <a:p>
            <a:pPr lvl="2" algn="just"/>
            <a:r>
              <a:rPr lang="en-US" altLang="zh-CN" sz="2667" dirty="0">
                <a:latin typeface="Times" panose="02020603050405020304" pitchFamily="18" charset="0"/>
                <a:cs typeface="Times" panose="02020603050405020304" pitchFamily="18" charset="0"/>
              </a:rPr>
              <a:t>For benefit expansion, the quantification of peak shaving and the enhancement of energy storage resilience are studied through curve overlay and chart analysis respectively. </a:t>
            </a:r>
            <a:endParaRPr lang="zh-CN" altLang="zh-CN" sz="2667"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C6F27174-A5F7-265D-E558-52F61ED83C52}"/>
              </a:ext>
            </a:extLst>
          </p:cNvPr>
          <p:cNvSpPr txBox="1"/>
          <p:nvPr/>
        </p:nvSpPr>
        <p:spPr>
          <a:xfrm>
            <a:off x="735824" y="1775767"/>
            <a:ext cx="10617760" cy="502766"/>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Benefit Expansion</a:t>
            </a:r>
          </a:p>
        </p:txBody>
      </p:sp>
    </p:spTree>
    <p:extLst>
      <p:ext uri="{BB962C8B-B14F-4D97-AF65-F5344CB8AC3E}">
        <p14:creationId xmlns:p14="http://schemas.microsoft.com/office/powerpoint/2010/main" val="3998590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A2EC-203E-94D5-967E-A73AF856DC1A}"/>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A0CF1B68-3648-017A-CC07-B76334D704D3}"/>
              </a:ext>
            </a:extLst>
          </p:cNvPr>
          <p:cNvSpPr/>
          <p:nvPr/>
        </p:nvSpPr>
        <p:spPr>
          <a:xfrm>
            <a:off x="838416" y="203009"/>
            <a:ext cx="12118123" cy="1980096"/>
          </a:xfrm>
          <a:prstGeom prst="rect">
            <a:avLst/>
          </a:prstGeom>
          <a:noFill/>
          <a:ln w="0" cap="flat">
            <a:noFill/>
            <a:prstDash val="solid"/>
            <a:miter lim="0"/>
          </a:ln>
        </p:spPr>
        <p:txBody>
          <a:bodyPr vert="horz" wrap="square" lIns="0" tIns="0" rIns="0" bIns="0"/>
          <a:lstStyle/>
          <a:p>
            <a:pPr algn="l" rtl="0" eaLnBrk="0">
              <a:lnSpc>
                <a:spcPct val="108000"/>
              </a:lnSpc>
            </a:pPr>
            <a:endParaRPr sz="3200" dirty="0">
              <a:latin typeface="Arial" panose="020B0604020202020204"/>
              <a:ea typeface="Arial" panose="020B0604020202020204"/>
              <a:cs typeface="Arial" panose="020B0604020202020204"/>
            </a:endParaRPr>
          </a:p>
          <a:p>
            <a:pPr>
              <a:spcAft>
                <a:spcPts val="400"/>
              </a:spcAft>
            </a:pPr>
            <a:r>
              <a:rPr lang="en-US" altLang="zh-CN" sz="4267" b="1" kern="0" spc="-13" dirty="0">
                <a:solidFill>
                  <a:srgbClr val="004282">
                    <a:alpha val="100000"/>
                  </a:srgbClr>
                </a:solidFill>
                <a:latin typeface="Times New Roman" panose="02020603050405020304"/>
                <a:cs typeface="Times New Roman" panose="02020603050405020304"/>
              </a:rPr>
              <a:t>Future Research</a:t>
            </a:r>
          </a:p>
          <a:p>
            <a:pPr marL="699329" eaLnBrk="0">
              <a:lnSpc>
                <a:spcPct val="76000"/>
              </a:lnSpc>
              <a:spcBef>
                <a:spcPts val="7"/>
              </a:spcBef>
              <a:tabLst>
                <a:tab pos="990575" algn="l"/>
              </a:tabLst>
            </a:pPr>
            <a:endParaRPr lang="en-US" altLang="zh-CN" sz="3733" b="1" kern="0" spc="-13" dirty="0">
              <a:solidFill>
                <a:srgbClr val="004282">
                  <a:alpha val="100000"/>
                </a:srgbClr>
              </a:solidFill>
              <a:latin typeface="Times New Roman" panose="02020603050405020304"/>
              <a:cs typeface="Times New Roman" panose="02020603050405020304"/>
            </a:endParaRP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42AFB27D-330C-04B6-C114-EFD1BD6E3B07}"/>
              </a:ext>
            </a:extLst>
          </p:cNvPr>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a:extLst>
              <a:ext uri="{FF2B5EF4-FFF2-40B4-BE49-F238E27FC236}">
                <a16:creationId xmlns:a16="http://schemas.microsoft.com/office/drawing/2014/main" id="{00DF9D37-F168-5336-4A3F-A2DEE3889753}"/>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40F8F8D8-7737-0F92-E6F8-C210453CE3A6}"/>
              </a:ext>
            </a:extLst>
          </p:cNvPr>
          <p:cNvSpPr txBox="1"/>
          <p:nvPr/>
        </p:nvSpPr>
        <p:spPr>
          <a:xfrm>
            <a:off x="-372767" y="1997114"/>
            <a:ext cx="8334196" cy="4154984"/>
          </a:xfrm>
          <a:prstGeom prst="rect">
            <a:avLst/>
          </a:prstGeom>
          <a:noFill/>
        </p:spPr>
        <p:txBody>
          <a:bodyPr wrap="square">
            <a:spAutoFit/>
          </a:bodyPr>
          <a:lstStyle/>
          <a:p>
            <a:pPr lvl="2" algn="just"/>
            <a:r>
              <a:rPr lang="en-US" altLang="zh-CN" sz="2400" dirty="0">
                <a:solidFill>
                  <a:srgbClr val="222222"/>
                </a:solidFill>
                <a:latin typeface="Times" panose="02020603050405020304" pitchFamily="18" charset="0"/>
                <a:cs typeface="Times" panose="02020603050405020304" pitchFamily="18" charset="0"/>
              </a:rPr>
              <a:t>In the aspect of non-battery storage technologies, schematic diagrams will be presented to illustrate their principles. Subsequently, a sharing framework will be designed to integrate them into the existing system. For mobile storage, an animation will be utilized to vividly demonstrate the energy flow process. A sharing mechanism flow will be carefully designed, and the application points of technologies for enhancing efficiency will be listed. This will open up new possibilities for the development of shared energy storage.</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34BEA0C6-8597-EF41-1432-1B89BAE605BD}"/>
              </a:ext>
            </a:extLst>
          </p:cNvPr>
          <p:cNvSpPr txBox="1"/>
          <p:nvPr/>
        </p:nvSpPr>
        <p:spPr>
          <a:xfrm>
            <a:off x="682752" y="1412821"/>
            <a:ext cx="10617760" cy="1426224"/>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Technology Innovation</a:t>
            </a:r>
          </a:p>
          <a:p>
            <a:br>
              <a:rPr lang="en-US" altLang="zh-CN" sz="2667" dirty="0"/>
            </a:br>
            <a:endParaRPr lang="zh-CN" altLang="en-US" sz="2667"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pic>
        <p:nvPicPr>
          <p:cNvPr id="3" name="图片 2">
            <a:extLst>
              <a:ext uri="{FF2B5EF4-FFF2-40B4-BE49-F238E27FC236}">
                <a16:creationId xmlns:a16="http://schemas.microsoft.com/office/drawing/2014/main" id="{EDBDF5CD-6A9C-E4B4-84A5-B7F313C5E24C}"/>
              </a:ext>
            </a:extLst>
          </p:cNvPr>
          <p:cNvPicPr>
            <a:picLocks noChangeAspect="1"/>
          </p:cNvPicPr>
          <p:nvPr/>
        </p:nvPicPr>
        <p:blipFill>
          <a:blip r:embed="rId3"/>
          <a:stretch>
            <a:fillRect/>
          </a:stretch>
        </p:blipFill>
        <p:spPr>
          <a:xfrm>
            <a:off x="7961429" y="1707337"/>
            <a:ext cx="4192396" cy="4124984"/>
          </a:xfrm>
          <a:prstGeom prst="rect">
            <a:avLst/>
          </a:prstGeom>
        </p:spPr>
      </p:pic>
    </p:spTree>
    <p:extLst>
      <p:ext uri="{BB962C8B-B14F-4D97-AF65-F5344CB8AC3E}">
        <p14:creationId xmlns:p14="http://schemas.microsoft.com/office/powerpoint/2010/main" val="305870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4039-A2E7-8761-DDE7-6A22D76BDE69}"/>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AE83F5D8-A86D-157B-1665-83223675C620}"/>
              </a:ext>
            </a:extLst>
          </p:cNvPr>
          <p:cNvSpPr/>
          <p:nvPr/>
        </p:nvSpPr>
        <p:spPr>
          <a:xfrm>
            <a:off x="838416" y="203009"/>
            <a:ext cx="12118123" cy="1980096"/>
          </a:xfrm>
          <a:prstGeom prst="rect">
            <a:avLst/>
          </a:prstGeom>
          <a:noFill/>
          <a:ln w="0" cap="flat">
            <a:noFill/>
            <a:prstDash val="solid"/>
            <a:miter lim="0"/>
          </a:ln>
        </p:spPr>
        <p:txBody>
          <a:bodyPr vert="horz" wrap="square" lIns="0" tIns="0" rIns="0" bIns="0"/>
          <a:lstStyle/>
          <a:p>
            <a:pPr algn="l" rtl="0" eaLnBrk="0">
              <a:lnSpc>
                <a:spcPct val="108000"/>
              </a:lnSpc>
            </a:pPr>
            <a:endParaRPr sz="3200" dirty="0">
              <a:latin typeface="Arial" panose="020B0604020202020204"/>
              <a:ea typeface="Arial" panose="020B0604020202020204"/>
              <a:cs typeface="Arial" panose="020B0604020202020204"/>
            </a:endParaRPr>
          </a:p>
          <a:p>
            <a:pPr>
              <a:spcAft>
                <a:spcPts val="400"/>
              </a:spcAft>
            </a:pPr>
            <a:r>
              <a:rPr lang="en-US" altLang="zh-CN" sz="4267" b="1" kern="0" spc="-13" dirty="0">
                <a:solidFill>
                  <a:srgbClr val="004282">
                    <a:alpha val="100000"/>
                  </a:srgbClr>
                </a:solidFill>
                <a:latin typeface="Times New Roman" panose="02020603050405020304"/>
                <a:cs typeface="Times New Roman" panose="02020603050405020304"/>
              </a:rPr>
              <a:t>Research Summary</a:t>
            </a:r>
          </a:p>
          <a:p>
            <a:pPr>
              <a:spcAft>
                <a:spcPts val="400"/>
              </a:spcAft>
            </a:pPr>
            <a:endParaRPr lang="en-US" altLang="zh-CN" sz="4267" b="1" kern="0" spc="-13" dirty="0">
              <a:solidFill>
                <a:srgbClr val="004282">
                  <a:alpha val="100000"/>
                </a:srgbClr>
              </a:solidFill>
              <a:latin typeface="Times New Roman" panose="02020603050405020304"/>
              <a:cs typeface="Times New Roman" panose="02020603050405020304"/>
            </a:endParaRPr>
          </a:p>
          <a:p>
            <a:pPr marL="699329" eaLnBrk="0">
              <a:lnSpc>
                <a:spcPct val="76000"/>
              </a:lnSpc>
              <a:spcBef>
                <a:spcPts val="7"/>
              </a:spcBef>
              <a:tabLst>
                <a:tab pos="990575" algn="l"/>
              </a:tabLst>
            </a:pPr>
            <a:endParaRPr lang="en-US" altLang="zh-CN" sz="3733" b="1" kern="0" spc="-13" dirty="0">
              <a:solidFill>
                <a:srgbClr val="004282">
                  <a:alpha val="100000"/>
                </a:srgbClr>
              </a:solidFill>
              <a:latin typeface="Times New Roman" panose="02020603050405020304"/>
              <a:cs typeface="Times New Roman" panose="02020603050405020304"/>
            </a:endParaRPr>
          </a:p>
          <a:p>
            <a:pPr marL="699329" eaLnBrk="0">
              <a:lnSpc>
                <a:spcPct val="76000"/>
              </a:lnSpc>
              <a:spcBef>
                <a:spcPts val="7"/>
              </a:spcBef>
              <a:tabLst>
                <a:tab pos="990575" algn="l"/>
              </a:tabLst>
            </a:pPr>
            <a:endParaRPr sz="667" dirty="0">
              <a:latin typeface="Arial" panose="020B0604020202020204"/>
              <a:ea typeface="Arial" panose="020B0604020202020204"/>
              <a:cs typeface="Arial" panose="020B0604020202020204"/>
            </a:endParaRPr>
          </a:p>
          <a:p>
            <a:pPr marL="812780" indent="-3387" eaLnBrk="0">
              <a:lnSpc>
                <a:spcPct val="89000"/>
              </a:lnSpc>
              <a:spcBef>
                <a:spcPts val="7"/>
              </a:spcBef>
            </a:pPr>
            <a:endParaRPr lang="en-US" sz="2667" kern="0" dirty="0">
              <a:solidFill>
                <a:srgbClr val="ED7F0D">
                  <a:alpha val="100000"/>
                </a:srgbClr>
              </a:solidFill>
              <a:latin typeface="Times New Roman" panose="02020603050405020304"/>
              <a:ea typeface="Times New Roman" panose="02020603050405020304"/>
              <a:cs typeface="Times New Roman" panose="02020603050405020304"/>
            </a:endParaRPr>
          </a:p>
        </p:txBody>
      </p:sp>
      <p:pic>
        <p:nvPicPr>
          <p:cNvPr id="20" name="picture 20">
            <a:extLst>
              <a:ext uri="{FF2B5EF4-FFF2-40B4-BE49-F238E27FC236}">
                <a16:creationId xmlns:a16="http://schemas.microsoft.com/office/drawing/2014/main" id="{4A160664-1E4D-D188-8238-39BF932272D3}"/>
              </a:ext>
            </a:extLst>
          </p:cNvPr>
          <p:cNvPicPr>
            <a:picLocks noChangeAspect="1"/>
          </p:cNvPicPr>
          <p:nvPr/>
        </p:nvPicPr>
        <p:blipFill>
          <a:blip r:embed="rId2"/>
          <a:stretch>
            <a:fillRect/>
          </a:stretch>
        </p:blipFill>
        <p:spPr>
          <a:xfrm rot="21600000">
            <a:off x="1" y="686528"/>
            <a:ext cx="682751" cy="682752"/>
          </a:xfrm>
          <a:prstGeom prst="rect">
            <a:avLst/>
          </a:prstGeom>
        </p:spPr>
      </p:pic>
      <p:sp>
        <p:nvSpPr>
          <p:cNvPr id="54" name="textbox 54">
            <a:extLst>
              <a:ext uri="{FF2B5EF4-FFF2-40B4-BE49-F238E27FC236}">
                <a16:creationId xmlns:a16="http://schemas.microsoft.com/office/drawing/2014/main" id="{117B83AE-D84F-CBD0-829F-0FF1AAA85B6E}"/>
              </a:ext>
            </a:extLst>
          </p:cNvPr>
          <p:cNvSpPr/>
          <p:nvPr/>
        </p:nvSpPr>
        <p:spPr>
          <a:xfrm>
            <a:off x="3764025" y="2957685"/>
            <a:ext cx="420793" cy="217593"/>
          </a:xfrm>
          <a:prstGeom prst="rect">
            <a:avLst/>
          </a:prstGeom>
          <a:noFill/>
          <a:ln w="0" cap="flat">
            <a:noFill/>
            <a:prstDash val="solid"/>
            <a:miter lim="0"/>
          </a:ln>
        </p:spPr>
        <p:txBody>
          <a:bodyPr vert="horz" wrap="square" lIns="0" tIns="0" rIns="0" bIns="0"/>
          <a:lstStyle/>
          <a:p>
            <a:pPr algn="l" rtl="0" eaLnBrk="0">
              <a:lnSpc>
                <a:spcPct val="85000"/>
              </a:lnSpc>
            </a:pPr>
            <a:endParaRPr sz="133" dirty="0">
              <a:latin typeface="Arial" panose="020B0604020202020204"/>
              <a:ea typeface="Arial" panose="020B0604020202020204"/>
              <a:cs typeface="Arial" panose="020B0604020202020204"/>
            </a:endParaRPr>
          </a:p>
          <a:p>
            <a:pPr marL="16933" eaLnBrk="0">
              <a:lnSpc>
                <a:spcPct val="75000"/>
              </a:lnSpc>
            </a:pPr>
            <a:r>
              <a:rPr sz="1600" kern="0" spc="-40" dirty="0">
                <a:solidFill>
                  <a:srgbClr val="FFFFFF">
                    <a:alpha val="100000"/>
                  </a:srgbClr>
                </a:solidFill>
                <a:latin typeface="Times New Roman" panose="02020603050405020304"/>
                <a:ea typeface="Times New Roman" panose="02020603050405020304"/>
                <a:cs typeface="Times New Roman" panose="02020603050405020304"/>
              </a:rPr>
              <a:t>LED</a:t>
            </a:r>
            <a:endParaRPr sz="1600" dirty="0">
              <a:latin typeface="Times New Roman" panose="02020603050405020304"/>
              <a:ea typeface="Times New Roman" panose="02020603050405020304"/>
              <a:cs typeface="Times New Roman" panose="02020603050405020304"/>
            </a:endParaRPr>
          </a:p>
        </p:txBody>
      </p:sp>
      <p:sp>
        <p:nvSpPr>
          <p:cNvPr id="5" name="文本框 4">
            <a:extLst>
              <a:ext uri="{FF2B5EF4-FFF2-40B4-BE49-F238E27FC236}">
                <a16:creationId xmlns:a16="http://schemas.microsoft.com/office/drawing/2014/main" id="{FD0EEA26-8569-9E7D-C933-56087B220374}"/>
              </a:ext>
            </a:extLst>
          </p:cNvPr>
          <p:cNvSpPr txBox="1"/>
          <p:nvPr/>
        </p:nvSpPr>
        <p:spPr>
          <a:xfrm>
            <a:off x="1809550" y="2298703"/>
            <a:ext cx="9009247" cy="3745128"/>
          </a:xfrm>
          <a:prstGeom prst="rect">
            <a:avLst/>
          </a:prstGeom>
          <a:noFill/>
        </p:spPr>
        <p:txBody>
          <a:bodyPr wrap="square">
            <a:spAutoFit/>
          </a:bodyPr>
          <a:lstStyle/>
          <a:p>
            <a:pPr>
              <a:spcBef>
                <a:spcPts val="800"/>
              </a:spcBef>
            </a:pPr>
            <a:r>
              <a:rPr lang="en-US" altLang="zh-CN" sz="2667" dirty="0">
                <a:solidFill>
                  <a:srgbClr val="222222"/>
                </a:solidFill>
                <a:latin typeface="Times" panose="02020603050405020304" pitchFamily="18" charset="0"/>
                <a:cs typeface="Times" panose="02020603050405020304" pitchFamily="18" charset="0"/>
              </a:rPr>
              <a:t>The research review part will display a mind map that clearly organizes the key concepts related to shared energy storage. Additionally, a keyword cloud will be presented to showcase the prominent research topics. In terms of value and outlook, data charts will be employed to assess the potential growth of shared energy storage. A roadmap will be provided to guide future research directions, indicating the steps and focuses for further exploration.</a:t>
            </a:r>
          </a:p>
          <a:p>
            <a:pPr lvl="2" algn="just"/>
            <a:endParaRPr lang="zh-CN" altLang="zh-CN" sz="2400" kern="100" dirty="0">
              <a:latin typeface="Times" panose="02020603050405020304" pitchFamily="18" charset="0"/>
              <a:ea typeface="微软雅黑" panose="020B050302020402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B3B69EBE-3939-4DDE-5B31-6AD020545AF9}"/>
              </a:ext>
            </a:extLst>
          </p:cNvPr>
          <p:cNvSpPr txBox="1"/>
          <p:nvPr/>
        </p:nvSpPr>
        <p:spPr>
          <a:xfrm>
            <a:off x="1005292" y="1528419"/>
            <a:ext cx="10617760" cy="1015791"/>
          </a:xfrm>
          <a:prstGeom prst="rect">
            <a:avLst/>
          </a:prstGeom>
          <a:noFill/>
        </p:spPr>
        <p:txBody>
          <a:bodyPr wrap="square">
            <a:spAutoFit/>
          </a:bodyPr>
          <a:lstStyle/>
          <a:p>
            <a:pPr>
              <a:spcAft>
                <a:spcPts val="800"/>
              </a:spcAft>
            </a:pPr>
            <a:r>
              <a:rPr lang="zh-CN" altLang="en-US" sz="2400" kern="0" spc="-27" dirty="0">
                <a:solidFill>
                  <a:srgbClr val="ED7F0D">
                    <a:alpha val="100000"/>
                  </a:srgbClr>
                </a:solidFill>
                <a:latin typeface="Times New Roman" panose="02020603050405020304"/>
                <a:ea typeface="Times New Roman" panose="02020603050405020304"/>
                <a:cs typeface="Times New Roman" panose="02020603050405020304"/>
              </a:rPr>
              <a:t>●</a:t>
            </a:r>
            <a:r>
              <a:rPr lang="zh-CN" altLang="en-US" sz="2400" kern="0" spc="67" dirty="0">
                <a:solidFill>
                  <a:srgbClr val="ED7F0D">
                    <a:alpha val="100000"/>
                  </a:srgbClr>
                </a:solidFill>
                <a:latin typeface="Times New Roman" panose="02020603050405020304"/>
                <a:ea typeface="Times New Roman" panose="02020603050405020304"/>
                <a:cs typeface="Times New Roman" panose="02020603050405020304"/>
              </a:rPr>
              <a:t> </a:t>
            </a:r>
            <a:r>
              <a:rPr lang="zh-CN" altLang="zh-CN" sz="2133" dirty="0">
                <a:ea typeface="等线" panose="02010600030101010101" pitchFamily="2" charset="-122"/>
                <a:cs typeface="Times New Roman" panose="02020603050405020304" pitchFamily="18" charset="0"/>
              </a:rPr>
              <a:t> </a:t>
            </a:r>
            <a:r>
              <a:rPr lang="en-US" altLang="zh-CN" sz="2667" kern="0" spc="-27" dirty="0">
                <a:solidFill>
                  <a:srgbClr val="ED7F0D">
                    <a:alpha val="100000"/>
                  </a:srgbClr>
                </a:solidFill>
                <a:latin typeface="Times New Roman" panose="02020603050405020304"/>
                <a:ea typeface="等线" panose="02010600030101010101" pitchFamily="2" charset="-122"/>
                <a:cs typeface="Times New Roman" panose="02020603050405020304"/>
              </a:rPr>
              <a:t>Review and Outlook</a:t>
            </a:r>
          </a:p>
          <a:p>
            <a:endParaRPr lang="zh-CN" altLang="en-US" sz="2667" kern="0" spc="-27" dirty="0">
              <a:solidFill>
                <a:srgbClr val="ED7F0D">
                  <a:alpha val="100000"/>
                </a:srgbClr>
              </a:solidFill>
              <a:latin typeface="Times New Roman" panose="02020603050405020304"/>
              <a:ea typeface="等线" panose="02010600030101010101" pitchFamily="2" charset="-122"/>
              <a:cs typeface="Times New Roman" panose="02020603050405020304"/>
            </a:endParaRPr>
          </a:p>
        </p:txBody>
      </p:sp>
    </p:spTree>
    <p:extLst>
      <p:ext uri="{BB962C8B-B14F-4D97-AF65-F5344CB8AC3E}">
        <p14:creationId xmlns:p14="http://schemas.microsoft.com/office/powerpoint/2010/main" val="3591060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2002970"/>
            <a:ext cx="12192000" cy="23625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latin typeface="Arial" panose="020B0604020202020204" pitchFamily="34" charset="0"/>
              <a:cs typeface="Arial" panose="020B0604020202020204" pitchFamily="34" charset="0"/>
            </a:endParaRPr>
          </a:p>
        </p:txBody>
      </p:sp>
      <p:pic>
        <p:nvPicPr>
          <p:cNvPr id="12" name="图片 11"/>
          <p:cNvPicPr>
            <a:picLocks noChangeAspect="1"/>
          </p:cNvPicPr>
          <p:nvPr/>
        </p:nvPicPr>
        <p:blipFill>
          <a:blip r:embed="rId2"/>
          <a:stretch>
            <a:fillRect/>
          </a:stretch>
        </p:blipFill>
        <p:spPr>
          <a:xfrm>
            <a:off x="5128449" y="704128"/>
            <a:ext cx="1935102" cy="893255"/>
          </a:xfrm>
          <a:prstGeom prst="rect">
            <a:avLst/>
          </a:prstGeom>
        </p:spPr>
      </p:pic>
      <p:sp>
        <p:nvSpPr>
          <p:cNvPr id="4" name="文本框 3"/>
          <p:cNvSpPr txBox="1"/>
          <p:nvPr/>
        </p:nvSpPr>
        <p:spPr>
          <a:xfrm>
            <a:off x="1780674" y="2676397"/>
            <a:ext cx="8630652" cy="1015663"/>
          </a:xfrm>
          <a:prstGeom prst="rect">
            <a:avLst/>
          </a:prstGeom>
          <a:noFill/>
        </p:spPr>
        <p:txBody>
          <a:bodyPr wrap="square">
            <a:spAutoFit/>
          </a:bodyPr>
          <a:lstStyle/>
          <a:p>
            <a:pPr algn="ctr"/>
            <a:r>
              <a:rPr lang="en-GB" altLang="zh-CN" sz="6000" b="1">
                <a:solidFill>
                  <a:schemeClr val="bg1"/>
                </a:solidFill>
                <a:latin typeface="Arial" panose="020B0604020202020204" pitchFamily="34" charset="0"/>
                <a:cs typeface="Arial" panose="020B0604020202020204" pitchFamily="34" charset="0"/>
              </a:rPr>
              <a:t>THANKS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U1YjRmNjY2YWI4ZjgxYmI3NTVlOWFiNTQxYTI5MG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1750">
      <a:dk1>
        <a:srgbClr val="000000"/>
      </a:dk1>
      <a:lt1>
        <a:srgbClr val="FFFFFF"/>
      </a:lt1>
      <a:dk2>
        <a:srgbClr val="44546A"/>
      </a:dk2>
      <a:lt2>
        <a:srgbClr val="E7E6E6"/>
      </a:lt2>
      <a:accent1>
        <a:srgbClr val="003C7A"/>
      </a:accent1>
      <a:accent2>
        <a:srgbClr val="EF7A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1935</Words>
  <Application>Microsoft Office PowerPoint</Application>
  <PresentationFormat>宽屏</PresentationFormat>
  <Paragraphs>391</Paragraphs>
  <Slides>31</Slides>
  <Notes>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31</vt:i4>
      </vt:variant>
    </vt:vector>
  </HeadingPairs>
  <TitlesOfParts>
    <vt:vector size="37" baseType="lpstr">
      <vt:lpstr>等线</vt:lpstr>
      <vt:lpstr>等线 Light</vt:lpstr>
      <vt:lpstr>Arial</vt:lpstr>
      <vt:lpstr>Times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kanzy</cp:lastModifiedBy>
  <cp:revision>13</cp:revision>
  <dcterms:created xsi:type="dcterms:W3CDTF">2024-11-04T13:56:00Z</dcterms:created>
  <dcterms:modified xsi:type="dcterms:W3CDTF">2024-12-25T11:30:46Z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2052-12.1.0.18608</vt:lpwstr>
  </property>
</Properties>
</file>